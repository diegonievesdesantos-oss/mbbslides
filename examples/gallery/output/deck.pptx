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12218"/>
          <c:y val="0.01064"/>
          <c:w val="0.81782"/>
          <c:h val="0.96936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Index</c:v>
                </c:pt>
              </c:strCache>
            </c:strRef>
          </c:tx>
          <c:spPr>
            <a:solidFill>
              <a:srgbClr val="CAD2DB"/>
            </a:solidFill>
          </c:spPr>
          <c:invertIfNegative val="0"/>
          <c:dPt>
            <c:idx val="0"/>
            <c:spPr>
              <a:solidFill>
                <a:srgbClr val="13294B"/>
              </a:solidFill>
            </c:spPr>
          </c:dPt>
          <c:dLbls>
            <c:numFmt formatCode="#,##0;-#,##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Helix</c:v>
                </c:pt>
                <c:pt idx="1">
                  <c:v>Peer B</c:v>
                </c:pt>
                <c:pt idx="2">
                  <c:v>Peer A</c:v>
                </c:pt>
                <c:pt idx="3">
                  <c:v>Peer median</c:v>
                </c:pt>
                <c:pt idx="4">
                  <c:v>Peer C</c:v>
                </c:pt>
                <c:pt idx="5">
                  <c:v>Peer 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118.0</c:v>
                </c:pt>
                <c:pt idx="1">
                  <c:v>109.0</c:v>
                </c:pt>
                <c:pt idx="2">
                  <c:v>103.0</c:v>
                </c:pt>
                <c:pt idx="3">
                  <c:v>100.0</c:v>
                </c:pt>
                <c:pt idx="4">
                  <c:v>96.0</c:v>
                </c:pt>
                <c:pt idx="5">
                  <c:v>91.0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/>
        <c:axPos val="b"/>
        <c:majorTickMark val="none"/>
        <c:minorTickMark val="none"/>
        <c:tickLblPos val="nextTo"/>
        <c:crossAx val="-2068027336"/>
        <c:crosses val="autoZero"/>
        <c:majorUnit val="2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305"/>
          <c:w val="0.86975"/>
          <c:h val="0.9131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Helix</c:v>
                </c:pt>
              </c:strCache>
            </c:strRef>
          </c:tx>
          <c:spPr>
            <a:ln w="31750">
              <a:solidFill>
                <a:srgbClr val="13294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4.8</c:v>
                </c:pt>
                <c:pt idx="1">
                  <c:v>5.1</c:v>
                </c:pt>
                <c:pt idx="2">
                  <c:v>5.4</c:v>
                </c:pt>
                <c:pt idx="3">
                  <c:v>5.6</c:v>
                </c:pt>
                <c:pt idx="4">
                  <c:v>5.8</c:v>
                </c:pt>
                <c:pt idx="5">
                  <c:v>5.6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2225">
              <a:solidFill>
                <a:srgbClr val="CAD2D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4.7</c:v>
                </c:pt>
                <c:pt idx="1">
                  <c:v>4.8</c:v>
                </c:pt>
                <c:pt idx="2">
                  <c:v>4.8</c:v>
                </c:pt>
                <c:pt idx="3">
                  <c:v>4.7</c:v>
                </c:pt>
                <c:pt idx="4">
                  <c:v>4.8</c:v>
                </c:pt>
                <c:pt idx="5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375"/>
          <c:min val="4.37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0.25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8766"/>
          <c:h val="0.92926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13294B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38.0</c:v>
                </c:pt>
                <c:pt idx="1">
                  <c:v>12.0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2F5F8A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35.0</c:v>
                </c:pt>
                <c:pt idx="1">
                  <c:v>30.0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Large</c:v>
                </c:pt>
              </c:strCache>
            </c:strRef>
          </c:tx>
          <c:spPr>
            <a:solidFill>
              <a:srgbClr val="86A6C6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27.0</c:v>
                </c:pt>
                <c:pt idx="1">
                  <c:v>58.0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0.25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1"/>
          <c:h val="0.82383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marker>
          <c:dPt>
            <c:idx val="6"/>
            <c:marker>
              <c:spPr>
                <a:solidFill>
                  <a:srgbClr val="E08A00"/>
                </a:solidFill>
              </c:spPr>
            </c:marker>
          </c:dPt>
          <c:dPt>
            <c:idx val="7"/>
            <c:marker>
              <c:spPr>
                <a:solidFill>
                  <a:srgbClr val="E08A00"/>
                </a:solidFill>
              </c:spPr>
            </c:marker>
          </c:dPt>
          <c:xVal>
            <c:numRef>
              <c:f>Sheet1!$A$2:$A$10</c:f>
              <c:numCache>
                <c:formatCode>General</c:formatCode>
                <c:ptCount val="9"/>
                <c:pt idx="0">
                  <c:v>1450.0</c:v>
                </c:pt>
                <c:pt idx="1">
                  <c:v>1210.0</c:v>
                </c:pt>
                <c:pt idx="2">
                  <c:v>820.0</c:v>
                </c:pt>
                <c:pt idx="3">
                  <c:v>760.0</c:v>
                </c:pt>
                <c:pt idx="4">
                  <c:v>560.0</c:v>
                </c:pt>
                <c:pt idx="5">
                  <c:v>480.0</c:v>
                </c:pt>
                <c:pt idx="6">
                  <c:v>290.0</c:v>
                </c:pt>
                <c:pt idx="7">
                  <c:v>330.0</c:v>
                </c:pt>
                <c:pt idx="8">
                  <c:v>350.0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4.4</c:v>
                </c:pt>
                <c:pt idx="1">
                  <c:v>4.7</c:v>
                </c:pt>
                <c:pt idx="2">
                  <c:v>5.0</c:v>
                </c:pt>
                <c:pt idx="3">
                  <c:v>5.3</c:v>
                </c:pt>
                <c:pt idx="4">
                  <c:v>5.6</c:v>
                </c:pt>
                <c:pt idx="5">
                  <c:v>5.8</c:v>
                </c:pt>
                <c:pt idx="6">
                  <c:v>7.3</c:v>
                </c:pt>
                <c:pt idx="7">
                  <c:v>7.0</c:v>
                </c:pt>
                <c:pt idx="8">
                  <c:v>6.8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75.0"/>
          <c:min val="175.0"/>
        </c:scaling>
        <c:delete val="0"/>
        <c:axPos val="b"/>
        <c:numFmt formatCode="#,##0;-#,##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50.0"/>
      </c:valAx>
      <c:valAx>
        <c:axId val="-2129643912"/>
        <c:scaling>
          <c:orientation val="minMax"/>
          <c:max val="8.0"/>
          <c:min val="4.0"/>
        </c:scaling>
        <c:delete val="0"/>
        <c:axPos val="l"/>
        <c:numFmt formatCode="#,##0.0;-#,##0.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911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11.0</c:v>
                </c:pt>
                <c:pt idx="2">
                  <c:v>0.0</c:v>
                </c:pt>
                <c:pt idx="3">
                  <c:v>24.0</c:v>
                </c:pt>
                <c:pt idx="4">
                  <c:v>41.0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3294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24.0</c:v>
                </c:pt>
                <c:pt idx="3">
                  <c:v>0.0</c:v>
                </c:pt>
                <c:pt idx="4">
                  <c:v>0.0</c:v>
                </c:pt>
                <c:pt idx="5">
                  <c:v>48.0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11.0</c:v>
                </c:pt>
                <c:pt idx="1">
                  <c:v>13.0</c:v>
                </c:pt>
                <c:pt idx="2">
                  <c:v>0.0</c:v>
                </c:pt>
                <c:pt idx="3">
                  <c:v>17.0</c:v>
                </c:pt>
                <c:pt idx="4">
                  <c:v>7.0</c:v>
                </c:pt>
                <c:pt idx="5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2.4</c:v>
                </c:pt>
                <c:pt idx="2">
                  <c:v>2.8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1.1</c:v>
                </c:pt>
                <c:pt idx="2">
                  <c:v>3.3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1.8</c:v>
                </c:pt>
                <c:pt idx="2">
                  <c:v>4.2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dPt>
            <c:idx val="0"/>
            <c:spPr>
              <a:solidFill>
                <a:srgbClr val="13294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AD2D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6C0CB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Network</c:v>
                </c:pt>
                <c:pt idx="1">
                  <c:v>Hub automation</c:v>
                </c:pt>
                <c:pt idx="2">
                  <c:v>Customer terms</c:v>
                </c:pt>
                <c:pt idx="3">
                  <c:v>Procurement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17.0</c:v>
                </c:pt>
                <c:pt idx="1">
                  <c:v>13.0</c:v>
                </c:pt>
                <c:pt idx="2">
                  <c:v>11.0</c:v>
                </c:pt>
                <c:pt idx="3">
                  <c:v>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the gap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Decompose cost-to-serve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volume goes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customer mix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relationship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operating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customer journey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target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phases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status of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KPIs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multiples of savings by quarter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of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090776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83384"/>
            <a:ext cx="9288018" cy="11612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3294B"/>
                </a:solidFill>
                <a:latin typeface="Arial"/>
              </a:rPr>
              <a:t>Helix Logistics transformation: steering committee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3745840"/>
            <a:ext cx="8339099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B6776"/>
                </a:solidFill>
                <a:latin typeface="Arial"/>
              </a:rPr>
              <a:t>Every exhibit type of the engine on one fictitious programme</a:t>
            </a:r>
          </a:p>
        </p:txBody>
      </p:sp>
      <p:sp>
        <p:nvSpPr>
          <p:cNvPr id="5" name="cpe|text|bleed|4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601218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Helix Logistics (fictitious)   |   Q3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Today we review diagnosis, plan and value, and ask for one 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</a:t>
            </a:r>
          </a:p>
        </p:txBody>
      </p:sp>
      <p:cxnSp>
        <p:nvCxnSpPr>
          <p:cNvPr id="4" name="cpe|text|line|3"/>
          <p:cNvCxnSpPr/>
          <p:nvPr/>
        </p:nvCxnSpPr>
        <p:spPr>
          <a:xfrm>
            <a:off x="502920" y="2331903"/>
            <a:ext cx="833909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" name="cpe|text|text|4"/>
          <p:cNvSpPr txBox="1"/>
          <p:nvPr/>
        </p:nvSpPr>
        <p:spPr>
          <a:xfrm>
            <a:off x="502920" y="244163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6" name="cpe|text|text|5"/>
          <p:cNvSpPr txBox="1"/>
          <p:nvPr/>
        </p:nvSpPr>
        <p:spPr>
          <a:xfrm>
            <a:off x="1417320" y="242334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Diagnosis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Where cost-to-serve comes from</a:t>
            </a:r>
          </a:p>
        </p:txBody>
      </p:sp>
      <p:cxnSp>
        <p:nvCxnSpPr>
          <p:cNvPr id="7" name="cpe|text|line|6"/>
          <p:cNvCxnSpPr/>
          <p:nvPr/>
        </p:nvCxnSpPr>
        <p:spPr>
          <a:xfrm>
            <a:off x="502920" y="320058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8" name="cpe|text|text|7"/>
          <p:cNvSpPr txBox="1"/>
          <p:nvPr/>
        </p:nvSpPr>
        <p:spPr>
          <a:xfrm>
            <a:off x="502920" y="331031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9" name="cpe|text|text|8"/>
          <p:cNvSpPr txBox="1"/>
          <p:nvPr/>
        </p:nvSpPr>
        <p:spPr>
          <a:xfrm>
            <a:off x="1417320" y="329202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Programme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Initiatives, plan and organisation</a:t>
            </a:r>
          </a:p>
        </p:txBody>
      </p:sp>
      <p:cxnSp>
        <p:nvCxnSpPr>
          <p:cNvPr id="10" name="cpe|text|line|9"/>
          <p:cNvCxnSpPr/>
          <p:nvPr/>
        </p:nvCxnSpPr>
        <p:spPr>
          <a:xfrm>
            <a:off x="502920" y="406926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1" name="cpe|text|text|10"/>
          <p:cNvSpPr txBox="1"/>
          <p:nvPr/>
        </p:nvSpPr>
        <p:spPr>
          <a:xfrm>
            <a:off x="502920" y="4178991"/>
            <a:ext cx="822960" cy="7223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12" name="cpe|text|text|11"/>
          <p:cNvSpPr txBox="1"/>
          <p:nvPr/>
        </p:nvSpPr>
        <p:spPr>
          <a:xfrm>
            <a:off x="1417320" y="4160703"/>
            <a:ext cx="7424699" cy="7589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Arial"/>
              </a:rPr>
              <a:t>Value and decision</a:t>
            </a:r>
          </a:p>
          <a:p>
            <a:pPr algn="l">
              <a:lnSpc>
                <a:spcPct val="108000"/>
              </a:lnSpc>
            </a:pPr>
            <a:r>
              <a:rPr sz="1300" b="0">
                <a:solidFill>
                  <a:srgbClr val="5B6776"/>
                </a:solidFill>
                <a:latin typeface="Arial"/>
              </a:rPr>
              <a:t>Savings to date and wave 2 funding</a:t>
            </a:r>
          </a:p>
        </p:txBody>
      </p:sp>
      <p:cxnSp>
        <p:nvCxnSpPr>
          <p:cNvPr id="13" name="cpe|text|line|12"/>
          <p:cNvCxnSpPr/>
          <p:nvPr/>
        </p:nvCxnSpPr>
        <p:spPr>
          <a:xfrm>
            <a:off x="502920" y="4937943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is delivering; releasing wave 2 funding keeps the €48M target on track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office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2345527"/>
            <a:ext cx="132588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Situation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920240" y="2345527"/>
            <a:ext cx="3874185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Cost-to-serve is 18% above peers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6023025" y="2345527"/>
            <a:ext cx="566575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and warehouse inefficiencies explain 70% of the gap.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3154771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3259927"/>
            <a:ext cx="1325880" cy="8458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Complication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920240" y="3259927"/>
            <a:ext cx="3874185" cy="8458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Wave 1 savings arrive, but automation needs capex now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6023025" y="3259927"/>
            <a:ext cx="5665750" cy="8458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lead times are 9 months; delaying funding pushes €14M of savings into 2028.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4210903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4316059"/>
            <a:ext cx="132588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Resolution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920240" y="4316059"/>
            <a:ext cx="3874185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Release €22M for wave 2 today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6023025" y="4316059"/>
            <a:ext cx="5665750" cy="7040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Keeps the €48M run-rate target for 2027; payback in 19 months.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2240371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cxnSp>
        <p:nvCxnSpPr>
          <p:cNvPr id="18" name="cpe|statements|line|17"/>
          <p:cNvCxnSpPr/>
          <p:nvPr/>
        </p:nvCxnSpPr>
        <p:spPr>
          <a:xfrm>
            <a:off x="502920" y="4988143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Diagnosis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Helix's cost-to-serve is 18% above the peer median, the highest of the panel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2025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Cost-to-serve,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index, peer median = 100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cpe|exhibit|connector|7"/>
          <p:cNvCxnSpPr/>
          <p:nvPr/>
        </p:nvCxnSpPr>
        <p:spPr>
          <a:xfrm>
            <a:off x="5722873" y="1947672"/>
            <a:ext cx="0" cy="4166006"/>
          </a:xfrm>
          <a:prstGeom prst="line">
            <a:avLst/>
          </a:prstGeom>
          <a:ln w="9525">
            <a:solidFill>
              <a:srgbClr val="5B6776"/>
            </a:solidFill>
            <a:prstDash val="dash"/>
          </a:ln>
        </p:spPr>
      </p:cxnSp>
      <p:sp>
        <p:nvSpPr>
          <p:cNvPr id="9" name="cpe|exhibit|label|8"/>
          <p:cNvSpPr txBox="1"/>
          <p:nvPr/>
        </p:nvSpPr>
        <p:spPr>
          <a:xfrm>
            <a:off x="5768593" y="167335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Median 100</a:t>
            </a:r>
          </a:p>
        </p:txBody>
      </p:sp>
      <p:cxnSp>
        <p:nvCxnSpPr>
          <p:cNvPr id="10" name="cpe|commentary|line|9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1" name="cpe|commentary|text|10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Helix is </a:t>
            </a:r>
            <a:r>
              <a:rPr sz="1200" b="1">
                <a:solidFill>
                  <a:srgbClr val="1C2530"/>
                </a:solidFill>
                <a:latin typeface="Arial"/>
              </a:rPr>
              <a:t>18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 above the median and 9 above the next worst peer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The gap widened by 5 points since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warehousing explain €31M of the €44M gap to peers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Cost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3533790"/>
            <a:ext cx="2189074" cy="6133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76072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Gap to peer median
</a:t>
            </a:r>
            <a:r>
              <a:rPr sz="1200" b="1">
                <a:solidFill>
                  <a:srgbClr val="FFFFFF"/>
                </a:solidFill>
                <a:latin typeface="Arial"/>
              </a:rPr>
              <a:t>€44M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2897734" y="2267712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0" name="cpe|exhibit|connector|9"/>
          <p:cNvCxnSpPr/>
          <p:nvPr/>
        </p:nvCxnSpPr>
        <p:spPr>
          <a:xfrm>
            <a:off x="2897734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1" name="cpe|exhibit|fill|10"/>
          <p:cNvSpPr/>
          <p:nvPr/>
        </p:nvSpPr>
        <p:spPr>
          <a:xfrm>
            <a:off x="3103474" y="1961022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3176626" y="197931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
</a:t>
            </a:r>
            <a:r>
              <a:rPr sz="1200" b="1">
                <a:solidFill>
                  <a:srgbClr val="1C2530"/>
                </a:solidFill>
                <a:latin typeface="Arial"/>
              </a:rPr>
              <a:t>€19M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5498287" y="187452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5498287" y="187452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6" name="cpe|exhibit|fill|15"/>
          <p:cNvSpPr/>
          <p:nvPr/>
        </p:nvSpPr>
        <p:spPr>
          <a:xfrm>
            <a:off x="5704027" y="156783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777179" y="158611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Too many depots
</a:t>
            </a:r>
            <a:r>
              <a:rPr sz="1200" b="1">
                <a:solidFill>
                  <a:srgbClr val="1C2530"/>
                </a:solidFill>
                <a:latin typeface="Arial"/>
              </a:rPr>
              <a:t>€11M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5292547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498287" y="2267712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5498287" y="2660904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1" name="cpe|exhibit|fill|20"/>
          <p:cNvSpPr/>
          <p:nvPr/>
        </p:nvSpPr>
        <p:spPr>
          <a:xfrm>
            <a:off x="5704027" y="2354214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5777179" y="2372502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Low truck fill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23" name="cpe|exhibit|connector|22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289773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3103474" y="3533790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3176626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Warehousing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€12M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5498287" y="344728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5498287" y="344728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5704027" y="314059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777179" y="315888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Manual picking
</a:t>
            </a:r>
            <a:r>
              <a:rPr sz="1200" b="1">
                <a:solidFill>
                  <a:srgbClr val="1C2530"/>
                </a:solidFill>
                <a:latin typeface="Arial"/>
              </a:rPr>
              <a:t>€9M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5292547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3" name="cpe|exhibit|connector|32"/>
          <p:cNvCxnSpPr/>
          <p:nvPr/>
        </p:nvCxnSpPr>
        <p:spPr>
          <a:xfrm>
            <a:off x="5498287" y="384048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4" name="cpe|exhibit|connector|33"/>
          <p:cNvCxnSpPr/>
          <p:nvPr/>
        </p:nvCxnSpPr>
        <p:spPr>
          <a:xfrm>
            <a:off x="5498287" y="423367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5" name="cpe|exhibit|fill|34"/>
          <p:cNvSpPr/>
          <p:nvPr/>
        </p:nvSpPr>
        <p:spPr>
          <a:xfrm>
            <a:off x="5704027" y="3926982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5777179" y="394527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Overtime
</a:t>
            </a:r>
            <a:r>
              <a:rPr sz="1200" b="1">
                <a:solidFill>
                  <a:srgbClr val="1C2530"/>
                </a:solidFill>
                <a:latin typeface="Arial"/>
              </a:rPr>
              <a:t>€3M</a:t>
            </a:r>
          </a:p>
        </p:txBody>
      </p:sp>
      <p:cxnSp>
        <p:nvCxnSpPr>
          <p:cNvPr id="37" name="cpe|exhibit|connector|36"/>
          <p:cNvCxnSpPr/>
          <p:nvPr/>
        </p:nvCxnSpPr>
        <p:spPr>
          <a:xfrm>
            <a:off x="2691994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8" name="cpe|exhibit|connector|37"/>
          <p:cNvCxnSpPr/>
          <p:nvPr/>
        </p:nvCxnSpPr>
        <p:spPr>
          <a:xfrm>
            <a:off x="2897734" y="3840480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9" name="cpe|exhibit|connector|38"/>
          <p:cNvCxnSpPr/>
          <p:nvPr/>
        </p:nvCxnSpPr>
        <p:spPr>
          <a:xfrm>
            <a:off x="2897734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0" name="cpe|exhibit|fill|39"/>
          <p:cNvSpPr/>
          <p:nvPr/>
        </p:nvSpPr>
        <p:spPr>
          <a:xfrm>
            <a:off x="3103474" y="510655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text|40"/>
          <p:cNvSpPr txBox="1"/>
          <p:nvPr/>
        </p:nvSpPr>
        <p:spPr>
          <a:xfrm>
            <a:off x="3176626" y="512484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
</a:t>
            </a:r>
            <a:r>
              <a:rPr sz="1200" b="1">
                <a:solidFill>
                  <a:srgbClr val="1C2530"/>
                </a:solidFill>
                <a:latin typeface="Arial"/>
              </a:rPr>
              <a:t>€13M</a:t>
            </a:r>
          </a:p>
        </p:txBody>
      </p:sp>
      <p:cxnSp>
        <p:nvCxnSpPr>
          <p:cNvPr id="42" name="cpe|exhibit|connector|41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3" name="cpe|exhibit|connector|42"/>
          <p:cNvCxnSpPr/>
          <p:nvPr/>
        </p:nvCxnSpPr>
        <p:spPr>
          <a:xfrm>
            <a:off x="5498287" y="5020056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4" name="cpe|exhibit|connector|43"/>
          <p:cNvCxnSpPr/>
          <p:nvPr/>
        </p:nvCxnSpPr>
        <p:spPr>
          <a:xfrm>
            <a:off x="5498287" y="5020056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5" name="cpe|exhibit|fill|44"/>
          <p:cNvSpPr/>
          <p:nvPr/>
        </p:nvSpPr>
        <p:spPr>
          <a:xfrm>
            <a:off x="5704027" y="4713366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text|45"/>
          <p:cNvSpPr txBox="1"/>
          <p:nvPr/>
        </p:nvSpPr>
        <p:spPr>
          <a:xfrm>
            <a:off x="5777179" y="4731654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Small drops
</a:t>
            </a:r>
            <a:r>
              <a:rPr sz="12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47" name="cpe|exhibit|connector|46"/>
          <p:cNvCxnSpPr/>
          <p:nvPr/>
        </p:nvCxnSpPr>
        <p:spPr>
          <a:xfrm>
            <a:off x="5292547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8" name="cpe|exhibit|connector|47"/>
          <p:cNvCxnSpPr/>
          <p:nvPr/>
        </p:nvCxnSpPr>
        <p:spPr>
          <a:xfrm>
            <a:off x="5498287" y="541324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9" name="cpe|exhibit|connector|48"/>
          <p:cNvCxnSpPr/>
          <p:nvPr/>
        </p:nvCxnSpPr>
        <p:spPr>
          <a:xfrm>
            <a:off x="5498287" y="580644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50" name="cpe|exhibit|fill|49"/>
          <p:cNvSpPr/>
          <p:nvPr/>
        </p:nvSpPr>
        <p:spPr>
          <a:xfrm>
            <a:off x="5704027" y="549975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cpe|exhibit|text|50"/>
          <p:cNvSpPr txBox="1"/>
          <p:nvPr/>
        </p:nvSpPr>
        <p:spPr>
          <a:xfrm>
            <a:off x="5777179" y="551803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Free returns
</a:t>
            </a:r>
            <a:r>
              <a:rPr sz="1200" b="1">
                <a:solidFill>
                  <a:srgbClr val="1C2530"/>
                </a:solidFill>
                <a:latin typeface="Arial"/>
              </a:rPr>
              <a:t>€5M</a:t>
            </a:r>
          </a:p>
        </p:txBody>
      </p:sp>
      <p:cxnSp>
        <p:nvCxnSpPr>
          <p:cNvPr id="52" name="cpe|commentary|line|51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3" name="cpe|commentary|text|52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  <a:r>
              <a:rPr sz="1200" b="0">
                <a:solidFill>
                  <a:srgbClr val="1C2530"/>
                </a:solidFill>
                <a:latin typeface="Arial"/>
              </a:rPr>
              <a:t> is the largest driver: 14 depots vs 9 at peers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C2530"/>
                </a:solidFill>
                <a:latin typeface="Arial"/>
              </a:rPr>
              <a:t>Warehousing</a:t>
            </a:r>
            <a:r>
              <a:rPr sz="1200" b="0">
                <a:solidFill>
                  <a:srgbClr val="1C2530"/>
                </a:solidFill>
                <a:latin typeface="Arial"/>
              </a:rPr>
              <a:t> is fixable with automation of two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need commercial, not operational, 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 per drop rose 21% since 2021 while peers held it flat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8722235" y="1901952"/>
            <a:ext cx="1621491" cy="324383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label|7"/>
          <p:cNvSpPr txBox="1"/>
          <p:nvPr/>
        </p:nvSpPr>
        <p:spPr>
          <a:xfrm>
            <a:off x="8767955" y="1929384"/>
            <a:ext cx="15300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Forecast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9624421" y="3068069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Helix</a:t>
            </a:r>
            <a:r>
              <a:rPr sz="1100" b="0">
                <a:solidFill>
                  <a:srgbClr val="13294B"/>
                </a:solidFill>
                <a:latin typeface="Arial"/>
              </a:rPr>
              <a:t> 5.6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9624421" y="4347315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6776"/>
                </a:solidFill>
                <a:latin typeface="Arial"/>
              </a:rPr>
              <a:t>Peer median</a:t>
            </a:r>
            <a:r>
              <a:rPr sz="1100" b="0">
                <a:solidFill>
                  <a:srgbClr val="5B6776"/>
                </a:solidFill>
                <a:latin typeface="Arial"/>
              </a:rPr>
              <a:t> 4.8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68324" y="41644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4.8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1425524" y="2364210"/>
            <a:ext cx="6485965" cy="0"/>
          </a:xfrm>
          <a:prstGeom prst="line">
            <a:avLst/>
          </a:prstGeom>
          <a:ln w="9525">
            <a:solidFill>
              <a:srgbClr val="1C2530"/>
            </a:solidFill>
            <a:tailEnd type="triangle" w="med" len="med"/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425524" y="2364210"/>
            <a:ext cx="0" cy="91440"/>
          </a:xfrm>
          <a:prstGeom prst="line">
            <a:avLst/>
          </a:prstGeom>
          <a:ln w="9525">
            <a:solidFill>
              <a:srgbClr val="1C2530"/>
            </a:solidFill>
          </a:ln>
        </p:spPr>
      </p:cxnSp>
      <p:sp>
        <p:nvSpPr>
          <p:cNvPr id="15" name="cpe|exhibit|label|14"/>
          <p:cNvSpPr txBox="1"/>
          <p:nvPr/>
        </p:nvSpPr>
        <p:spPr>
          <a:xfrm>
            <a:off x="4394601" y="2227050"/>
            <a:ext cx="5478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+21%</a:t>
            </a:r>
          </a:p>
        </p:txBody>
      </p:sp>
      <p:sp>
        <p:nvSpPr>
          <p:cNvPr id="16" name="cpe|takeaway|fill|15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takeaway|fill|16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takeaway|text|17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The gap is structural: it grew every year until wave 1 started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Only 61% of orders arrive in full and on time, with picking causing the largest loss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WMS extract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Order fulfilment, Q2 2026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orders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9" name="cpe|exhibit|text|8"/>
          <p:cNvSpPr txBox="1"/>
          <p:nvPr/>
        </p:nvSpPr>
        <p:spPr>
          <a:xfrm>
            <a:off x="502920" y="1901952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Orders received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795821" y="2542032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92%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92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788920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available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795821" y="3429000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85%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78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502920" y="3675888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Picked correctly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6795821" y="4315968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92B"/>
                </a:solidFill>
                <a:latin typeface="Arial"/>
              </a:rPr>
              <a:t>▼ 82%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4562856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Shipped on time</a:t>
            </a:r>
          </a:p>
        </p:txBody>
      </p:sp>
      <p:sp>
        <p:nvSpPr>
          <p:cNvPr id="22" name="cpe|exhibit|label|21"/>
          <p:cNvSpPr txBox="1"/>
          <p:nvPr/>
        </p:nvSpPr>
        <p:spPr>
          <a:xfrm>
            <a:off x="6795821" y="5202936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95%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502920" y="5449824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Delivered in full, on time</a:t>
            </a:r>
          </a:p>
        </p:txBody>
      </p:sp>
      <p:cxnSp>
        <p:nvCxnSpPr>
          <p:cNvPr id="26" name="cpe|commentary|line|25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7" name="cpe|commentary|text|26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Picking errors lose </a:t>
            </a:r>
            <a:r>
              <a:rPr sz="1200" b="1">
                <a:solidFill>
                  <a:srgbClr val="1C2530"/>
                </a:solidFill>
                <a:latin typeface="Arial"/>
              </a:rPr>
              <a:t>14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, the largest single drop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availability is at peer level (92%)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Cost-to-serve is highest in the north-west, where depot density is lowest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Transport management system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 by region,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solidFill>
            <a:srgbClr val="193458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GA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7.4</a:t>
            </a:r>
          </a:p>
        </p:txBody>
      </p:sp>
      <p:sp>
        <p:nvSpPr>
          <p:cNvPr id="9" name="cpe|exhibit|fill|8"/>
          <p:cNvSpPr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solidFill>
            <a:srgbClr val="23476E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text|9"/>
          <p:cNvSpPr txBox="1"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AS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7.1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solidFill>
            <a:srgbClr val="55779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6.2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solidFill>
            <a:srgbClr val="A2BA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text|13"/>
          <p:cNvSpPr txBox="1"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PV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5.5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solidFill>
            <a:srgbClr val="9AB5D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NA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5.6</a:t>
            </a:r>
          </a:p>
        </p:txBody>
      </p:sp>
      <p:sp>
        <p:nvSpPr>
          <p:cNvPr id="17" name="cpe|exhibit|fill|16"/>
          <p:cNvSpPr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solidFill>
            <a:srgbClr val="2D5A8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text|17"/>
          <p:cNvSpPr txBox="1"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CL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6.8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solidFill>
            <a:srgbClr val="84A4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RI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5.9</a:t>
            </a:r>
          </a:p>
        </p:txBody>
      </p:sp>
      <p:sp>
        <p:nvSpPr>
          <p:cNvPr id="21" name="cpe|exhibit|fill|20"/>
          <p:cNvSpPr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AR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6.0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solidFill>
            <a:srgbClr val="BFD0E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CT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5.1</a:t>
            </a:r>
          </a:p>
        </p:txBody>
      </p:sp>
      <p:sp>
        <p:nvSpPr>
          <p:cNvPr id="25" name="cpe|exhibit|fill|24"/>
          <p:cNvSpPr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MD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4.6</a:t>
            </a:r>
          </a:p>
        </p:txBody>
      </p:sp>
      <p:sp>
        <p:nvSpPr>
          <p:cNvPr id="27" name="cpe|exhibit|fill|26"/>
          <p:cNvSpPr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solidFill>
            <a:srgbClr val="29547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text|27"/>
          <p:cNvSpPr txBox="1"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EX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6.9</a:t>
            </a:r>
          </a:p>
        </p:txBody>
      </p:sp>
      <p:sp>
        <p:nvSpPr>
          <p:cNvPr id="29" name="cpe|exhibit|fill|28"/>
          <p:cNvSpPr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solidFill>
            <a:srgbClr val="7094B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text|29"/>
          <p:cNvSpPr txBox="1"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CM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6.1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solidFill>
            <a:srgbClr val="C5D4E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VC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5.0</a:t>
            </a:r>
          </a:p>
        </p:txBody>
      </p:sp>
      <p:sp>
        <p:nvSpPr>
          <p:cNvPr id="33" name="cpe|exhibit|fill|32"/>
          <p:cNvSpPr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solidFill>
            <a:srgbClr val="3C6A9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text|33"/>
          <p:cNvSpPr txBox="1"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IB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6.6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solidFill>
            <a:srgbClr val="A9C0D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5.4</a:t>
            </a:r>
          </a:p>
        </p:txBody>
      </p:sp>
      <p:sp>
        <p:nvSpPr>
          <p:cNvPr id="37" name="cpe|exhibit|fill|36"/>
          <p:cNvSpPr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solidFill>
            <a:srgbClr val="B7CA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text|37"/>
          <p:cNvSpPr txBox="1"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5.2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solidFill>
            <a:srgbClr val="264D7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7.0</a:t>
            </a:r>
          </a:p>
        </p:txBody>
      </p:sp>
      <p:sp>
        <p:nvSpPr>
          <p:cNvPr id="41" name="cpe|exhibit|fill|40"/>
          <p:cNvSpPr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cpe|exhibit|text|41"/>
          <p:cNvSpPr txBox="1"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CE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ML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3801161" y="5317236"/>
            <a:ext cx="384048" cy="146304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4185209" y="5317236"/>
            <a:ext cx="384048" cy="146304"/>
          </a:xfrm>
          <a:prstGeom prst="rect">
            <a:avLst/>
          </a:prstGeom>
          <a:solidFill>
            <a:srgbClr val="B0C5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marker|46"/>
          <p:cNvSpPr/>
          <p:nvPr/>
        </p:nvSpPr>
        <p:spPr>
          <a:xfrm>
            <a:off x="4569257" y="5317236"/>
            <a:ext cx="384048" cy="146304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marker|47"/>
          <p:cNvSpPr/>
          <p:nvPr/>
        </p:nvSpPr>
        <p:spPr>
          <a:xfrm>
            <a:off x="4953305" y="5317236"/>
            <a:ext cx="384048" cy="146304"/>
          </a:xfrm>
          <a:prstGeom prst="rect">
            <a:avLst/>
          </a:prstGeom>
          <a:solidFill>
            <a:srgbClr val="32618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exhibit|marker|48"/>
          <p:cNvSpPr/>
          <p:nvPr/>
        </p:nvSpPr>
        <p:spPr>
          <a:xfrm>
            <a:off x="5337353" y="5317236"/>
            <a:ext cx="384048" cy="146304"/>
          </a:xfrm>
          <a:prstGeom prst="rect">
            <a:avLst/>
          </a:prstGeom>
          <a:solidFill>
            <a:srgbClr val="19345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label|49"/>
          <p:cNvSpPr txBox="1"/>
          <p:nvPr/>
        </p:nvSpPr>
        <p:spPr>
          <a:xfrm>
            <a:off x="5812841" y="527151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4.6 → 7.4</a:t>
            </a:r>
          </a:p>
        </p:txBody>
      </p:sp>
      <p:cxnSp>
        <p:nvCxnSpPr>
          <p:cNvPr id="51" name="cpe|commentary|line|50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2" name="cpe|commentary|text|51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Galicia and Asturias cost </a:t>
            </a:r>
            <a:r>
              <a:rPr sz="1200" b="1">
                <a:solidFill>
                  <a:srgbClr val="1C2530"/>
                </a:solidFill>
                <a:latin typeface="Arial"/>
              </a:rPr>
              <a:t>€7+ per drop</a:t>
            </a:r>
            <a:r>
              <a:rPr sz="1200" b="0">
                <a:solidFill>
                  <a:srgbClr val="1C2530"/>
                </a:solidFill>
                <a:latin typeface="Arial"/>
              </a:rPr>
              <a:t>, 55% above Madrid</a:t>
            </a:r>
          </a:p>
        </p:txBody>
      </p:sp>
      <p:sp>
        <p:nvSpPr>
          <p:cNvPr id="53" name="cpe|commentary|text|52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Consolidating three north-west depots saves €6M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Small customers are 38% of drops but only 12% of revenue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Billing data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Mix by customer size,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total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613202" y="2986956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Large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6613202" y="4744159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Medium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613202" y="5582823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Small</a:t>
            </a:r>
          </a:p>
        </p:txBody>
      </p:sp>
      <p:cxnSp>
        <p:nvCxnSpPr>
          <p:cNvPr id="11" name="cpe|commentary|line|1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Minimum order values would remove 20% of drops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Large accounts subsidise the small ones today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Depots with fewer than 400 drops a day cost up to 40% more per drop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Depot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11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Below </a:t>
            </a:r>
            <a:r>
              <a:rPr sz="1200" b="1">
                <a:solidFill>
                  <a:srgbClr val="1C2530"/>
                </a:solidFill>
                <a:latin typeface="Arial"/>
              </a:rPr>
              <a:t>400 drops a day</a:t>
            </a:r>
            <a:r>
              <a:rPr sz="1200" b="0">
                <a:solidFill>
                  <a:srgbClr val="1C2530"/>
                </a:solidFill>
                <a:latin typeface="Arial"/>
              </a:rPr>
              <a:t> fixed costs dominate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Lugo and Oviedo are candidates for consolidation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Depot volume vs cost per drop, 2025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4815907" y="5888736"/>
            <a:ext cx="6725065" cy="31089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Drops per day  →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98594" y="1883664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↑  Cost per drop (€)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11041103" y="5150632"/>
            <a:ext cx="46131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Madrid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88235" y="4885091"/>
            <a:ext cx="64498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Barcelona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014824" y="4619549"/>
            <a:ext cx="55087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Valencia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7726607" y="4354007"/>
            <a:ext cx="4472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Sevilla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765884" y="4088465"/>
            <a:ext cx="4261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Bilbao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5570799" y="3911437"/>
            <a:ext cx="6096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Zaragoza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468907" y="2583729"/>
            <a:ext cx="38342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Lugo</a:t>
            </a:r>
          </a:p>
        </p:txBody>
      </p:sp>
      <p:sp>
        <p:nvSpPr>
          <p:cNvPr id="19" name="cpe|exhibit|label|18"/>
          <p:cNvSpPr txBox="1"/>
          <p:nvPr/>
        </p:nvSpPr>
        <p:spPr>
          <a:xfrm>
            <a:off x="5661052" y="2849270"/>
            <a:ext cx="503603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Oviedo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Programme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redesign and hub automation offer the best value for effort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Initiative assessment workshop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assessment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13639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615379"/>
                <a:gridCol w="1615379"/>
                <a:gridCol w="1615379"/>
                <a:gridCol w="1615379"/>
                <a:gridCol w="1615379"/>
              </a:tblGrid>
              <a:tr h="33032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3294B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Feasibility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Risk (low = full)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5916077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5916077" y="2464165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531456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marker|12"/>
          <p:cNvSpPr/>
          <p:nvPr/>
        </p:nvSpPr>
        <p:spPr>
          <a:xfrm>
            <a:off x="7531456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marker|13"/>
          <p:cNvSpPr/>
          <p:nvPr/>
        </p:nvSpPr>
        <p:spPr>
          <a:xfrm>
            <a:off x="9146835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marker|14"/>
          <p:cNvSpPr/>
          <p:nvPr/>
        </p:nvSpPr>
        <p:spPr>
          <a:xfrm>
            <a:off x="9146835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marker|15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marker|16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marker|17"/>
          <p:cNvSpPr/>
          <p:nvPr/>
        </p:nvSpPr>
        <p:spPr>
          <a:xfrm>
            <a:off x="5916077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marker|18"/>
          <p:cNvSpPr/>
          <p:nvPr/>
        </p:nvSpPr>
        <p:spPr>
          <a:xfrm>
            <a:off x="5916077" y="3165681"/>
            <a:ext cx="237744" cy="237744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marker|19"/>
          <p:cNvSpPr/>
          <p:nvPr/>
        </p:nvSpPr>
        <p:spPr>
          <a:xfrm>
            <a:off x="7531456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marker|20"/>
          <p:cNvSpPr/>
          <p:nvPr/>
        </p:nvSpPr>
        <p:spPr>
          <a:xfrm>
            <a:off x="7531456" y="3165681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marker|21"/>
          <p:cNvSpPr/>
          <p:nvPr/>
        </p:nvSpPr>
        <p:spPr>
          <a:xfrm>
            <a:off x="9146835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marker|22"/>
          <p:cNvSpPr/>
          <p:nvPr/>
        </p:nvSpPr>
        <p:spPr>
          <a:xfrm>
            <a:off x="9146835" y="3165681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4300698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marker|24"/>
          <p:cNvSpPr/>
          <p:nvPr/>
        </p:nvSpPr>
        <p:spPr>
          <a:xfrm>
            <a:off x="4300698" y="386719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marker|26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marker|27"/>
          <p:cNvSpPr/>
          <p:nvPr/>
        </p:nvSpPr>
        <p:spPr>
          <a:xfrm>
            <a:off x="7531456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marker|28"/>
          <p:cNvSpPr/>
          <p:nvPr/>
        </p:nvSpPr>
        <p:spPr>
          <a:xfrm>
            <a:off x="7531456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marker|29"/>
          <p:cNvSpPr/>
          <p:nvPr/>
        </p:nvSpPr>
        <p:spPr>
          <a:xfrm>
            <a:off x="9146835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marker|30"/>
          <p:cNvSpPr/>
          <p:nvPr/>
        </p:nvSpPr>
        <p:spPr>
          <a:xfrm>
            <a:off x="9146835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marker|31"/>
          <p:cNvSpPr/>
          <p:nvPr/>
        </p:nvSpPr>
        <p:spPr>
          <a:xfrm>
            <a:off x="4300698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marker|32"/>
          <p:cNvSpPr/>
          <p:nvPr/>
        </p:nvSpPr>
        <p:spPr>
          <a:xfrm>
            <a:off x="4300698" y="4568714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marker|33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marker|34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marker|35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marker|36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marker|37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marker|38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marker|39"/>
          <p:cNvSpPr/>
          <p:nvPr/>
        </p:nvSpPr>
        <p:spPr>
          <a:xfrm>
            <a:off x="5029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label|40"/>
          <p:cNvSpPr txBox="1"/>
          <p:nvPr/>
        </p:nvSpPr>
        <p:spPr>
          <a:xfrm>
            <a:off x="7223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None</a:t>
            </a:r>
          </a:p>
        </p:txBody>
      </p:sp>
      <p:sp>
        <p:nvSpPr>
          <p:cNvPr id="42" name="cpe|exhibit|marker|41"/>
          <p:cNvSpPr/>
          <p:nvPr/>
        </p:nvSpPr>
        <p:spPr>
          <a:xfrm>
            <a:off x="14173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cpe|exhibit|marker|42"/>
          <p:cNvSpPr/>
          <p:nvPr/>
        </p:nvSpPr>
        <p:spPr>
          <a:xfrm>
            <a:off x="1417320" y="5166360"/>
            <a:ext cx="164592" cy="16459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6367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Partial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label|46"/>
          <p:cNvSpPr txBox="1"/>
          <p:nvPr/>
        </p:nvSpPr>
        <p:spPr>
          <a:xfrm>
            <a:off x="25511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Full</a:t>
            </a:r>
          </a:p>
        </p:txBody>
      </p:sp>
      <p:sp>
        <p:nvSpPr>
          <p:cNvPr id="48" name="cpe|takeaway|fill|4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takeaway|fill|4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takeaway|text|4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Launch terms and procurement first for speed; network and automation carry the value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4694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new order-to-delivery process removes two hand-offs and the manual picking step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Process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14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640080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1  Order capture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597445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9" name="cpe|exhibit|line|8"/>
          <p:cNvCxnSpPr/>
          <p:nvPr/>
        </p:nvCxnSpPr>
        <p:spPr>
          <a:xfrm>
            <a:off x="502920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0" name="cpe|exhibit|text|9"/>
          <p:cNvSpPr txBox="1"/>
          <p:nvPr/>
        </p:nvSpPr>
        <p:spPr>
          <a:xfrm>
            <a:off x="502920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0.3%</a:t>
            </a:r>
          </a:p>
        </p:txBody>
      </p:sp>
      <p:sp>
        <p:nvSpPr>
          <p:cNvPr id="11" name="cpe|exhibit|text|10"/>
          <p:cNvSpPr txBox="1"/>
          <p:nvPr/>
        </p:nvSpPr>
        <p:spPr>
          <a:xfrm>
            <a:off x="502920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order errors (from 2.1%)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Sales ops · &lt;1h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EDI for top 200 customers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Minimum order value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2780325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2917485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2  Allocation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487484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17" name="cpe|exhibit|line|16"/>
          <p:cNvCxnSpPr/>
          <p:nvPr/>
        </p:nvCxnSpPr>
        <p:spPr>
          <a:xfrm>
            <a:off x="2780325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780325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2h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780325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planning time (from 3h)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2780325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Planning · 2h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2780325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Automated slotting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Daily wave plan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5057729" y="1481328"/>
            <a:ext cx="2076237" cy="65836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519488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3  Automated picking</a:t>
            </a:r>
          </a:p>
        </p:txBody>
      </p:sp>
      <p:cxnSp>
        <p:nvCxnSpPr>
          <p:cNvPr id="24" name="cpe|exhibit|connector|23"/>
          <p:cNvCxnSpPr/>
          <p:nvPr/>
        </p:nvCxnSpPr>
        <p:spPr>
          <a:xfrm>
            <a:off x="7152254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25" name="cpe|exhibit|line|24"/>
          <p:cNvCxnSpPr/>
          <p:nvPr/>
        </p:nvCxnSpPr>
        <p:spPr>
          <a:xfrm>
            <a:off x="5057729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6" name="cpe|exhibit|text|25"/>
          <p:cNvSpPr txBox="1"/>
          <p:nvPr/>
        </p:nvSpPr>
        <p:spPr>
          <a:xfrm>
            <a:off x="505772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99.7%</a:t>
            </a:r>
          </a:p>
        </p:txBody>
      </p:sp>
      <p:sp>
        <p:nvSpPr>
          <p:cNvPr id="27" name="cpe|exhibit|text|26"/>
          <p:cNvSpPr txBox="1"/>
          <p:nvPr/>
        </p:nvSpPr>
        <p:spPr>
          <a:xfrm>
            <a:off x="505772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pick accuracy (from 97.9%)</a:t>
            </a:r>
          </a:p>
        </p:txBody>
      </p:sp>
      <p:sp>
        <p:nvSpPr>
          <p:cNvPr id="28" name="cpe|exhibit|text|27"/>
          <p:cNvSpPr txBox="1"/>
          <p:nvPr/>
        </p:nvSpPr>
        <p:spPr>
          <a:xfrm>
            <a:off x="505772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Hub ops · 4h</a:t>
            </a:r>
          </a:p>
        </p:txBody>
      </p:sp>
      <p:sp>
        <p:nvSpPr>
          <p:cNvPr id="29" name="cpe|exhibit|text|28"/>
          <p:cNvSpPr txBox="1"/>
          <p:nvPr/>
        </p:nvSpPr>
        <p:spPr>
          <a:xfrm>
            <a:off x="505772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Error rate &lt; 0.3%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7335134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7472294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4  Dispatch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942965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33" name="cpe|exhibit|line|32"/>
          <p:cNvCxnSpPr/>
          <p:nvPr/>
        </p:nvCxnSpPr>
        <p:spPr>
          <a:xfrm>
            <a:off x="7335134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7335134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7335134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 (from 77%)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7335134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Transport · 1h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7335134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Fill ≥ 85%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9612539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974969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5  Delivery</a:t>
            </a:r>
          </a:p>
        </p:txBody>
      </p:sp>
      <p:cxnSp>
        <p:nvCxnSpPr>
          <p:cNvPr id="40" name="cpe|exhibit|line|39"/>
          <p:cNvCxnSpPr/>
          <p:nvPr/>
        </p:nvCxnSpPr>
        <p:spPr>
          <a:xfrm>
            <a:off x="9612539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41" name="cpe|exhibit|text|40"/>
          <p:cNvSpPr txBox="1"/>
          <p:nvPr/>
        </p:nvSpPr>
        <p:spPr>
          <a:xfrm>
            <a:off x="961253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42" name="cpe|exhibit|text|41"/>
          <p:cNvSpPr txBox="1"/>
          <p:nvPr/>
        </p:nvSpPr>
        <p:spPr>
          <a:xfrm>
            <a:off x="961253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in full, on time (from 61%)</a:t>
            </a:r>
          </a:p>
        </p:txBody>
      </p:sp>
      <p:sp>
        <p:nvSpPr>
          <p:cNvPr id="43" name="cpe|exhibit|text|42"/>
          <p:cNvSpPr txBox="1"/>
          <p:nvPr/>
        </p:nvSpPr>
        <p:spPr>
          <a:xfrm>
            <a:off x="961253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Carriers · 24h</a:t>
            </a:r>
          </a:p>
        </p:txBody>
      </p:sp>
      <p:sp>
        <p:nvSpPr>
          <p:cNvPr id="44" name="cpe|exhibit|text|43"/>
          <p:cNvSpPr txBox="1"/>
          <p:nvPr/>
        </p:nvSpPr>
        <p:spPr>
          <a:xfrm>
            <a:off x="961253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Proof of delivery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Returns in 48h</a:t>
            </a:r>
          </a:p>
        </p:txBody>
      </p:sp>
      <p:sp>
        <p:nvSpPr>
          <p:cNvPr id="45" name="cpe|takeaway|fill|4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takeaway|fill|4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takeaway|text|4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Order-to-delivery falls from 31 to 24 hours and in-full-on-time deliveries rise from 61% to 85%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Customers lose most time at order confirmation and delivery booking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Customer interviews, n=40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15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2331720" y="1481328"/>
            <a:ext cx="1922617" cy="457200"/>
          </a:xfrm>
          <a:prstGeom prst="homePlate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2560320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Order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4217761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4446361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Confirmation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6103803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6332403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Booking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7989844" y="1481328"/>
            <a:ext cx="1922617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218444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Delivery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875886" y="1481328"/>
            <a:ext cx="1812889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10104486" y="1481328"/>
            <a:ext cx="135568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Arial"/>
              </a:rPr>
              <a:t>Invoice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502920" y="2048256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Customer action</a:t>
            </a:r>
          </a:p>
        </p:txBody>
      </p:sp>
      <p:cxnSp>
        <p:nvCxnSpPr>
          <p:cNvPr id="17" name="cpe|exhibit|line|16"/>
          <p:cNvCxnSpPr/>
          <p:nvPr/>
        </p:nvCxnSpPr>
        <p:spPr>
          <a:xfrm>
            <a:off x="502920" y="341985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377440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Places order by EDI or phone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4263481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Waits for confirmation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6149523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Calls to book a slot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8035564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Receives goods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9921606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Checks invoice</a:t>
            </a:r>
          </a:p>
        </p:txBody>
      </p:sp>
      <p:sp>
        <p:nvSpPr>
          <p:cNvPr id="23" name="cpe|exhibit|text|22"/>
          <p:cNvSpPr txBox="1"/>
          <p:nvPr/>
        </p:nvSpPr>
        <p:spPr>
          <a:xfrm>
            <a:off x="502920" y="3456432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Pain points</a:t>
            </a:r>
          </a:p>
        </p:txBody>
      </p:sp>
      <p:cxnSp>
        <p:nvCxnSpPr>
          <p:cNvPr id="24" name="cpe|exhibit|line|23"/>
          <p:cNvCxnSpPr/>
          <p:nvPr/>
        </p:nvCxnSpPr>
        <p:spPr>
          <a:xfrm>
            <a:off x="502920" y="4828032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2377440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Phone orders error-prone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4217761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4263481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Up to 24h wait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103803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149523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3 calls on average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8035564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Partial deliveries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9921606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Disputes on 6%</a:t>
            </a:r>
          </a:p>
        </p:txBody>
      </p:sp>
      <p:sp>
        <p:nvSpPr>
          <p:cNvPr id="32" name="cpe|exhibit|text|31"/>
          <p:cNvSpPr txBox="1"/>
          <p:nvPr/>
        </p:nvSpPr>
        <p:spPr>
          <a:xfrm>
            <a:off x="502920" y="4864608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2530"/>
                </a:solidFill>
                <a:latin typeface="Arial"/>
              </a:rPr>
              <a:t>Fix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6236208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2377440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EDI + portal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4263481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Instant confirmation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6149523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Self-service slots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035564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Pick accuracy</a:t>
            </a:r>
          </a:p>
        </p:txBody>
      </p:sp>
      <p:sp>
        <p:nvSpPr>
          <p:cNvPr id="38" name="cpe|exhibit|text|37"/>
          <p:cNvSpPr txBox="1"/>
          <p:nvPr/>
        </p:nvSpPr>
        <p:spPr>
          <a:xfrm>
            <a:off x="9921606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C2530"/>
                </a:solidFill>
                <a:latin typeface="Arial"/>
              </a:rPr>
              <a:t>E-invoice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A lean transformation office with four initiative owners runs the programme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Governance charter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4998568" y="1481328"/>
            <a:ext cx="2194560" cy="8686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053432" y="1481328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Steering committee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CEO (chair), CFO, COO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6095848" y="2350008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6095848" y="2542032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0" name="cpe|exhibit|fill|9"/>
          <p:cNvSpPr/>
          <p:nvPr/>
        </p:nvSpPr>
        <p:spPr>
          <a:xfrm>
            <a:off x="4998568" y="2734056"/>
            <a:ext cx="2194560" cy="8686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053432" y="2734056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Transformation office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Programme director + 3 FTE</a:t>
            </a:r>
          </a:p>
        </p:txBody>
      </p:sp>
      <p:cxnSp>
        <p:nvCxnSpPr>
          <p:cNvPr id="12" name="cpe|exhibit|connector|1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3" name="cpe|exhibit|connector|12"/>
          <p:cNvCxnSpPr/>
          <p:nvPr/>
        </p:nvCxnSpPr>
        <p:spPr>
          <a:xfrm>
            <a:off x="1901152" y="3794760"/>
            <a:ext cx="4194696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901152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5" name="cpe|exhibit|fill|14"/>
          <p:cNvSpPr/>
          <p:nvPr/>
        </p:nvSpPr>
        <p:spPr>
          <a:xfrm>
            <a:off x="803872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858736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logistics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697616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4697616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0" name="cpe|exhibit|fill|19"/>
          <p:cNvSpPr/>
          <p:nvPr/>
        </p:nvSpPr>
        <p:spPr>
          <a:xfrm>
            <a:off x="3600336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3655200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Automation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hubs</a:t>
            </a:r>
          </a:p>
        </p:txBody>
      </p:sp>
      <p:cxnSp>
        <p:nvCxnSpPr>
          <p:cNvPr id="22" name="cpe|exhibit|connector|2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095848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7494080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6396800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6451663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Customer terms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Sales director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6095848" y="3794760"/>
            <a:ext cx="4194695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10290543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9193263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9248127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Procurement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CPO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target architecture adds a WMS and a routing engine on a common data layer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IT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17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Channels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EDI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5505602" y="1481328"/>
            <a:ext cx="273497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560466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portal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8313725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368589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Call centre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502920" y="2683764"/>
            <a:ext cx="2103120" cy="111099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594360" y="2683764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2697480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2752344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ERP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4803572" y="2683764"/>
            <a:ext cx="2032940" cy="1110996"/>
          </a:xfrm>
          <a:prstGeom prst="rect">
            <a:avLst/>
          </a:prstGeom>
          <a:solidFill>
            <a:srgbClr val="E08A00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4858436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WMS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909664" y="2683764"/>
            <a:ext cx="203294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6964528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Routing engine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9015755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9070619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TMS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886200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886200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886200"/>
            <a:ext cx="4139032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Common data layer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909664" y="3886200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964528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Reporting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502920" y="5088636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94360" y="5088636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Infrastructure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2697480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2752344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Cloud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6909664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6964528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controls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11121847" y="1481328"/>
            <a:ext cx="566928" cy="4718304"/>
          </a:xfrm>
          <a:prstGeom prst="rect">
            <a:avLst/>
          </a:prstGeom>
          <a:solidFill>
            <a:srgbClr val="F4F6F9"/>
          </a:solidFill>
          <a:ln w="6350">
            <a:solidFill>
              <a:srgbClr val="B6C0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vtext|36"/>
          <p:cNvSpPr txBox="1"/>
          <p:nvPr/>
        </p:nvSpPr>
        <p:spPr>
          <a:xfrm>
            <a:off x="11121847" y="1572768"/>
            <a:ext cx="566928" cy="4535424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Security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phases move from quick wins to structural change within 24 months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18</a:t>
            </a:r>
          </a:p>
        </p:txBody>
      </p:sp>
      <p:sp>
        <p:nvSpPr>
          <p:cNvPr id="6" name="cpe|col_1|text|5"/>
          <p:cNvSpPr txBox="1"/>
          <p:nvPr/>
        </p:nvSpPr>
        <p:spPr>
          <a:xfrm>
            <a:off x="502920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1 · Quick wins</a:t>
            </a:r>
          </a:p>
        </p:txBody>
      </p:sp>
      <p:cxnSp>
        <p:nvCxnSpPr>
          <p:cNvPr id="7" name="cpe|col_1|line|6"/>
          <p:cNvCxnSpPr/>
          <p:nvPr/>
        </p:nvCxnSpPr>
        <p:spPr>
          <a:xfrm>
            <a:off x="502920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8" name="cpe|col_1|text|7"/>
          <p:cNvSpPr txBox="1"/>
          <p:nvPr/>
        </p:nvSpPr>
        <p:spPr>
          <a:xfrm>
            <a:off x="502920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€11M</a:t>
            </a:r>
          </a:p>
        </p:txBody>
      </p:sp>
      <p:sp>
        <p:nvSpPr>
          <p:cNvPr id="9" name="cpe|col_1|text|8"/>
          <p:cNvSpPr txBox="1"/>
          <p:nvPr/>
        </p:nvSpPr>
        <p:spPr>
          <a:xfrm>
            <a:off x="502920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2026</a:t>
            </a:r>
          </a:p>
        </p:txBody>
      </p:sp>
      <p:sp>
        <p:nvSpPr>
          <p:cNvPr id="10" name="cpe|col_1|text|9"/>
          <p:cNvSpPr txBox="1"/>
          <p:nvPr/>
        </p:nvSpPr>
        <p:spPr>
          <a:xfrm>
            <a:off x="502920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Fund the programme</a:t>
            </a:r>
          </a:p>
        </p:txBody>
      </p:sp>
      <p:sp>
        <p:nvSpPr>
          <p:cNvPr id="11" name="cpe|col_1|text|10"/>
          <p:cNvSpPr txBox="1"/>
          <p:nvPr/>
        </p:nvSpPr>
        <p:spPr>
          <a:xfrm>
            <a:off x="502920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reset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Transport tender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Overtime controls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Self-funding by Q4 2026</a:t>
            </a:r>
          </a:p>
        </p:txBody>
      </p:sp>
      <p:sp>
        <p:nvSpPr>
          <p:cNvPr id="12" name="cpe|col_2|fill|11"/>
          <p:cNvSpPr/>
          <p:nvPr/>
        </p:nvSpPr>
        <p:spPr>
          <a:xfrm>
            <a:off x="4298594" y="1481328"/>
            <a:ext cx="3594506" cy="56692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col_2|text|12"/>
          <p:cNvSpPr txBox="1"/>
          <p:nvPr/>
        </p:nvSpPr>
        <p:spPr>
          <a:xfrm>
            <a:off x="4435754" y="1481328"/>
            <a:ext cx="332018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Phase 2 · Automation</a:t>
            </a:r>
          </a:p>
        </p:txBody>
      </p:sp>
      <p:sp>
        <p:nvSpPr>
          <p:cNvPr id="14" name="cpe|col_2|text|13"/>
          <p:cNvSpPr txBox="1"/>
          <p:nvPr/>
        </p:nvSpPr>
        <p:spPr>
          <a:xfrm>
            <a:off x="4298594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€13M</a:t>
            </a:r>
          </a:p>
        </p:txBody>
      </p:sp>
      <p:sp>
        <p:nvSpPr>
          <p:cNvPr id="15" name="cpe|col_2|text|14"/>
          <p:cNvSpPr txBox="1"/>
          <p:nvPr/>
        </p:nvSpPr>
        <p:spPr>
          <a:xfrm>
            <a:off x="4298594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Q3 2027</a:t>
            </a:r>
          </a:p>
        </p:txBody>
      </p:sp>
      <p:sp>
        <p:nvSpPr>
          <p:cNvPr id="16" name="cpe|col_2|text|15"/>
          <p:cNvSpPr txBox="1"/>
          <p:nvPr/>
        </p:nvSpPr>
        <p:spPr>
          <a:xfrm>
            <a:off x="4298594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Fix the hubs</a:t>
            </a:r>
          </a:p>
        </p:txBody>
      </p:sp>
      <p:sp>
        <p:nvSpPr>
          <p:cNvPr id="17" name="cpe|col_2|text|16"/>
          <p:cNvSpPr txBox="1"/>
          <p:nvPr/>
        </p:nvSpPr>
        <p:spPr>
          <a:xfrm>
            <a:off x="4298594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WMS go-live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 accuracy &gt; 99.7%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Capex €22M, payback 19 months</a:t>
            </a:r>
          </a:p>
        </p:txBody>
      </p:sp>
      <p:sp>
        <p:nvSpPr>
          <p:cNvPr id="18" name="cpe|col_3|text|17"/>
          <p:cNvSpPr txBox="1"/>
          <p:nvPr/>
        </p:nvSpPr>
        <p:spPr>
          <a:xfrm>
            <a:off x="8094269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3 · Network</a:t>
            </a:r>
          </a:p>
        </p:txBody>
      </p:sp>
      <p:cxnSp>
        <p:nvCxnSpPr>
          <p:cNvPr id="19" name="cpe|col_3|line|18"/>
          <p:cNvCxnSpPr/>
          <p:nvPr/>
        </p:nvCxnSpPr>
        <p:spPr>
          <a:xfrm>
            <a:off x="8094269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20" name="cpe|col_3|text|19"/>
          <p:cNvSpPr txBox="1"/>
          <p:nvPr/>
        </p:nvSpPr>
        <p:spPr>
          <a:xfrm>
            <a:off x="8094269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€17M</a:t>
            </a:r>
          </a:p>
        </p:txBody>
      </p:sp>
      <p:sp>
        <p:nvSpPr>
          <p:cNvPr id="21" name="cpe|col_3|text|20"/>
          <p:cNvSpPr txBox="1"/>
          <p:nvPr/>
        </p:nvSpPr>
        <p:spPr>
          <a:xfrm>
            <a:off x="8094269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2027</a:t>
            </a:r>
          </a:p>
        </p:txBody>
      </p:sp>
      <p:sp>
        <p:nvSpPr>
          <p:cNvPr id="22" name="cpe|col_3|text|21"/>
          <p:cNvSpPr txBox="1"/>
          <p:nvPr/>
        </p:nvSpPr>
        <p:spPr>
          <a:xfrm>
            <a:off x="8094269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Redesign the network</a:t>
            </a:r>
          </a:p>
        </p:txBody>
      </p:sp>
      <p:sp>
        <p:nvSpPr>
          <p:cNvPr id="23" name="cpe|col_3|text|22"/>
          <p:cNvSpPr txBox="1"/>
          <p:nvPr/>
        </p:nvSpPr>
        <p:spPr>
          <a:xfrm>
            <a:off x="8094269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Close 5 depots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Two new cross-docks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Needs works-council agreement</a:t>
            </a:r>
          </a:p>
        </p:txBody>
      </p:sp>
      <p:sp>
        <p:nvSpPr>
          <p:cNvPr id="24" name="cpe|takeaway|fill|23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text|25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Phase 1 savings fund phase 2, and phases 1-2 de-risk the network redesign before any depot closes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Five milestones gate the programme; the WMS go-live in Q2 2027 is the critical one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19</a:t>
            </a:r>
          </a:p>
        </p:txBody>
      </p:sp>
      <p:cxnSp>
        <p:nvCxnSpPr>
          <p:cNvPr id="6" name="cpe|exhibit|line|5"/>
          <p:cNvCxnSpPr/>
          <p:nvPr/>
        </p:nvCxnSpPr>
        <p:spPr>
          <a:xfrm>
            <a:off x="502920" y="3153308"/>
            <a:ext cx="11185855" cy="0"/>
          </a:xfrm>
          <a:prstGeom prst="line">
            <a:avLst/>
          </a:prstGeom>
          <a:ln w="19050">
            <a:solidFill>
              <a:srgbClr val="B6C0CB"/>
            </a:solidFill>
          </a:ln>
        </p:spPr>
      </p:cxnSp>
      <p:sp>
        <p:nvSpPr>
          <p:cNvPr id="7" name="cpe|exhibit|marker|6"/>
          <p:cNvSpPr/>
          <p:nvPr/>
        </p:nvSpPr>
        <p:spPr>
          <a:xfrm>
            <a:off x="1552926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8" name="cpe|exhibit|line|7"/>
          <p:cNvCxnSpPr/>
          <p:nvPr/>
        </p:nvCxnSpPr>
        <p:spPr>
          <a:xfrm flipV="1">
            <a:off x="1621506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9" name="cpe|exhibit|text|8"/>
          <p:cNvSpPr txBox="1"/>
          <p:nvPr/>
        </p:nvSpPr>
        <p:spPr>
          <a:xfrm>
            <a:off x="548640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Oct 2026</a:t>
            </a:r>
          </a:p>
        </p:txBody>
      </p:sp>
      <p:sp>
        <p:nvSpPr>
          <p:cNvPr id="10" name="cpe|exhibit|text|9"/>
          <p:cNvSpPr txBox="1"/>
          <p:nvPr/>
        </p:nvSpPr>
        <p:spPr>
          <a:xfrm>
            <a:off x="548640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New customer terms live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Sales director · unlocks €3M of savings in 2026</a:t>
            </a:r>
          </a:p>
        </p:txBody>
      </p:sp>
      <p:sp>
        <p:nvSpPr>
          <p:cNvPr id="11" name="cpe|exhibit|marker|10"/>
          <p:cNvSpPr/>
          <p:nvPr/>
        </p:nvSpPr>
        <p:spPr>
          <a:xfrm>
            <a:off x="3790097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2" name="cpe|exhibit|line|11"/>
          <p:cNvCxnSpPr/>
          <p:nvPr/>
        </p:nvCxnSpPr>
        <p:spPr>
          <a:xfrm>
            <a:off x="3858677" y="3221888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3" name="cpe|exhibit|text|12"/>
          <p:cNvSpPr txBox="1"/>
          <p:nvPr/>
        </p:nvSpPr>
        <p:spPr>
          <a:xfrm>
            <a:off x="2785811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2785811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Transport tender awarded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CPO · rates fixed for 2027-28</a:t>
            </a:r>
          </a:p>
        </p:txBody>
      </p:sp>
      <p:sp>
        <p:nvSpPr>
          <p:cNvPr id="15" name="cpe|exhibit|marker|14"/>
          <p:cNvSpPr/>
          <p:nvPr/>
        </p:nvSpPr>
        <p:spPr>
          <a:xfrm>
            <a:off x="6027268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pe|exhibit|line|15"/>
          <p:cNvCxnSpPr/>
          <p:nvPr/>
        </p:nvCxnSpPr>
        <p:spPr>
          <a:xfrm flipV="1">
            <a:off x="6095848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7" name="cpe|exhibit|text|16"/>
          <p:cNvSpPr txBox="1"/>
          <p:nvPr/>
        </p:nvSpPr>
        <p:spPr>
          <a:xfrm>
            <a:off x="5022982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Mar 2027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5022982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Hub 1 automation commissioned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hubs · first goods-to-person hub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241579" y="3061868"/>
            <a:ext cx="182880" cy="182880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0" name="cpe|exhibit|line|19"/>
          <p:cNvCxnSpPr/>
          <p:nvPr/>
        </p:nvCxnSpPr>
        <p:spPr>
          <a:xfrm>
            <a:off x="8333019" y="3244748"/>
            <a:ext cx="0" cy="10972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1" name="cpe|exhibit|text|20"/>
          <p:cNvSpPr txBox="1"/>
          <p:nvPr/>
        </p:nvSpPr>
        <p:spPr>
          <a:xfrm>
            <a:off x="7260153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Jun 2027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7260153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C2530"/>
                </a:solidFill>
                <a:latin typeface="Arial"/>
              </a:rPr>
              <a:t>WMS go-live (critical path)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CIO · gates hub 2 and €13M of savings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10501610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4" name="cpe|exhibit|line|23"/>
          <p:cNvCxnSpPr/>
          <p:nvPr/>
        </p:nvCxnSpPr>
        <p:spPr>
          <a:xfrm flipV="1">
            <a:off x="10570190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9497324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2027</a:t>
            </a:r>
          </a:p>
        </p:txBody>
      </p:sp>
      <p:sp>
        <p:nvSpPr>
          <p:cNvPr id="26" name="cpe|exhibit|text|25"/>
          <p:cNvSpPr txBox="1"/>
          <p:nvPr/>
        </p:nvSpPr>
        <p:spPr>
          <a:xfrm>
            <a:off x="9497324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Network: 5 depots closed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logistics · €17M run-rate</a:t>
            </a:r>
          </a:p>
        </p:txBody>
      </p:sp>
      <p:sp>
        <p:nvSpPr>
          <p:cNvPr id="27" name="cpe|commentary|text|26"/>
          <p:cNvSpPr txBox="1"/>
          <p:nvPr/>
        </p:nvSpPr>
        <p:spPr>
          <a:xfrm>
            <a:off x="502920" y="5317236"/>
            <a:ext cx="11185855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Why June 2027 matters</a:t>
            </a:r>
          </a:p>
        </p:txBody>
      </p:sp>
      <p:cxnSp>
        <p:nvCxnSpPr>
          <p:cNvPr id="28" name="cpe|commentary|line|27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9" name="cpe|commentary|text|28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The </a:t>
            </a:r>
            <a:r>
              <a:rPr sz="1200" b="1">
                <a:solidFill>
                  <a:srgbClr val="1C2530"/>
                </a:solidFill>
                <a:latin typeface="Arial"/>
              </a:rPr>
              <a:t>WMS go-live</a:t>
            </a:r>
            <a:r>
              <a:rPr sz="1200" b="0">
                <a:solidFill>
                  <a:srgbClr val="1C2530"/>
                </a:solidFill>
                <a:latin typeface="Arial"/>
              </a:rPr>
              <a:t> gates hub automation and €13M of savings</a:t>
            </a:r>
          </a:p>
        </p:txBody>
      </p:sp>
      <p:sp>
        <p:nvSpPr>
          <p:cNvPr id="30" name="cpe|commentary|text|29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A one-quarter slip defers </a:t>
            </a:r>
            <a:r>
              <a:rPr sz="1200" b="1">
                <a:solidFill>
                  <a:srgbClr val="1C2530"/>
                </a:solidFill>
                <a:latin typeface="Arial"/>
              </a:rPr>
              <a:t>€3.5M</a:t>
            </a:r>
            <a:r>
              <a:rPr sz="1200" b="0">
                <a:solidFill>
                  <a:srgbClr val="1C2530"/>
                </a:solidFill>
                <a:latin typeface="Arial"/>
              </a:rPr>
              <a:t> of run-rate savings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Mitigation: parallel data migration and a frozen scope from Q4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Value and decision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of four initiatives are on track; automation is amber on supplier lead times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status, September 2026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429767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2025369"/>
                <a:gridCol w="1041815"/>
                <a:gridCol w="1041815"/>
                <a:gridCol w="1041815"/>
                <a:gridCol w="329184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to date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Target 2027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Comment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Signed with 60% of accounts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CPO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Tender closes in December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hubs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Supplier lead time +6 weeks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logistics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Works council consulted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7757156" y="2683993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7757156" y="3438830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7757156" y="4193667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7757156" y="494850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757156" y="5703341"/>
            <a:ext cx="237744" cy="237744"/>
          </a:xfrm>
          <a:prstGeom prst="ellipse">
            <a:avLst/>
          </a:prstGeom>
          <a:solidFill>
            <a:srgbClr val="8A95A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already cut cost per drop by 3% and overtime by a fifth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KPI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22</a:t>
            </a:r>
          </a:p>
        </p:txBody>
      </p:sp>
      <p:cxnSp>
        <p:nvCxnSpPr>
          <p:cNvPr id="6" name="cpe|kpis|line|5"/>
          <p:cNvCxnSpPr/>
          <p:nvPr/>
        </p:nvCxnSpPr>
        <p:spPr>
          <a:xfrm>
            <a:off x="502920" y="1481328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kpis|text|6"/>
          <p:cNvSpPr txBox="1"/>
          <p:nvPr/>
        </p:nvSpPr>
        <p:spPr>
          <a:xfrm>
            <a:off x="502920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€5.7M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+€2.3M vs plan</a:t>
            </a:r>
          </a:p>
        </p:txBody>
      </p:sp>
      <p:sp>
        <p:nvSpPr>
          <p:cNvPr id="9" name="cpe|kpis|text|8"/>
          <p:cNvSpPr txBox="1"/>
          <p:nvPr/>
        </p:nvSpPr>
        <p:spPr>
          <a:xfrm>
            <a:off x="502920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Savings delivered to date</a:t>
            </a:r>
          </a:p>
        </p:txBody>
      </p:sp>
      <p:sp>
        <p:nvSpPr>
          <p:cNvPr id="10" name="cpe|kpis|text|9"/>
          <p:cNvSpPr txBox="1"/>
          <p:nvPr/>
        </p:nvSpPr>
        <p:spPr>
          <a:xfrm>
            <a:off x="502920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Mostly customer terms and transport rates</a:t>
            </a:r>
          </a:p>
        </p:txBody>
      </p:sp>
      <p:cxnSp>
        <p:nvCxnSpPr>
          <p:cNvPr id="11" name="cpe|kpis|line|10"/>
          <p:cNvCxnSpPr/>
          <p:nvPr/>
        </p:nvCxnSpPr>
        <p:spPr>
          <a:xfrm>
            <a:off x="6297016" y="1481328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kpis|text|11"/>
          <p:cNvSpPr txBox="1"/>
          <p:nvPr/>
        </p:nvSpPr>
        <p:spPr>
          <a:xfrm>
            <a:off x="6297016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€5.63</a:t>
            </a:r>
          </a:p>
        </p:txBody>
      </p:sp>
      <p:sp>
        <p:nvSpPr>
          <p:cNvPr id="13" name="cpe|kpis|text|12"/>
          <p:cNvSpPr txBox="1"/>
          <p:nvPr/>
        </p:nvSpPr>
        <p:spPr>
          <a:xfrm>
            <a:off x="6297016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−3.0% vs 2025</a:t>
            </a:r>
          </a:p>
        </p:txBody>
      </p:sp>
      <p:sp>
        <p:nvSpPr>
          <p:cNvPr id="14" name="cpe|kpis|text|13"/>
          <p:cNvSpPr txBox="1"/>
          <p:nvPr/>
        </p:nvSpPr>
        <p:spPr>
          <a:xfrm>
            <a:off x="6297016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Cost per drop, August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First decline in five years</a:t>
            </a:r>
          </a:p>
        </p:txBody>
      </p:sp>
      <p:cxnSp>
        <p:nvCxnSpPr>
          <p:cNvPr id="16" name="cpe|kpis|line|15"/>
          <p:cNvCxnSpPr/>
          <p:nvPr/>
        </p:nvCxnSpPr>
        <p:spPr>
          <a:xfrm>
            <a:off x="502920" y="4023360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7" name="cpe|kpis|text|16"/>
          <p:cNvSpPr txBox="1"/>
          <p:nvPr/>
        </p:nvSpPr>
        <p:spPr>
          <a:xfrm>
            <a:off x="502920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81%</a:t>
            </a:r>
          </a:p>
        </p:txBody>
      </p:sp>
      <p:sp>
        <p:nvSpPr>
          <p:cNvPr id="18" name="cpe|kpis|text|17"/>
          <p:cNvSpPr txBox="1"/>
          <p:nvPr/>
        </p:nvSpPr>
        <p:spPr>
          <a:xfrm>
            <a:off x="502920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+4pp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502920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502920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 pilot in Madrid</a:t>
            </a:r>
          </a:p>
        </p:txBody>
      </p:sp>
      <p:cxnSp>
        <p:nvCxnSpPr>
          <p:cNvPr id="21" name="cpe|kpis|line|20"/>
          <p:cNvCxnSpPr/>
          <p:nvPr/>
        </p:nvCxnSpPr>
        <p:spPr>
          <a:xfrm>
            <a:off x="6297016" y="4023360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2" name="cpe|kpis|text|21"/>
          <p:cNvSpPr txBox="1"/>
          <p:nvPr/>
        </p:nvSpPr>
        <p:spPr>
          <a:xfrm>
            <a:off x="6297016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−21%</a:t>
            </a:r>
          </a:p>
        </p:txBody>
      </p:sp>
      <p:sp>
        <p:nvSpPr>
          <p:cNvPr id="23" name="cpe|kpis|text|22"/>
          <p:cNvSpPr txBox="1"/>
          <p:nvPr/>
        </p:nvSpPr>
        <p:spPr>
          <a:xfrm>
            <a:off x="6297016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−21% YoY</a:t>
            </a:r>
          </a:p>
        </p:txBody>
      </p:sp>
      <p:sp>
        <p:nvSpPr>
          <p:cNvPr id="24" name="cpe|kpis|text|23"/>
          <p:cNvSpPr txBox="1"/>
          <p:nvPr/>
        </p:nvSpPr>
        <p:spPr>
          <a:xfrm>
            <a:off x="6297016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Overtime hours</a:t>
            </a:r>
          </a:p>
        </p:txBody>
      </p:sp>
      <p:sp>
        <p:nvSpPr>
          <p:cNvPr id="25" name="cpe|kpis|text|24"/>
          <p:cNvSpPr txBox="1"/>
          <p:nvPr/>
        </p:nvSpPr>
        <p:spPr>
          <a:xfrm>
            <a:off x="6297016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New shift patterns in 3 hubs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€48M run-rate savings by 2027, with €24M secured by wave 1 and 2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build-up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6438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4347535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+11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367229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+13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4231538" y="3550036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24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6095848" y="2507153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+17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7960157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+7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24466" y="2077730"/>
            <a:ext cx="1864309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48</a:t>
            </a:r>
          </a:p>
        </p:txBody>
      </p:sp>
      <p:cxnSp>
        <p:nvCxnSpPr>
          <p:cNvPr id="14" name="cpe|exhibit|connector|13"/>
          <p:cNvCxnSpPr/>
          <p:nvPr/>
        </p:nvCxnSpPr>
        <p:spPr>
          <a:xfrm>
            <a:off x="2077940" y="4612711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3942249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6" name="cpe|exhibit|connector|15"/>
          <p:cNvCxnSpPr/>
          <p:nvPr/>
        </p:nvCxnSpPr>
        <p:spPr>
          <a:xfrm>
            <a:off x="5806558" y="3815212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7670867" y="2772329"/>
            <a:ext cx="578579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9535177" y="2342906"/>
            <a:ext cx="578578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commentary|line|18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0" name="cpe|commentary|text|19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Waves 1-2 secure </a:t>
            </a:r>
            <a:r>
              <a:rPr sz="1200" b="1">
                <a:solidFill>
                  <a:srgbClr val="1C2530"/>
                </a:solidFill>
                <a:latin typeface="Arial"/>
              </a:rPr>
              <a:t>half</a:t>
            </a:r>
            <a:r>
              <a:rPr sz="1200" b="0">
                <a:solidFill>
                  <a:srgbClr val="1C2530"/>
                </a:solidFill>
                <a:latin typeface="Arial"/>
              </a:rPr>
              <a:t> of the target</a:t>
            </a:r>
          </a:p>
        </p:txBody>
      </p:sp>
      <p:sp>
        <p:nvSpPr>
          <p:cNvPr id="21" name="cpe|commentary|text|20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carries the largest single block and the most execution risk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Savings ramp up in every initiative, with automation back-loaded to 2027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Savings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24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Customer terms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_2|text|7"/>
          <p:cNvSpPr txBox="1"/>
          <p:nvPr/>
        </p:nvSpPr>
        <p:spPr>
          <a:xfrm>
            <a:off x="4298594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Hub automation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_2|chart|8"/>
          <p:cNvGraphicFramePr>
            <a:graphicFrameLocks noGrp="1"/>
          </p:cNvGraphicFramePr>
          <p:nvPr/>
        </p:nvGraphicFramePr>
        <p:xfrm>
          <a:off x="4298594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cpe|exhibit_3|text|9"/>
          <p:cNvSpPr txBox="1"/>
          <p:nvPr/>
        </p:nvSpPr>
        <p:spPr>
          <a:xfrm>
            <a:off x="8094269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Network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11" name="cpe|exhibit_3|chart|10"/>
          <p:cNvGraphicFramePr>
            <a:graphicFrameLocks noGrp="1"/>
          </p:cNvGraphicFramePr>
          <p:nvPr/>
        </p:nvGraphicFramePr>
        <p:xfrm>
          <a:off x="8094269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automation deliver 63% of the savings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25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Two initiatives carry two thirds of the value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Both depend on capex released today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by initiative, 2027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2018492"/>
          <a:ext cx="4064599" cy="40645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marker|9"/>
          <p:cNvSpPr/>
          <p:nvPr/>
        </p:nvSpPr>
        <p:spPr>
          <a:xfrm>
            <a:off x="8683234" y="3410712"/>
            <a:ext cx="128016" cy="12801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8911834" y="32826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35%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551914" y="3282696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Network  (17)</a:t>
            </a:r>
          </a:p>
        </p:txBody>
      </p:sp>
      <p:sp>
        <p:nvSpPr>
          <p:cNvPr id="13" name="cpe|exhibit|marker|12"/>
          <p:cNvSpPr/>
          <p:nvPr/>
        </p:nvSpPr>
        <p:spPr>
          <a:xfrm>
            <a:off x="8683234" y="3794760"/>
            <a:ext cx="128016" cy="12801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label|13"/>
          <p:cNvSpPr txBox="1"/>
          <p:nvPr/>
        </p:nvSpPr>
        <p:spPr>
          <a:xfrm>
            <a:off x="8911834" y="36667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27%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9551914" y="3666744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Hub automation  (13)</a:t>
            </a:r>
          </a:p>
        </p:txBody>
      </p:sp>
      <p:sp>
        <p:nvSpPr>
          <p:cNvPr id="16" name="cpe|exhibit|marker|15"/>
          <p:cNvSpPr/>
          <p:nvPr/>
        </p:nvSpPr>
        <p:spPr>
          <a:xfrm>
            <a:off x="8683234" y="4178808"/>
            <a:ext cx="128016" cy="128016"/>
          </a:xfrm>
          <a:prstGeom prst="rect">
            <a:avLst/>
          </a:prstGeom>
          <a:solidFill>
            <a:srgbClr val="CAD2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label|16"/>
          <p:cNvSpPr txBox="1"/>
          <p:nvPr/>
        </p:nvSpPr>
        <p:spPr>
          <a:xfrm>
            <a:off x="8911834" y="405079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23%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9551914" y="4050792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Customer terms  (11)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683234" y="4562856"/>
            <a:ext cx="128016" cy="128016"/>
          </a:xfrm>
          <a:prstGeom prst="rect">
            <a:avLst/>
          </a:prstGeom>
          <a:solidFill>
            <a:srgbClr val="B6C0C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8911834" y="4434840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15%</a:t>
            </a:r>
          </a:p>
        </p:txBody>
      </p:sp>
      <p:sp>
        <p:nvSpPr>
          <p:cNvPr id="21" name="cpe|exhibit|label|20"/>
          <p:cNvSpPr txBox="1"/>
          <p:nvPr/>
        </p:nvSpPr>
        <p:spPr>
          <a:xfrm>
            <a:off x="9551914" y="4434840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Procurement  (7)</a:t>
            </a:r>
          </a:p>
        </p:txBody>
      </p:sp>
      <p:cxnSp>
        <p:nvCxnSpPr>
          <p:cNvPr id="22" name="cpe|exhibit|line|21"/>
          <p:cNvCxnSpPr/>
          <p:nvPr/>
        </p:nvCxnSpPr>
        <p:spPr>
          <a:xfrm>
            <a:off x="8683234" y="4864608"/>
            <a:ext cx="3005541" cy="0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3" name="cpe|exhibit|label|22"/>
          <p:cNvSpPr txBox="1"/>
          <p:nvPr/>
        </p:nvSpPr>
        <p:spPr>
          <a:xfrm>
            <a:off x="8911834" y="4882896"/>
            <a:ext cx="2776941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Top 2: 62%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Decision requested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26</a:t>
            </a:r>
          </a:p>
        </p:txBody>
      </p:sp>
      <p:sp>
        <p:nvSpPr>
          <p:cNvPr id="5" name="cpe|text|fill|4"/>
          <p:cNvSpPr/>
          <p:nvPr/>
        </p:nvSpPr>
        <p:spPr>
          <a:xfrm>
            <a:off x="502920" y="2892421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3139309"/>
            <a:ext cx="9288018" cy="1028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294B"/>
                </a:solidFill>
                <a:latin typeface="Arial"/>
              </a:rPr>
              <a:t>Release €22M of wave 2 funding today to keep the €48M run-rate target for 2027</a:t>
            </a:r>
          </a:p>
        </p:txBody>
      </p:sp>
      <p:sp>
        <p:nvSpPr>
          <p:cNvPr id="7" name="cpe|text|text|6"/>
          <p:cNvSpPr txBox="1"/>
          <p:nvPr/>
        </p:nvSpPr>
        <p:spPr>
          <a:xfrm>
            <a:off x="502920" y="4350889"/>
            <a:ext cx="7894815" cy="3451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6"/>
                </a:solidFill>
                <a:latin typeface="Arial"/>
              </a:rPr>
              <a:t>Payback in 19 months; each quarter of delay defers about €3.5M of savings.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Helix Logistics transformation: steering committee</dc:title>
  <dc:subject>The programme is on track to deliver €48M run-rate savings; releasing wave 2 funding now keeps the 2027 target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