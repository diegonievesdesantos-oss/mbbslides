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12218"/>
          <c:y val="0.01064"/>
          <c:w val="0.81782"/>
          <c:h val="0.96936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Index</c:v>
                </c:pt>
              </c:strCache>
            </c:strRef>
          </c:tx>
          <c:spPr>
            <a:solidFill>
              <a:srgbClr val="CAD2DB"/>
            </a:solidFill>
          </c:spPr>
          <c:invertIfNegative val="0"/>
          <c:dPt>
            <c:idx val="0"/>
            <c:spPr>
              <a:solidFill>
                <a:srgbClr val="13294B"/>
              </a:solidFill>
            </c:spPr>
          </c:dPt>
          <c:dLbls>
            <c:numFmt formatCode="#,##0;-#,##0" sourceLinked="0"/>
            <c:txPr>
              <a:bodyPr/>
              <a:lstStyle/>
              <a:p>
                <a:pPr>
                  <a:defRPr sz="1100" b="0">
                    <a:solidFill>
                      <a:srgbClr val="1C2530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Helix</c:v>
                </c:pt>
                <c:pt idx="1">
                  <c:v>Peer B</c:v>
                </c:pt>
                <c:pt idx="2">
                  <c:v>Peer A</c:v>
                </c:pt>
                <c:pt idx="3">
                  <c:v>Peer median</c:v>
                </c:pt>
                <c:pt idx="4">
                  <c:v>Peer C</c:v>
                </c:pt>
                <c:pt idx="5">
                  <c:v>Peer D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118.0</c:v>
                </c:pt>
                <c:pt idx="1">
                  <c:v>109.0</c:v>
                </c:pt>
                <c:pt idx="2">
                  <c:v>103.0</c:v>
                </c:pt>
                <c:pt idx="3">
                  <c:v>100.0</c:v>
                </c:pt>
                <c:pt idx="4">
                  <c:v>96.0</c:v>
                </c:pt>
                <c:pt idx="5">
                  <c:v>91.0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low"/>
        <c:spPr>
          <a:ln w="9525">
            <a:solidFill>
              <a:srgbClr val="B6C0CB"/>
            </a:solidFill>
          </a:ln>
        </c:spPr>
        <c:txPr>
          <a:bodyPr/>
          <a:lstStyle/>
          <a:p>
            <a:pPr>
              <a:defRPr sz="1000" b="0">
                <a:solidFill>
                  <a:srgbClr val="1C2530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40.0"/>
          <c:min val="0.0"/>
        </c:scaling>
        <c:delete/>
        <c:axPos val="b"/>
        <c:majorTickMark val="none"/>
        <c:minorTickMark val="none"/>
        <c:tickLblPos val="nextTo"/>
        <c:crossAx val="-2068027336"/>
        <c:crosses val="autoZero"/>
        <c:majorUnit val="25.0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100"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1"/>
          <c:y val="0.01305"/>
          <c:w val="0.86975"/>
          <c:h val="0.91319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Helix</c:v>
                </c:pt>
              </c:strCache>
            </c:strRef>
          </c:tx>
          <c:spPr>
            <a:ln w="31750">
              <a:solidFill>
                <a:srgbClr val="13294B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4.8</c:v>
                </c:pt>
                <c:pt idx="1">
                  <c:v>5.1</c:v>
                </c:pt>
                <c:pt idx="2">
                  <c:v>5.4</c:v>
                </c:pt>
                <c:pt idx="3">
                  <c:v>5.6</c:v>
                </c:pt>
                <c:pt idx="4">
                  <c:v>5.8</c:v>
                </c:pt>
                <c:pt idx="5">
                  <c:v>5.6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Peer median</c:v>
                </c:pt>
              </c:strCache>
            </c:strRef>
          </c:tx>
          <c:spPr>
            <a:ln w="22225">
              <a:solidFill>
                <a:srgbClr val="CAD2DB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4.7</c:v>
                </c:pt>
                <c:pt idx="1">
                  <c:v>4.8</c:v>
                </c:pt>
                <c:pt idx="2">
                  <c:v>4.8</c:v>
                </c:pt>
                <c:pt idx="3">
                  <c:v>4.7</c:v>
                </c:pt>
                <c:pt idx="4">
                  <c:v>4.8</c:v>
                </c:pt>
                <c:pt idx="5">
                  <c:v>4.8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6C0CB"/>
            </a:solidFill>
          </a:ln>
        </c:spPr>
        <c:txPr>
          <a:bodyPr/>
          <a:lstStyle/>
          <a:p>
            <a:pPr>
              <a:defRPr sz="1000" b="0">
                <a:solidFill>
                  <a:srgbClr val="1C2530"/>
                </a:solidFill>
                <a:latin typeface="Arial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.375"/>
          <c:min val="4.375"/>
        </c:scaling>
        <c:delete/>
        <c:axPos val="l"/>
        <c:majorTickMark val="none"/>
        <c:minorTickMark val="none"/>
        <c:tickLblPos val="nextTo"/>
        <c:crossAx val="2118791784"/>
        <c:crosses val="autoZero"/>
        <c:majorUnit val="0.25"/>
      </c:valAx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100">
          <a:latin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1"/>
          <c:y val="0.01064"/>
          <c:w val="0.88766"/>
          <c:h val="0.92926"/>
        </c:manualLayout>
      </c:layout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Small</c:v>
                </c:pt>
              </c:strCache>
            </c:strRef>
          </c:tx>
          <c:spPr>
            <a:solidFill>
              <a:srgbClr val="13294B"/>
            </a:solidFill>
            <a:ln w="9525">
              <a:solidFill>
                <a:srgbClr val="FFFFFF"/>
              </a:solidFill>
            </a:ln>
          </c:spPr>
          <c:dLbls>
            <c:numFmt formatCode="#,##0&quot;%&quot;;-#,##0&quot;%&quot;" sourceLinked="0"/>
            <c:txPr>
              <a:bodyPr/>
              <a:lstStyle/>
              <a:p>
                <a:pPr>
                  <a:defRPr sz="1050" b="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Drops</c:v>
                </c:pt>
                <c:pt idx="1">
                  <c:v>Revenue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38.0</c:v>
                </c:pt>
                <c:pt idx="1">
                  <c:v>12.0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Medium</c:v>
                </c:pt>
              </c:strCache>
            </c:strRef>
          </c:tx>
          <c:spPr>
            <a:solidFill>
              <a:srgbClr val="2F5F8A"/>
            </a:solidFill>
            <a:ln w="9525">
              <a:solidFill>
                <a:srgbClr val="FFFFFF"/>
              </a:solidFill>
            </a:ln>
          </c:spPr>
          <c:dLbls>
            <c:numFmt formatCode="#,##0&quot;%&quot;;-#,##0&quot;%&quot;" sourceLinked="0"/>
            <c:txPr>
              <a:bodyPr/>
              <a:lstStyle/>
              <a:p>
                <a:pPr>
                  <a:defRPr sz="1050" b="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Drops</c:v>
                </c:pt>
                <c:pt idx="1">
                  <c:v>Revenue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35.0</c:v>
                </c:pt>
                <c:pt idx="1">
                  <c:v>30.0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Large</c:v>
                </c:pt>
              </c:strCache>
            </c:strRef>
          </c:tx>
          <c:spPr>
            <a:solidFill>
              <a:srgbClr val="86A6C6"/>
            </a:solidFill>
            <a:ln w="9525">
              <a:solidFill>
                <a:srgbClr val="FFFFFF"/>
              </a:solidFill>
            </a:ln>
          </c:spPr>
          <c:dLbls>
            <c:numFmt formatCode="#,##0&quot;%&quot;;-#,##0&quot;%&quot;" sourceLinked="0"/>
            <c:txPr>
              <a:bodyPr/>
              <a:lstStyle/>
              <a:p>
                <a:pPr>
                  <a:defRPr sz="1050" b="0">
                    <a:solidFill>
                      <a:srgbClr val="1C253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Drops</c:v>
                </c:pt>
                <c:pt idx="1">
                  <c:v>Revenue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27.0</c:v>
                </c:pt>
                <c:pt idx="1">
                  <c:v>58.0</c:v>
                </c:pt>
              </c:numCache>
            </c:numRef>
          </c:val>
        </c:ser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6C0CB"/>
            </a:solidFill>
          </a:ln>
        </c:spPr>
        <c:txPr>
          <a:bodyPr/>
          <a:lstStyle/>
          <a:p>
            <a:pPr>
              <a:defRPr sz="1000" b="0">
                <a:solidFill>
                  <a:srgbClr val="1C2530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/>
        <c:axPos val="l"/>
        <c:majorTickMark val="none"/>
        <c:minorTickMark val="none"/>
        <c:tickLblPos val="nextTo"/>
        <c:crossAx val="-2068027336"/>
        <c:crosses val="autoZero"/>
        <c:majorUnit val="0.25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100">
          <a:latin typeface="Arial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.07"/>
          <c:y val="0.04"/>
          <c:w val="0.91"/>
          <c:h val="0.82383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Items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9"/>
            <c:spPr>
              <a:solidFill>
                <a:srgbClr val="2F5F8A"/>
              </a:solidFill>
              <a:ln>
                <a:solidFill>
                  <a:srgbClr val="FFFFFF"/>
                </a:solidFill>
              </a:ln>
            </c:spPr>
          </c:marker>
          <c:dPt>
            <c:idx val="6"/>
            <c:marker>
              <c:spPr>
                <a:solidFill>
                  <a:srgbClr val="E08A00"/>
                </a:solidFill>
              </c:spPr>
            </c:marker>
          </c:dPt>
          <c:dPt>
            <c:idx val="7"/>
            <c:marker>
              <c:spPr>
                <a:solidFill>
                  <a:srgbClr val="E08A00"/>
                </a:solidFill>
              </c:spPr>
            </c:marker>
          </c:dPt>
          <c:xVal>
            <c:numRef>
              <c:f>Sheet1!$A$2:$A$10</c:f>
              <c:numCache>
                <c:formatCode>General</c:formatCode>
                <c:ptCount val="9"/>
                <c:pt idx="0">
                  <c:v>1450.0</c:v>
                </c:pt>
                <c:pt idx="1">
                  <c:v>1210.0</c:v>
                </c:pt>
                <c:pt idx="2">
                  <c:v>820.0</c:v>
                </c:pt>
                <c:pt idx="3">
                  <c:v>760.0</c:v>
                </c:pt>
                <c:pt idx="4">
                  <c:v>560.0</c:v>
                </c:pt>
                <c:pt idx="5">
                  <c:v>480.0</c:v>
                </c:pt>
                <c:pt idx="6">
                  <c:v>290.0</c:v>
                </c:pt>
                <c:pt idx="7">
                  <c:v>330.0</c:v>
                </c:pt>
                <c:pt idx="8">
                  <c:v>350.0</c:v>
                </c:pt>
              </c:numCache>
            </c:numRef>
          </c:xVal>
          <c:yVal>
            <c:numRef>
              <c:f>Sheet1!$B$2:$B$10</c:f>
              <c:numCache>
                <c:formatCode>General</c:formatCode>
                <c:ptCount val="9"/>
                <c:pt idx="0">
                  <c:v>4.4</c:v>
                </c:pt>
                <c:pt idx="1">
                  <c:v>4.7</c:v>
                </c:pt>
                <c:pt idx="2">
                  <c:v>5.0</c:v>
                </c:pt>
                <c:pt idx="3">
                  <c:v>5.3</c:v>
                </c:pt>
                <c:pt idx="4">
                  <c:v>5.6</c:v>
                </c:pt>
                <c:pt idx="5">
                  <c:v>5.8</c:v>
                </c:pt>
                <c:pt idx="6">
                  <c:v>7.3</c:v>
                </c:pt>
                <c:pt idx="7">
                  <c:v>7.0</c:v>
                </c:pt>
                <c:pt idx="8">
                  <c:v>6.8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1575.0"/>
          <c:min val="175.0"/>
        </c:scaling>
        <c:delete val="0"/>
        <c:axPos val="b"/>
        <c:numFmt formatCode="#,##0;-#,##0" sourceLinked="0"/>
        <c:majorTickMark val="out"/>
        <c:minorTickMark val="none"/>
        <c:tickLblPos val="low"/>
        <c:spPr>
          <a:ln w="9525">
            <a:solidFill>
              <a:srgbClr val="B6C0CB"/>
            </a:solidFill>
          </a:ln>
        </c:spPr>
        <c:txPr>
          <a:bodyPr/>
          <a:lstStyle/>
          <a:p>
            <a:pPr>
              <a:defRPr sz="1000" b="0">
                <a:solidFill>
                  <a:srgbClr val="5B6776"/>
                </a:solidFill>
                <a:latin typeface="Arial"/>
              </a:defRPr>
            </a:pPr>
          </a:p>
        </c:txPr>
        <c:crossAx val="-2129643912"/>
        <c:crosses val="autoZero"/>
        <c:crossBetween val="midCat"/>
        <c:majorUnit val="250.0"/>
      </c:valAx>
      <c:valAx>
        <c:axId val="-2129643912"/>
        <c:scaling>
          <c:orientation val="minMax"/>
          <c:max val="8.0"/>
          <c:min val="4.0"/>
        </c:scaling>
        <c:delete val="0"/>
        <c:axPos val="l"/>
        <c:numFmt formatCode="#,##0.0;-#,##0.0" sourceLinked="0"/>
        <c:majorTickMark val="out"/>
        <c:minorTickMark val="none"/>
        <c:tickLblPos val="low"/>
        <c:spPr>
          <a:ln w="9525">
            <a:solidFill>
              <a:srgbClr val="B6C0CB"/>
            </a:solidFill>
          </a:ln>
        </c:spPr>
        <c:txPr>
          <a:bodyPr/>
          <a:lstStyle/>
          <a:p>
            <a:pPr>
              <a:defRPr sz="1000" b="0">
                <a:solidFill>
                  <a:srgbClr val="5B6776"/>
                </a:solidFill>
                <a:latin typeface="Arial"/>
              </a:defRPr>
            </a:pPr>
          </a:p>
        </c:txPr>
        <c:crossAx val="-2128940872"/>
        <c:crosses val="autoZero"/>
        <c:crossBetween val="midCat"/>
        <c:majorUnit val="1.0"/>
      </c:valAx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000">
          <a:latin typeface="Arial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"/>
          <c:y val="0.02"/>
          <c:w val="1.0"/>
          <c:h val="0.90911"/>
        </c:manualLayout>
      </c:layout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Customer terms</c:v>
                </c:pt>
                <c:pt idx="1">
                  <c:v>Hub automation</c:v>
                </c:pt>
                <c:pt idx="2">
                  <c:v>Waves 1-2</c:v>
                </c:pt>
                <c:pt idx="3">
                  <c:v>Network</c:v>
                </c:pt>
                <c:pt idx="4">
                  <c:v>Procurement</c:v>
                </c:pt>
                <c:pt idx="5">
                  <c:v>Run-rate 2027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</c:v>
                </c:pt>
                <c:pt idx="1">
                  <c:v>11.0</c:v>
                </c:pt>
                <c:pt idx="2">
                  <c:v>0.0</c:v>
                </c:pt>
                <c:pt idx="3">
                  <c:v>24.0</c:v>
                </c:pt>
                <c:pt idx="4">
                  <c:v>41.0</c:v>
                </c:pt>
                <c:pt idx="5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13294B"/>
            </a:solidFill>
          </c:spPr>
          <c:cat>
            <c:strRef>
              <c:f>Sheet1!$A$2:$A$7</c:f>
              <c:strCache>
                <c:ptCount val="6"/>
                <c:pt idx="0">
                  <c:v>Customer terms</c:v>
                </c:pt>
                <c:pt idx="1">
                  <c:v>Hub automation</c:v>
                </c:pt>
                <c:pt idx="2">
                  <c:v>Waves 1-2</c:v>
                </c:pt>
                <c:pt idx="3">
                  <c:v>Network</c:v>
                </c:pt>
                <c:pt idx="4">
                  <c:v>Procurement</c:v>
                </c:pt>
                <c:pt idx="5">
                  <c:v>Run-rate 2027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0.0</c:v>
                </c:pt>
                <c:pt idx="1">
                  <c:v>0.0</c:v>
                </c:pt>
                <c:pt idx="2">
                  <c:v>24.0</c:v>
                </c:pt>
                <c:pt idx="3">
                  <c:v>0.0</c:v>
                </c:pt>
                <c:pt idx="4">
                  <c:v>0.0</c:v>
                </c:pt>
                <c:pt idx="5">
                  <c:v>48.0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2E7D4F"/>
            </a:solidFill>
          </c:spPr>
          <c:cat>
            <c:strRef>
              <c:f>Sheet1!$A$2:$A$7</c:f>
              <c:strCache>
                <c:ptCount val="6"/>
                <c:pt idx="0">
                  <c:v>Customer terms</c:v>
                </c:pt>
                <c:pt idx="1">
                  <c:v>Hub automation</c:v>
                </c:pt>
                <c:pt idx="2">
                  <c:v>Waves 1-2</c:v>
                </c:pt>
                <c:pt idx="3">
                  <c:v>Network</c:v>
                </c:pt>
                <c:pt idx="4">
                  <c:v>Procurement</c:v>
                </c:pt>
                <c:pt idx="5">
                  <c:v>Run-rate 2027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11.0</c:v>
                </c:pt>
                <c:pt idx="1">
                  <c:v>13.0</c:v>
                </c:pt>
                <c:pt idx="2">
                  <c:v>0.0</c:v>
                </c:pt>
                <c:pt idx="3">
                  <c:v>17.0</c:v>
                </c:pt>
                <c:pt idx="4">
                  <c:v>7.0</c:v>
                </c:pt>
                <c:pt idx="5">
                  <c:v>0.0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C0392B"/>
            </a:solidFill>
          </c:spPr>
          <c:cat>
            <c:strRef>
              <c:f>Sheet1!$A$2:$A$7</c:f>
              <c:strCache>
                <c:ptCount val="6"/>
                <c:pt idx="0">
                  <c:v>Customer terms</c:v>
                </c:pt>
                <c:pt idx="1">
                  <c:v>Hub automation</c:v>
                </c:pt>
                <c:pt idx="2">
                  <c:v>Waves 1-2</c:v>
                </c:pt>
                <c:pt idx="3">
                  <c:v>Network</c:v>
                </c:pt>
                <c:pt idx="4">
                  <c:v>Procurement</c:v>
                </c:pt>
                <c:pt idx="5">
                  <c:v>Run-rate 2027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6C0CB"/>
            </a:solidFill>
          </a:ln>
        </c:spPr>
        <c:txPr>
          <a:bodyPr/>
          <a:lstStyle/>
          <a:p>
            <a:pPr>
              <a:defRPr sz="1000" b="0">
                <a:solidFill>
                  <a:srgbClr val="1C2530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4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  <c:majorUnit val="10.0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100">
          <a:latin typeface="Arial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1"/>
          <c:y val="0.01064"/>
          <c:w val="0.97"/>
          <c:h val="0.92926"/>
        </c:manualLayout>
      </c:layout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Savings</c:v>
                </c:pt>
              </c:strCache>
            </c:strRef>
          </c:tx>
          <c:spPr>
            <a:solidFill>
              <a:srgbClr val="86A6C6"/>
            </a:solidFill>
          </c:spPr>
          <c:invertIfNegative val="0"/>
          <c:dPt>
            <c:idx val="2"/>
            <c:spPr>
              <a:solidFill>
                <a:srgbClr val="13294B"/>
              </a:solidFill>
            </c:spPr>
          </c:dPt>
          <c:dLbls>
            <c:numFmt formatCode="#,##0.0;-#,##0.0" sourceLinked="0"/>
            <c:txPr>
              <a:bodyPr/>
              <a:lstStyle/>
              <a:p>
                <a:pPr>
                  <a:defRPr sz="1100" b="0">
                    <a:solidFill>
                      <a:srgbClr val="1C2530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Q4 26</c:v>
                </c:pt>
                <c:pt idx="1">
                  <c:v>Q2 27</c:v>
                </c:pt>
                <c:pt idx="2">
                  <c:v>Q4 27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2.4</c:v>
                </c:pt>
                <c:pt idx="2">
                  <c:v>2.8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6C0CB"/>
            </a:solidFill>
          </a:ln>
        </c:spPr>
        <c:txPr>
          <a:bodyPr/>
          <a:lstStyle/>
          <a:p>
            <a:pPr>
              <a:defRPr sz="1000" b="0">
                <a:solidFill>
                  <a:srgbClr val="1C2530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.25"/>
          <c:min val="0.0"/>
        </c:scaling>
        <c:delete/>
        <c:axPos val="l"/>
        <c:majorTickMark val="none"/>
        <c:minorTickMark val="none"/>
        <c:tickLblPos val="nextTo"/>
        <c:crossAx val="-2068027336"/>
        <c:crosses val="autoZero"/>
        <c:majorUnit val="1.0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100">
          <a:latin typeface="Arial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1"/>
          <c:y val="0.01064"/>
          <c:w val="0.97"/>
          <c:h val="0.92926"/>
        </c:manualLayout>
      </c:layout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Savings</c:v>
                </c:pt>
              </c:strCache>
            </c:strRef>
          </c:tx>
          <c:spPr>
            <a:solidFill>
              <a:srgbClr val="86A6C6"/>
            </a:solidFill>
          </c:spPr>
          <c:invertIfNegative val="0"/>
          <c:dPt>
            <c:idx val="2"/>
            <c:spPr>
              <a:solidFill>
                <a:srgbClr val="13294B"/>
              </a:solidFill>
            </c:spPr>
          </c:dPt>
          <c:dLbls>
            <c:numFmt formatCode="#,##0.0;-#,##0.0" sourceLinked="0"/>
            <c:txPr>
              <a:bodyPr/>
              <a:lstStyle/>
              <a:p>
                <a:pPr>
                  <a:defRPr sz="1100" b="0">
                    <a:solidFill>
                      <a:srgbClr val="1C2530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Q4 26</c:v>
                </c:pt>
                <c:pt idx="1">
                  <c:v>Q2 27</c:v>
                </c:pt>
                <c:pt idx="2">
                  <c:v>Q4 27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</c:v>
                </c:pt>
                <c:pt idx="1">
                  <c:v>1.1</c:v>
                </c:pt>
                <c:pt idx="2">
                  <c:v>3.3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6C0CB"/>
            </a:solidFill>
          </a:ln>
        </c:spPr>
        <c:txPr>
          <a:bodyPr/>
          <a:lstStyle/>
          <a:p>
            <a:pPr>
              <a:defRPr sz="1000" b="0">
                <a:solidFill>
                  <a:srgbClr val="1C2530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.75"/>
          <c:min val="0.0"/>
        </c:scaling>
        <c:delete/>
        <c:axPos val="l"/>
        <c:majorTickMark val="none"/>
        <c:minorTickMark val="none"/>
        <c:tickLblPos val="nextTo"/>
        <c:crossAx val="-2068027336"/>
        <c:crosses val="autoZero"/>
        <c:majorUnit val="1.0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100">
          <a:latin typeface="Arial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1"/>
          <c:y val="0.01064"/>
          <c:w val="0.97"/>
          <c:h val="0.92926"/>
        </c:manualLayout>
      </c:layout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Savings</c:v>
                </c:pt>
              </c:strCache>
            </c:strRef>
          </c:tx>
          <c:spPr>
            <a:solidFill>
              <a:srgbClr val="86A6C6"/>
            </a:solidFill>
          </c:spPr>
          <c:invertIfNegative val="0"/>
          <c:dPt>
            <c:idx val="2"/>
            <c:spPr>
              <a:solidFill>
                <a:srgbClr val="13294B"/>
              </a:solidFill>
            </c:spPr>
          </c:dPt>
          <c:dLbls>
            <c:numFmt formatCode="#,##0.0;-#,##0.0" sourceLinked="0"/>
            <c:txPr>
              <a:bodyPr/>
              <a:lstStyle/>
              <a:p>
                <a:pPr>
                  <a:defRPr sz="1100" b="0">
                    <a:solidFill>
                      <a:srgbClr val="1C2530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Q4 26</c:v>
                </c:pt>
                <c:pt idx="1">
                  <c:v>Q2 27</c:v>
                </c:pt>
                <c:pt idx="2">
                  <c:v>Q4 27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0.2</c:v>
                </c:pt>
                <c:pt idx="1">
                  <c:v>1.8</c:v>
                </c:pt>
                <c:pt idx="2">
                  <c:v>4.2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6C0CB"/>
            </a:solidFill>
          </a:ln>
        </c:spPr>
        <c:txPr>
          <a:bodyPr/>
          <a:lstStyle/>
          <a:p>
            <a:pPr>
              <a:defRPr sz="1000" b="0">
                <a:solidFill>
                  <a:srgbClr val="1C2530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.75"/>
          <c:min val="0.0"/>
        </c:scaling>
        <c:delete/>
        <c:axPos val="l"/>
        <c:majorTickMark val="none"/>
        <c:minorTickMark val="none"/>
        <c:tickLblPos val="nextTo"/>
        <c:crossAx val="-2068027336"/>
        <c:crosses val="autoZero"/>
        <c:majorUnit val="1.0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100">
          <a:latin typeface="Arial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04"/>
          <c:y val="0.04"/>
          <c:w val="0.92"/>
          <c:h val="0.92"/>
        </c:manualLayout>
      </c:layout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Savings</c:v>
                </c:pt>
              </c:strCache>
            </c:strRef>
          </c:tx>
          <c:dPt>
            <c:idx val="0"/>
            <c:spPr>
              <a:solidFill>
                <a:srgbClr val="13294B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2F5F8A"/>
              </a:solidFill>
              <a:ln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CAD2DB"/>
              </a:solidFill>
              <a:ln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B6C0CB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Sheet1!$A$2:$A$5</c:f>
              <c:strCache>
                <c:ptCount val="4"/>
                <c:pt idx="0">
                  <c:v>Network</c:v>
                </c:pt>
                <c:pt idx="1">
                  <c:v>Hub automation</c:v>
                </c:pt>
                <c:pt idx="2">
                  <c:v>Customer terms</c:v>
                </c:pt>
                <c:pt idx="3">
                  <c:v>Procurement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17.0</c:v>
                </c:pt>
                <c:pt idx="1">
                  <c:v>13.0</c:v>
                </c:pt>
                <c:pt idx="2">
                  <c:v>11.0</c:v>
                </c:pt>
                <c:pt idx="3">
                  <c:v>7.0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the decision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Size the gap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Decompose cost-to-serve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trend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where volume goes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geography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customer mix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relationship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Compare initiatives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operating process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customer journey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organisation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target architecture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phases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milestones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status of initiatives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KPIs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Bridge savings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Small multiples of savings by quarter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Share of savings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notesSlide" Target="../notesSlides/notesSlide1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Relationship Id="rId3" Type="http://schemas.openxmlformats.org/officeDocument/2006/relationships/chart" Target="../charts/chart7.xml"/><Relationship Id="rId4" Type="http://schemas.openxmlformats.org/officeDocument/2006/relationships/chart" Target="../charts/chart8.xml"/><Relationship Id="rId5" Type="http://schemas.openxmlformats.org/officeDocument/2006/relationships/notesSlide" Target="../notesSlides/notesSlide1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Relationship Id="rId3" Type="http://schemas.openxmlformats.org/officeDocument/2006/relationships/notesSlide" Target="../notesSlides/notesSlide2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text|fill|1"/>
          <p:cNvSpPr/>
          <p:nvPr/>
        </p:nvSpPr>
        <p:spPr>
          <a:xfrm>
            <a:off x="502920" y="2090776"/>
            <a:ext cx="822960" cy="64008"/>
          </a:xfrm>
          <a:prstGeom prst="rect">
            <a:avLst/>
          </a:prstGeom>
          <a:solidFill>
            <a:srgbClr val="E08A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cpe|text|text|2"/>
          <p:cNvSpPr txBox="1"/>
          <p:nvPr/>
        </p:nvSpPr>
        <p:spPr>
          <a:xfrm>
            <a:off x="502920" y="2383384"/>
            <a:ext cx="9288018" cy="11612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13294B"/>
                </a:solidFill>
                <a:latin typeface="Arial"/>
              </a:rPr>
              <a:t>Helix Logistics transformation: steering committee</a:t>
            </a:r>
          </a:p>
        </p:txBody>
      </p:sp>
      <p:sp>
        <p:nvSpPr>
          <p:cNvPr id="4" name="cpe|text|text|3"/>
          <p:cNvSpPr txBox="1"/>
          <p:nvPr/>
        </p:nvSpPr>
        <p:spPr>
          <a:xfrm>
            <a:off x="502920" y="3745840"/>
            <a:ext cx="8339099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5B6776"/>
                </a:solidFill>
                <a:latin typeface="Arial"/>
              </a:rPr>
              <a:t>Every exhibit type of the engine on one fictitious programme</a:t>
            </a:r>
          </a:p>
        </p:txBody>
      </p:sp>
      <p:sp>
        <p:nvSpPr>
          <p:cNvPr id="5" name="cpe|text|bleed|4"/>
          <p:cNvSpPr/>
          <p:nvPr/>
        </p:nvSpPr>
        <p:spPr>
          <a:xfrm>
            <a:off x="0" y="5486400"/>
            <a:ext cx="12191695" cy="137160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cpe|text|text|5"/>
          <p:cNvSpPr txBox="1"/>
          <p:nvPr/>
        </p:nvSpPr>
        <p:spPr>
          <a:xfrm>
            <a:off x="502920" y="6012180"/>
            <a:ext cx="8339099" cy="3200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FFFFF"/>
                </a:solidFill>
                <a:latin typeface="Arial"/>
              </a:rPr>
              <a:t>Helix Logistics (fictitious)   |   Q3 2026   |   Illustrative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Today we review diagnosis, plan and value, and ask for one decision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2</a:t>
            </a:r>
          </a:p>
        </p:txBody>
      </p:sp>
      <p:cxnSp>
        <p:nvCxnSpPr>
          <p:cNvPr id="4" name="cpe|text|line|3"/>
          <p:cNvCxnSpPr/>
          <p:nvPr/>
        </p:nvCxnSpPr>
        <p:spPr>
          <a:xfrm>
            <a:off x="502920" y="2331903"/>
            <a:ext cx="8339099" cy="0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5" name="cpe|text|text|4"/>
          <p:cNvSpPr txBox="1"/>
          <p:nvPr/>
        </p:nvSpPr>
        <p:spPr>
          <a:xfrm>
            <a:off x="502920" y="2441631"/>
            <a:ext cx="822960" cy="72237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C8005"/>
                </a:solidFill>
                <a:latin typeface="Arial"/>
              </a:rPr>
              <a:t>01</a:t>
            </a:r>
          </a:p>
        </p:txBody>
      </p:sp>
      <p:sp>
        <p:nvSpPr>
          <p:cNvPr id="6" name="cpe|text|text|5"/>
          <p:cNvSpPr txBox="1"/>
          <p:nvPr/>
        </p:nvSpPr>
        <p:spPr>
          <a:xfrm>
            <a:off x="1417320" y="2423343"/>
            <a:ext cx="7424699" cy="7589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Arial"/>
              </a:rPr>
              <a:t>Diagnosis</a:t>
            </a:r>
          </a:p>
          <a:p>
            <a:pPr algn="l">
              <a:lnSpc>
                <a:spcPct val="108000"/>
              </a:lnSpc>
            </a:pPr>
            <a:r>
              <a:rPr sz="1300" b="0">
                <a:solidFill>
                  <a:srgbClr val="5B6776"/>
                </a:solidFill>
                <a:latin typeface="Arial"/>
              </a:rPr>
              <a:t>Where cost-to-serve comes from</a:t>
            </a:r>
          </a:p>
        </p:txBody>
      </p:sp>
      <p:cxnSp>
        <p:nvCxnSpPr>
          <p:cNvPr id="7" name="cpe|text|line|6"/>
          <p:cNvCxnSpPr/>
          <p:nvPr/>
        </p:nvCxnSpPr>
        <p:spPr>
          <a:xfrm>
            <a:off x="502920" y="3200583"/>
            <a:ext cx="8339099" cy="0"/>
          </a:xfrm>
          <a:prstGeom prst="line">
            <a:avLst/>
          </a:prstGeom>
          <a:ln w="6350">
            <a:solidFill>
              <a:srgbClr val="E3E8ED"/>
            </a:solidFill>
          </a:ln>
        </p:spPr>
      </p:cxnSp>
      <p:sp>
        <p:nvSpPr>
          <p:cNvPr id="8" name="cpe|text|text|7"/>
          <p:cNvSpPr txBox="1"/>
          <p:nvPr/>
        </p:nvSpPr>
        <p:spPr>
          <a:xfrm>
            <a:off x="502920" y="3310311"/>
            <a:ext cx="822960" cy="72237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C8005"/>
                </a:solidFill>
                <a:latin typeface="Arial"/>
              </a:rPr>
              <a:t>02</a:t>
            </a:r>
          </a:p>
        </p:txBody>
      </p:sp>
      <p:sp>
        <p:nvSpPr>
          <p:cNvPr id="9" name="cpe|text|text|8"/>
          <p:cNvSpPr txBox="1"/>
          <p:nvPr/>
        </p:nvSpPr>
        <p:spPr>
          <a:xfrm>
            <a:off x="1417320" y="3292023"/>
            <a:ext cx="7424699" cy="7589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Arial"/>
              </a:rPr>
              <a:t>Programme</a:t>
            </a:r>
          </a:p>
          <a:p>
            <a:pPr algn="l">
              <a:lnSpc>
                <a:spcPct val="108000"/>
              </a:lnSpc>
            </a:pPr>
            <a:r>
              <a:rPr sz="1300" b="0">
                <a:solidFill>
                  <a:srgbClr val="5B6776"/>
                </a:solidFill>
                <a:latin typeface="Arial"/>
              </a:rPr>
              <a:t>Initiatives, plan and organisation</a:t>
            </a:r>
          </a:p>
        </p:txBody>
      </p:sp>
      <p:cxnSp>
        <p:nvCxnSpPr>
          <p:cNvPr id="10" name="cpe|text|line|9"/>
          <p:cNvCxnSpPr/>
          <p:nvPr/>
        </p:nvCxnSpPr>
        <p:spPr>
          <a:xfrm>
            <a:off x="502920" y="4069263"/>
            <a:ext cx="8339099" cy="0"/>
          </a:xfrm>
          <a:prstGeom prst="line">
            <a:avLst/>
          </a:prstGeom>
          <a:ln w="6350">
            <a:solidFill>
              <a:srgbClr val="E3E8ED"/>
            </a:solidFill>
          </a:ln>
        </p:spPr>
      </p:cxnSp>
      <p:sp>
        <p:nvSpPr>
          <p:cNvPr id="11" name="cpe|text|text|10"/>
          <p:cNvSpPr txBox="1"/>
          <p:nvPr/>
        </p:nvSpPr>
        <p:spPr>
          <a:xfrm>
            <a:off x="502920" y="4178991"/>
            <a:ext cx="822960" cy="72237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C8005"/>
                </a:solidFill>
                <a:latin typeface="Arial"/>
              </a:rPr>
              <a:t>03</a:t>
            </a:r>
          </a:p>
        </p:txBody>
      </p:sp>
      <p:sp>
        <p:nvSpPr>
          <p:cNvPr id="12" name="cpe|text|text|11"/>
          <p:cNvSpPr txBox="1"/>
          <p:nvPr/>
        </p:nvSpPr>
        <p:spPr>
          <a:xfrm>
            <a:off x="1417320" y="4160703"/>
            <a:ext cx="7424699" cy="7589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Arial"/>
              </a:rPr>
              <a:t>Value and decision</a:t>
            </a:r>
          </a:p>
          <a:p>
            <a:pPr algn="l">
              <a:lnSpc>
                <a:spcPct val="108000"/>
              </a:lnSpc>
            </a:pPr>
            <a:r>
              <a:rPr sz="1300" b="0">
                <a:solidFill>
                  <a:srgbClr val="5B6776"/>
                </a:solidFill>
                <a:latin typeface="Arial"/>
              </a:rPr>
              <a:t>Savings to date and wave 2 funding</a:t>
            </a:r>
          </a:p>
        </p:txBody>
      </p:sp>
      <p:cxnSp>
        <p:nvCxnSpPr>
          <p:cNvPr id="13" name="cpe|text|line|12"/>
          <p:cNvCxnSpPr/>
          <p:nvPr/>
        </p:nvCxnSpPr>
        <p:spPr>
          <a:xfrm>
            <a:off x="502920" y="4937943"/>
            <a:ext cx="8339099" cy="0"/>
          </a:xfrm>
          <a:prstGeom prst="line">
            <a:avLst/>
          </a:prstGeom>
          <a:ln w="6350">
            <a:solidFill>
              <a:srgbClr val="E3E8ED"/>
            </a:solidFill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EXECUTIVE SUMMARY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Wave 1 is delivering; releasing wave 2 funding keeps the €48M target on track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Programme office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3</a:t>
            </a:r>
          </a:p>
        </p:txBody>
      </p:sp>
      <p:sp>
        <p:nvSpPr>
          <p:cNvPr id="6" name="cpe|statements|text|5"/>
          <p:cNvSpPr txBox="1"/>
          <p:nvPr/>
        </p:nvSpPr>
        <p:spPr>
          <a:xfrm>
            <a:off x="502920" y="2345527"/>
            <a:ext cx="1325880" cy="7040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3294B"/>
                </a:solidFill>
                <a:latin typeface="Arial"/>
              </a:rPr>
              <a:t>Situation</a:t>
            </a:r>
          </a:p>
        </p:txBody>
      </p:sp>
      <p:sp>
        <p:nvSpPr>
          <p:cNvPr id="7" name="cpe|statements|text|6"/>
          <p:cNvSpPr txBox="1"/>
          <p:nvPr/>
        </p:nvSpPr>
        <p:spPr>
          <a:xfrm>
            <a:off x="1920240" y="2345527"/>
            <a:ext cx="3874185" cy="7040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3294B"/>
                </a:solidFill>
                <a:latin typeface="Arial"/>
              </a:rPr>
              <a:t>Cost-to-serve is 18% above peers</a:t>
            </a:r>
          </a:p>
        </p:txBody>
      </p:sp>
      <p:sp>
        <p:nvSpPr>
          <p:cNvPr id="8" name="cpe|statements|text|7"/>
          <p:cNvSpPr txBox="1"/>
          <p:nvPr/>
        </p:nvSpPr>
        <p:spPr>
          <a:xfrm>
            <a:off x="6023025" y="2345527"/>
            <a:ext cx="5665750" cy="7040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Network and warehouse inefficiencies explain 70% of the gap.</a:t>
            </a:r>
          </a:p>
        </p:txBody>
      </p:sp>
      <p:cxnSp>
        <p:nvCxnSpPr>
          <p:cNvPr id="9" name="cpe|statements|line|8"/>
          <p:cNvCxnSpPr/>
          <p:nvPr/>
        </p:nvCxnSpPr>
        <p:spPr>
          <a:xfrm>
            <a:off x="502920" y="3154771"/>
            <a:ext cx="11185855" cy="0"/>
          </a:xfrm>
          <a:prstGeom prst="line">
            <a:avLst/>
          </a:prstGeom>
          <a:ln w="6350">
            <a:solidFill>
              <a:srgbClr val="E3E8ED"/>
            </a:solidFill>
          </a:ln>
        </p:spPr>
      </p:cxnSp>
      <p:sp>
        <p:nvSpPr>
          <p:cNvPr id="10" name="cpe|statements|text|9"/>
          <p:cNvSpPr txBox="1"/>
          <p:nvPr/>
        </p:nvSpPr>
        <p:spPr>
          <a:xfrm>
            <a:off x="502920" y="3259927"/>
            <a:ext cx="1325880" cy="8458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3294B"/>
                </a:solidFill>
                <a:latin typeface="Arial"/>
              </a:rPr>
              <a:t>Complication</a:t>
            </a:r>
          </a:p>
        </p:txBody>
      </p:sp>
      <p:sp>
        <p:nvSpPr>
          <p:cNvPr id="11" name="cpe|statements|text|10"/>
          <p:cNvSpPr txBox="1"/>
          <p:nvPr/>
        </p:nvSpPr>
        <p:spPr>
          <a:xfrm>
            <a:off x="1920240" y="3259927"/>
            <a:ext cx="3874185" cy="8458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3294B"/>
                </a:solidFill>
                <a:latin typeface="Arial"/>
              </a:rPr>
              <a:t>Wave 1 savings arrive, but automation needs capex now</a:t>
            </a:r>
          </a:p>
        </p:txBody>
      </p:sp>
      <p:sp>
        <p:nvSpPr>
          <p:cNvPr id="12" name="cpe|statements|text|11"/>
          <p:cNvSpPr txBox="1"/>
          <p:nvPr/>
        </p:nvSpPr>
        <p:spPr>
          <a:xfrm>
            <a:off x="6023025" y="3259927"/>
            <a:ext cx="5665750" cy="8458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Hub automation lead times are 9 months; delaying funding pushes €14M of savings into 2028.</a:t>
            </a:r>
          </a:p>
        </p:txBody>
      </p:sp>
      <p:cxnSp>
        <p:nvCxnSpPr>
          <p:cNvPr id="13" name="cpe|statements|line|12"/>
          <p:cNvCxnSpPr/>
          <p:nvPr/>
        </p:nvCxnSpPr>
        <p:spPr>
          <a:xfrm>
            <a:off x="502920" y="4210903"/>
            <a:ext cx="11185855" cy="0"/>
          </a:xfrm>
          <a:prstGeom prst="line">
            <a:avLst/>
          </a:prstGeom>
          <a:ln w="6350">
            <a:solidFill>
              <a:srgbClr val="E3E8ED"/>
            </a:solidFill>
          </a:ln>
        </p:spPr>
      </p:cxnSp>
      <p:sp>
        <p:nvSpPr>
          <p:cNvPr id="14" name="cpe|statements|text|13"/>
          <p:cNvSpPr txBox="1"/>
          <p:nvPr/>
        </p:nvSpPr>
        <p:spPr>
          <a:xfrm>
            <a:off x="502920" y="4316059"/>
            <a:ext cx="1325880" cy="7040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3294B"/>
                </a:solidFill>
                <a:latin typeface="Arial"/>
              </a:rPr>
              <a:t>Resolution</a:t>
            </a:r>
          </a:p>
        </p:txBody>
      </p:sp>
      <p:sp>
        <p:nvSpPr>
          <p:cNvPr id="15" name="cpe|statements|text|14"/>
          <p:cNvSpPr txBox="1"/>
          <p:nvPr/>
        </p:nvSpPr>
        <p:spPr>
          <a:xfrm>
            <a:off x="1920240" y="4316059"/>
            <a:ext cx="3874185" cy="7040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3294B"/>
                </a:solidFill>
                <a:latin typeface="Arial"/>
              </a:rPr>
              <a:t>Release €22M for wave 2 today</a:t>
            </a:r>
          </a:p>
        </p:txBody>
      </p:sp>
      <p:sp>
        <p:nvSpPr>
          <p:cNvPr id="16" name="cpe|statements|text|15"/>
          <p:cNvSpPr txBox="1"/>
          <p:nvPr/>
        </p:nvSpPr>
        <p:spPr>
          <a:xfrm>
            <a:off x="6023025" y="4316059"/>
            <a:ext cx="5665750" cy="7040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Keeps the €48M run-rate target for 2027; payback in 19 months.</a:t>
            </a:r>
          </a:p>
        </p:txBody>
      </p:sp>
      <p:cxnSp>
        <p:nvCxnSpPr>
          <p:cNvPr id="17" name="cpe|statements|line|16"/>
          <p:cNvCxnSpPr/>
          <p:nvPr/>
        </p:nvCxnSpPr>
        <p:spPr>
          <a:xfrm>
            <a:off x="502920" y="2240371"/>
            <a:ext cx="11185855" cy="0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cxnSp>
        <p:nvCxnSpPr>
          <p:cNvPr id="18" name="cpe|statements|line|17"/>
          <p:cNvCxnSpPr/>
          <p:nvPr/>
        </p:nvCxnSpPr>
        <p:spPr>
          <a:xfrm>
            <a:off x="502920" y="4988143"/>
            <a:ext cx="11185855" cy="0"/>
          </a:xfrm>
          <a:prstGeom prst="line">
            <a:avLst/>
          </a:prstGeom>
          <a:ln w="6350">
            <a:solidFill>
              <a:srgbClr val="E3E8ED"/>
            </a:solidFill>
          </a:ln>
        </p:spPr>
      </p:cxn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text|bleed|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cpe|text|text|2"/>
          <p:cNvSpPr txBox="1"/>
          <p:nvPr/>
        </p:nvSpPr>
        <p:spPr>
          <a:xfrm>
            <a:off x="502920" y="224028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CC8005"/>
                </a:solidFill>
                <a:latin typeface="Arial"/>
              </a:rPr>
              <a:t>01</a:t>
            </a:r>
          </a:p>
        </p:txBody>
      </p:sp>
      <p:sp>
        <p:nvSpPr>
          <p:cNvPr id="4" name="cpe|text|text|3"/>
          <p:cNvSpPr txBox="1"/>
          <p:nvPr/>
        </p:nvSpPr>
        <p:spPr>
          <a:xfrm>
            <a:off x="502920" y="2880360"/>
            <a:ext cx="9288018" cy="1463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Arial"/>
              </a:rPr>
              <a:t>Diagnosis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DIAGNOSIS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Helix's cost-to-serve is 18% above the peer median, the highest of the panel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Benchmark consortium 2025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5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739018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Cost-to-serve, 2025</a:t>
            </a:r>
            <a:r>
              <a:rPr sz="1100" b="0">
                <a:solidFill>
                  <a:srgbClr val="1C2530"/>
                </a:solidFill>
                <a:latin typeface="Arial"/>
              </a:rPr>
              <a:t>, index, peer median = 100</a:t>
            </a:r>
          </a:p>
        </p:txBody>
      </p:sp>
      <p:graphicFrame>
        <p:nvGraphicFramePr>
          <p:cNvPr id="7" name="cpe|exhibit|chart|6"/>
          <p:cNvGraphicFramePr>
            <a:graphicFrameLocks noGrp="1"/>
          </p:cNvGraphicFramePr>
          <p:nvPr/>
        </p:nvGraphicFramePr>
        <p:xfrm>
          <a:off x="502920" y="1901952"/>
          <a:ext cx="7390181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cxnSp>
        <p:nvCxnSpPr>
          <p:cNvPr id="8" name="cpe|exhibit|connector|7"/>
          <p:cNvCxnSpPr/>
          <p:nvPr/>
        </p:nvCxnSpPr>
        <p:spPr>
          <a:xfrm>
            <a:off x="5722873" y="1947672"/>
            <a:ext cx="0" cy="4166006"/>
          </a:xfrm>
          <a:prstGeom prst="line">
            <a:avLst/>
          </a:prstGeom>
          <a:ln w="9525">
            <a:solidFill>
              <a:srgbClr val="5B6776"/>
            </a:solidFill>
            <a:prstDash val="dash"/>
          </a:ln>
        </p:spPr>
      </p:cxnSp>
      <p:sp>
        <p:nvSpPr>
          <p:cNvPr id="9" name="cpe|exhibit|label|8"/>
          <p:cNvSpPr txBox="1"/>
          <p:nvPr/>
        </p:nvSpPr>
        <p:spPr>
          <a:xfrm>
            <a:off x="5768593" y="1673352"/>
            <a:ext cx="20116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Median 100</a:t>
            </a:r>
          </a:p>
        </p:txBody>
      </p:sp>
      <p:cxnSp>
        <p:nvCxnSpPr>
          <p:cNvPr id="10" name="cpe|commentary|line|9"/>
          <p:cNvCxnSpPr/>
          <p:nvPr/>
        </p:nvCxnSpPr>
        <p:spPr>
          <a:xfrm>
            <a:off x="8094269" y="1481328"/>
            <a:ext cx="0" cy="4718304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11" name="cpe|commentary|text|10"/>
          <p:cNvSpPr txBox="1"/>
          <p:nvPr/>
        </p:nvSpPr>
        <p:spPr>
          <a:xfrm>
            <a:off x="8322869" y="1481328"/>
            <a:ext cx="3365906" cy="4718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Helix is </a:t>
            </a:r>
            <a:r>
              <a:rPr sz="1200" b="1">
                <a:solidFill>
                  <a:srgbClr val="1C2530"/>
                </a:solidFill>
                <a:latin typeface="Arial"/>
              </a:rPr>
              <a:t>18 points</a:t>
            </a:r>
            <a:r>
              <a:rPr sz="1200" b="0">
                <a:solidFill>
                  <a:srgbClr val="1C2530"/>
                </a:solidFill>
                <a:latin typeface="Arial"/>
              </a:rPr>
              <a:t> above the median and 9 above the next worst peer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The gap widened by 5 points since 2022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DIAGNOSIS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Network and warehousing explain €31M of the €44M gap to peers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Cost model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6</a:t>
            </a:r>
          </a:p>
        </p:txBody>
      </p:sp>
      <p:sp>
        <p:nvSpPr>
          <p:cNvPr id="6" name="cpe|exhibit|fill|5"/>
          <p:cNvSpPr/>
          <p:nvPr/>
        </p:nvSpPr>
        <p:spPr>
          <a:xfrm>
            <a:off x="502920" y="3533790"/>
            <a:ext cx="2189074" cy="61338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cpe|exhibit|text|6"/>
          <p:cNvSpPr txBox="1"/>
          <p:nvPr/>
        </p:nvSpPr>
        <p:spPr>
          <a:xfrm>
            <a:off x="576072" y="3552078"/>
            <a:ext cx="2042770" cy="5768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Arial"/>
              </a:rPr>
              <a:t>Gap to peer median
</a:t>
            </a:r>
            <a:r>
              <a:rPr sz="1200" b="1">
                <a:solidFill>
                  <a:srgbClr val="FFFFFF"/>
                </a:solidFill>
                <a:latin typeface="Arial"/>
              </a:rPr>
              <a:t>€44M</a:t>
            </a:r>
          </a:p>
        </p:txBody>
      </p:sp>
      <p:cxnSp>
        <p:nvCxnSpPr>
          <p:cNvPr id="8" name="cpe|exhibit|connector|7"/>
          <p:cNvCxnSpPr/>
          <p:nvPr/>
        </p:nvCxnSpPr>
        <p:spPr>
          <a:xfrm>
            <a:off x="2691994" y="3840480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9" name="cpe|exhibit|connector|8"/>
          <p:cNvCxnSpPr/>
          <p:nvPr/>
        </p:nvCxnSpPr>
        <p:spPr>
          <a:xfrm>
            <a:off x="2897734" y="2267712"/>
            <a:ext cx="0" cy="1572768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10" name="cpe|exhibit|connector|9"/>
          <p:cNvCxnSpPr/>
          <p:nvPr/>
        </p:nvCxnSpPr>
        <p:spPr>
          <a:xfrm>
            <a:off x="2897734" y="2267712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11" name="cpe|exhibit|fill|10"/>
          <p:cNvSpPr/>
          <p:nvPr/>
        </p:nvSpPr>
        <p:spPr>
          <a:xfrm>
            <a:off x="3103474" y="1961022"/>
            <a:ext cx="2189074" cy="613380"/>
          </a:xfrm>
          <a:prstGeom prst="rect">
            <a:avLst/>
          </a:prstGeom>
          <a:solidFill>
            <a:srgbClr val="E08A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cpe|exhibit|text|11"/>
          <p:cNvSpPr txBox="1"/>
          <p:nvPr/>
        </p:nvSpPr>
        <p:spPr>
          <a:xfrm>
            <a:off x="3176626" y="1979310"/>
            <a:ext cx="2042770" cy="5768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Network
</a:t>
            </a:r>
            <a:r>
              <a:rPr sz="1200" b="1">
                <a:solidFill>
                  <a:srgbClr val="1C2530"/>
                </a:solidFill>
                <a:latin typeface="Arial"/>
              </a:rPr>
              <a:t>€19M</a:t>
            </a:r>
          </a:p>
        </p:txBody>
      </p:sp>
      <p:cxnSp>
        <p:nvCxnSpPr>
          <p:cNvPr id="13" name="cpe|exhibit|connector|12"/>
          <p:cNvCxnSpPr/>
          <p:nvPr/>
        </p:nvCxnSpPr>
        <p:spPr>
          <a:xfrm>
            <a:off x="5292547" y="2267712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14" name="cpe|exhibit|connector|13"/>
          <p:cNvCxnSpPr/>
          <p:nvPr/>
        </p:nvCxnSpPr>
        <p:spPr>
          <a:xfrm>
            <a:off x="5498287" y="1874520"/>
            <a:ext cx="0" cy="393192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15" name="cpe|exhibit|connector|14"/>
          <p:cNvCxnSpPr/>
          <p:nvPr/>
        </p:nvCxnSpPr>
        <p:spPr>
          <a:xfrm>
            <a:off x="5498287" y="1874520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16" name="cpe|exhibit|fill|15"/>
          <p:cNvSpPr/>
          <p:nvPr/>
        </p:nvSpPr>
        <p:spPr>
          <a:xfrm>
            <a:off x="5704027" y="1567830"/>
            <a:ext cx="2189074" cy="61338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cpe|exhibit|text|16"/>
          <p:cNvSpPr txBox="1"/>
          <p:nvPr/>
        </p:nvSpPr>
        <p:spPr>
          <a:xfrm>
            <a:off x="5777179" y="1586118"/>
            <a:ext cx="2042770" cy="5768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Too many depots
</a:t>
            </a:r>
            <a:r>
              <a:rPr sz="1200" b="1">
                <a:solidFill>
                  <a:srgbClr val="1C2530"/>
                </a:solidFill>
                <a:latin typeface="Arial"/>
              </a:rPr>
              <a:t>€11M</a:t>
            </a:r>
          </a:p>
        </p:txBody>
      </p:sp>
      <p:cxnSp>
        <p:nvCxnSpPr>
          <p:cNvPr id="18" name="cpe|exhibit|connector|17"/>
          <p:cNvCxnSpPr/>
          <p:nvPr/>
        </p:nvCxnSpPr>
        <p:spPr>
          <a:xfrm>
            <a:off x="5292547" y="2267712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19" name="cpe|exhibit|connector|18"/>
          <p:cNvCxnSpPr/>
          <p:nvPr/>
        </p:nvCxnSpPr>
        <p:spPr>
          <a:xfrm>
            <a:off x="5498287" y="2267712"/>
            <a:ext cx="0" cy="393192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20" name="cpe|exhibit|connector|19"/>
          <p:cNvCxnSpPr/>
          <p:nvPr/>
        </p:nvCxnSpPr>
        <p:spPr>
          <a:xfrm>
            <a:off x="5498287" y="2660904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21" name="cpe|exhibit|fill|20"/>
          <p:cNvSpPr/>
          <p:nvPr/>
        </p:nvSpPr>
        <p:spPr>
          <a:xfrm>
            <a:off x="5704027" y="2354214"/>
            <a:ext cx="2189074" cy="61338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cpe|exhibit|text|21"/>
          <p:cNvSpPr txBox="1"/>
          <p:nvPr/>
        </p:nvSpPr>
        <p:spPr>
          <a:xfrm>
            <a:off x="5777179" y="2372502"/>
            <a:ext cx="2042770" cy="5768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Low truck fill
</a:t>
            </a:r>
            <a:r>
              <a:rPr sz="1200" b="1">
                <a:solidFill>
                  <a:srgbClr val="1C2530"/>
                </a:solidFill>
                <a:latin typeface="Arial"/>
              </a:rPr>
              <a:t>€8M</a:t>
            </a:r>
          </a:p>
        </p:txBody>
      </p:sp>
      <p:cxnSp>
        <p:nvCxnSpPr>
          <p:cNvPr id="23" name="cpe|exhibit|connector|22"/>
          <p:cNvCxnSpPr/>
          <p:nvPr/>
        </p:nvCxnSpPr>
        <p:spPr>
          <a:xfrm>
            <a:off x="2691994" y="3840480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24" name="cpe|exhibit|connector|23"/>
          <p:cNvCxnSpPr/>
          <p:nvPr/>
        </p:nvCxnSpPr>
        <p:spPr>
          <a:xfrm>
            <a:off x="2897734" y="3840480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25" name="cpe|exhibit|fill|24"/>
          <p:cNvSpPr/>
          <p:nvPr/>
        </p:nvSpPr>
        <p:spPr>
          <a:xfrm>
            <a:off x="3103474" y="3533790"/>
            <a:ext cx="2189074" cy="613380"/>
          </a:xfrm>
          <a:prstGeom prst="rect">
            <a:avLst/>
          </a:prstGeom>
          <a:solidFill>
            <a:srgbClr val="E08A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cpe|exhibit|text|25"/>
          <p:cNvSpPr txBox="1"/>
          <p:nvPr/>
        </p:nvSpPr>
        <p:spPr>
          <a:xfrm>
            <a:off x="3176626" y="3552078"/>
            <a:ext cx="2042770" cy="5768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Warehousing
</a:t>
            </a:r>
            <a:r>
              <a:rPr sz="1200" b="1">
                <a:solidFill>
                  <a:srgbClr val="1C2530"/>
                </a:solidFill>
                <a:latin typeface="Arial"/>
              </a:rPr>
              <a:t>€12M</a:t>
            </a:r>
          </a:p>
        </p:txBody>
      </p:sp>
      <p:cxnSp>
        <p:nvCxnSpPr>
          <p:cNvPr id="27" name="cpe|exhibit|connector|26"/>
          <p:cNvCxnSpPr/>
          <p:nvPr/>
        </p:nvCxnSpPr>
        <p:spPr>
          <a:xfrm>
            <a:off x="5292547" y="3840480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28" name="cpe|exhibit|connector|27"/>
          <p:cNvCxnSpPr/>
          <p:nvPr/>
        </p:nvCxnSpPr>
        <p:spPr>
          <a:xfrm>
            <a:off x="5498287" y="3447288"/>
            <a:ext cx="0" cy="393192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29" name="cpe|exhibit|connector|28"/>
          <p:cNvCxnSpPr/>
          <p:nvPr/>
        </p:nvCxnSpPr>
        <p:spPr>
          <a:xfrm>
            <a:off x="5498287" y="3447288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30" name="cpe|exhibit|fill|29"/>
          <p:cNvSpPr/>
          <p:nvPr/>
        </p:nvSpPr>
        <p:spPr>
          <a:xfrm>
            <a:off x="5704027" y="3140598"/>
            <a:ext cx="2189074" cy="61338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cpe|exhibit|text|30"/>
          <p:cNvSpPr txBox="1"/>
          <p:nvPr/>
        </p:nvSpPr>
        <p:spPr>
          <a:xfrm>
            <a:off x="5777179" y="3158886"/>
            <a:ext cx="2042770" cy="5768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Manual picking
</a:t>
            </a:r>
            <a:r>
              <a:rPr sz="1200" b="1">
                <a:solidFill>
                  <a:srgbClr val="1C2530"/>
                </a:solidFill>
                <a:latin typeface="Arial"/>
              </a:rPr>
              <a:t>€9M</a:t>
            </a:r>
          </a:p>
        </p:txBody>
      </p:sp>
      <p:cxnSp>
        <p:nvCxnSpPr>
          <p:cNvPr id="32" name="cpe|exhibit|connector|31"/>
          <p:cNvCxnSpPr/>
          <p:nvPr/>
        </p:nvCxnSpPr>
        <p:spPr>
          <a:xfrm>
            <a:off x="5292547" y="3840480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33" name="cpe|exhibit|connector|32"/>
          <p:cNvCxnSpPr/>
          <p:nvPr/>
        </p:nvCxnSpPr>
        <p:spPr>
          <a:xfrm>
            <a:off x="5498287" y="3840480"/>
            <a:ext cx="0" cy="393192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34" name="cpe|exhibit|connector|33"/>
          <p:cNvCxnSpPr/>
          <p:nvPr/>
        </p:nvCxnSpPr>
        <p:spPr>
          <a:xfrm>
            <a:off x="5498287" y="4233672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35" name="cpe|exhibit|fill|34"/>
          <p:cNvSpPr/>
          <p:nvPr/>
        </p:nvSpPr>
        <p:spPr>
          <a:xfrm>
            <a:off x="5704027" y="3926982"/>
            <a:ext cx="2189074" cy="61338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cpe|exhibit|text|35"/>
          <p:cNvSpPr txBox="1"/>
          <p:nvPr/>
        </p:nvSpPr>
        <p:spPr>
          <a:xfrm>
            <a:off x="5777179" y="3945270"/>
            <a:ext cx="2042770" cy="5768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Overtime
</a:t>
            </a:r>
            <a:r>
              <a:rPr sz="1200" b="1">
                <a:solidFill>
                  <a:srgbClr val="1C2530"/>
                </a:solidFill>
                <a:latin typeface="Arial"/>
              </a:rPr>
              <a:t>€3M</a:t>
            </a:r>
          </a:p>
        </p:txBody>
      </p:sp>
      <p:cxnSp>
        <p:nvCxnSpPr>
          <p:cNvPr id="37" name="cpe|exhibit|connector|36"/>
          <p:cNvCxnSpPr/>
          <p:nvPr/>
        </p:nvCxnSpPr>
        <p:spPr>
          <a:xfrm>
            <a:off x="2691994" y="3840480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38" name="cpe|exhibit|connector|37"/>
          <p:cNvCxnSpPr/>
          <p:nvPr/>
        </p:nvCxnSpPr>
        <p:spPr>
          <a:xfrm>
            <a:off x="2897734" y="3840480"/>
            <a:ext cx="0" cy="1572768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39" name="cpe|exhibit|connector|38"/>
          <p:cNvCxnSpPr/>
          <p:nvPr/>
        </p:nvCxnSpPr>
        <p:spPr>
          <a:xfrm>
            <a:off x="2897734" y="5413248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40" name="cpe|exhibit|fill|39"/>
          <p:cNvSpPr/>
          <p:nvPr/>
        </p:nvSpPr>
        <p:spPr>
          <a:xfrm>
            <a:off x="3103474" y="5106558"/>
            <a:ext cx="2189074" cy="61338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cpe|exhibit|text|40"/>
          <p:cNvSpPr txBox="1"/>
          <p:nvPr/>
        </p:nvSpPr>
        <p:spPr>
          <a:xfrm>
            <a:off x="3176626" y="5124846"/>
            <a:ext cx="2042770" cy="5768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Customer terms
</a:t>
            </a:r>
            <a:r>
              <a:rPr sz="1200" b="1">
                <a:solidFill>
                  <a:srgbClr val="1C2530"/>
                </a:solidFill>
                <a:latin typeface="Arial"/>
              </a:rPr>
              <a:t>€13M</a:t>
            </a:r>
          </a:p>
        </p:txBody>
      </p:sp>
      <p:cxnSp>
        <p:nvCxnSpPr>
          <p:cNvPr id="42" name="cpe|exhibit|connector|41"/>
          <p:cNvCxnSpPr/>
          <p:nvPr/>
        </p:nvCxnSpPr>
        <p:spPr>
          <a:xfrm>
            <a:off x="5292547" y="5413248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43" name="cpe|exhibit|connector|42"/>
          <p:cNvCxnSpPr/>
          <p:nvPr/>
        </p:nvCxnSpPr>
        <p:spPr>
          <a:xfrm>
            <a:off x="5498287" y="5020056"/>
            <a:ext cx="0" cy="393192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44" name="cpe|exhibit|connector|43"/>
          <p:cNvCxnSpPr/>
          <p:nvPr/>
        </p:nvCxnSpPr>
        <p:spPr>
          <a:xfrm>
            <a:off x="5498287" y="5020056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45" name="cpe|exhibit|fill|44"/>
          <p:cNvSpPr/>
          <p:nvPr/>
        </p:nvSpPr>
        <p:spPr>
          <a:xfrm>
            <a:off x="5704027" y="4713366"/>
            <a:ext cx="2189074" cy="61338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cpe|exhibit|text|45"/>
          <p:cNvSpPr txBox="1"/>
          <p:nvPr/>
        </p:nvSpPr>
        <p:spPr>
          <a:xfrm>
            <a:off x="5777179" y="4731654"/>
            <a:ext cx="2042770" cy="5768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Small drops
</a:t>
            </a:r>
            <a:r>
              <a:rPr sz="1200" b="1">
                <a:solidFill>
                  <a:srgbClr val="1C2530"/>
                </a:solidFill>
                <a:latin typeface="Arial"/>
              </a:rPr>
              <a:t>€8M</a:t>
            </a:r>
          </a:p>
        </p:txBody>
      </p:sp>
      <p:cxnSp>
        <p:nvCxnSpPr>
          <p:cNvPr id="47" name="cpe|exhibit|connector|46"/>
          <p:cNvCxnSpPr/>
          <p:nvPr/>
        </p:nvCxnSpPr>
        <p:spPr>
          <a:xfrm>
            <a:off x="5292547" y="5413248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48" name="cpe|exhibit|connector|47"/>
          <p:cNvCxnSpPr/>
          <p:nvPr/>
        </p:nvCxnSpPr>
        <p:spPr>
          <a:xfrm>
            <a:off x="5498287" y="5413248"/>
            <a:ext cx="0" cy="393192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49" name="cpe|exhibit|connector|48"/>
          <p:cNvCxnSpPr/>
          <p:nvPr/>
        </p:nvCxnSpPr>
        <p:spPr>
          <a:xfrm>
            <a:off x="5498287" y="5806440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50" name="cpe|exhibit|fill|49"/>
          <p:cNvSpPr/>
          <p:nvPr/>
        </p:nvSpPr>
        <p:spPr>
          <a:xfrm>
            <a:off x="5704027" y="5499750"/>
            <a:ext cx="2189074" cy="61338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cpe|exhibit|text|50"/>
          <p:cNvSpPr txBox="1"/>
          <p:nvPr/>
        </p:nvSpPr>
        <p:spPr>
          <a:xfrm>
            <a:off x="5777179" y="5518038"/>
            <a:ext cx="2042770" cy="5768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Free returns
</a:t>
            </a:r>
            <a:r>
              <a:rPr sz="1200" b="1">
                <a:solidFill>
                  <a:srgbClr val="1C2530"/>
                </a:solidFill>
                <a:latin typeface="Arial"/>
              </a:rPr>
              <a:t>€5M</a:t>
            </a:r>
          </a:p>
        </p:txBody>
      </p:sp>
      <p:cxnSp>
        <p:nvCxnSpPr>
          <p:cNvPr id="52" name="cpe|commentary|line|51"/>
          <p:cNvCxnSpPr/>
          <p:nvPr/>
        </p:nvCxnSpPr>
        <p:spPr>
          <a:xfrm>
            <a:off x="8094269" y="1481328"/>
            <a:ext cx="0" cy="4718304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53" name="cpe|commentary|text|52"/>
          <p:cNvSpPr txBox="1"/>
          <p:nvPr/>
        </p:nvSpPr>
        <p:spPr>
          <a:xfrm>
            <a:off x="8322869" y="1481328"/>
            <a:ext cx="3365906" cy="4718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1">
                <a:solidFill>
                  <a:srgbClr val="1C2530"/>
                </a:solidFill>
                <a:latin typeface="Arial"/>
              </a:rPr>
              <a:t>Network</a:t>
            </a:r>
            <a:r>
              <a:rPr sz="1200" b="0">
                <a:solidFill>
                  <a:srgbClr val="1C2530"/>
                </a:solidFill>
                <a:latin typeface="Arial"/>
              </a:rPr>
              <a:t> is the largest driver: 14 depots vs 9 at peers</a:t>
            </a:r>
          </a:p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1">
                <a:solidFill>
                  <a:srgbClr val="1C2530"/>
                </a:solidFill>
                <a:latin typeface="Arial"/>
              </a:rPr>
              <a:t>Warehousing</a:t>
            </a:r>
            <a:r>
              <a:rPr sz="1200" b="0">
                <a:solidFill>
                  <a:srgbClr val="1C2530"/>
                </a:solidFill>
                <a:latin typeface="Arial"/>
              </a:rPr>
              <a:t> is fixable with automation of two hubs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Customer terms need commercial, not operational, action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DIAGNOSIS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Cost per drop rose 21% since 2021 while peers held it flat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Benchmark consortium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7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Cost per drop</a:t>
            </a:r>
            <a:r>
              <a:rPr sz="1100" b="0">
                <a:solidFill>
                  <a:srgbClr val="1C2530"/>
                </a:solidFill>
                <a:latin typeface="Arial"/>
              </a:rPr>
              <a:t>, €</a:t>
            </a:r>
          </a:p>
        </p:txBody>
      </p:sp>
      <p:sp>
        <p:nvSpPr>
          <p:cNvPr id="7" name="cpe|exhibit|fill|6"/>
          <p:cNvSpPr/>
          <p:nvPr/>
        </p:nvSpPr>
        <p:spPr>
          <a:xfrm>
            <a:off x="8722235" y="1901952"/>
            <a:ext cx="1621491" cy="3243834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cpe|exhibit|label|7"/>
          <p:cNvSpPr txBox="1"/>
          <p:nvPr/>
        </p:nvSpPr>
        <p:spPr>
          <a:xfrm>
            <a:off x="8767955" y="1929384"/>
            <a:ext cx="1530051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Forecast</a:t>
            </a:r>
          </a:p>
        </p:txBody>
      </p:sp>
      <p:graphicFrame>
        <p:nvGraphicFramePr>
          <p:cNvPr id="9" name="cpe|exhibit|chart|8"/>
          <p:cNvGraphicFramePr>
            <a:graphicFrameLocks noGrp="1"/>
          </p:cNvGraphicFramePr>
          <p:nvPr/>
        </p:nvGraphicFramePr>
        <p:xfrm>
          <a:off x="502920" y="1901952"/>
          <a:ext cx="11185855" cy="350215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cpe|exhibit|label|9"/>
          <p:cNvSpPr txBox="1"/>
          <p:nvPr/>
        </p:nvSpPr>
        <p:spPr>
          <a:xfrm>
            <a:off x="9624421" y="3068069"/>
            <a:ext cx="2064355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3294B"/>
                </a:solidFill>
                <a:latin typeface="Arial"/>
              </a:rPr>
              <a:t>Helix</a:t>
            </a:r>
            <a:r>
              <a:rPr sz="1100" b="0">
                <a:solidFill>
                  <a:srgbClr val="13294B"/>
                </a:solidFill>
                <a:latin typeface="Arial"/>
              </a:rPr>
              <a:t> 5.6</a:t>
            </a:r>
          </a:p>
        </p:txBody>
      </p:sp>
      <p:sp>
        <p:nvSpPr>
          <p:cNvPr id="11" name="cpe|exhibit|label|10"/>
          <p:cNvSpPr txBox="1"/>
          <p:nvPr/>
        </p:nvSpPr>
        <p:spPr>
          <a:xfrm>
            <a:off x="9624421" y="4347315"/>
            <a:ext cx="2064355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5B6776"/>
                </a:solidFill>
                <a:latin typeface="Arial"/>
              </a:rPr>
              <a:t>Peer median</a:t>
            </a:r>
            <a:r>
              <a:rPr sz="1100" b="0">
                <a:solidFill>
                  <a:srgbClr val="5B6776"/>
                </a:solidFill>
                <a:latin typeface="Arial"/>
              </a:rPr>
              <a:t> 4.8</a:t>
            </a:r>
          </a:p>
        </p:txBody>
      </p:sp>
      <p:sp>
        <p:nvSpPr>
          <p:cNvPr id="12" name="cpe|exhibit|label|11"/>
          <p:cNvSpPr txBox="1"/>
          <p:nvPr/>
        </p:nvSpPr>
        <p:spPr>
          <a:xfrm>
            <a:off x="968324" y="4164435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3294B"/>
                </a:solidFill>
                <a:latin typeface="Arial"/>
              </a:rPr>
              <a:t>4.8</a:t>
            </a:r>
          </a:p>
        </p:txBody>
      </p:sp>
      <p:cxnSp>
        <p:nvCxnSpPr>
          <p:cNvPr id="13" name="cpe|exhibit|connector|12"/>
          <p:cNvCxnSpPr/>
          <p:nvPr/>
        </p:nvCxnSpPr>
        <p:spPr>
          <a:xfrm>
            <a:off x="1425524" y="2364210"/>
            <a:ext cx="6485965" cy="0"/>
          </a:xfrm>
          <a:prstGeom prst="line">
            <a:avLst/>
          </a:prstGeom>
          <a:ln w="9525">
            <a:solidFill>
              <a:srgbClr val="1C2530"/>
            </a:solidFill>
            <a:tailEnd type="triangle" w="med" len="med"/>
          </a:ln>
        </p:spPr>
      </p:cxnSp>
      <p:cxnSp>
        <p:nvCxnSpPr>
          <p:cNvPr id="14" name="cpe|exhibit|connector|13"/>
          <p:cNvCxnSpPr/>
          <p:nvPr/>
        </p:nvCxnSpPr>
        <p:spPr>
          <a:xfrm>
            <a:off x="1425524" y="2364210"/>
            <a:ext cx="0" cy="91440"/>
          </a:xfrm>
          <a:prstGeom prst="line">
            <a:avLst/>
          </a:prstGeom>
          <a:ln w="9525">
            <a:solidFill>
              <a:srgbClr val="1C2530"/>
            </a:solidFill>
          </a:ln>
        </p:spPr>
      </p:cxnSp>
      <p:sp>
        <p:nvSpPr>
          <p:cNvPr id="15" name="cpe|exhibit|label|14"/>
          <p:cNvSpPr txBox="1"/>
          <p:nvPr/>
        </p:nvSpPr>
        <p:spPr>
          <a:xfrm>
            <a:off x="4394601" y="2227050"/>
            <a:ext cx="547811" cy="27432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C2530"/>
                </a:solidFill>
                <a:latin typeface="Arial"/>
              </a:rPr>
              <a:t>+21%</a:t>
            </a:r>
          </a:p>
        </p:txBody>
      </p:sp>
      <p:sp>
        <p:nvSpPr>
          <p:cNvPr id="16" name="cpe|takeaway|fill|15"/>
          <p:cNvSpPr/>
          <p:nvPr/>
        </p:nvSpPr>
        <p:spPr>
          <a:xfrm>
            <a:off x="502920" y="5632704"/>
            <a:ext cx="11185855" cy="566928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cpe|takeaway|fill|16"/>
          <p:cNvSpPr/>
          <p:nvPr/>
        </p:nvSpPr>
        <p:spPr>
          <a:xfrm>
            <a:off x="502920" y="5632704"/>
            <a:ext cx="64008" cy="566928"/>
          </a:xfrm>
          <a:prstGeom prst="rect">
            <a:avLst/>
          </a:prstGeom>
          <a:solidFill>
            <a:srgbClr val="E08A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cpe|takeaway|text|17"/>
          <p:cNvSpPr txBox="1"/>
          <p:nvPr/>
        </p:nvSpPr>
        <p:spPr>
          <a:xfrm>
            <a:off x="795528" y="5632704"/>
            <a:ext cx="10664647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3294B"/>
                </a:solidFill>
                <a:latin typeface="Arial"/>
              </a:rPr>
              <a:t>The gap is structural: it grew every year until wave 1 started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DIAGNOSIS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Only 61% of orders arrive in full and on time, with picking causing the largest loss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WMS extract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8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739018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Order fulfilment, Q2 2026</a:t>
            </a:r>
            <a:r>
              <a:rPr sz="1100" b="0">
                <a:solidFill>
                  <a:srgbClr val="1C2530"/>
                </a:solidFill>
                <a:latin typeface="Arial"/>
              </a:rPr>
              <a:t>, % of orders</a:t>
            </a:r>
          </a:p>
        </p:txBody>
      </p:sp>
      <p:sp>
        <p:nvSpPr>
          <p:cNvPr id="7" name="cpe|exhibit|fill|6"/>
          <p:cNvSpPr/>
          <p:nvPr/>
        </p:nvSpPr>
        <p:spPr>
          <a:xfrm>
            <a:off x="2572171" y="1901952"/>
            <a:ext cx="4132210" cy="749808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cpe|exhibit|text|7"/>
          <p:cNvSpPr txBox="1"/>
          <p:nvPr/>
        </p:nvSpPr>
        <p:spPr>
          <a:xfrm>
            <a:off x="2572171" y="1901952"/>
            <a:ext cx="4132210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100</a:t>
            </a:r>
          </a:p>
        </p:txBody>
      </p:sp>
      <p:sp>
        <p:nvSpPr>
          <p:cNvPr id="9" name="cpe|exhibit|text|8"/>
          <p:cNvSpPr txBox="1"/>
          <p:nvPr/>
        </p:nvSpPr>
        <p:spPr>
          <a:xfrm>
            <a:off x="502920" y="1901952"/>
            <a:ext cx="1932091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Orders received</a:t>
            </a:r>
          </a:p>
        </p:txBody>
      </p:sp>
      <p:sp>
        <p:nvSpPr>
          <p:cNvPr id="10" name="cpe|exhibit|label|9"/>
          <p:cNvSpPr txBox="1"/>
          <p:nvPr/>
        </p:nvSpPr>
        <p:spPr>
          <a:xfrm>
            <a:off x="6795821" y="2542032"/>
            <a:ext cx="1097280" cy="35661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▼ 92%</a:t>
            </a:r>
          </a:p>
        </p:txBody>
      </p:sp>
      <p:sp>
        <p:nvSpPr>
          <p:cNvPr id="11" name="cpe|exhibit|fill|10"/>
          <p:cNvSpPr/>
          <p:nvPr/>
        </p:nvSpPr>
        <p:spPr>
          <a:xfrm>
            <a:off x="2737459" y="2788920"/>
            <a:ext cx="3801633" cy="749808"/>
          </a:xfrm>
          <a:prstGeom prst="rect">
            <a:avLst/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cpe|exhibit|text|11"/>
          <p:cNvSpPr txBox="1"/>
          <p:nvPr/>
        </p:nvSpPr>
        <p:spPr>
          <a:xfrm>
            <a:off x="2737459" y="2788920"/>
            <a:ext cx="3801633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92</a:t>
            </a:r>
          </a:p>
        </p:txBody>
      </p:sp>
      <p:sp>
        <p:nvSpPr>
          <p:cNvPr id="13" name="cpe|exhibit|text|12"/>
          <p:cNvSpPr txBox="1"/>
          <p:nvPr/>
        </p:nvSpPr>
        <p:spPr>
          <a:xfrm>
            <a:off x="502920" y="2788920"/>
            <a:ext cx="1932091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Stock available</a:t>
            </a:r>
          </a:p>
        </p:txBody>
      </p:sp>
      <p:sp>
        <p:nvSpPr>
          <p:cNvPr id="14" name="cpe|exhibit|label|13"/>
          <p:cNvSpPr txBox="1"/>
          <p:nvPr/>
        </p:nvSpPr>
        <p:spPr>
          <a:xfrm>
            <a:off x="6795821" y="3429000"/>
            <a:ext cx="1097280" cy="35661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▼ 85%</a:t>
            </a:r>
          </a:p>
        </p:txBody>
      </p:sp>
      <p:sp>
        <p:nvSpPr>
          <p:cNvPr id="15" name="cpe|exhibit|fill|14"/>
          <p:cNvSpPr/>
          <p:nvPr/>
        </p:nvSpPr>
        <p:spPr>
          <a:xfrm>
            <a:off x="3026714" y="3675888"/>
            <a:ext cx="3223124" cy="749808"/>
          </a:xfrm>
          <a:prstGeom prst="rect">
            <a:avLst/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cpe|exhibit|text|15"/>
          <p:cNvSpPr txBox="1"/>
          <p:nvPr/>
        </p:nvSpPr>
        <p:spPr>
          <a:xfrm>
            <a:off x="3026714" y="3675888"/>
            <a:ext cx="3223124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78</a:t>
            </a:r>
          </a:p>
        </p:txBody>
      </p:sp>
      <p:sp>
        <p:nvSpPr>
          <p:cNvPr id="17" name="cpe|exhibit|text|16"/>
          <p:cNvSpPr txBox="1"/>
          <p:nvPr/>
        </p:nvSpPr>
        <p:spPr>
          <a:xfrm>
            <a:off x="502920" y="3675888"/>
            <a:ext cx="1932091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Picked correctly</a:t>
            </a:r>
          </a:p>
        </p:txBody>
      </p:sp>
      <p:sp>
        <p:nvSpPr>
          <p:cNvPr id="18" name="cpe|exhibit|label|17"/>
          <p:cNvSpPr txBox="1"/>
          <p:nvPr/>
        </p:nvSpPr>
        <p:spPr>
          <a:xfrm>
            <a:off x="6795821" y="4315968"/>
            <a:ext cx="1097280" cy="35661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C0392B"/>
                </a:solidFill>
                <a:latin typeface="Arial"/>
              </a:rPr>
              <a:t>▼ 82%</a:t>
            </a:r>
          </a:p>
        </p:txBody>
      </p:sp>
      <p:sp>
        <p:nvSpPr>
          <p:cNvPr id="19" name="cpe|exhibit|fill|18"/>
          <p:cNvSpPr/>
          <p:nvPr/>
        </p:nvSpPr>
        <p:spPr>
          <a:xfrm>
            <a:off x="3315968" y="4562856"/>
            <a:ext cx="2644615" cy="749808"/>
          </a:xfrm>
          <a:prstGeom prst="rect">
            <a:avLst/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cpe|exhibit|text|19"/>
          <p:cNvSpPr txBox="1"/>
          <p:nvPr/>
        </p:nvSpPr>
        <p:spPr>
          <a:xfrm>
            <a:off x="3315968" y="4562856"/>
            <a:ext cx="2644615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64</a:t>
            </a:r>
          </a:p>
        </p:txBody>
      </p:sp>
      <p:sp>
        <p:nvSpPr>
          <p:cNvPr id="21" name="cpe|exhibit|text|20"/>
          <p:cNvSpPr txBox="1"/>
          <p:nvPr/>
        </p:nvSpPr>
        <p:spPr>
          <a:xfrm>
            <a:off x="502920" y="4562856"/>
            <a:ext cx="1932091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Shipped on time</a:t>
            </a:r>
          </a:p>
        </p:txBody>
      </p:sp>
      <p:sp>
        <p:nvSpPr>
          <p:cNvPr id="22" name="cpe|exhibit|label|21"/>
          <p:cNvSpPr txBox="1"/>
          <p:nvPr/>
        </p:nvSpPr>
        <p:spPr>
          <a:xfrm>
            <a:off x="6795821" y="5202936"/>
            <a:ext cx="1097280" cy="35661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▼ 95%</a:t>
            </a:r>
          </a:p>
        </p:txBody>
      </p:sp>
      <p:sp>
        <p:nvSpPr>
          <p:cNvPr id="23" name="cpe|exhibit|fill|22"/>
          <p:cNvSpPr/>
          <p:nvPr/>
        </p:nvSpPr>
        <p:spPr>
          <a:xfrm>
            <a:off x="3377952" y="5449824"/>
            <a:ext cx="2520648" cy="749808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cpe|exhibit|text|23"/>
          <p:cNvSpPr txBox="1"/>
          <p:nvPr/>
        </p:nvSpPr>
        <p:spPr>
          <a:xfrm>
            <a:off x="3377952" y="5449824"/>
            <a:ext cx="2520648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61</a:t>
            </a:r>
          </a:p>
        </p:txBody>
      </p:sp>
      <p:sp>
        <p:nvSpPr>
          <p:cNvPr id="25" name="cpe|exhibit|text|24"/>
          <p:cNvSpPr txBox="1"/>
          <p:nvPr/>
        </p:nvSpPr>
        <p:spPr>
          <a:xfrm>
            <a:off x="502920" y="5449824"/>
            <a:ext cx="1932091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Delivered in full, on time</a:t>
            </a:r>
          </a:p>
        </p:txBody>
      </p:sp>
      <p:cxnSp>
        <p:nvCxnSpPr>
          <p:cNvPr id="26" name="cpe|commentary|line|25"/>
          <p:cNvCxnSpPr/>
          <p:nvPr/>
        </p:nvCxnSpPr>
        <p:spPr>
          <a:xfrm>
            <a:off x="8094269" y="1481328"/>
            <a:ext cx="0" cy="4718304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27" name="cpe|commentary|text|26"/>
          <p:cNvSpPr txBox="1"/>
          <p:nvPr/>
        </p:nvSpPr>
        <p:spPr>
          <a:xfrm>
            <a:off x="8322869" y="1481328"/>
            <a:ext cx="3365906" cy="4718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Picking errors lose </a:t>
            </a:r>
            <a:r>
              <a:rPr sz="1200" b="1">
                <a:solidFill>
                  <a:srgbClr val="1C2530"/>
                </a:solidFill>
                <a:latin typeface="Arial"/>
              </a:rPr>
              <a:t>14 points</a:t>
            </a:r>
            <a:r>
              <a:rPr sz="1200" b="0">
                <a:solidFill>
                  <a:srgbClr val="1C2530"/>
                </a:solidFill>
                <a:latin typeface="Arial"/>
              </a:rPr>
              <a:t>, the largest single drop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Stock availability is at peer level (92%)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DIAGNOSIS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Cost-to-serve is highest in the north-west, where depot density is lowest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Transport management system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9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Cost per drop by region, 2025</a:t>
            </a:r>
            <a:r>
              <a:rPr sz="1100" b="0">
                <a:solidFill>
                  <a:srgbClr val="1C2530"/>
                </a:solidFill>
                <a:latin typeface="Arial"/>
              </a:rPr>
              <a:t>, €</a:t>
            </a:r>
          </a:p>
        </p:txBody>
      </p:sp>
      <p:sp>
        <p:nvSpPr>
          <p:cNvPr id="7" name="cpe|exhibit|fill|6"/>
          <p:cNvSpPr/>
          <p:nvPr/>
        </p:nvSpPr>
        <p:spPr>
          <a:xfrm>
            <a:off x="3828593" y="1929384"/>
            <a:ext cx="600761" cy="600761"/>
          </a:xfrm>
          <a:prstGeom prst="rect">
            <a:avLst/>
          </a:prstGeom>
          <a:solidFill>
            <a:srgbClr val="193458"/>
          </a:solidFill>
          <a:ln w="28575">
            <a:solidFill>
              <a:srgbClr val="E08A0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cpe|exhibit|text|7"/>
          <p:cNvSpPr txBox="1"/>
          <p:nvPr/>
        </p:nvSpPr>
        <p:spPr>
          <a:xfrm>
            <a:off x="3828593" y="1929384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GA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FFFFFF"/>
                </a:solidFill>
                <a:latin typeface="Arial"/>
              </a:rPr>
              <a:t>7.4</a:t>
            </a:r>
          </a:p>
        </p:txBody>
      </p:sp>
      <p:sp>
        <p:nvSpPr>
          <p:cNvPr id="9" name="cpe|exhibit|fill|8"/>
          <p:cNvSpPr/>
          <p:nvPr/>
        </p:nvSpPr>
        <p:spPr>
          <a:xfrm>
            <a:off x="4484218" y="1929384"/>
            <a:ext cx="600761" cy="600761"/>
          </a:xfrm>
          <a:prstGeom prst="rect">
            <a:avLst/>
          </a:prstGeom>
          <a:solidFill>
            <a:srgbClr val="23476E"/>
          </a:solidFill>
          <a:ln w="28575">
            <a:solidFill>
              <a:srgbClr val="E08A0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cpe|exhibit|text|9"/>
          <p:cNvSpPr txBox="1"/>
          <p:nvPr/>
        </p:nvSpPr>
        <p:spPr>
          <a:xfrm>
            <a:off x="4484218" y="1929384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AS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FFFFFF"/>
                </a:solidFill>
                <a:latin typeface="Arial"/>
              </a:rPr>
              <a:t>7.1</a:t>
            </a:r>
          </a:p>
        </p:txBody>
      </p:sp>
      <p:sp>
        <p:nvSpPr>
          <p:cNvPr id="11" name="cpe|exhibit|fill|10"/>
          <p:cNvSpPr/>
          <p:nvPr/>
        </p:nvSpPr>
        <p:spPr>
          <a:xfrm>
            <a:off x="5139842" y="1929384"/>
            <a:ext cx="600761" cy="600761"/>
          </a:xfrm>
          <a:prstGeom prst="rect">
            <a:avLst/>
          </a:prstGeom>
          <a:solidFill>
            <a:srgbClr val="55779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cpe|exhibit|text|11"/>
          <p:cNvSpPr txBox="1"/>
          <p:nvPr/>
        </p:nvSpPr>
        <p:spPr>
          <a:xfrm>
            <a:off x="5139842" y="1929384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CB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FFFFFF"/>
                </a:solidFill>
                <a:latin typeface="Arial"/>
              </a:rPr>
              <a:t>6.2</a:t>
            </a:r>
          </a:p>
        </p:txBody>
      </p:sp>
      <p:sp>
        <p:nvSpPr>
          <p:cNvPr id="13" name="cpe|exhibit|fill|12"/>
          <p:cNvSpPr/>
          <p:nvPr/>
        </p:nvSpPr>
        <p:spPr>
          <a:xfrm>
            <a:off x="5795467" y="1929384"/>
            <a:ext cx="600761" cy="600761"/>
          </a:xfrm>
          <a:prstGeom prst="rect">
            <a:avLst/>
          </a:prstGeom>
          <a:solidFill>
            <a:srgbClr val="A2BAD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cpe|exhibit|text|13"/>
          <p:cNvSpPr txBox="1"/>
          <p:nvPr/>
        </p:nvSpPr>
        <p:spPr>
          <a:xfrm>
            <a:off x="5795467" y="1929384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1C2530"/>
                </a:solidFill>
                <a:latin typeface="Arial"/>
              </a:rPr>
              <a:t>PV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1C2530"/>
                </a:solidFill>
                <a:latin typeface="Arial"/>
              </a:rPr>
              <a:t>5.5</a:t>
            </a:r>
          </a:p>
        </p:txBody>
      </p:sp>
      <p:sp>
        <p:nvSpPr>
          <p:cNvPr id="15" name="cpe|exhibit|fill|14"/>
          <p:cNvSpPr/>
          <p:nvPr/>
        </p:nvSpPr>
        <p:spPr>
          <a:xfrm>
            <a:off x="6451092" y="1929384"/>
            <a:ext cx="600761" cy="600761"/>
          </a:xfrm>
          <a:prstGeom prst="rect">
            <a:avLst/>
          </a:prstGeom>
          <a:solidFill>
            <a:srgbClr val="9AB5D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cpe|exhibit|text|15"/>
          <p:cNvSpPr txBox="1"/>
          <p:nvPr/>
        </p:nvSpPr>
        <p:spPr>
          <a:xfrm>
            <a:off x="6451092" y="1929384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1C2530"/>
                </a:solidFill>
                <a:latin typeface="Arial"/>
              </a:rPr>
              <a:t>NA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1C2530"/>
                </a:solidFill>
                <a:latin typeface="Arial"/>
              </a:rPr>
              <a:t>5.6</a:t>
            </a:r>
          </a:p>
        </p:txBody>
      </p:sp>
      <p:sp>
        <p:nvSpPr>
          <p:cNvPr id="17" name="cpe|exhibit|fill|16"/>
          <p:cNvSpPr/>
          <p:nvPr/>
        </p:nvSpPr>
        <p:spPr>
          <a:xfrm>
            <a:off x="4484218" y="2585009"/>
            <a:ext cx="600761" cy="600761"/>
          </a:xfrm>
          <a:prstGeom prst="rect">
            <a:avLst/>
          </a:prstGeom>
          <a:solidFill>
            <a:srgbClr val="2D5A8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cpe|exhibit|text|17"/>
          <p:cNvSpPr txBox="1"/>
          <p:nvPr/>
        </p:nvSpPr>
        <p:spPr>
          <a:xfrm>
            <a:off x="4484218" y="2585009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CL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FFFFFF"/>
                </a:solidFill>
                <a:latin typeface="Arial"/>
              </a:rPr>
              <a:t>6.8</a:t>
            </a:r>
          </a:p>
        </p:txBody>
      </p:sp>
      <p:sp>
        <p:nvSpPr>
          <p:cNvPr id="19" name="cpe|exhibit|fill|18"/>
          <p:cNvSpPr/>
          <p:nvPr/>
        </p:nvSpPr>
        <p:spPr>
          <a:xfrm>
            <a:off x="5795467" y="2585009"/>
            <a:ext cx="600761" cy="600761"/>
          </a:xfrm>
          <a:prstGeom prst="rect">
            <a:avLst/>
          </a:prstGeom>
          <a:solidFill>
            <a:srgbClr val="84A4C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cpe|exhibit|text|19"/>
          <p:cNvSpPr txBox="1"/>
          <p:nvPr/>
        </p:nvSpPr>
        <p:spPr>
          <a:xfrm>
            <a:off x="5795467" y="2585009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1C2530"/>
                </a:solidFill>
                <a:latin typeface="Arial"/>
              </a:rPr>
              <a:t>RI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1C2530"/>
                </a:solidFill>
                <a:latin typeface="Arial"/>
              </a:rPr>
              <a:t>5.9</a:t>
            </a:r>
          </a:p>
        </p:txBody>
      </p:sp>
      <p:sp>
        <p:nvSpPr>
          <p:cNvPr id="21" name="cpe|exhibit|fill|20"/>
          <p:cNvSpPr/>
          <p:nvPr/>
        </p:nvSpPr>
        <p:spPr>
          <a:xfrm>
            <a:off x="6451092" y="2585009"/>
            <a:ext cx="600761" cy="600761"/>
          </a:xfrm>
          <a:prstGeom prst="rect">
            <a:avLst/>
          </a:prstGeom>
          <a:solidFill>
            <a:srgbClr val="7A9CB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cpe|exhibit|text|21"/>
          <p:cNvSpPr txBox="1"/>
          <p:nvPr/>
        </p:nvSpPr>
        <p:spPr>
          <a:xfrm>
            <a:off x="6451092" y="2585009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1C2530"/>
                </a:solidFill>
                <a:latin typeface="Arial"/>
              </a:rPr>
              <a:t>AR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1C2530"/>
                </a:solidFill>
                <a:latin typeface="Arial"/>
              </a:rPr>
              <a:t>6.0</a:t>
            </a:r>
          </a:p>
        </p:txBody>
      </p:sp>
      <p:sp>
        <p:nvSpPr>
          <p:cNvPr id="23" name="cpe|exhibit|fill|22"/>
          <p:cNvSpPr/>
          <p:nvPr/>
        </p:nvSpPr>
        <p:spPr>
          <a:xfrm>
            <a:off x="7106717" y="2585009"/>
            <a:ext cx="600761" cy="600761"/>
          </a:xfrm>
          <a:prstGeom prst="rect">
            <a:avLst/>
          </a:prstGeom>
          <a:solidFill>
            <a:srgbClr val="BFD0E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cpe|exhibit|text|23"/>
          <p:cNvSpPr txBox="1"/>
          <p:nvPr/>
        </p:nvSpPr>
        <p:spPr>
          <a:xfrm>
            <a:off x="7106717" y="2585009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1C2530"/>
                </a:solidFill>
                <a:latin typeface="Arial"/>
              </a:rPr>
              <a:t>CT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1C2530"/>
                </a:solidFill>
                <a:latin typeface="Arial"/>
              </a:rPr>
              <a:t>5.1</a:t>
            </a:r>
          </a:p>
        </p:txBody>
      </p:sp>
      <p:sp>
        <p:nvSpPr>
          <p:cNvPr id="25" name="cpe|exhibit|fill|24"/>
          <p:cNvSpPr/>
          <p:nvPr/>
        </p:nvSpPr>
        <p:spPr>
          <a:xfrm>
            <a:off x="5139842" y="3240634"/>
            <a:ext cx="600761" cy="600761"/>
          </a:xfrm>
          <a:prstGeom prst="rect">
            <a:avLst/>
          </a:prstGeom>
          <a:solidFill>
            <a:srgbClr val="D9E4E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cpe|exhibit|text|25"/>
          <p:cNvSpPr txBox="1"/>
          <p:nvPr/>
        </p:nvSpPr>
        <p:spPr>
          <a:xfrm>
            <a:off x="5139842" y="3240634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1C2530"/>
                </a:solidFill>
                <a:latin typeface="Arial"/>
              </a:rPr>
              <a:t>MD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1C2530"/>
                </a:solidFill>
                <a:latin typeface="Arial"/>
              </a:rPr>
              <a:t>4.6</a:t>
            </a:r>
          </a:p>
        </p:txBody>
      </p:sp>
      <p:sp>
        <p:nvSpPr>
          <p:cNvPr id="27" name="cpe|exhibit|fill|26"/>
          <p:cNvSpPr/>
          <p:nvPr/>
        </p:nvSpPr>
        <p:spPr>
          <a:xfrm>
            <a:off x="3828593" y="3240634"/>
            <a:ext cx="600761" cy="600761"/>
          </a:xfrm>
          <a:prstGeom prst="rect">
            <a:avLst/>
          </a:prstGeom>
          <a:solidFill>
            <a:srgbClr val="29547D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cpe|exhibit|text|27"/>
          <p:cNvSpPr txBox="1"/>
          <p:nvPr/>
        </p:nvSpPr>
        <p:spPr>
          <a:xfrm>
            <a:off x="3828593" y="3240634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EX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FFFFFF"/>
                </a:solidFill>
                <a:latin typeface="Arial"/>
              </a:rPr>
              <a:t>6.9</a:t>
            </a:r>
          </a:p>
        </p:txBody>
      </p:sp>
      <p:sp>
        <p:nvSpPr>
          <p:cNvPr id="29" name="cpe|exhibit|fill|28"/>
          <p:cNvSpPr/>
          <p:nvPr/>
        </p:nvSpPr>
        <p:spPr>
          <a:xfrm>
            <a:off x="5795467" y="3240634"/>
            <a:ext cx="600761" cy="600761"/>
          </a:xfrm>
          <a:prstGeom prst="rect">
            <a:avLst/>
          </a:prstGeom>
          <a:solidFill>
            <a:srgbClr val="7094B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cpe|exhibit|text|29"/>
          <p:cNvSpPr txBox="1"/>
          <p:nvPr/>
        </p:nvSpPr>
        <p:spPr>
          <a:xfrm>
            <a:off x="5795467" y="3240634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1C2530"/>
                </a:solidFill>
                <a:latin typeface="Arial"/>
              </a:rPr>
              <a:t>CM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1C2530"/>
                </a:solidFill>
                <a:latin typeface="Arial"/>
              </a:rPr>
              <a:t>6.1</a:t>
            </a:r>
          </a:p>
        </p:txBody>
      </p:sp>
      <p:sp>
        <p:nvSpPr>
          <p:cNvPr id="31" name="cpe|exhibit|fill|30"/>
          <p:cNvSpPr/>
          <p:nvPr/>
        </p:nvSpPr>
        <p:spPr>
          <a:xfrm>
            <a:off x="6451092" y="3240634"/>
            <a:ext cx="600761" cy="600761"/>
          </a:xfrm>
          <a:prstGeom prst="rect">
            <a:avLst/>
          </a:prstGeom>
          <a:solidFill>
            <a:srgbClr val="C5D4E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cpe|exhibit|text|31"/>
          <p:cNvSpPr txBox="1"/>
          <p:nvPr/>
        </p:nvSpPr>
        <p:spPr>
          <a:xfrm>
            <a:off x="6451092" y="3240634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1C2530"/>
                </a:solidFill>
                <a:latin typeface="Arial"/>
              </a:rPr>
              <a:t>VC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1C2530"/>
                </a:solidFill>
                <a:latin typeface="Arial"/>
              </a:rPr>
              <a:t>5.0</a:t>
            </a:r>
          </a:p>
        </p:txBody>
      </p:sp>
      <p:sp>
        <p:nvSpPr>
          <p:cNvPr id="33" name="cpe|exhibit|fill|32"/>
          <p:cNvSpPr/>
          <p:nvPr/>
        </p:nvSpPr>
        <p:spPr>
          <a:xfrm>
            <a:off x="7762342" y="3240634"/>
            <a:ext cx="600761" cy="600761"/>
          </a:xfrm>
          <a:prstGeom prst="rect">
            <a:avLst/>
          </a:prstGeom>
          <a:solidFill>
            <a:srgbClr val="3C6A9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cpe|exhibit|text|33"/>
          <p:cNvSpPr txBox="1"/>
          <p:nvPr/>
        </p:nvSpPr>
        <p:spPr>
          <a:xfrm>
            <a:off x="7762342" y="3240634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IB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FFFFFF"/>
                </a:solidFill>
                <a:latin typeface="Arial"/>
              </a:rPr>
              <a:t>6.6</a:t>
            </a:r>
          </a:p>
        </p:txBody>
      </p:sp>
      <p:sp>
        <p:nvSpPr>
          <p:cNvPr id="35" name="cpe|exhibit|fill|34"/>
          <p:cNvSpPr/>
          <p:nvPr/>
        </p:nvSpPr>
        <p:spPr>
          <a:xfrm>
            <a:off x="4484218" y="3896258"/>
            <a:ext cx="600761" cy="600761"/>
          </a:xfrm>
          <a:prstGeom prst="rect">
            <a:avLst/>
          </a:prstGeom>
          <a:solidFill>
            <a:srgbClr val="A9C0D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cpe|exhibit|text|35"/>
          <p:cNvSpPr txBox="1"/>
          <p:nvPr/>
        </p:nvSpPr>
        <p:spPr>
          <a:xfrm>
            <a:off x="4484218" y="3896258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1C2530"/>
                </a:solidFill>
                <a:latin typeface="Arial"/>
              </a:rPr>
              <a:t>AN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1C2530"/>
                </a:solidFill>
                <a:latin typeface="Arial"/>
              </a:rPr>
              <a:t>5.4</a:t>
            </a:r>
          </a:p>
        </p:txBody>
      </p:sp>
      <p:sp>
        <p:nvSpPr>
          <p:cNvPr id="37" name="cpe|exhibit|fill|36"/>
          <p:cNvSpPr/>
          <p:nvPr/>
        </p:nvSpPr>
        <p:spPr>
          <a:xfrm>
            <a:off x="5795467" y="3896258"/>
            <a:ext cx="600761" cy="600761"/>
          </a:xfrm>
          <a:prstGeom prst="rect">
            <a:avLst/>
          </a:prstGeom>
          <a:solidFill>
            <a:srgbClr val="B7CA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cpe|exhibit|text|37"/>
          <p:cNvSpPr txBox="1"/>
          <p:nvPr/>
        </p:nvSpPr>
        <p:spPr>
          <a:xfrm>
            <a:off x="5795467" y="3896258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1C2530"/>
                </a:solidFill>
                <a:latin typeface="Arial"/>
              </a:rPr>
              <a:t>MC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1C2530"/>
                </a:solidFill>
                <a:latin typeface="Arial"/>
              </a:rPr>
              <a:t>5.2</a:t>
            </a:r>
          </a:p>
        </p:txBody>
      </p:sp>
      <p:sp>
        <p:nvSpPr>
          <p:cNvPr id="39" name="cpe|exhibit|fill|38"/>
          <p:cNvSpPr/>
          <p:nvPr/>
        </p:nvSpPr>
        <p:spPr>
          <a:xfrm>
            <a:off x="3828593" y="4551883"/>
            <a:ext cx="600761" cy="600761"/>
          </a:xfrm>
          <a:prstGeom prst="rect">
            <a:avLst/>
          </a:prstGeom>
          <a:solidFill>
            <a:srgbClr val="264D7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cpe|exhibit|text|39"/>
          <p:cNvSpPr txBox="1"/>
          <p:nvPr/>
        </p:nvSpPr>
        <p:spPr>
          <a:xfrm>
            <a:off x="3828593" y="4551883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CN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FFFFFF"/>
                </a:solidFill>
                <a:latin typeface="Arial"/>
              </a:rPr>
              <a:t>7.0</a:t>
            </a:r>
          </a:p>
        </p:txBody>
      </p:sp>
      <p:sp>
        <p:nvSpPr>
          <p:cNvPr id="41" name="cpe|exhibit|fill|40"/>
          <p:cNvSpPr/>
          <p:nvPr/>
        </p:nvSpPr>
        <p:spPr>
          <a:xfrm>
            <a:off x="5139842" y="4551883"/>
            <a:ext cx="600761" cy="600761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cpe|exhibit|text|41"/>
          <p:cNvSpPr txBox="1"/>
          <p:nvPr/>
        </p:nvSpPr>
        <p:spPr>
          <a:xfrm>
            <a:off x="5139842" y="4551883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</a:pPr>
            <a:r>
              <a:rPr sz="1000" b="1">
                <a:solidFill>
                  <a:srgbClr val="1C2530"/>
                </a:solidFill>
                <a:latin typeface="Arial"/>
              </a:rPr>
              <a:t>CE</a:t>
            </a:r>
          </a:p>
        </p:txBody>
      </p:sp>
      <p:sp>
        <p:nvSpPr>
          <p:cNvPr id="43" name="cpe|exhibit|fill|42"/>
          <p:cNvSpPr/>
          <p:nvPr/>
        </p:nvSpPr>
        <p:spPr>
          <a:xfrm>
            <a:off x="5795467" y="4551883"/>
            <a:ext cx="600761" cy="600761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cpe|exhibit|text|43"/>
          <p:cNvSpPr txBox="1"/>
          <p:nvPr/>
        </p:nvSpPr>
        <p:spPr>
          <a:xfrm>
            <a:off x="5795467" y="4551883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</a:pPr>
            <a:r>
              <a:rPr sz="1000" b="1">
                <a:solidFill>
                  <a:srgbClr val="1C2530"/>
                </a:solidFill>
                <a:latin typeface="Arial"/>
              </a:rPr>
              <a:t>ML</a:t>
            </a:r>
          </a:p>
        </p:txBody>
      </p:sp>
      <p:sp>
        <p:nvSpPr>
          <p:cNvPr id="45" name="cpe|exhibit|marker|44"/>
          <p:cNvSpPr/>
          <p:nvPr/>
        </p:nvSpPr>
        <p:spPr>
          <a:xfrm>
            <a:off x="3801161" y="5317236"/>
            <a:ext cx="384048" cy="146304"/>
          </a:xfrm>
          <a:prstGeom prst="rect">
            <a:avLst/>
          </a:prstGeom>
          <a:solidFill>
            <a:srgbClr val="D9E4E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cpe|exhibit|marker|45"/>
          <p:cNvSpPr/>
          <p:nvPr/>
        </p:nvSpPr>
        <p:spPr>
          <a:xfrm>
            <a:off x="4185209" y="5317236"/>
            <a:ext cx="384048" cy="146304"/>
          </a:xfrm>
          <a:prstGeom prst="rect">
            <a:avLst/>
          </a:prstGeom>
          <a:solidFill>
            <a:srgbClr val="B0C5D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cpe|exhibit|marker|46"/>
          <p:cNvSpPr/>
          <p:nvPr/>
        </p:nvSpPr>
        <p:spPr>
          <a:xfrm>
            <a:off x="4569257" y="5317236"/>
            <a:ext cx="384048" cy="146304"/>
          </a:xfrm>
          <a:prstGeom prst="rect">
            <a:avLst/>
          </a:prstGeom>
          <a:solidFill>
            <a:srgbClr val="7A9CB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cpe|exhibit|marker|47"/>
          <p:cNvSpPr/>
          <p:nvPr/>
        </p:nvSpPr>
        <p:spPr>
          <a:xfrm>
            <a:off x="4953305" y="5317236"/>
            <a:ext cx="384048" cy="146304"/>
          </a:xfrm>
          <a:prstGeom prst="rect">
            <a:avLst/>
          </a:prstGeom>
          <a:solidFill>
            <a:srgbClr val="32618C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cpe|exhibit|marker|48"/>
          <p:cNvSpPr/>
          <p:nvPr/>
        </p:nvSpPr>
        <p:spPr>
          <a:xfrm>
            <a:off x="5337353" y="5317236"/>
            <a:ext cx="384048" cy="146304"/>
          </a:xfrm>
          <a:prstGeom prst="rect">
            <a:avLst/>
          </a:prstGeom>
          <a:solidFill>
            <a:srgbClr val="19345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cpe|exhibit|label|49"/>
          <p:cNvSpPr txBox="1"/>
          <p:nvPr/>
        </p:nvSpPr>
        <p:spPr>
          <a:xfrm>
            <a:off x="5812841" y="5271516"/>
            <a:ext cx="3200400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4.6 → 7.4</a:t>
            </a:r>
          </a:p>
        </p:txBody>
      </p:sp>
      <p:cxnSp>
        <p:nvCxnSpPr>
          <p:cNvPr id="51" name="cpe|commentary|line|50"/>
          <p:cNvCxnSpPr/>
          <p:nvPr/>
        </p:nvCxnSpPr>
        <p:spPr>
          <a:xfrm>
            <a:off x="502920" y="5747004"/>
            <a:ext cx="11185855" cy="0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52" name="cpe|commentary|text|51"/>
          <p:cNvSpPr txBox="1"/>
          <p:nvPr/>
        </p:nvSpPr>
        <p:spPr>
          <a:xfrm>
            <a:off x="502920" y="5884164"/>
            <a:ext cx="5492344" cy="3154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Galicia and Asturias cost </a:t>
            </a:r>
            <a:r>
              <a:rPr sz="1200" b="1">
                <a:solidFill>
                  <a:srgbClr val="1C2530"/>
                </a:solidFill>
                <a:latin typeface="Arial"/>
              </a:rPr>
              <a:t>€7+ per drop</a:t>
            </a:r>
            <a:r>
              <a:rPr sz="1200" b="0">
                <a:solidFill>
                  <a:srgbClr val="1C2530"/>
                </a:solidFill>
                <a:latin typeface="Arial"/>
              </a:rPr>
              <a:t>, 55% above Madrid</a:t>
            </a:r>
          </a:p>
        </p:txBody>
      </p:sp>
      <p:sp>
        <p:nvSpPr>
          <p:cNvPr id="53" name="cpe|commentary|text|52"/>
          <p:cNvSpPr txBox="1"/>
          <p:nvPr/>
        </p:nvSpPr>
        <p:spPr>
          <a:xfrm>
            <a:off x="6196432" y="5884164"/>
            <a:ext cx="5492344" cy="3154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Consolidating three north-west depots saves €6M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DIAGNOSIS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Small customers are 38% of drops but only 12% of revenue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Billing data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10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739018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Mix by customer size, 2025</a:t>
            </a:r>
            <a:r>
              <a:rPr sz="1100" b="0">
                <a:solidFill>
                  <a:srgbClr val="1C2530"/>
                </a:solidFill>
                <a:latin typeface="Arial"/>
              </a:rPr>
              <a:t>, % of total</a:t>
            </a:r>
          </a:p>
        </p:txBody>
      </p:sp>
      <p:graphicFrame>
        <p:nvGraphicFramePr>
          <p:cNvPr id="7" name="cpe|exhibit|chart|6"/>
          <p:cNvGraphicFramePr>
            <a:graphicFrameLocks noGrp="1"/>
          </p:cNvGraphicFramePr>
          <p:nvPr/>
        </p:nvGraphicFramePr>
        <p:xfrm>
          <a:off x="502920" y="1901952"/>
          <a:ext cx="7390181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cpe|exhibit|label|7"/>
          <p:cNvSpPr txBox="1"/>
          <p:nvPr/>
        </p:nvSpPr>
        <p:spPr>
          <a:xfrm>
            <a:off x="6613202" y="2986956"/>
            <a:ext cx="1279898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Large</a:t>
            </a:r>
          </a:p>
        </p:txBody>
      </p:sp>
      <p:sp>
        <p:nvSpPr>
          <p:cNvPr id="9" name="cpe|exhibit|label|8"/>
          <p:cNvSpPr txBox="1"/>
          <p:nvPr/>
        </p:nvSpPr>
        <p:spPr>
          <a:xfrm>
            <a:off x="6613202" y="4744159"/>
            <a:ext cx="1279898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Medium</a:t>
            </a:r>
          </a:p>
        </p:txBody>
      </p:sp>
      <p:sp>
        <p:nvSpPr>
          <p:cNvPr id="10" name="cpe|exhibit|label|9"/>
          <p:cNvSpPr txBox="1"/>
          <p:nvPr/>
        </p:nvSpPr>
        <p:spPr>
          <a:xfrm>
            <a:off x="6613202" y="5582823"/>
            <a:ext cx="1279898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Small</a:t>
            </a:r>
          </a:p>
        </p:txBody>
      </p:sp>
      <p:cxnSp>
        <p:nvCxnSpPr>
          <p:cNvPr id="11" name="cpe|commentary|line|10"/>
          <p:cNvCxnSpPr/>
          <p:nvPr/>
        </p:nvCxnSpPr>
        <p:spPr>
          <a:xfrm>
            <a:off x="8094269" y="1481328"/>
            <a:ext cx="0" cy="4718304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12" name="cpe|commentary|text|11"/>
          <p:cNvSpPr txBox="1"/>
          <p:nvPr/>
        </p:nvSpPr>
        <p:spPr>
          <a:xfrm>
            <a:off x="8322869" y="1481328"/>
            <a:ext cx="3365906" cy="4718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Minimum order values would remove 20% of drops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Large accounts subsidise the small ones today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DIAGNOSIS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Depots with fewer than 400 drops a day cost up to 40% more per drop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Depot P&amp;L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11</a:t>
            </a:r>
          </a:p>
        </p:txBody>
      </p:sp>
      <p:cxnSp>
        <p:nvCxnSpPr>
          <p:cNvPr id="6" name="cpe|commentary|line|5"/>
          <p:cNvCxnSpPr/>
          <p:nvPr/>
        </p:nvCxnSpPr>
        <p:spPr>
          <a:xfrm>
            <a:off x="4097426" y="1481328"/>
            <a:ext cx="0" cy="4718304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7" name="cpe|commentary|text|6"/>
          <p:cNvSpPr txBox="1"/>
          <p:nvPr/>
        </p:nvSpPr>
        <p:spPr>
          <a:xfrm>
            <a:off x="502920" y="1481328"/>
            <a:ext cx="3365906" cy="4718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Below </a:t>
            </a:r>
            <a:r>
              <a:rPr sz="1200" b="1">
                <a:solidFill>
                  <a:srgbClr val="1C2530"/>
                </a:solidFill>
                <a:latin typeface="Arial"/>
              </a:rPr>
              <a:t>400 drops a day</a:t>
            </a:r>
            <a:r>
              <a:rPr sz="1200" b="0">
                <a:solidFill>
                  <a:srgbClr val="1C2530"/>
                </a:solidFill>
                <a:latin typeface="Arial"/>
              </a:rPr>
              <a:t> fixed costs dominate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Lugo and Oviedo are candidates for consolidation</a:t>
            </a:r>
          </a:p>
        </p:txBody>
      </p:sp>
      <p:sp>
        <p:nvSpPr>
          <p:cNvPr id="8" name="cpe|exhibit|text|7"/>
          <p:cNvSpPr txBox="1"/>
          <p:nvPr/>
        </p:nvSpPr>
        <p:spPr>
          <a:xfrm>
            <a:off x="4298594" y="1481328"/>
            <a:ext cx="739018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Depot volume vs cost per drop, 2025</a:t>
            </a:r>
          </a:p>
        </p:txBody>
      </p:sp>
      <p:graphicFrame>
        <p:nvGraphicFramePr>
          <p:cNvPr id="9" name="cpe|exhibit|chart|8"/>
          <p:cNvGraphicFramePr>
            <a:graphicFrameLocks noGrp="1"/>
          </p:cNvGraphicFramePr>
          <p:nvPr/>
        </p:nvGraphicFramePr>
        <p:xfrm>
          <a:off x="4298594" y="1901952"/>
          <a:ext cx="7390181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cpe|exhibit|label|9"/>
          <p:cNvSpPr txBox="1"/>
          <p:nvPr/>
        </p:nvSpPr>
        <p:spPr>
          <a:xfrm>
            <a:off x="4815907" y="5888736"/>
            <a:ext cx="6725065" cy="31089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Drops per day  →</a:t>
            </a:r>
          </a:p>
        </p:txBody>
      </p:sp>
      <p:sp>
        <p:nvSpPr>
          <p:cNvPr id="11" name="cpe|exhibit|label|10"/>
          <p:cNvSpPr txBox="1"/>
          <p:nvPr/>
        </p:nvSpPr>
        <p:spPr>
          <a:xfrm>
            <a:off x="4298594" y="1883664"/>
            <a:ext cx="32004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↑  Cost per drop (€)</a:t>
            </a:r>
          </a:p>
        </p:txBody>
      </p:sp>
      <p:sp>
        <p:nvSpPr>
          <p:cNvPr id="12" name="cpe|exhibit|label|11"/>
          <p:cNvSpPr txBox="1"/>
          <p:nvPr/>
        </p:nvSpPr>
        <p:spPr>
          <a:xfrm>
            <a:off x="11041103" y="5150632"/>
            <a:ext cx="461316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C2530"/>
                </a:solidFill>
                <a:latin typeface="Arial"/>
              </a:rPr>
              <a:t>Madrid</a:t>
            </a:r>
          </a:p>
        </p:txBody>
      </p:sp>
      <p:sp>
        <p:nvSpPr>
          <p:cNvPr id="13" name="cpe|exhibit|label|12"/>
          <p:cNvSpPr txBox="1"/>
          <p:nvPr/>
        </p:nvSpPr>
        <p:spPr>
          <a:xfrm>
            <a:off x="9888235" y="4885091"/>
            <a:ext cx="644989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C2530"/>
                </a:solidFill>
                <a:latin typeface="Arial"/>
              </a:rPr>
              <a:t>Barcelona</a:t>
            </a:r>
          </a:p>
        </p:txBody>
      </p:sp>
      <p:sp>
        <p:nvSpPr>
          <p:cNvPr id="14" name="cpe|exhibit|label|13"/>
          <p:cNvSpPr txBox="1"/>
          <p:nvPr/>
        </p:nvSpPr>
        <p:spPr>
          <a:xfrm>
            <a:off x="8014824" y="4619549"/>
            <a:ext cx="550870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C2530"/>
                </a:solidFill>
                <a:latin typeface="Arial"/>
              </a:rPr>
              <a:t>Valencia</a:t>
            </a:r>
          </a:p>
        </p:txBody>
      </p:sp>
      <p:sp>
        <p:nvSpPr>
          <p:cNvPr id="15" name="cpe|exhibit|label|14"/>
          <p:cNvSpPr txBox="1"/>
          <p:nvPr/>
        </p:nvSpPr>
        <p:spPr>
          <a:xfrm>
            <a:off x="7726607" y="4354007"/>
            <a:ext cx="447266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C2530"/>
                </a:solidFill>
                <a:latin typeface="Arial"/>
              </a:rPr>
              <a:t>Sevilla</a:t>
            </a:r>
          </a:p>
        </p:txBody>
      </p:sp>
      <p:sp>
        <p:nvSpPr>
          <p:cNvPr id="16" name="cpe|exhibit|label|15"/>
          <p:cNvSpPr txBox="1"/>
          <p:nvPr/>
        </p:nvSpPr>
        <p:spPr>
          <a:xfrm>
            <a:off x="6765884" y="4088465"/>
            <a:ext cx="426172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C2530"/>
                </a:solidFill>
                <a:latin typeface="Arial"/>
              </a:rPr>
              <a:t>Bilbao</a:t>
            </a:r>
          </a:p>
        </p:txBody>
      </p:sp>
      <p:sp>
        <p:nvSpPr>
          <p:cNvPr id="17" name="cpe|exhibit|label|16"/>
          <p:cNvSpPr txBox="1"/>
          <p:nvPr/>
        </p:nvSpPr>
        <p:spPr>
          <a:xfrm>
            <a:off x="5570799" y="3911437"/>
            <a:ext cx="609628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C2530"/>
                </a:solidFill>
                <a:latin typeface="Arial"/>
              </a:rPr>
              <a:t>Zaragoza</a:t>
            </a:r>
          </a:p>
        </p:txBody>
      </p:sp>
      <p:sp>
        <p:nvSpPr>
          <p:cNvPr id="18" name="cpe|exhibit|label|17"/>
          <p:cNvSpPr txBox="1"/>
          <p:nvPr/>
        </p:nvSpPr>
        <p:spPr>
          <a:xfrm>
            <a:off x="5468907" y="2583729"/>
            <a:ext cx="383429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C2530"/>
                </a:solidFill>
                <a:latin typeface="Arial"/>
              </a:rPr>
              <a:t>Lugo</a:t>
            </a:r>
          </a:p>
        </p:txBody>
      </p:sp>
      <p:sp>
        <p:nvSpPr>
          <p:cNvPr id="19" name="cpe|exhibit|label|18"/>
          <p:cNvSpPr txBox="1"/>
          <p:nvPr/>
        </p:nvSpPr>
        <p:spPr>
          <a:xfrm>
            <a:off x="5661052" y="2849270"/>
            <a:ext cx="503603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C2530"/>
                </a:solidFill>
                <a:latin typeface="Arial"/>
              </a:rPr>
              <a:t>Oviedo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text|bleed|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cpe|text|text|2"/>
          <p:cNvSpPr txBox="1"/>
          <p:nvPr/>
        </p:nvSpPr>
        <p:spPr>
          <a:xfrm>
            <a:off x="502920" y="224028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CC8005"/>
                </a:solidFill>
                <a:latin typeface="Arial"/>
              </a:rPr>
              <a:t>02</a:t>
            </a:r>
          </a:p>
        </p:txBody>
      </p:sp>
      <p:sp>
        <p:nvSpPr>
          <p:cNvPr id="4" name="cpe|text|text|3"/>
          <p:cNvSpPr txBox="1"/>
          <p:nvPr/>
        </p:nvSpPr>
        <p:spPr>
          <a:xfrm>
            <a:off x="502920" y="2880360"/>
            <a:ext cx="9288018" cy="1463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Arial"/>
              </a:rPr>
              <a:t>Programme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PROGRAMME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Network redesign and hub automation offer the best value for effort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Initiative assessment workshop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13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Initiative assessment</a:t>
            </a:r>
          </a:p>
        </p:txBody>
      </p:sp>
      <p:graphicFrame>
        <p:nvGraphicFramePr>
          <p:cNvPr id="7" name="cpe|exhibit|table|6"/>
          <p:cNvGraphicFramePr>
            <a:graphicFrameLocks noGrp="1"/>
          </p:cNvGraphicFramePr>
          <p:nvPr/>
        </p:nvGraphicFramePr>
        <p:xfrm>
          <a:off x="502920" y="1901952"/>
          <a:ext cx="11185855" cy="3136391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108960"/>
                <a:gridCol w="1615379"/>
                <a:gridCol w="1615379"/>
                <a:gridCol w="1615379"/>
                <a:gridCol w="1615379"/>
                <a:gridCol w="1615379"/>
              </a:tblGrid>
              <a:tr h="330327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Initiative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3294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3294B"/>
                          </a:solidFill>
                          <a:latin typeface="Arial"/>
                        </a:rPr>
                        <a:t>Value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3294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3294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Feasibility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3294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Risk (low = full)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3294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Savings (€M)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3294B"/>
                      </a:solidFill>
                      <a:prstDash val="solid"/>
                    </a:lnB>
                    <a:noFill/>
                  </a:tcPr>
                </a:tc>
              </a:tr>
              <a:tr h="70151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Network redesign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</a:tr>
              <a:tr h="70151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Hub automation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</a:tr>
              <a:tr h="70151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Customer terms reset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</a:tr>
              <a:tr h="70151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Transport procurement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6C0C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6C0CB"/>
                      </a:solidFill>
                      <a:prstDash val="soli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6C0C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6C0C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6C0C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6C0CB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" name="cpe|exhibit|marker|7"/>
          <p:cNvSpPr/>
          <p:nvPr/>
        </p:nvSpPr>
        <p:spPr>
          <a:xfrm>
            <a:off x="4300698" y="2464165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3294B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cpe|exhibit|marker|8"/>
          <p:cNvSpPr/>
          <p:nvPr/>
        </p:nvSpPr>
        <p:spPr>
          <a:xfrm>
            <a:off x="4300698" y="2464165"/>
            <a:ext cx="237744" cy="237744"/>
          </a:xfrm>
          <a:prstGeom prst="ellipse">
            <a:avLst/>
          </a:prstGeom>
          <a:solidFill>
            <a:srgbClr val="13294B"/>
          </a:solidFill>
          <a:ln w="9525">
            <a:solidFill>
              <a:srgbClr val="13294B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cpe|exhibit|marker|9"/>
          <p:cNvSpPr/>
          <p:nvPr/>
        </p:nvSpPr>
        <p:spPr>
          <a:xfrm>
            <a:off x="5916077" y="2464165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pe|exhibit|marker|10"/>
          <p:cNvSpPr/>
          <p:nvPr/>
        </p:nvSpPr>
        <p:spPr>
          <a:xfrm>
            <a:off x="5916077" y="2464165"/>
            <a:ext cx="237744" cy="237744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cpe|exhibit|marker|11"/>
          <p:cNvSpPr/>
          <p:nvPr/>
        </p:nvSpPr>
        <p:spPr>
          <a:xfrm>
            <a:off x="7531456" y="2464165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cpe|exhibit|marker|12"/>
          <p:cNvSpPr/>
          <p:nvPr/>
        </p:nvSpPr>
        <p:spPr>
          <a:xfrm>
            <a:off x="7531456" y="2464165"/>
            <a:ext cx="237744" cy="237744"/>
          </a:xfrm>
          <a:prstGeom prst="pie">
            <a:avLst>
              <a:gd name="adj1" fmla="val 16200000"/>
              <a:gd name="adj2" fmla="val 10800000"/>
            </a:avLst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cpe|exhibit|marker|13"/>
          <p:cNvSpPr/>
          <p:nvPr/>
        </p:nvSpPr>
        <p:spPr>
          <a:xfrm>
            <a:off x="9146835" y="2464165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cpe|exhibit|marker|14"/>
          <p:cNvSpPr/>
          <p:nvPr/>
        </p:nvSpPr>
        <p:spPr>
          <a:xfrm>
            <a:off x="9146835" y="2464165"/>
            <a:ext cx="237744" cy="237744"/>
          </a:xfrm>
          <a:prstGeom prst="pie">
            <a:avLst>
              <a:gd name="adj1" fmla="val 16200000"/>
              <a:gd name="adj2" fmla="val 10800000"/>
            </a:avLst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cpe|exhibit|marker|15"/>
          <p:cNvSpPr/>
          <p:nvPr/>
        </p:nvSpPr>
        <p:spPr>
          <a:xfrm>
            <a:off x="4300698" y="3165681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3294B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cpe|exhibit|marker|16"/>
          <p:cNvSpPr/>
          <p:nvPr/>
        </p:nvSpPr>
        <p:spPr>
          <a:xfrm>
            <a:off x="4300698" y="3165681"/>
            <a:ext cx="237744" cy="237744"/>
          </a:xfrm>
          <a:prstGeom prst="ellipse">
            <a:avLst/>
          </a:prstGeom>
          <a:solidFill>
            <a:srgbClr val="13294B"/>
          </a:solidFill>
          <a:ln w="9525">
            <a:solidFill>
              <a:srgbClr val="13294B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cpe|exhibit|marker|17"/>
          <p:cNvSpPr/>
          <p:nvPr/>
        </p:nvSpPr>
        <p:spPr>
          <a:xfrm>
            <a:off x="5916077" y="3165681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cpe|exhibit|marker|18"/>
          <p:cNvSpPr/>
          <p:nvPr/>
        </p:nvSpPr>
        <p:spPr>
          <a:xfrm>
            <a:off x="5916077" y="3165681"/>
            <a:ext cx="237744" cy="237744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cpe|exhibit|marker|19"/>
          <p:cNvSpPr/>
          <p:nvPr/>
        </p:nvSpPr>
        <p:spPr>
          <a:xfrm>
            <a:off x="7531456" y="3165681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cpe|exhibit|marker|20"/>
          <p:cNvSpPr/>
          <p:nvPr/>
        </p:nvSpPr>
        <p:spPr>
          <a:xfrm>
            <a:off x="7531456" y="3165681"/>
            <a:ext cx="237744" cy="237744"/>
          </a:xfrm>
          <a:prstGeom prst="pie">
            <a:avLst>
              <a:gd name="adj1" fmla="val 16200000"/>
              <a:gd name="adj2" fmla="val 10800000"/>
            </a:avLst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cpe|exhibit|marker|21"/>
          <p:cNvSpPr/>
          <p:nvPr/>
        </p:nvSpPr>
        <p:spPr>
          <a:xfrm>
            <a:off x="9146835" y="3165681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cpe|exhibit|marker|22"/>
          <p:cNvSpPr/>
          <p:nvPr/>
        </p:nvSpPr>
        <p:spPr>
          <a:xfrm>
            <a:off x="9146835" y="3165681"/>
            <a:ext cx="237744" cy="237744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cpe|exhibit|marker|23"/>
          <p:cNvSpPr/>
          <p:nvPr/>
        </p:nvSpPr>
        <p:spPr>
          <a:xfrm>
            <a:off x="4300698" y="3867198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3294B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cpe|exhibit|marker|24"/>
          <p:cNvSpPr/>
          <p:nvPr/>
        </p:nvSpPr>
        <p:spPr>
          <a:xfrm>
            <a:off x="4300698" y="3867198"/>
            <a:ext cx="237744" cy="237744"/>
          </a:xfrm>
          <a:prstGeom prst="pie">
            <a:avLst>
              <a:gd name="adj1" fmla="val 16200000"/>
              <a:gd name="adj2" fmla="val 10800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cpe|exhibit|marker|25"/>
          <p:cNvSpPr/>
          <p:nvPr/>
        </p:nvSpPr>
        <p:spPr>
          <a:xfrm>
            <a:off x="5916077" y="3867198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cpe|exhibit|marker|26"/>
          <p:cNvSpPr/>
          <p:nvPr/>
        </p:nvSpPr>
        <p:spPr>
          <a:xfrm>
            <a:off x="5916077" y="3867198"/>
            <a:ext cx="237744" cy="237744"/>
          </a:xfrm>
          <a:prstGeom prst="ellipse">
            <a:avLst/>
          </a:prstGeom>
          <a:solidFill>
            <a:srgbClr val="2F5F8A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cpe|exhibit|marker|27"/>
          <p:cNvSpPr/>
          <p:nvPr/>
        </p:nvSpPr>
        <p:spPr>
          <a:xfrm>
            <a:off x="7531456" y="3867198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cpe|exhibit|marker|28"/>
          <p:cNvSpPr/>
          <p:nvPr/>
        </p:nvSpPr>
        <p:spPr>
          <a:xfrm>
            <a:off x="7531456" y="3867198"/>
            <a:ext cx="237744" cy="237744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cpe|exhibit|marker|29"/>
          <p:cNvSpPr/>
          <p:nvPr/>
        </p:nvSpPr>
        <p:spPr>
          <a:xfrm>
            <a:off x="9146835" y="3867198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cpe|exhibit|marker|30"/>
          <p:cNvSpPr/>
          <p:nvPr/>
        </p:nvSpPr>
        <p:spPr>
          <a:xfrm>
            <a:off x="9146835" y="3867198"/>
            <a:ext cx="237744" cy="237744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cpe|exhibit|marker|31"/>
          <p:cNvSpPr/>
          <p:nvPr/>
        </p:nvSpPr>
        <p:spPr>
          <a:xfrm>
            <a:off x="4300698" y="4568714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3294B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cpe|exhibit|marker|32"/>
          <p:cNvSpPr/>
          <p:nvPr/>
        </p:nvSpPr>
        <p:spPr>
          <a:xfrm>
            <a:off x="4300698" y="4568714"/>
            <a:ext cx="237744" cy="237744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cpe|exhibit|marker|33"/>
          <p:cNvSpPr/>
          <p:nvPr/>
        </p:nvSpPr>
        <p:spPr>
          <a:xfrm>
            <a:off x="5916077" y="4568714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cpe|exhibit|marker|34"/>
          <p:cNvSpPr/>
          <p:nvPr/>
        </p:nvSpPr>
        <p:spPr>
          <a:xfrm>
            <a:off x="5916077" y="4568714"/>
            <a:ext cx="237744" cy="237744"/>
          </a:xfrm>
          <a:prstGeom prst="ellipse">
            <a:avLst/>
          </a:prstGeom>
          <a:solidFill>
            <a:srgbClr val="2F5F8A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cpe|exhibit|marker|35"/>
          <p:cNvSpPr/>
          <p:nvPr/>
        </p:nvSpPr>
        <p:spPr>
          <a:xfrm>
            <a:off x="7531456" y="4568714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cpe|exhibit|marker|36"/>
          <p:cNvSpPr/>
          <p:nvPr/>
        </p:nvSpPr>
        <p:spPr>
          <a:xfrm>
            <a:off x="7531456" y="4568714"/>
            <a:ext cx="237744" cy="237744"/>
          </a:xfrm>
          <a:prstGeom prst="ellipse">
            <a:avLst/>
          </a:prstGeom>
          <a:solidFill>
            <a:srgbClr val="2F5F8A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cpe|exhibit|marker|37"/>
          <p:cNvSpPr/>
          <p:nvPr/>
        </p:nvSpPr>
        <p:spPr>
          <a:xfrm>
            <a:off x="9146835" y="4568714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cpe|exhibit|marker|38"/>
          <p:cNvSpPr/>
          <p:nvPr/>
        </p:nvSpPr>
        <p:spPr>
          <a:xfrm>
            <a:off x="9146835" y="4568714"/>
            <a:ext cx="237744" cy="237744"/>
          </a:xfrm>
          <a:prstGeom prst="ellipse">
            <a:avLst/>
          </a:prstGeom>
          <a:solidFill>
            <a:srgbClr val="2F5F8A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cpe|exhibit|marker|39"/>
          <p:cNvSpPr/>
          <p:nvPr/>
        </p:nvSpPr>
        <p:spPr>
          <a:xfrm>
            <a:off x="502920" y="5166360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cpe|exhibit|label|40"/>
          <p:cNvSpPr txBox="1"/>
          <p:nvPr/>
        </p:nvSpPr>
        <p:spPr>
          <a:xfrm>
            <a:off x="722376" y="5129784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None</a:t>
            </a:r>
          </a:p>
        </p:txBody>
      </p:sp>
      <p:sp>
        <p:nvSpPr>
          <p:cNvPr id="42" name="cpe|exhibit|marker|41"/>
          <p:cNvSpPr/>
          <p:nvPr/>
        </p:nvSpPr>
        <p:spPr>
          <a:xfrm>
            <a:off x="1417320" y="5166360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cpe|exhibit|marker|42"/>
          <p:cNvSpPr/>
          <p:nvPr/>
        </p:nvSpPr>
        <p:spPr>
          <a:xfrm>
            <a:off x="1417320" y="5166360"/>
            <a:ext cx="164592" cy="164592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cpe|exhibit|label|43"/>
          <p:cNvSpPr txBox="1"/>
          <p:nvPr/>
        </p:nvSpPr>
        <p:spPr>
          <a:xfrm>
            <a:off x="1636776" y="5129784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Partial</a:t>
            </a:r>
          </a:p>
        </p:txBody>
      </p:sp>
      <p:sp>
        <p:nvSpPr>
          <p:cNvPr id="45" name="cpe|exhibit|marker|44"/>
          <p:cNvSpPr/>
          <p:nvPr/>
        </p:nvSpPr>
        <p:spPr>
          <a:xfrm>
            <a:off x="2331720" y="5166360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cpe|exhibit|marker|45"/>
          <p:cNvSpPr/>
          <p:nvPr/>
        </p:nvSpPr>
        <p:spPr>
          <a:xfrm>
            <a:off x="2331720" y="5166360"/>
            <a:ext cx="164592" cy="164592"/>
          </a:xfrm>
          <a:prstGeom prst="ellipse">
            <a:avLst/>
          </a:prstGeom>
          <a:solidFill>
            <a:srgbClr val="2F5F8A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cpe|exhibit|label|46"/>
          <p:cNvSpPr txBox="1"/>
          <p:nvPr/>
        </p:nvSpPr>
        <p:spPr>
          <a:xfrm>
            <a:off x="2551176" y="5129784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Full</a:t>
            </a:r>
          </a:p>
        </p:txBody>
      </p:sp>
      <p:sp>
        <p:nvSpPr>
          <p:cNvPr id="48" name="cpe|takeaway|fill|47"/>
          <p:cNvSpPr/>
          <p:nvPr/>
        </p:nvSpPr>
        <p:spPr>
          <a:xfrm>
            <a:off x="502920" y="5632704"/>
            <a:ext cx="11185855" cy="566928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cpe|takeaway|fill|48"/>
          <p:cNvSpPr/>
          <p:nvPr/>
        </p:nvSpPr>
        <p:spPr>
          <a:xfrm>
            <a:off x="502920" y="5632704"/>
            <a:ext cx="64008" cy="566928"/>
          </a:xfrm>
          <a:prstGeom prst="rect">
            <a:avLst/>
          </a:prstGeom>
          <a:solidFill>
            <a:srgbClr val="E08A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cpe|takeaway|text|49"/>
          <p:cNvSpPr txBox="1"/>
          <p:nvPr/>
        </p:nvSpPr>
        <p:spPr>
          <a:xfrm>
            <a:off x="795528" y="5632704"/>
            <a:ext cx="10664647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3294B"/>
                </a:solidFill>
                <a:latin typeface="Arial"/>
              </a:rPr>
              <a:t>Launch terms and procurement first for speed; network and automation carry the value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PROGRAMME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0746943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The new order-to-delivery process removes two hand-offs and the manual picking step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Process design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14</a:t>
            </a:r>
          </a:p>
        </p:txBody>
      </p:sp>
      <p:sp>
        <p:nvSpPr>
          <p:cNvPr id="6" name="cpe|exhibit|fill|5"/>
          <p:cNvSpPr/>
          <p:nvPr/>
        </p:nvSpPr>
        <p:spPr>
          <a:xfrm>
            <a:off x="502920" y="1689781"/>
            <a:ext cx="2076237" cy="734695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cpe|exhibit|text|6"/>
          <p:cNvSpPr txBox="1"/>
          <p:nvPr/>
        </p:nvSpPr>
        <p:spPr>
          <a:xfrm>
            <a:off x="640080" y="1689781"/>
            <a:ext cx="1801917" cy="73469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C2530"/>
                </a:solidFill>
                <a:latin typeface="Arial"/>
              </a:rPr>
              <a:t>1  Order capture</a:t>
            </a:r>
          </a:p>
        </p:txBody>
      </p:sp>
      <p:cxnSp>
        <p:nvCxnSpPr>
          <p:cNvPr id="8" name="cpe|exhibit|connector|7"/>
          <p:cNvCxnSpPr/>
          <p:nvPr/>
        </p:nvCxnSpPr>
        <p:spPr>
          <a:xfrm>
            <a:off x="2597445" y="2057128"/>
            <a:ext cx="164592" cy="0"/>
          </a:xfrm>
          <a:prstGeom prst="line">
            <a:avLst/>
          </a:prstGeom>
          <a:ln w="19050">
            <a:solidFill>
              <a:srgbClr val="8A95A1"/>
            </a:solidFill>
            <a:tailEnd type="triangle" w="med" len="med"/>
          </a:ln>
        </p:spPr>
      </p:cxnSp>
      <p:sp>
        <p:nvSpPr>
          <p:cNvPr id="9" name="cpe|exhibit|text|8"/>
          <p:cNvSpPr txBox="1"/>
          <p:nvPr/>
        </p:nvSpPr>
        <p:spPr>
          <a:xfrm>
            <a:off x="502920" y="2653076"/>
            <a:ext cx="2076237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6776"/>
                </a:solidFill>
                <a:latin typeface="Arial"/>
              </a:rPr>
              <a:t>Sales ops · &lt;1h</a:t>
            </a:r>
          </a:p>
        </p:txBody>
      </p:sp>
      <p:sp>
        <p:nvSpPr>
          <p:cNvPr id="10" name="cpe|exhibit|text|9"/>
          <p:cNvSpPr txBox="1"/>
          <p:nvPr/>
        </p:nvSpPr>
        <p:spPr>
          <a:xfrm>
            <a:off x="502920" y="2963972"/>
            <a:ext cx="2076237" cy="7806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5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300" b="0">
                <a:solidFill>
                  <a:srgbClr val="1C2530"/>
                </a:solidFill>
                <a:latin typeface="Arial"/>
              </a:rPr>
              <a:t>EDI for top 200 customers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300" b="0">
                <a:solidFill>
                  <a:srgbClr val="1C2530"/>
                </a:solidFill>
                <a:latin typeface="Arial"/>
              </a:rPr>
              <a:t>Minimum order value</a:t>
            </a:r>
          </a:p>
        </p:txBody>
      </p:sp>
      <p:cxnSp>
        <p:nvCxnSpPr>
          <p:cNvPr id="11" name="cpe|exhibit|line|10"/>
          <p:cNvCxnSpPr/>
          <p:nvPr/>
        </p:nvCxnSpPr>
        <p:spPr>
          <a:xfrm>
            <a:off x="502920" y="4018961"/>
            <a:ext cx="2076237" cy="0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12" name="cpe|exhibit|text|11"/>
          <p:cNvSpPr txBox="1"/>
          <p:nvPr/>
        </p:nvSpPr>
        <p:spPr>
          <a:xfrm>
            <a:off x="502920" y="4110401"/>
            <a:ext cx="2076237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650" b="1">
                <a:solidFill>
                  <a:srgbClr val="1C2530"/>
                </a:solidFill>
                <a:latin typeface="Arial"/>
              </a:rPr>
              <a:t>0.3%</a:t>
            </a:r>
          </a:p>
        </p:txBody>
      </p:sp>
      <p:sp>
        <p:nvSpPr>
          <p:cNvPr id="13" name="cpe|exhibit|text|12"/>
          <p:cNvSpPr txBox="1"/>
          <p:nvPr/>
        </p:nvSpPr>
        <p:spPr>
          <a:xfrm>
            <a:off x="502920" y="4659041"/>
            <a:ext cx="2076237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B6776"/>
                </a:solidFill>
                <a:latin typeface="Arial"/>
              </a:rPr>
              <a:t>order errors (from 2.1%)</a:t>
            </a:r>
          </a:p>
        </p:txBody>
      </p:sp>
      <p:sp>
        <p:nvSpPr>
          <p:cNvPr id="14" name="cpe|exhibit|fill|13"/>
          <p:cNvSpPr/>
          <p:nvPr/>
        </p:nvSpPr>
        <p:spPr>
          <a:xfrm>
            <a:off x="2780325" y="1689781"/>
            <a:ext cx="2076237" cy="734695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cpe|exhibit|text|14"/>
          <p:cNvSpPr txBox="1"/>
          <p:nvPr/>
        </p:nvSpPr>
        <p:spPr>
          <a:xfrm>
            <a:off x="2917485" y="1689781"/>
            <a:ext cx="1801917" cy="73469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C2530"/>
                </a:solidFill>
                <a:latin typeface="Arial"/>
              </a:rPr>
              <a:t>2  Allocation</a:t>
            </a:r>
          </a:p>
        </p:txBody>
      </p:sp>
      <p:cxnSp>
        <p:nvCxnSpPr>
          <p:cNvPr id="16" name="cpe|exhibit|connector|15"/>
          <p:cNvCxnSpPr/>
          <p:nvPr/>
        </p:nvCxnSpPr>
        <p:spPr>
          <a:xfrm>
            <a:off x="4874849" y="2057128"/>
            <a:ext cx="164592" cy="0"/>
          </a:xfrm>
          <a:prstGeom prst="line">
            <a:avLst/>
          </a:prstGeom>
          <a:ln w="19050">
            <a:solidFill>
              <a:srgbClr val="8A95A1"/>
            </a:solidFill>
            <a:tailEnd type="triangle" w="med" len="med"/>
          </a:ln>
        </p:spPr>
      </p:cxnSp>
      <p:sp>
        <p:nvSpPr>
          <p:cNvPr id="17" name="cpe|exhibit|text|16"/>
          <p:cNvSpPr txBox="1"/>
          <p:nvPr/>
        </p:nvSpPr>
        <p:spPr>
          <a:xfrm>
            <a:off x="2780325" y="2653076"/>
            <a:ext cx="2076237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6776"/>
                </a:solidFill>
                <a:latin typeface="Arial"/>
              </a:rPr>
              <a:t>Planning · 2h</a:t>
            </a:r>
          </a:p>
        </p:txBody>
      </p:sp>
      <p:sp>
        <p:nvSpPr>
          <p:cNvPr id="18" name="cpe|exhibit|text|17"/>
          <p:cNvSpPr txBox="1"/>
          <p:nvPr/>
        </p:nvSpPr>
        <p:spPr>
          <a:xfrm>
            <a:off x="2780325" y="2963972"/>
            <a:ext cx="2076237" cy="7806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5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300" b="0">
                <a:solidFill>
                  <a:srgbClr val="1C2530"/>
                </a:solidFill>
                <a:latin typeface="Arial"/>
              </a:rPr>
              <a:t>Automated slotting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300" b="0">
                <a:solidFill>
                  <a:srgbClr val="1C2530"/>
                </a:solidFill>
                <a:latin typeface="Arial"/>
              </a:rPr>
              <a:t>Daily wave plan</a:t>
            </a:r>
          </a:p>
        </p:txBody>
      </p:sp>
      <p:cxnSp>
        <p:nvCxnSpPr>
          <p:cNvPr id="19" name="cpe|exhibit|line|18"/>
          <p:cNvCxnSpPr/>
          <p:nvPr/>
        </p:nvCxnSpPr>
        <p:spPr>
          <a:xfrm>
            <a:off x="2780325" y="4018961"/>
            <a:ext cx="2076236" cy="0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20" name="cpe|exhibit|text|19"/>
          <p:cNvSpPr txBox="1"/>
          <p:nvPr/>
        </p:nvSpPr>
        <p:spPr>
          <a:xfrm>
            <a:off x="2780325" y="4110401"/>
            <a:ext cx="2076237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650" b="1">
                <a:solidFill>
                  <a:srgbClr val="1C2530"/>
                </a:solidFill>
                <a:latin typeface="Arial"/>
              </a:rPr>
              <a:t>2h</a:t>
            </a:r>
          </a:p>
        </p:txBody>
      </p:sp>
      <p:sp>
        <p:nvSpPr>
          <p:cNvPr id="21" name="cpe|exhibit|text|20"/>
          <p:cNvSpPr txBox="1"/>
          <p:nvPr/>
        </p:nvSpPr>
        <p:spPr>
          <a:xfrm>
            <a:off x="2780325" y="4659041"/>
            <a:ext cx="2076237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B6776"/>
                </a:solidFill>
                <a:latin typeface="Arial"/>
              </a:rPr>
              <a:t>planning time (from 3h)</a:t>
            </a:r>
          </a:p>
        </p:txBody>
      </p:sp>
      <p:sp>
        <p:nvSpPr>
          <p:cNvPr id="22" name="cpe|exhibit|fill|21"/>
          <p:cNvSpPr/>
          <p:nvPr/>
        </p:nvSpPr>
        <p:spPr>
          <a:xfrm>
            <a:off x="5057729" y="1689781"/>
            <a:ext cx="2076237" cy="734695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cpe|exhibit|text|22"/>
          <p:cNvSpPr txBox="1"/>
          <p:nvPr/>
        </p:nvSpPr>
        <p:spPr>
          <a:xfrm>
            <a:off x="5194889" y="1689781"/>
            <a:ext cx="1801917" cy="73469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FFFFFF"/>
                </a:solidFill>
                <a:latin typeface="Arial"/>
              </a:rPr>
              <a:t>3  Automated picking</a:t>
            </a:r>
          </a:p>
        </p:txBody>
      </p:sp>
      <p:cxnSp>
        <p:nvCxnSpPr>
          <p:cNvPr id="24" name="cpe|exhibit|connector|23"/>
          <p:cNvCxnSpPr/>
          <p:nvPr/>
        </p:nvCxnSpPr>
        <p:spPr>
          <a:xfrm>
            <a:off x="7152254" y="2057128"/>
            <a:ext cx="164592" cy="0"/>
          </a:xfrm>
          <a:prstGeom prst="line">
            <a:avLst/>
          </a:prstGeom>
          <a:ln w="19050">
            <a:solidFill>
              <a:srgbClr val="8A95A1"/>
            </a:solidFill>
            <a:tailEnd type="triangle" w="med" len="med"/>
          </a:ln>
        </p:spPr>
      </p:cxnSp>
      <p:sp>
        <p:nvSpPr>
          <p:cNvPr id="25" name="cpe|exhibit|text|24"/>
          <p:cNvSpPr txBox="1"/>
          <p:nvPr/>
        </p:nvSpPr>
        <p:spPr>
          <a:xfrm>
            <a:off x="5057729" y="2653076"/>
            <a:ext cx="2076237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6776"/>
                </a:solidFill>
                <a:latin typeface="Arial"/>
              </a:rPr>
              <a:t>Hub ops · 4h</a:t>
            </a:r>
          </a:p>
        </p:txBody>
      </p:sp>
      <p:sp>
        <p:nvSpPr>
          <p:cNvPr id="26" name="cpe|exhibit|text|25"/>
          <p:cNvSpPr txBox="1"/>
          <p:nvPr/>
        </p:nvSpPr>
        <p:spPr>
          <a:xfrm>
            <a:off x="5057729" y="2963972"/>
            <a:ext cx="2076237" cy="7806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5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300" b="0">
                <a:solidFill>
                  <a:srgbClr val="1C2530"/>
                </a:solidFill>
                <a:latin typeface="Arial"/>
              </a:rPr>
              <a:t>Goods-to-person in 2 hubs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300" b="0">
                <a:solidFill>
                  <a:srgbClr val="1C2530"/>
                </a:solidFill>
                <a:latin typeface="Arial"/>
              </a:rPr>
              <a:t>Error rate &lt; 0.3%</a:t>
            </a:r>
          </a:p>
        </p:txBody>
      </p:sp>
      <p:cxnSp>
        <p:nvCxnSpPr>
          <p:cNvPr id="27" name="cpe|exhibit|line|26"/>
          <p:cNvCxnSpPr/>
          <p:nvPr/>
        </p:nvCxnSpPr>
        <p:spPr>
          <a:xfrm>
            <a:off x="5057729" y="4018961"/>
            <a:ext cx="2076237" cy="0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28" name="cpe|exhibit|text|27"/>
          <p:cNvSpPr txBox="1"/>
          <p:nvPr/>
        </p:nvSpPr>
        <p:spPr>
          <a:xfrm>
            <a:off x="5057729" y="4110401"/>
            <a:ext cx="2076237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650" b="1">
                <a:solidFill>
                  <a:srgbClr val="13294B"/>
                </a:solidFill>
                <a:latin typeface="Arial"/>
              </a:rPr>
              <a:t>99.7%</a:t>
            </a:r>
          </a:p>
        </p:txBody>
      </p:sp>
      <p:sp>
        <p:nvSpPr>
          <p:cNvPr id="29" name="cpe|exhibit|text|28"/>
          <p:cNvSpPr txBox="1"/>
          <p:nvPr/>
        </p:nvSpPr>
        <p:spPr>
          <a:xfrm>
            <a:off x="5057729" y="4659041"/>
            <a:ext cx="2076237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B6776"/>
                </a:solidFill>
                <a:latin typeface="Arial"/>
              </a:rPr>
              <a:t>pick accuracy (from 97.9%)</a:t>
            </a:r>
          </a:p>
        </p:txBody>
      </p:sp>
      <p:sp>
        <p:nvSpPr>
          <p:cNvPr id="30" name="cpe|exhibit|fill|29"/>
          <p:cNvSpPr/>
          <p:nvPr/>
        </p:nvSpPr>
        <p:spPr>
          <a:xfrm>
            <a:off x="7335134" y="1689781"/>
            <a:ext cx="2076237" cy="734695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cpe|exhibit|text|30"/>
          <p:cNvSpPr txBox="1"/>
          <p:nvPr/>
        </p:nvSpPr>
        <p:spPr>
          <a:xfrm>
            <a:off x="7472294" y="1689781"/>
            <a:ext cx="1801917" cy="73469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C2530"/>
                </a:solidFill>
                <a:latin typeface="Arial"/>
              </a:rPr>
              <a:t>4  Dispatch</a:t>
            </a:r>
          </a:p>
        </p:txBody>
      </p:sp>
      <p:cxnSp>
        <p:nvCxnSpPr>
          <p:cNvPr id="32" name="cpe|exhibit|connector|31"/>
          <p:cNvCxnSpPr/>
          <p:nvPr/>
        </p:nvCxnSpPr>
        <p:spPr>
          <a:xfrm>
            <a:off x="9429659" y="2057128"/>
            <a:ext cx="164592" cy="0"/>
          </a:xfrm>
          <a:prstGeom prst="line">
            <a:avLst/>
          </a:prstGeom>
          <a:ln w="19050">
            <a:solidFill>
              <a:srgbClr val="8A95A1"/>
            </a:solidFill>
            <a:tailEnd type="triangle" w="med" len="med"/>
          </a:ln>
        </p:spPr>
      </p:cxnSp>
      <p:sp>
        <p:nvSpPr>
          <p:cNvPr id="33" name="cpe|exhibit|text|32"/>
          <p:cNvSpPr txBox="1"/>
          <p:nvPr/>
        </p:nvSpPr>
        <p:spPr>
          <a:xfrm>
            <a:off x="7335134" y="2653076"/>
            <a:ext cx="2076237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6776"/>
                </a:solidFill>
                <a:latin typeface="Arial"/>
              </a:rPr>
              <a:t>Transport · 1h</a:t>
            </a:r>
          </a:p>
        </p:txBody>
      </p:sp>
      <p:sp>
        <p:nvSpPr>
          <p:cNvPr id="34" name="cpe|exhibit|text|33"/>
          <p:cNvSpPr txBox="1"/>
          <p:nvPr/>
        </p:nvSpPr>
        <p:spPr>
          <a:xfrm>
            <a:off x="7335134" y="2963972"/>
            <a:ext cx="2076237" cy="7806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5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300" b="0">
                <a:solidFill>
                  <a:srgbClr val="1C2530"/>
                </a:solidFill>
                <a:latin typeface="Arial"/>
              </a:rPr>
              <a:t>Dynamic routing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300" b="0">
                <a:solidFill>
                  <a:srgbClr val="1C2530"/>
                </a:solidFill>
                <a:latin typeface="Arial"/>
              </a:rPr>
              <a:t>Fill ≥ 85%</a:t>
            </a:r>
          </a:p>
        </p:txBody>
      </p:sp>
      <p:cxnSp>
        <p:nvCxnSpPr>
          <p:cNvPr id="35" name="cpe|exhibit|line|34"/>
          <p:cNvCxnSpPr/>
          <p:nvPr/>
        </p:nvCxnSpPr>
        <p:spPr>
          <a:xfrm>
            <a:off x="7335134" y="4018961"/>
            <a:ext cx="2076237" cy="0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36" name="cpe|exhibit|text|35"/>
          <p:cNvSpPr txBox="1"/>
          <p:nvPr/>
        </p:nvSpPr>
        <p:spPr>
          <a:xfrm>
            <a:off x="7335134" y="4110401"/>
            <a:ext cx="2076237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650" b="1">
                <a:solidFill>
                  <a:srgbClr val="1C2530"/>
                </a:solidFill>
                <a:latin typeface="Arial"/>
              </a:rPr>
              <a:t>85%</a:t>
            </a:r>
          </a:p>
        </p:txBody>
      </p:sp>
      <p:sp>
        <p:nvSpPr>
          <p:cNvPr id="37" name="cpe|exhibit|text|36"/>
          <p:cNvSpPr txBox="1"/>
          <p:nvPr/>
        </p:nvSpPr>
        <p:spPr>
          <a:xfrm>
            <a:off x="7335134" y="4659041"/>
            <a:ext cx="2076237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B6776"/>
                </a:solidFill>
                <a:latin typeface="Arial"/>
              </a:rPr>
              <a:t>truck fill (from 77%)</a:t>
            </a:r>
          </a:p>
        </p:txBody>
      </p:sp>
      <p:sp>
        <p:nvSpPr>
          <p:cNvPr id="38" name="cpe|exhibit|fill|37"/>
          <p:cNvSpPr/>
          <p:nvPr/>
        </p:nvSpPr>
        <p:spPr>
          <a:xfrm>
            <a:off x="9612539" y="1689781"/>
            <a:ext cx="2076237" cy="734695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cpe|exhibit|text|38"/>
          <p:cNvSpPr txBox="1"/>
          <p:nvPr/>
        </p:nvSpPr>
        <p:spPr>
          <a:xfrm>
            <a:off x="9749699" y="1689781"/>
            <a:ext cx="1801917" cy="73469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C2530"/>
                </a:solidFill>
                <a:latin typeface="Arial"/>
              </a:rPr>
              <a:t>5  Delivery</a:t>
            </a:r>
          </a:p>
        </p:txBody>
      </p:sp>
      <p:sp>
        <p:nvSpPr>
          <p:cNvPr id="40" name="cpe|exhibit|text|39"/>
          <p:cNvSpPr txBox="1"/>
          <p:nvPr/>
        </p:nvSpPr>
        <p:spPr>
          <a:xfrm>
            <a:off x="9612539" y="2653076"/>
            <a:ext cx="2076237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6776"/>
                </a:solidFill>
                <a:latin typeface="Arial"/>
              </a:rPr>
              <a:t>Carriers · 24h</a:t>
            </a:r>
          </a:p>
        </p:txBody>
      </p:sp>
      <p:sp>
        <p:nvSpPr>
          <p:cNvPr id="41" name="cpe|exhibit|text|40"/>
          <p:cNvSpPr txBox="1"/>
          <p:nvPr/>
        </p:nvSpPr>
        <p:spPr>
          <a:xfrm>
            <a:off x="9612539" y="2963972"/>
            <a:ext cx="2076237" cy="7806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5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300" b="0">
                <a:solidFill>
                  <a:srgbClr val="1C2530"/>
                </a:solidFill>
                <a:latin typeface="Arial"/>
              </a:rPr>
              <a:t>Proof of delivery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300" b="0">
                <a:solidFill>
                  <a:srgbClr val="1C2530"/>
                </a:solidFill>
                <a:latin typeface="Arial"/>
              </a:rPr>
              <a:t>Returns in 48h</a:t>
            </a:r>
          </a:p>
        </p:txBody>
      </p:sp>
      <p:cxnSp>
        <p:nvCxnSpPr>
          <p:cNvPr id="42" name="cpe|exhibit|line|41"/>
          <p:cNvCxnSpPr/>
          <p:nvPr/>
        </p:nvCxnSpPr>
        <p:spPr>
          <a:xfrm>
            <a:off x="9612539" y="4018961"/>
            <a:ext cx="2076236" cy="0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43" name="cpe|exhibit|text|42"/>
          <p:cNvSpPr txBox="1"/>
          <p:nvPr/>
        </p:nvSpPr>
        <p:spPr>
          <a:xfrm>
            <a:off x="9612539" y="4110401"/>
            <a:ext cx="2076237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650" b="1">
                <a:solidFill>
                  <a:srgbClr val="1C2530"/>
                </a:solidFill>
                <a:latin typeface="Arial"/>
              </a:rPr>
              <a:t>85%</a:t>
            </a:r>
          </a:p>
        </p:txBody>
      </p:sp>
      <p:sp>
        <p:nvSpPr>
          <p:cNvPr id="44" name="cpe|exhibit|text|43"/>
          <p:cNvSpPr txBox="1"/>
          <p:nvPr/>
        </p:nvSpPr>
        <p:spPr>
          <a:xfrm>
            <a:off x="9612539" y="4659041"/>
            <a:ext cx="2076237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B6776"/>
                </a:solidFill>
                <a:latin typeface="Arial"/>
              </a:rPr>
              <a:t>in full, on time (from 61%)</a:t>
            </a:r>
          </a:p>
        </p:txBody>
      </p:sp>
      <p:sp>
        <p:nvSpPr>
          <p:cNvPr id="45" name="cpe|takeaway|fill|44"/>
          <p:cNvSpPr/>
          <p:nvPr/>
        </p:nvSpPr>
        <p:spPr>
          <a:xfrm>
            <a:off x="502920" y="5632704"/>
            <a:ext cx="11185855" cy="566928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cpe|takeaway|fill|45"/>
          <p:cNvSpPr/>
          <p:nvPr/>
        </p:nvSpPr>
        <p:spPr>
          <a:xfrm>
            <a:off x="502920" y="5632704"/>
            <a:ext cx="64008" cy="566928"/>
          </a:xfrm>
          <a:prstGeom prst="rect">
            <a:avLst/>
          </a:prstGeom>
          <a:solidFill>
            <a:srgbClr val="E08A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cpe|takeaway|text|46"/>
          <p:cNvSpPr txBox="1"/>
          <p:nvPr/>
        </p:nvSpPr>
        <p:spPr>
          <a:xfrm>
            <a:off x="795528" y="5632704"/>
            <a:ext cx="10664647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3294B"/>
                </a:solidFill>
                <a:latin typeface="Arial"/>
              </a:rPr>
              <a:t>Order-to-delivery falls from 31 to 24 hours and in-full-on-time deliveries rise from 61% to 85%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PROGRAMME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Customers lose most time at order confirmation and delivery booking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Customer interviews, n=40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15</a:t>
            </a:r>
          </a:p>
        </p:txBody>
      </p:sp>
      <p:sp>
        <p:nvSpPr>
          <p:cNvPr id="6" name="cpe|exhibit|fill|5"/>
          <p:cNvSpPr/>
          <p:nvPr/>
        </p:nvSpPr>
        <p:spPr>
          <a:xfrm>
            <a:off x="2331720" y="1481328"/>
            <a:ext cx="1922617" cy="457200"/>
          </a:xfrm>
          <a:prstGeom prst="homePlate">
            <a:avLst/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cpe|exhibit|text|6"/>
          <p:cNvSpPr txBox="1"/>
          <p:nvPr/>
        </p:nvSpPr>
        <p:spPr>
          <a:xfrm>
            <a:off x="2560320" y="1481328"/>
            <a:ext cx="1465417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550" b="0">
                <a:solidFill>
                  <a:srgbClr val="FFFFFF"/>
                </a:solidFill>
                <a:latin typeface="Arial"/>
              </a:rPr>
              <a:t>Order</a:t>
            </a:r>
          </a:p>
        </p:txBody>
      </p:sp>
      <p:sp>
        <p:nvSpPr>
          <p:cNvPr id="8" name="cpe|exhibit|fill|7"/>
          <p:cNvSpPr/>
          <p:nvPr/>
        </p:nvSpPr>
        <p:spPr>
          <a:xfrm>
            <a:off x="4217761" y="1481328"/>
            <a:ext cx="1922617" cy="45720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cpe|exhibit|text|8"/>
          <p:cNvSpPr txBox="1"/>
          <p:nvPr/>
        </p:nvSpPr>
        <p:spPr>
          <a:xfrm>
            <a:off x="4446361" y="1481328"/>
            <a:ext cx="1465417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550" b="0">
                <a:solidFill>
                  <a:srgbClr val="FFFFFF"/>
                </a:solidFill>
                <a:latin typeface="Arial"/>
              </a:rPr>
              <a:t>Confirmation</a:t>
            </a:r>
          </a:p>
        </p:txBody>
      </p:sp>
      <p:sp>
        <p:nvSpPr>
          <p:cNvPr id="10" name="cpe|exhibit|fill|9"/>
          <p:cNvSpPr/>
          <p:nvPr/>
        </p:nvSpPr>
        <p:spPr>
          <a:xfrm>
            <a:off x="6103803" y="1481328"/>
            <a:ext cx="1922617" cy="45720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pe|exhibit|text|10"/>
          <p:cNvSpPr txBox="1"/>
          <p:nvPr/>
        </p:nvSpPr>
        <p:spPr>
          <a:xfrm>
            <a:off x="6332403" y="1481328"/>
            <a:ext cx="1465417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550" b="0">
                <a:solidFill>
                  <a:srgbClr val="FFFFFF"/>
                </a:solidFill>
                <a:latin typeface="Arial"/>
              </a:rPr>
              <a:t>Booking</a:t>
            </a:r>
          </a:p>
        </p:txBody>
      </p:sp>
      <p:sp>
        <p:nvSpPr>
          <p:cNvPr id="12" name="cpe|exhibit|fill|11"/>
          <p:cNvSpPr/>
          <p:nvPr/>
        </p:nvSpPr>
        <p:spPr>
          <a:xfrm>
            <a:off x="7989844" y="1481328"/>
            <a:ext cx="1922617" cy="457200"/>
          </a:xfrm>
          <a:prstGeom prst="chevron">
            <a:avLst/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cpe|exhibit|text|12"/>
          <p:cNvSpPr txBox="1"/>
          <p:nvPr/>
        </p:nvSpPr>
        <p:spPr>
          <a:xfrm>
            <a:off x="8218444" y="1481328"/>
            <a:ext cx="1465417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550" b="0">
                <a:solidFill>
                  <a:srgbClr val="FFFFFF"/>
                </a:solidFill>
                <a:latin typeface="Arial"/>
              </a:rPr>
              <a:t>Delivery</a:t>
            </a:r>
          </a:p>
        </p:txBody>
      </p:sp>
      <p:sp>
        <p:nvSpPr>
          <p:cNvPr id="14" name="cpe|exhibit|fill|13"/>
          <p:cNvSpPr/>
          <p:nvPr/>
        </p:nvSpPr>
        <p:spPr>
          <a:xfrm>
            <a:off x="9875886" y="1481328"/>
            <a:ext cx="1812889" cy="457200"/>
          </a:xfrm>
          <a:prstGeom prst="chevron">
            <a:avLst/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cpe|exhibit|text|14"/>
          <p:cNvSpPr txBox="1"/>
          <p:nvPr/>
        </p:nvSpPr>
        <p:spPr>
          <a:xfrm>
            <a:off x="10104486" y="1481328"/>
            <a:ext cx="1355689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550" b="0">
                <a:solidFill>
                  <a:srgbClr val="FFFFFF"/>
                </a:solidFill>
                <a:latin typeface="Arial"/>
              </a:rPr>
              <a:t>Invoice</a:t>
            </a:r>
          </a:p>
        </p:txBody>
      </p:sp>
      <p:sp>
        <p:nvSpPr>
          <p:cNvPr id="16" name="cpe|exhibit|text|15"/>
          <p:cNvSpPr txBox="1"/>
          <p:nvPr/>
        </p:nvSpPr>
        <p:spPr>
          <a:xfrm>
            <a:off x="502920" y="2048256"/>
            <a:ext cx="1737360" cy="13350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2530"/>
                </a:solidFill>
                <a:latin typeface="Arial"/>
              </a:rPr>
              <a:t>Customer action</a:t>
            </a:r>
          </a:p>
        </p:txBody>
      </p:sp>
      <p:cxnSp>
        <p:nvCxnSpPr>
          <p:cNvPr id="17" name="cpe|exhibit|line|16"/>
          <p:cNvCxnSpPr/>
          <p:nvPr/>
        </p:nvCxnSpPr>
        <p:spPr>
          <a:xfrm>
            <a:off x="502920" y="3419856"/>
            <a:ext cx="11185855" cy="0"/>
          </a:xfrm>
          <a:prstGeom prst="line">
            <a:avLst/>
          </a:prstGeom>
          <a:ln w="6350">
            <a:solidFill>
              <a:srgbClr val="E3E8ED"/>
            </a:solidFill>
          </a:ln>
        </p:spPr>
      </p:cxnSp>
      <p:sp>
        <p:nvSpPr>
          <p:cNvPr id="18" name="cpe|exhibit|text|17"/>
          <p:cNvSpPr txBox="1"/>
          <p:nvPr/>
        </p:nvSpPr>
        <p:spPr>
          <a:xfrm>
            <a:off x="2377440" y="2084832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C2530"/>
                </a:solidFill>
                <a:latin typeface="Arial"/>
              </a:rPr>
              <a:t>Places order by EDI or phone</a:t>
            </a:r>
          </a:p>
        </p:txBody>
      </p:sp>
      <p:sp>
        <p:nvSpPr>
          <p:cNvPr id="19" name="cpe|exhibit|text|18"/>
          <p:cNvSpPr txBox="1"/>
          <p:nvPr/>
        </p:nvSpPr>
        <p:spPr>
          <a:xfrm>
            <a:off x="4263481" y="2084832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C2530"/>
                </a:solidFill>
                <a:latin typeface="Arial"/>
              </a:rPr>
              <a:t>Waits for confirmation</a:t>
            </a:r>
          </a:p>
        </p:txBody>
      </p:sp>
      <p:sp>
        <p:nvSpPr>
          <p:cNvPr id="20" name="cpe|exhibit|text|19"/>
          <p:cNvSpPr txBox="1"/>
          <p:nvPr/>
        </p:nvSpPr>
        <p:spPr>
          <a:xfrm>
            <a:off x="6149523" y="2084832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C2530"/>
                </a:solidFill>
                <a:latin typeface="Arial"/>
              </a:rPr>
              <a:t>Calls to book a slot</a:t>
            </a:r>
          </a:p>
        </p:txBody>
      </p:sp>
      <p:sp>
        <p:nvSpPr>
          <p:cNvPr id="21" name="cpe|exhibit|text|20"/>
          <p:cNvSpPr txBox="1"/>
          <p:nvPr/>
        </p:nvSpPr>
        <p:spPr>
          <a:xfrm>
            <a:off x="8035564" y="2084832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C2530"/>
                </a:solidFill>
                <a:latin typeface="Arial"/>
              </a:rPr>
              <a:t>Receives goods</a:t>
            </a:r>
          </a:p>
        </p:txBody>
      </p:sp>
      <p:sp>
        <p:nvSpPr>
          <p:cNvPr id="22" name="cpe|exhibit|text|21"/>
          <p:cNvSpPr txBox="1"/>
          <p:nvPr/>
        </p:nvSpPr>
        <p:spPr>
          <a:xfrm>
            <a:off x="9921606" y="2084832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C2530"/>
                </a:solidFill>
                <a:latin typeface="Arial"/>
              </a:rPr>
              <a:t>Checks invoice</a:t>
            </a:r>
          </a:p>
        </p:txBody>
      </p:sp>
      <p:sp>
        <p:nvSpPr>
          <p:cNvPr id="23" name="cpe|exhibit|text|22"/>
          <p:cNvSpPr txBox="1"/>
          <p:nvPr/>
        </p:nvSpPr>
        <p:spPr>
          <a:xfrm>
            <a:off x="502920" y="3456432"/>
            <a:ext cx="1737360" cy="13350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2530"/>
                </a:solidFill>
                <a:latin typeface="Arial"/>
              </a:rPr>
              <a:t>Pain points</a:t>
            </a:r>
          </a:p>
        </p:txBody>
      </p:sp>
      <p:cxnSp>
        <p:nvCxnSpPr>
          <p:cNvPr id="24" name="cpe|exhibit|line|23"/>
          <p:cNvCxnSpPr/>
          <p:nvPr/>
        </p:nvCxnSpPr>
        <p:spPr>
          <a:xfrm>
            <a:off x="502920" y="4828032"/>
            <a:ext cx="11185855" cy="0"/>
          </a:xfrm>
          <a:prstGeom prst="line">
            <a:avLst/>
          </a:prstGeom>
          <a:ln w="6350">
            <a:solidFill>
              <a:srgbClr val="E3E8ED"/>
            </a:solidFill>
          </a:ln>
        </p:spPr>
      </p:cxnSp>
      <p:sp>
        <p:nvSpPr>
          <p:cNvPr id="25" name="cpe|exhibit|text|24"/>
          <p:cNvSpPr txBox="1"/>
          <p:nvPr/>
        </p:nvSpPr>
        <p:spPr>
          <a:xfrm>
            <a:off x="2377440" y="3493008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C2530"/>
                </a:solidFill>
                <a:latin typeface="Arial"/>
              </a:rPr>
              <a:t>Phone orders error-prone</a:t>
            </a:r>
          </a:p>
        </p:txBody>
      </p:sp>
      <p:sp>
        <p:nvSpPr>
          <p:cNvPr id="26" name="cpe|exhibit|fill|25"/>
          <p:cNvSpPr/>
          <p:nvPr/>
        </p:nvSpPr>
        <p:spPr>
          <a:xfrm>
            <a:off x="4217761" y="3456432"/>
            <a:ext cx="1812889" cy="1335024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cpe|exhibit|text|26"/>
          <p:cNvSpPr txBox="1"/>
          <p:nvPr/>
        </p:nvSpPr>
        <p:spPr>
          <a:xfrm>
            <a:off x="4263481" y="3493008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C2530"/>
                </a:solidFill>
                <a:latin typeface="Arial"/>
              </a:rPr>
              <a:t>Up to 24h wait</a:t>
            </a:r>
          </a:p>
        </p:txBody>
      </p:sp>
      <p:sp>
        <p:nvSpPr>
          <p:cNvPr id="28" name="cpe|exhibit|fill|27"/>
          <p:cNvSpPr/>
          <p:nvPr/>
        </p:nvSpPr>
        <p:spPr>
          <a:xfrm>
            <a:off x="6103803" y="3456432"/>
            <a:ext cx="1812889" cy="1335024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cpe|exhibit|text|28"/>
          <p:cNvSpPr txBox="1"/>
          <p:nvPr/>
        </p:nvSpPr>
        <p:spPr>
          <a:xfrm>
            <a:off x="6149523" y="3493008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C2530"/>
                </a:solidFill>
                <a:latin typeface="Arial"/>
              </a:rPr>
              <a:t>3 calls on average</a:t>
            </a:r>
          </a:p>
        </p:txBody>
      </p:sp>
      <p:sp>
        <p:nvSpPr>
          <p:cNvPr id="30" name="cpe|exhibit|text|29"/>
          <p:cNvSpPr txBox="1"/>
          <p:nvPr/>
        </p:nvSpPr>
        <p:spPr>
          <a:xfrm>
            <a:off x="8035564" y="3493008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C2530"/>
                </a:solidFill>
                <a:latin typeface="Arial"/>
              </a:rPr>
              <a:t>Partial deliveries</a:t>
            </a:r>
          </a:p>
        </p:txBody>
      </p:sp>
      <p:sp>
        <p:nvSpPr>
          <p:cNvPr id="31" name="cpe|exhibit|text|30"/>
          <p:cNvSpPr txBox="1"/>
          <p:nvPr/>
        </p:nvSpPr>
        <p:spPr>
          <a:xfrm>
            <a:off x="9921606" y="3493008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C2530"/>
                </a:solidFill>
                <a:latin typeface="Arial"/>
              </a:rPr>
              <a:t>Disputes on 6%</a:t>
            </a:r>
          </a:p>
        </p:txBody>
      </p:sp>
      <p:sp>
        <p:nvSpPr>
          <p:cNvPr id="32" name="cpe|exhibit|text|31"/>
          <p:cNvSpPr txBox="1"/>
          <p:nvPr/>
        </p:nvSpPr>
        <p:spPr>
          <a:xfrm>
            <a:off x="502920" y="4864608"/>
            <a:ext cx="1737360" cy="13350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2530"/>
                </a:solidFill>
                <a:latin typeface="Arial"/>
              </a:rPr>
              <a:t>Fix</a:t>
            </a:r>
          </a:p>
        </p:txBody>
      </p:sp>
      <p:cxnSp>
        <p:nvCxnSpPr>
          <p:cNvPr id="33" name="cpe|exhibit|line|32"/>
          <p:cNvCxnSpPr/>
          <p:nvPr/>
        </p:nvCxnSpPr>
        <p:spPr>
          <a:xfrm>
            <a:off x="502920" y="6236208"/>
            <a:ext cx="11185855" cy="0"/>
          </a:xfrm>
          <a:prstGeom prst="line">
            <a:avLst/>
          </a:prstGeom>
          <a:ln w="6350">
            <a:solidFill>
              <a:srgbClr val="E3E8ED"/>
            </a:solidFill>
          </a:ln>
        </p:spPr>
      </p:cxnSp>
      <p:sp>
        <p:nvSpPr>
          <p:cNvPr id="34" name="cpe|exhibit|text|33"/>
          <p:cNvSpPr txBox="1"/>
          <p:nvPr/>
        </p:nvSpPr>
        <p:spPr>
          <a:xfrm>
            <a:off x="2377440" y="4901184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C2530"/>
                </a:solidFill>
                <a:latin typeface="Arial"/>
              </a:rPr>
              <a:t>EDI + portal</a:t>
            </a:r>
          </a:p>
        </p:txBody>
      </p:sp>
      <p:sp>
        <p:nvSpPr>
          <p:cNvPr id="35" name="cpe|exhibit|text|34"/>
          <p:cNvSpPr txBox="1"/>
          <p:nvPr/>
        </p:nvSpPr>
        <p:spPr>
          <a:xfrm>
            <a:off x="4263481" y="4901184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C2530"/>
                </a:solidFill>
                <a:latin typeface="Arial"/>
              </a:rPr>
              <a:t>Instant confirmation</a:t>
            </a:r>
          </a:p>
        </p:txBody>
      </p:sp>
      <p:sp>
        <p:nvSpPr>
          <p:cNvPr id="36" name="cpe|exhibit|text|35"/>
          <p:cNvSpPr txBox="1"/>
          <p:nvPr/>
        </p:nvSpPr>
        <p:spPr>
          <a:xfrm>
            <a:off x="6149523" y="4901184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C2530"/>
                </a:solidFill>
                <a:latin typeface="Arial"/>
              </a:rPr>
              <a:t>Self-service slots</a:t>
            </a:r>
          </a:p>
        </p:txBody>
      </p:sp>
      <p:sp>
        <p:nvSpPr>
          <p:cNvPr id="37" name="cpe|exhibit|text|36"/>
          <p:cNvSpPr txBox="1"/>
          <p:nvPr/>
        </p:nvSpPr>
        <p:spPr>
          <a:xfrm>
            <a:off x="8035564" y="4901184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C2530"/>
                </a:solidFill>
                <a:latin typeface="Arial"/>
              </a:rPr>
              <a:t>Pick accuracy</a:t>
            </a:r>
          </a:p>
        </p:txBody>
      </p:sp>
      <p:sp>
        <p:nvSpPr>
          <p:cNvPr id="38" name="cpe|exhibit|text|37"/>
          <p:cNvSpPr txBox="1"/>
          <p:nvPr/>
        </p:nvSpPr>
        <p:spPr>
          <a:xfrm>
            <a:off x="9921606" y="4901184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C2530"/>
                </a:solidFill>
                <a:latin typeface="Arial"/>
              </a:rPr>
              <a:t>E-invoice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PROGRAMME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A lean transformation office with four initiative owners runs the programme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Governance charter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16</a:t>
            </a:r>
          </a:p>
        </p:txBody>
      </p:sp>
      <p:sp>
        <p:nvSpPr>
          <p:cNvPr id="6" name="cpe|exhibit|fill|5"/>
          <p:cNvSpPr/>
          <p:nvPr/>
        </p:nvSpPr>
        <p:spPr>
          <a:xfrm>
            <a:off x="4998568" y="2045879"/>
            <a:ext cx="2194560" cy="86868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cpe|exhibit|text|6"/>
          <p:cNvSpPr txBox="1"/>
          <p:nvPr/>
        </p:nvSpPr>
        <p:spPr>
          <a:xfrm>
            <a:off x="5053432" y="2045879"/>
            <a:ext cx="2084832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Steering committee</a:t>
            </a:r>
          </a:p>
          <a:p>
            <a:pPr algn="ctr">
              <a:lnSpc>
                <a:spcPct val="108000"/>
              </a:lnSpc>
            </a:pPr>
            <a:r>
              <a:rPr sz="1100" b="0">
                <a:solidFill>
                  <a:srgbClr val="FFFFFF"/>
                </a:solidFill>
                <a:latin typeface="Arial"/>
              </a:rPr>
              <a:t>CEO (chair), CFO, COO</a:t>
            </a:r>
          </a:p>
        </p:txBody>
      </p:sp>
      <p:cxnSp>
        <p:nvCxnSpPr>
          <p:cNvPr id="8" name="cpe|exhibit|connector|7"/>
          <p:cNvCxnSpPr/>
          <p:nvPr/>
        </p:nvCxnSpPr>
        <p:spPr>
          <a:xfrm>
            <a:off x="6095848" y="2914559"/>
            <a:ext cx="0" cy="192024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9" name="cpe|exhibit|connector|8"/>
          <p:cNvCxnSpPr/>
          <p:nvPr/>
        </p:nvCxnSpPr>
        <p:spPr>
          <a:xfrm>
            <a:off x="6095848" y="3106583"/>
            <a:ext cx="0" cy="192024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10" name="cpe|exhibit|fill|9"/>
          <p:cNvSpPr/>
          <p:nvPr/>
        </p:nvSpPr>
        <p:spPr>
          <a:xfrm>
            <a:off x="4998568" y="3298607"/>
            <a:ext cx="2194560" cy="868680"/>
          </a:xfrm>
          <a:prstGeom prst="rect">
            <a:avLst/>
          </a:prstGeom>
          <a:solidFill>
            <a:srgbClr val="E08A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pe|exhibit|text|10"/>
          <p:cNvSpPr txBox="1"/>
          <p:nvPr/>
        </p:nvSpPr>
        <p:spPr>
          <a:xfrm>
            <a:off x="5053432" y="3298607"/>
            <a:ext cx="2084832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100"/>
              </a:spcAft>
            </a:pPr>
            <a:r>
              <a:rPr sz="1200" b="1">
                <a:solidFill>
                  <a:srgbClr val="1C2530"/>
                </a:solidFill>
                <a:latin typeface="Arial"/>
              </a:rPr>
              <a:t>Transformation office</a:t>
            </a:r>
          </a:p>
          <a:p>
            <a:pPr algn="ctr">
              <a:lnSpc>
                <a:spcPct val="108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Programme director + 3 FTE</a:t>
            </a:r>
          </a:p>
        </p:txBody>
      </p:sp>
      <p:cxnSp>
        <p:nvCxnSpPr>
          <p:cNvPr id="12" name="cpe|exhibit|connector|11"/>
          <p:cNvCxnSpPr/>
          <p:nvPr/>
        </p:nvCxnSpPr>
        <p:spPr>
          <a:xfrm>
            <a:off x="6095848" y="4167287"/>
            <a:ext cx="0" cy="192024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13" name="cpe|exhibit|connector|12"/>
          <p:cNvCxnSpPr/>
          <p:nvPr/>
        </p:nvCxnSpPr>
        <p:spPr>
          <a:xfrm>
            <a:off x="1901152" y="4359311"/>
            <a:ext cx="4194696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14" name="cpe|exhibit|connector|13"/>
          <p:cNvCxnSpPr/>
          <p:nvPr/>
        </p:nvCxnSpPr>
        <p:spPr>
          <a:xfrm>
            <a:off x="1901152" y="4359311"/>
            <a:ext cx="0" cy="192024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15" name="cpe|exhibit|fill|14"/>
          <p:cNvSpPr/>
          <p:nvPr/>
        </p:nvSpPr>
        <p:spPr>
          <a:xfrm>
            <a:off x="803872" y="4551335"/>
            <a:ext cx="2194560" cy="86868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cpe|exhibit|text|15"/>
          <p:cNvSpPr txBox="1"/>
          <p:nvPr/>
        </p:nvSpPr>
        <p:spPr>
          <a:xfrm>
            <a:off x="858736" y="4551335"/>
            <a:ext cx="2084832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100"/>
              </a:spcAft>
            </a:pPr>
            <a:r>
              <a:rPr sz="1200" b="1">
                <a:solidFill>
                  <a:srgbClr val="1C2530"/>
                </a:solidFill>
                <a:latin typeface="Arial"/>
              </a:rPr>
              <a:t>Network</a:t>
            </a:r>
          </a:p>
          <a:p>
            <a:pPr algn="ctr">
              <a:lnSpc>
                <a:spcPct val="108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Head of logistics</a:t>
            </a:r>
          </a:p>
        </p:txBody>
      </p:sp>
      <p:cxnSp>
        <p:nvCxnSpPr>
          <p:cNvPr id="17" name="cpe|exhibit|connector|16"/>
          <p:cNvCxnSpPr/>
          <p:nvPr/>
        </p:nvCxnSpPr>
        <p:spPr>
          <a:xfrm>
            <a:off x="6095848" y="4167287"/>
            <a:ext cx="0" cy="192024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18" name="cpe|exhibit|connector|17"/>
          <p:cNvCxnSpPr/>
          <p:nvPr/>
        </p:nvCxnSpPr>
        <p:spPr>
          <a:xfrm>
            <a:off x="4697616" y="4359311"/>
            <a:ext cx="1398232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19" name="cpe|exhibit|connector|18"/>
          <p:cNvCxnSpPr/>
          <p:nvPr/>
        </p:nvCxnSpPr>
        <p:spPr>
          <a:xfrm>
            <a:off x="4697616" y="4359311"/>
            <a:ext cx="0" cy="192024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20" name="cpe|exhibit|fill|19"/>
          <p:cNvSpPr/>
          <p:nvPr/>
        </p:nvSpPr>
        <p:spPr>
          <a:xfrm>
            <a:off x="3600336" y="4551335"/>
            <a:ext cx="2194560" cy="86868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cpe|exhibit|text|20"/>
          <p:cNvSpPr txBox="1"/>
          <p:nvPr/>
        </p:nvSpPr>
        <p:spPr>
          <a:xfrm>
            <a:off x="3655200" y="4551335"/>
            <a:ext cx="2084832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100"/>
              </a:spcAft>
            </a:pPr>
            <a:r>
              <a:rPr sz="1200" b="1">
                <a:solidFill>
                  <a:srgbClr val="1C2530"/>
                </a:solidFill>
                <a:latin typeface="Arial"/>
              </a:rPr>
              <a:t>Automation</a:t>
            </a:r>
          </a:p>
          <a:p>
            <a:pPr algn="ctr">
              <a:lnSpc>
                <a:spcPct val="108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Head of hubs</a:t>
            </a:r>
          </a:p>
        </p:txBody>
      </p:sp>
      <p:cxnSp>
        <p:nvCxnSpPr>
          <p:cNvPr id="22" name="cpe|exhibit|connector|21"/>
          <p:cNvCxnSpPr/>
          <p:nvPr/>
        </p:nvCxnSpPr>
        <p:spPr>
          <a:xfrm>
            <a:off x="6095848" y="4167287"/>
            <a:ext cx="0" cy="192024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23" name="cpe|exhibit|connector|22"/>
          <p:cNvCxnSpPr/>
          <p:nvPr/>
        </p:nvCxnSpPr>
        <p:spPr>
          <a:xfrm>
            <a:off x="6095848" y="4359311"/>
            <a:ext cx="1398232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24" name="cpe|exhibit|connector|23"/>
          <p:cNvCxnSpPr/>
          <p:nvPr/>
        </p:nvCxnSpPr>
        <p:spPr>
          <a:xfrm>
            <a:off x="7494080" y="4359311"/>
            <a:ext cx="0" cy="192024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25" name="cpe|exhibit|fill|24"/>
          <p:cNvSpPr/>
          <p:nvPr/>
        </p:nvSpPr>
        <p:spPr>
          <a:xfrm>
            <a:off x="6396800" y="4551335"/>
            <a:ext cx="2194560" cy="86868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cpe|exhibit|text|25"/>
          <p:cNvSpPr txBox="1"/>
          <p:nvPr/>
        </p:nvSpPr>
        <p:spPr>
          <a:xfrm>
            <a:off x="6451663" y="4551335"/>
            <a:ext cx="2084832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100"/>
              </a:spcAft>
            </a:pPr>
            <a:r>
              <a:rPr sz="1200" b="1">
                <a:solidFill>
                  <a:srgbClr val="1C2530"/>
                </a:solidFill>
                <a:latin typeface="Arial"/>
              </a:rPr>
              <a:t>Customer terms</a:t>
            </a:r>
          </a:p>
          <a:p>
            <a:pPr algn="ctr">
              <a:lnSpc>
                <a:spcPct val="108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Sales director</a:t>
            </a:r>
          </a:p>
        </p:txBody>
      </p:sp>
      <p:cxnSp>
        <p:nvCxnSpPr>
          <p:cNvPr id="27" name="cpe|exhibit|connector|26"/>
          <p:cNvCxnSpPr/>
          <p:nvPr/>
        </p:nvCxnSpPr>
        <p:spPr>
          <a:xfrm>
            <a:off x="6095848" y="4167287"/>
            <a:ext cx="0" cy="192024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28" name="cpe|exhibit|connector|27"/>
          <p:cNvCxnSpPr/>
          <p:nvPr/>
        </p:nvCxnSpPr>
        <p:spPr>
          <a:xfrm>
            <a:off x="6095848" y="4359311"/>
            <a:ext cx="4194695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29" name="cpe|exhibit|connector|28"/>
          <p:cNvCxnSpPr/>
          <p:nvPr/>
        </p:nvCxnSpPr>
        <p:spPr>
          <a:xfrm>
            <a:off x="10290543" y="4359311"/>
            <a:ext cx="0" cy="192024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30" name="cpe|exhibit|fill|29"/>
          <p:cNvSpPr/>
          <p:nvPr/>
        </p:nvSpPr>
        <p:spPr>
          <a:xfrm>
            <a:off x="9193263" y="4551335"/>
            <a:ext cx="2194560" cy="86868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cpe|exhibit|text|30"/>
          <p:cNvSpPr txBox="1"/>
          <p:nvPr/>
        </p:nvSpPr>
        <p:spPr>
          <a:xfrm>
            <a:off x="9248127" y="4551335"/>
            <a:ext cx="2084832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100"/>
              </a:spcAft>
            </a:pPr>
            <a:r>
              <a:rPr sz="1200" b="1">
                <a:solidFill>
                  <a:srgbClr val="1C2530"/>
                </a:solidFill>
                <a:latin typeface="Arial"/>
              </a:rPr>
              <a:t>Procurement</a:t>
            </a:r>
          </a:p>
          <a:p>
            <a:pPr algn="ctr">
              <a:lnSpc>
                <a:spcPct val="108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CPO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PROGRAMME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The target architecture adds a WMS and a routing engine on a common data layer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IT design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17</a:t>
            </a:r>
          </a:p>
        </p:txBody>
      </p:sp>
      <p:sp>
        <p:nvSpPr>
          <p:cNvPr id="6" name="cpe|exhibit|fill|5"/>
          <p:cNvSpPr/>
          <p:nvPr/>
        </p:nvSpPr>
        <p:spPr>
          <a:xfrm>
            <a:off x="502920" y="1481328"/>
            <a:ext cx="2103120" cy="1110996"/>
          </a:xfrm>
          <a:prstGeom prst="rect">
            <a:avLst/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cpe|exhibit|text|6"/>
          <p:cNvSpPr txBox="1"/>
          <p:nvPr/>
        </p:nvSpPr>
        <p:spPr>
          <a:xfrm>
            <a:off x="594360" y="1481328"/>
            <a:ext cx="1920240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Arial"/>
              </a:rPr>
              <a:t>Channels</a:t>
            </a:r>
          </a:p>
        </p:txBody>
      </p:sp>
      <p:sp>
        <p:nvSpPr>
          <p:cNvPr id="8" name="cpe|exhibit|fill|7"/>
          <p:cNvSpPr/>
          <p:nvPr/>
        </p:nvSpPr>
        <p:spPr>
          <a:xfrm>
            <a:off x="2697480" y="1481328"/>
            <a:ext cx="2734970" cy="1110996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cpe|exhibit|text|8"/>
          <p:cNvSpPr txBox="1"/>
          <p:nvPr/>
        </p:nvSpPr>
        <p:spPr>
          <a:xfrm>
            <a:off x="2752344" y="1481328"/>
            <a:ext cx="2625242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EDI</a:t>
            </a:r>
          </a:p>
        </p:txBody>
      </p:sp>
      <p:sp>
        <p:nvSpPr>
          <p:cNvPr id="10" name="cpe|exhibit|fill|9"/>
          <p:cNvSpPr/>
          <p:nvPr/>
        </p:nvSpPr>
        <p:spPr>
          <a:xfrm>
            <a:off x="5505602" y="1481328"/>
            <a:ext cx="2734970" cy="1110996"/>
          </a:xfrm>
          <a:prstGeom prst="rect">
            <a:avLst/>
          </a:prstGeom>
          <a:solidFill>
            <a:srgbClr val="EEF2F6"/>
          </a:solidFill>
          <a:ln w="19050">
            <a:solidFill>
              <a:srgbClr val="E08A0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pe|exhibit|text|10"/>
          <p:cNvSpPr txBox="1"/>
          <p:nvPr/>
        </p:nvSpPr>
        <p:spPr>
          <a:xfrm>
            <a:off x="5560466" y="1481328"/>
            <a:ext cx="2625242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Customer portal</a:t>
            </a:r>
          </a:p>
        </p:txBody>
      </p:sp>
      <p:sp>
        <p:nvSpPr>
          <p:cNvPr id="12" name="cpe|exhibit|fill|11"/>
          <p:cNvSpPr/>
          <p:nvPr/>
        </p:nvSpPr>
        <p:spPr>
          <a:xfrm>
            <a:off x="8313725" y="1481328"/>
            <a:ext cx="2734970" cy="1110996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cpe|exhibit|text|12"/>
          <p:cNvSpPr txBox="1"/>
          <p:nvPr/>
        </p:nvSpPr>
        <p:spPr>
          <a:xfrm>
            <a:off x="8368589" y="1481328"/>
            <a:ext cx="2625242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Call centre</a:t>
            </a:r>
          </a:p>
        </p:txBody>
      </p:sp>
      <p:sp>
        <p:nvSpPr>
          <p:cNvPr id="14" name="cpe|exhibit|fill|13"/>
          <p:cNvSpPr/>
          <p:nvPr/>
        </p:nvSpPr>
        <p:spPr>
          <a:xfrm>
            <a:off x="502920" y="2683764"/>
            <a:ext cx="2103120" cy="1110996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cpe|exhibit|text|14"/>
          <p:cNvSpPr txBox="1"/>
          <p:nvPr/>
        </p:nvSpPr>
        <p:spPr>
          <a:xfrm>
            <a:off x="594360" y="2683764"/>
            <a:ext cx="1920240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Arial"/>
              </a:rPr>
              <a:t>Applications</a:t>
            </a:r>
          </a:p>
        </p:txBody>
      </p:sp>
      <p:sp>
        <p:nvSpPr>
          <p:cNvPr id="16" name="cpe|exhibit|fill|15"/>
          <p:cNvSpPr/>
          <p:nvPr/>
        </p:nvSpPr>
        <p:spPr>
          <a:xfrm>
            <a:off x="2697480" y="2683764"/>
            <a:ext cx="2032940" cy="1110996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cpe|exhibit|text|16"/>
          <p:cNvSpPr txBox="1"/>
          <p:nvPr/>
        </p:nvSpPr>
        <p:spPr>
          <a:xfrm>
            <a:off x="2752344" y="2683764"/>
            <a:ext cx="1923212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ERP</a:t>
            </a:r>
          </a:p>
        </p:txBody>
      </p:sp>
      <p:sp>
        <p:nvSpPr>
          <p:cNvPr id="18" name="cpe|exhibit|fill|17"/>
          <p:cNvSpPr/>
          <p:nvPr/>
        </p:nvSpPr>
        <p:spPr>
          <a:xfrm>
            <a:off x="4803572" y="2683764"/>
            <a:ext cx="2032940" cy="1110996"/>
          </a:xfrm>
          <a:prstGeom prst="rect">
            <a:avLst/>
          </a:prstGeom>
          <a:solidFill>
            <a:srgbClr val="E08A00"/>
          </a:solidFill>
          <a:ln w="19050">
            <a:solidFill>
              <a:srgbClr val="E08A0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cpe|exhibit|text|18"/>
          <p:cNvSpPr txBox="1"/>
          <p:nvPr/>
        </p:nvSpPr>
        <p:spPr>
          <a:xfrm>
            <a:off x="4858436" y="2683764"/>
            <a:ext cx="1923212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WMS</a:t>
            </a:r>
          </a:p>
        </p:txBody>
      </p:sp>
      <p:sp>
        <p:nvSpPr>
          <p:cNvPr id="20" name="cpe|exhibit|fill|19"/>
          <p:cNvSpPr/>
          <p:nvPr/>
        </p:nvSpPr>
        <p:spPr>
          <a:xfrm>
            <a:off x="6909664" y="2683764"/>
            <a:ext cx="2032940" cy="1110996"/>
          </a:xfrm>
          <a:prstGeom prst="rect">
            <a:avLst/>
          </a:prstGeom>
          <a:solidFill>
            <a:srgbClr val="EEF2F6"/>
          </a:solidFill>
          <a:ln w="19050">
            <a:solidFill>
              <a:srgbClr val="E08A0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cpe|exhibit|text|20"/>
          <p:cNvSpPr txBox="1"/>
          <p:nvPr/>
        </p:nvSpPr>
        <p:spPr>
          <a:xfrm>
            <a:off x="6964528" y="2683764"/>
            <a:ext cx="1923212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Routing engine</a:t>
            </a:r>
          </a:p>
        </p:txBody>
      </p:sp>
      <p:sp>
        <p:nvSpPr>
          <p:cNvPr id="22" name="cpe|exhibit|fill|21"/>
          <p:cNvSpPr/>
          <p:nvPr/>
        </p:nvSpPr>
        <p:spPr>
          <a:xfrm>
            <a:off x="9015755" y="2683764"/>
            <a:ext cx="2032940" cy="1110996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cpe|exhibit|text|22"/>
          <p:cNvSpPr txBox="1"/>
          <p:nvPr/>
        </p:nvSpPr>
        <p:spPr>
          <a:xfrm>
            <a:off x="9070619" y="2683764"/>
            <a:ext cx="1923212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TMS</a:t>
            </a:r>
          </a:p>
        </p:txBody>
      </p:sp>
      <p:sp>
        <p:nvSpPr>
          <p:cNvPr id="24" name="cpe|exhibit|fill|23"/>
          <p:cNvSpPr/>
          <p:nvPr/>
        </p:nvSpPr>
        <p:spPr>
          <a:xfrm>
            <a:off x="502920" y="3886200"/>
            <a:ext cx="2103120" cy="1110996"/>
          </a:xfrm>
          <a:prstGeom prst="rect">
            <a:avLst/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cpe|exhibit|text|24"/>
          <p:cNvSpPr txBox="1"/>
          <p:nvPr/>
        </p:nvSpPr>
        <p:spPr>
          <a:xfrm>
            <a:off x="594360" y="3886200"/>
            <a:ext cx="1920240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Arial"/>
              </a:rPr>
              <a:t>Data</a:t>
            </a:r>
          </a:p>
        </p:txBody>
      </p:sp>
      <p:sp>
        <p:nvSpPr>
          <p:cNvPr id="26" name="cpe|exhibit|fill|25"/>
          <p:cNvSpPr/>
          <p:nvPr/>
        </p:nvSpPr>
        <p:spPr>
          <a:xfrm>
            <a:off x="2697480" y="3886200"/>
            <a:ext cx="4139032" cy="1110996"/>
          </a:xfrm>
          <a:prstGeom prst="rect">
            <a:avLst/>
          </a:prstGeom>
          <a:solidFill>
            <a:srgbClr val="EEF2F6"/>
          </a:solidFill>
          <a:ln w="19050">
            <a:solidFill>
              <a:srgbClr val="E08A00"/>
            </a:solidFill>
            <a:prstDash val="dash"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cpe|exhibit|text|26"/>
          <p:cNvSpPr txBox="1"/>
          <p:nvPr/>
        </p:nvSpPr>
        <p:spPr>
          <a:xfrm>
            <a:off x="2752344" y="3886200"/>
            <a:ext cx="4029304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Common data layer</a:t>
            </a:r>
          </a:p>
        </p:txBody>
      </p:sp>
      <p:sp>
        <p:nvSpPr>
          <p:cNvPr id="28" name="cpe|exhibit|fill|27"/>
          <p:cNvSpPr/>
          <p:nvPr/>
        </p:nvSpPr>
        <p:spPr>
          <a:xfrm>
            <a:off x="6909664" y="3886200"/>
            <a:ext cx="4139032" cy="1110996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cpe|exhibit|text|28"/>
          <p:cNvSpPr txBox="1"/>
          <p:nvPr/>
        </p:nvSpPr>
        <p:spPr>
          <a:xfrm>
            <a:off x="6964528" y="3886200"/>
            <a:ext cx="4029304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Reporting</a:t>
            </a:r>
          </a:p>
        </p:txBody>
      </p:sp>
      <p:sp>
        <p:nvSpPr>
          <p:cNvPr id="30" name="cpe|exhibit|fill|29"/>
          <p:cNvSpPr/>
          <p:nvPr/>
        </p:nvSpPr>
        <p:spPr>
          <a:xfrm>
            <a:off x="502920" y="5088636"/>
            <a:ext cx="2103120" cy="1110996"/>
          </a:xfrm>
          <a:prstGeom prst="rect">
            <a:avLst/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cpe|exhibit|text|30"/>
          <p:cNvSpPr txBox="1"/>
          <p:nvPr/>
        </p:nvSpPr>
        <p:spPr>
          <a:xfrm>
            <a:off x="594360" y="5088636"/>
            <a:ext cx="1920240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Arial"/>
              </a:rPr>
              <a:t>Infrastructure</a:t>
            </a:r>
          </a:p>
        </p:txBody>
      </p:sp>
      <p:sp>
        <p:nvSpPr>
          <p:cNvPr id="32" name="cpe|exhibit|fill|31"/>
          <p:cNvSpPr/>
          <p:nvPr/>
        </p:nvSpPr>
        <p:spPr>
          <a:xfrm>
            <a:off x="2697480" y="5088636"/>
            <a:ext cx="4139032" cy="1110996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cpe|exhibit|text|32"/>
          <p:cNvSpPr txBox="1"/>
          <p:nvPr/>
        </p:nvSpPr>
        <p:spPr>
          <a:xfrm>
            <a:off x="2752344" y="5088636"/>
            <a:ext cx="4029304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Cloud</a:t>
            </a:r>
          </a:p>
        </p:txBody>
      </p:sp>
      <p:sp>
        <p:nvSpPr>
          <p:cNvPr id="34" name="cpe|exhibit|fill|33"/>
          <p:cNvSpPr/>
          <p:nvPr/>
        </p:nvSpPr>
        <p:spPr>
          <a:xfrm>
            <a:off x="6909664" y="5088636"/>
            <a:ext cx="4139032" cy="1110996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cpe|exhibit|text|34"/>
          <p:cNvSpPr txBox="1"/>
          <p:nvPr/>
        </p:nvSpPr>
        <p:spPr>
          <a:xfrm>
            <a:off x="6964528" y="5088636"/>
            <a:ext cx="4029304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Hub automation controls</a:t>
            </a:r>
          </a:p>
        </p:txBody>
      </p:sp>
      <p:sp>
        <p:nvSpPr>
          <p:cNvPr id="36" name="cpe|exhibit|fill|35"/>
          <p:cNvSpPr/>
          <p:nvPr/>
        </p:nvSpPr>
        <p:spPr>
          <a:xfrm>
            <a:off x="11121847" y="1481328"/>
            <a:ext cx="566928" cy="4718304"/>
          </a:xfrm>
          <a:prstGeom prst="rect">
            <a:avLst/>
          </a:prstGeom>
          <a:solidFill>
            <a:srgbClr val="F4F6F9"/>
          </a:solidFill>
          <a:ln w="6350">
            <a:solidFill>
              <a:srgbClr val="B6C0CB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cpe|exhibit|vtext|36"/>
          <p:cNvSpPr txBox="1"/>
          <p:nvPr/>
        </p:nvSpPr>
        <p:spPr>
          <a:xfrm>
            <a:off x="11121847" y="1572768"/>
            <a:ext cx="566928" cy="4535424"/>
          </a:xfrm>
          <a:prstGeom prst="rect">
            <a:avLst/>
          </a:prstGeom>
          <a:noFill/>
        </p:spPr>
        <p:txBody>
          <a:bodyPr wrap="square" lIns="0" rIns="0" tIns="0" bIns="0" anchor="ctr" vert="vert27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1C2530"/>
                </a:solidFill>
                <a:latin typeface="Arial"/>
              </a:rPr>
              <a:t>Security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PROGRAMME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Three phases move from quick wins to structural change within 24 months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Programme plan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18</a:t>
            </a:r>
          </a:p>
        </p:txBody>
      </p:sp>
      <p:sp>
        <p:nvSpPr>
          <p:cNvPr id="6" name="cpe|col_1|text|5"/>
          <p:cNvSpPr txBox="1"/>
          <p:nvPr/>
        </p:nvSpPr>
        <p:spPr>
          <a:xfrm>
            <a:off x="502920" y="1774005"/>
            <a:ext cx="3594506" cy="49377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3294B"/>
                </a:solidFill>
                <a:latin typeface="Arial"/>
              </a:rPr>
              <a:t>Phase 1 · Quick wins</a:t>
            </a:r>
          </a:p>
        </p:txBody>
      </p:sp>
      <p:cxnSp>
        <p:nvCxnSpPr>
          <p:cNvPr id="7" name="cpe|col_1|line|6"/>
          <p:cNvCxnSpPr/>
          <p:nvPr/>
        </p:nvCxnSpPr>
        <p:spPr>
          <a:xfrm>
            <a:off x="502920" y="2340933"/>
            <a:ext cx="3594506" cy="0"/>
          </a:xfrm>
          <a:prstGeom prst="line">
            <a:avLst/>
          </a:prstGeom>
          <a:ln w="19050">
            <a:solidFill>
              <a:srgbClr val="13294B"/>
            </a:solidFill>
          </a:ln>
        </p:spPr>
      </p:cxnSp>
      <p:sp>
        <p:nvSpPr>
          <p:cNvPr id="8" name="cpe|col_1|text|7"/>
          <p:cNvSpPr txBox="1"/>
          <p:nvPr/>
        </p:nvSpPr>
        <p:spPr>
          <a:xfrm>
            <a:off x="502920" y="2569533"/>
            <a:ext cx="3594506" cy="5532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650" b="1">
                <a:solidFill>
                  <a:srgbClr val="13294B"/>
                </a:solidFill>
                <a:latin typeface="Arial"/>
              </a:rPr>
              <a:t>€11M</a:t>
            </a:r>
          </a:p>
        </p:txBody>
      </p:sp>
      <p:sp>
        <p:nvSpPr>
          <p:cNvPr id="9" name="cpe|col_1|text|8"/>
          <p:cNvSpPr txBox="1"/>
          <p:nvPr/>
        </p:nvSpPr>
        <p:spPr>
          <a:xfrm>
            <a:off x="502920" y="3122745"/>
            <a:ext cx="3594506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6776"/>
                </a:solidFill>
                <a:latin typeface="Arial"/>
              </a:rPr>
              <a:t>run-rate by Q4 2026</a:t>
            </a:r>
          </a:p>
        </p:txBody>
      </p:sp>
      <p:sp>
        <p:nvSpPr>
          <p:cNvPr id="10" name="cpe|col_1|text|9"/>
          <p:cNvSpPr txBox="1"/>
          <p:nvPr/>
        </p:nvSpPr>
        <p:spPr>
          <a:xfrm>
            <a:off x="502920" y="3488505"/>
            <a:ext cx="3594506" cy="229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C2530"/>
                </a:solidFill>
                <a:latin typeface="Arial"/>
              </a:rPr>
              <a:t>Fund the programme</a:t>
            </a:r>
          </a:p>
        </p:txBody>
      </p:sp>
      <p:sp>
        <p:nvSpPr>
          <p:cNvPr id="11" name="cpe|col_1|text|10"/>
          <p:cNvSpPr txBox="1"/>
          <p:nvPr/>
        </p:nvSpPr>
        <p:spPr>
          <a:xfrm>
            <a:off x="502920" y="3818832"/>
            <a:ext cx="3594506" cy="15852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66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300" b="0">
                <a:solidFill>
                  <a:srgbClr val="1C2530"/>
                </a:solidFill>
                <a:latin typeface="Arial"/>
              </a:rPr>
              <a:t>Customer terms reset</a:t>
            </a:r>
          </a:p>
          <a:p>
            <a:pPr algn="l" marL="155448" indent="-155448">
              <a:lnSpc>
                <a:spcPct val="108000"/>
              </a:lnSpc>
              <a:spcAft>
                <a:spcPts val="66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300" b="0">
                <a:solidFill>
                  <a:srgbClr val="1C2530"/>
                </a:solidFill>
                <a:latin typeface="Arial"/>
              </a:rPr>
              <a:t>Transport tender</a:t>
            </a:r>
          </a:p>
          <a:p>
            <a:pPr algn="l" marL="155448" indent="-155448">
              <a:lnSpc>
                <a:spcPct val="108000"/>
              </a:lnSpc>
              <a:spcAft>
                <a:spcPts val="66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300" b="0">
                <a:solidFill>
                  <a:srgbClr val="1C2530"/>
                </a:solidFill>
                <a:latin typeface="Arial"/>
              </a:rPr>
              <a:t>Overtime controls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300" b="0">
                <a:solidFill>
                  <a:srgbClr val="1C2530"/>
                </a:solidFill>
                <a:latin typeface="Arial"/>
              </a:rPr>
              <a:t>Self-funding by Q4 2026</a:t>
            </a:r>
          </a:p>
        </p:txBody>
      </p:sp>
      <p:sp>
        <p:nvSpPr>
          <p:cNvPr id="12" name="cpe|col_2|fill|11"/>
          <p:cNvSpPr/>
          <p:nvPr/>
        </p:nvSpPr>
        <p:spPr>
          <a:xfrm>
            <a:off x="4298594" y="1774005"/>
            <a:ext cx="3594506" cy="566928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cpe|col_2|text|12"/>
          <p:cNvSpPr txBox="1"/>
          <p:nvPr/>
        </p:nvSpPr>
        <p:spPr>
          <a:xfrm>
            <a:off x="4435754" y="1774005"/>
            <a:ext cx="3320186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FFFFF"/>
                </a:solidFill>
                <a:latin typeface="Arial"/>
              </a:rPr>
              <a:t>Phase 2 · Automation</a:t>
            </a:r>
          </a:p>
        </p:txBody>
      </p:sp>
      <p:sp>
        <p:nvSpPr>
          <p:cNvPr id="14" name="cpe|col_2|text|13"/>
          <p:cNvSpPr txBox="1"/>
          <p:nvPr/>
        </p:nvSpPr>
        <p:spPr>
          <a:xfrm>
            <a:off x="4298594" y="2569533"/>
            <a:ext cx="3594506" cy="5532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650" b="1">
                <a:solidFill>
                  <a:srgbClr val="13294B"/>
                </a:solidFill>
                <a:latin typeface="Arial"/>
              </a:rPr>
              <a:t>€13M</a:t>
            </a:r>
          </a:p>
        </p:txBody>
      </p:sp>
      <p:sp>
        <p:nvSpPr>
          <p:cNvPr id="15" name="cpe|col_2|text|14"/>
          <p:cNvSpPr txBox="1"/>
          <p:nvPr/>
        </p:nvSpPr>
        <p:spPr>
          <a:xfrm>
            <a:off x="4298594" y="3122745"/>
            <a:ext cx="3594506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6776"/>
                </a:solidFill>
                <a:latin typeface="Arial"/>
              </a:rPr>
              <a:t>run-rate by Q3 2027</a:t>
            </a:r>
          </a:p>
        </p:txBody>
      </p:sp>
      <p:sp>
        <p:nvSpPr>
          <p:cNvPr id="16" name="cpe|col_2|text|15"/>
          <p:cNvSpPr txBox="1"/>
          <p:nvPr/>
        </p:nvSpPr>
        <p:spPr>
          <a:xfrm>
            <a:off x="4298594" y="3488505"/>
            <a:ext cx="3594506" cy="229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C2530"/>
                </a:solidFill>
                <a:latin typeface="Arial"/>
              </a:rPr>
              <a:t>Fix the hubs</a:t>
            </a:r>
          </a:p>
        </p:txBody>
      </p:sp>
      <p:sp>
        <p:nvSpPr>
          <p:cNvPr id="17" name="cpe|col_2|text|16"/>
          <p:cNvSpPr txBox="1"/>
          <p:nvPr/>
        </p:nvSpPr>
        <p:spPr>
          <a:xfrm>
            <a:off x="4298594" y="3818832"/>
            <a:ext cx="3594506" cy="15852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66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300" b="0">
                <a:solidFill>
                  <a:srgbClr val="1C2530"/>
                </a:solidFill>
                <a:latin typeface="Arial"/>
              </a:rPr>
              <a:t>Goods-to-person in 2 hubs</a:t>
            </a:r>
          </a:p>
          <a:p>
            <a:pPr algn="l" marL="155448" indent="-155448">
              <a:lnSpc>
                <a:spcPct val="108000"/>
              </a:lnSpc>
              <a:spcAft>
                <a:spcPts val="66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300" b="0">
                <a:solidFill>
                  <a:srgbClr val="1C2530"/>
                </a:solidFill>
                <a:latin typeface="Arial"/>
              </a:rPr>
              <a:t>WMS go-live</a:t>
            </a:r>
          </a:p>
          <a:p>
            <a:pPr algn="l" marL="155448" indent="-155448">
              <a:lnSpc>
                <a:spcPct val="108000"/>
              </a:lnSpc>
              <a:spcAft>
                <a:spcPts val="66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300" b="0">
                <a:solidFill>
                  <a:srgbClr val="1C2530"/>
                </a:solidFill>
                <a:latin typeface="Arial"/>
              </a:rPr>
              <a:t>Pick accuracy &gt; 99.7%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300" b="0">
                <a:solidFill>
                  <a:srgbClr val="1C2530"/>
                </a:solidFill>
                <a:latin typeface="Arial"/>
              </a:rPr>
              <a:t>Capex €22M, payback 19 months</a:t>
            </a:r>
          </a:p>
        </p:txBody>
      </p:sp>
      <p:sp>
        <p:nvSpPr>
          <p:cNvPr id="18" name="cpe|col_3|text|17"/>
          <p:cNvSpPr txBox="1"/>
          <p:nvPr/>
        </p:nvSpPr>
        <p:spPr>
          <a:xfrm>
            <a:off x="8094269" y="1774005"/>
            <a:ext cx="3594506" cy="49377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3294B"/>
                </a:solidFill>
                <a:latin typeface="Arial"/>
              </a:rPr>
              <a:t>Phase 3 · Network</a:t>
            </a:r>
          </a:p>
        </p:txBody>
      </p:sp>
      <p:cxnSp>
        <p:nvCxnSpPr>
          <p:cNvPr id="19" name="cpe|col_3|line|18"/>
          <p:cNvCxnSpPr/>
          <p:nvPr/>
        </p:nvCxnSpPr>
        <p:spPr>
          <a:xfrm>
            <a:off x="8094269" y="2340933"/>
            <a:ext cx="3594506" cy="0"/>
          </a:xfrm>
          <a:prstGeom prst="line">
            <a:avLst/>
          </a:prstGeom>
          <a:ln w="19050">
            <a:solidFill>
              <a:srgbClr val="13294B"/>
            </a:solidFill>
          </a:ln>
        </p:spPr>
      </p:cxnSp>
      <p:sp>
        <p:nvSpPr>
          <p:cNvPr id="20" name="cpe|col_3|text|19"/>
          <p:cNvSpPr txBox="1"/>
          <p:nvPr/>
        </p:nvSpPr>
        <p:spPr>
          <a:xfrm>
            <a:off x="8094269" y="2569533"/>
            <a:ext cx="3594506" cy="5532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650" b="1">
                <a:solidFill>
                  <a:srgbClr val="13294B"/>
                </a:solidFill>
                <a:latin typeface="Arial"/>
              </a:rPr>
              <a:t>€17M</a:t>
            </a:r>
          </a:p>
        </p:txBody>
      </p:sp>
      <p:sp>
        <p:nvSpPr>
          <p:cNvPr id="21" name="cpe|col_3|text|20"/>
          <p:cNvSpPr txBox="1"/>
          <p:nvPr/>
        </p:nvSpPr>
        <p:spPr>
          <a:xfrm>
            <a:off x="8094269" y="3122745"/>
            <a:ext cx="3594506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6776"/>
                </a:solidFill>
                <a:latin typeface="Arial"/>
              </a:rPr>
              <a:t>run-rate by Q4 2027</a:t>
            </a:r>
          </a:p>
        </p:txBody>
      </p:sp>
      <p:sp>
        <p:nvSpPr>
          <p:cNvPr id="22" name="cpe|col_3|text|21"/>
          <p:cNvSpPr txBox="1"/>
          <p:nvPr/>
        </p:nvSpPr>
        <p:spPr>
          <a:xfrm>
            <a:off x="8094269" y="3488505"/>
            <a:ext cx="3594506" cy="229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C2530"/>
                </a:solidFill>
                <a:latin typeface="Arial"/>
              </a:rPr>
              <a:t>Redesign the network</a:t>
            </a:r>
          </a:p>
        </p:txBody>
      </p:sp>
      <p:sp>
        <p:nvSpPr>
          <p:cNvPr id="23" name="cpe|col_3|text|22"/>
          <p:cNvSpPr txBox="1"/>
          <p:nvPr/>
        </p:nvSpPr>
        <p:spPr>
          <a:xfrm>
            <a:off x="8094269" y="3818832"/>
            <a:ext cx="3594506" cy="15852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66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300" b="0">
                <a:solidFill>
                  <a:srgbClr val="1C2530"/>
                </a:solidFill>
                <a:latin typeface="Arial"/>
              </a:rPr>
              <a:t>Close 5 depots</a:t>
            </a:r>
          </a:p>
          <a:p>
            <a:pPr algn="l" marL="155448" indent="-155448">
              <a:lnSpc>
                <a:spcPct val="108000"/>
              </a:lnSpc>
              <a:spcAft>
                <a:spcPts val="66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300" b="0">
                <a:solidFill>
                  <a:srgbClr val="1C2530"/>
                </a:solidFill>
                <a:latin typeface="Arial"/>
              </a:rPr>
              <a:t>Two new cross-docks</a:t>
            </a:r>
          </a:p>
          <a:p>
            <a:pPr algn="l" marL="155448" indent="-155448">
              <a:lnSpc>
                <a:spcPct val="108000"/>
              </a:lnSpc>
              <a:spcAft>
                <a:spcPts val="66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300" b="0">
                <a:solidFill>
                  <a:srgbClr val="1C2530"/>
                </a:solidFill>
                <a:latin typeface="Arial"/>
              </a:rPr>
              <a:t>Dynamic routing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300" b="0">
                <a:solidFill>
                  <a:srgbClr val="1C2530"/>
                </a:solidFill>
                <a:latin typeface="Arial"/>
              </a:rPr>
              <a:t>Needs works-council agreement</a:t>
            </a:r>
          </a:p>
        </p:txBody>
      </p:sp>
      <p:sp>
        <p:nvSpPr>
          <p:cNvPr id="24" name="cpe|takeaway|fill|23"/>
          <p:cNvSpPr/>
          <p:nvPr/>
        </p:nvSpPr>
        <p:spPr>
          <a:xfrm>
            <a:off x="502920" y="5632704"/>
            <a:ext cx="11185855" cy="566928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cpe|takeaway|fill|24"/>
          <p:cNvSpPr/>
          <p:nvPr/>
        </p:nvSpPr>
        <p:spPr>
          <a:xfrm>
            <a:off x="502920" y="5632704"/>
            <a:ext cx="64008" cy="566928"/>
          </a:xfrm>
          <a:prstGeom prst="rect">
            <a:avLst/>
          </a:prstGeom>
          <a:solidFill>
            <a:srgbClr val="E08A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cpe|takeaway|text|25"/>
          <p:cNvSpPr txBox="1"/>
          <p:nvPr/>
        </p:nvSpPr>
        <p:spPr>
          <a:xfrm>
            <a:off x="795528" y="5632704"/>
            <a:ext cx="10664647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3294B"/>
                </a:solidFill>
                <a:latin typeface="Arial"/>
              </a:rPr>
              <a:t>Phase 1 savings fund phase 2, and phases 1-2 de-risk the network redesign before any depot closes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PROGRAMME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Five milestones gate the programme; the WMS go-live in Q2 2027 is the critical one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Programme plan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19</a:t>
            </a:r>
          </a:p>
        </p:txBody>
      </p:sp>
      <p:cxnSp>
        <p:nvCxnSpPr>
          <p:cNvPr id="6" name="cpe|exhibit|line|5"/>
          <p:cNvCxnSpPr/>
          <p:nvPr/>
        </p:nvCxnSpPr>
        <p:spPr>
          <a:xfrm>
            <a:off x="502920" y="3153308"/>
            <a:ext cx="11185855" cy="0"/>
          </a:xfrm>
          <a:prstGeom prst="line">
            <a:avLst/>
          </a:prstGeom>
          <a:ln w="19050">
            <a:solidFill>
              <a:srgbClr val="B6C0CB"/>
            </a:solidFill>
          </a:ln>
        </p:spPr>
      </p:cxnSp>
      <p:sp>
        <p:nvSpPr>
          <p:cNvPr id="7" name="cpe|exhibit|marker|6"/>
          <p:cNvSpPr/>
          <p:nvPr/>
        </p:nvSpPr>
        <p:spPr>
          <a:xfrm>
            <a:off x="1552926" y="3084728"/>
            <a:ext cx="137160" cy="1371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8" name="cpe|exhibit|line|7"/>
          <p:cNvCxnSpPr/>
          <p:nvPr/>
        </p:nvCxnSpPr>
        <p:spPr>
          <a:xfrm flipV="1">
            <a:off x="1621506" y="2952140"/>
            <a:ext cx="0" cy="132588"/>
          </a:xfrm>
          <a:prstGeom prst="line">
            <a:avLst/>
          </a:prstGeom>
          <a:ln w="6350">
            <a:solidFill>
              <a:srgbClr val="B6C0CB"/>
            </a:solidFill>
          </a:ln>
        </p:spPr>
      </p:cxnSp>
      <p:sp>
        <p:nvSpPr>
          <p:cNvPr id="9" name="cpe|exhibit|text|8"/>
          <p:cNvSpPr txBox="1"/>
          <p:nvPr/>
        </p:nvSpPr>
        <p:spPr>
          <a:xfrm>
            <a:off x="548640" y="2650388"/>
            <a:ext cx="2145731" cy="27432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13294B"/>
                </a:solidFill>
                <a:latin typeface="Arial"/>
              </a:rPr>
              <a:t>Oct 2026</a:t>
            </a:r>
          </a:p>
        </p:txBody>
      </p:sp>
      <p:sp>
        <p:nvSpPr>
          <p:cNvPr id="10" name="cpe|exhibit|text|9"/>
          <p:cNvSpPr txBox="1"/>
          <p:nvPr/>
        </p:nvSpPr>
        <p:spPr>
          <a:xfrm>
            <a:off x="548640" y="1481328"/>
            <a:ext cx="2145731" cy="116906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100" b="0">
                <a:solidFill>
                  <a:srgbClr val="1C2530"/>
                </a:solidFill>
                <a:latin typeface="Arial"/>
              </a:rPr>
              <a:t>New customer terms live</a:t>
            </a:r>
          </a:p>
          <a:p>
            <a:pPr algn="ctr">
              <a:lnSpc>
                <a:spcPct val="108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Owner: Sales director · unlocks €3M of savings in 2026</a:t>
            </a:r>
          </a:p>
        </p:txBody>
      </p:sp>
      <p:sp>
        <p:nvSpPr>
          <p:cNvPr id="11" name="cpe|exhibit|marker|10"/>
          <p:cNvSpPr/>
          <p:nvPr/>
        </p:nvSpPr>
        <p:spPr>
          <a:xfrm>
            <a:off x="3790097" y="3084728"/>
            <a:ext cx="137160" cy="1371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2" name="cpe|exhibit|line|11"/>
          <p:cNvCxnSpPr/>
          <p:nvPr/>
        </p:nvCxnSpPr>
        <p:spPr>
          <a:xfrm>
            <a:off x="3858677" y="3221888"/>
            <a:ext cx="0" cy="132588"/>
          </a:xfrm>
          <a:prstGeom prst="line">
            <a:avLst/>
          </a:prstGeom>
          <a:ln w="6350">
            <a:solidFill>
              <a:srgbClr val="B6C0CB"/>
            </a:solidFill>
          </a:ln>
        </p:spPr>
      </p:cxnSp>
      <p:sp>
        <p:nvSpPr>
          <p:cNvPr id="13" name="cpe|exhibit|text|12"/>
          <p:cNvSpPr txBox="1"/>
          <p:nvPr/>
        </p:nvSpPr>
        <p:spPr>
          <a:xfrm>
            <a:off x="2785811" y="3381908"/>
            <a:ext cx="214573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13294B"/>
                </a:solidFill>
                <a:latin typeface="Arial"/>
              </a:rPr>
              <a:t>Dec 2026</a:t>
            </a:r>
          </a:p>
        </p:txBody>
      </p:sp>
      <p:sp>
        <p:nvSpPr>
          <p:cNvPr id="14" name="cpe|exhibit|text|13"/>
          <p:cNvSpPr txBox="1"/>
          <p:nvPr/>
        </p:nvSpPr>
        <p:spPr>
          <a:xfrm>
            <a:off x="2785811" y="3656228"/>
            <a:ext cx="2145731" cy="11690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100" b="0">
                <a:solidFill>
                  <a:srgbClr val="1C2530"/>
                </a:solidFill>
                <a:latin typeface="Arial"/>
              </a:rPr>
              <a:t>Transport tender awarded</a:t>
            </a:r>
          </a:p>
          <a:p>
            <a:pPr algn="ctr">
              <a:lnSpc>
                <a:spcPct val="108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Owner: CPO · rates fixed for 2027-28</a:t>
            </a:r>
          </a:p>
        </p:txBody>
      </p:sp>
      <p:sp>
        <p:nvSpPr>
          <p:cNvPr id="15" name="cpe|exhibit|marker|14"/>
          <p:cNvSpPr/>
          <p:nvPr/>
        </p:nvSpPr>
        <p:spPr>
          <a:xfrm>
            <a:off x="6027268" y="3084728"/>
            <a:ext cx="137160" cy="1371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6" name="cpe|exhibit|line|15"/>
          <p:cNvCxnSpPr/>
          <p:nvPr/>
        </p:nvCxnSpPr>
        <p:spPr>
          <a:xfrm flipV="1">
            <a:off x="6095848" y="2952140"/>
            <a:ext cx="0" cy="132588"/>
          </a:xfrm>
          <a:prstGeom prst="line">
            <a:avLst/>
          </a:prstGeom>
          <a:ln w="6350">
            <a:solidFill>
              <a:srgbClr val="B6C0CB"/>
            </a:solidFill>
          </a:ln>
        </p:spPr>
      </p:cxnSp>
      <p:sp>
        <p:nvSpPr>
          <p:cNvPr id="17" name="cpe|exhibit|text|16"/>
          <p:cNvSpPr txBox="1"/>
          <p:nvPr/>
        </p:nvSpPr>
        <p:spPr>
          <a:xfrm>
            <a:off x="5022982" y="2650388"/>
            <a:ext cx="2145731" cy="27432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13294B"/>
                </a:solidFill>
                <a:latin typeface="Arial"/>
              </a:rPr>
              <a:t>Mar 2027</a:t>
            </a:r>
          </a:p>
        </p:txBody>
      </p:sp>
      <p:sp>
        <p:nvSpPr>
          <p:cNvPr id="18" name="cpe|exhibit|text|17"/>
          <p:cNvSpPr txBox="1"/>
          <p:nvPr/>
        </p:nvSpPr>
        <p:spPr>
          <a:xfrm>
            <a:off x="5022982" y="1481328"/>
            <a:ext cx="2145731" cy="116906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100" b="0">
                <a:solidFill>
                  <a:srgbClr val="1C2530"/>
                </a:solidFill>
                <a:latin typeface="Arial"/>
              </a:rPr>
              <a:t>Hub 1 automation commissioned</a:t>
            </a:r>
          </a:p>
          <a:p>
            <a:pPr algn="ctr">
              <a:lnSpc>
                <a:spcPct val="108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Owner: Head of hubs · first goods-to-person hub</a:t>
            </a:r>
          </a:p>
        </p:txBody>
      </p:sp>
      <p:sp>
        <p:nvSpPr>
          <p:cNvPr id="19" name="cpe|exhibit|marker|18"/>
          <p:cNvSpPr/>
          <p:nvPr/>
        </p:nvSpPr>
        <p:spPr>
          <a:xfrm>
            <a:off x="8241579" y="3061868"/>
            <a:ext cx="182880" cy="182880"/>
          </a:xfrm>
          <a:prstGeom prst="ellipse">
            <a:avLst/>
          </a:prstGeom>
          <a:solidFill>
            <a:srgbClr val="E08A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20" name="cpe|exhibit|line|19"/>
          <p:cNvCxnSpPr/>
          <p:nvPr/>
        </p:nvCxnSpPr>
        <p:spPr>
          <a:xfrm>
            <a:off x="8333019" y="3244748"/>
            <a:ext cx="0" cy="109728"/>
          </a:xfrm>
          <a:prstGeom prst="line">
            <a:avLst/>
          </a:prstGeom>
          <a:ln w="6350">
            <a:solidFill>
              <a:srgbClr val="B6C0CB"/>
            </a:solidFill>
          </a:ln>
        </p:spPr>
      </p:cxnSp>
      <p:sp>
        <p:nvSpPr>
          <p:cNvPr id="21" name="cpe|exhibit|text|20"/>
          <p:cNvSpPr txBox="1"/>
          <p:nvPr/>
        </p:nvSpPr>
        <p:spPr>
          <a:xfrm>
            <a:off x="7260153" y="3381908"/>
            <a:ext cx="214573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13294B"/>
                </a:solidFill>
                <a:latin typeface="Arial"/>
              </a:rPr>
              <a:t>Jun 2027</a:t>
            </a:r>
          </a:p>
        </p:txBody>
      </p:sp>
      <p:sp>
        <p:nvSpPr>
          <p:cNvPr id="22" name="cpe|exhibit|text|21"/>
          <p:cNvSpPr txBox="1"/>
          <p:nvPr/>
        </p:nvSpPr>
        <p:spPr>
          <a:xfrm>
            <a:off x="7260153" y="3656228"/>
            <a:ext cx="2145731" cy="11690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100" b="1">
                <a:solidFill>
                  <a:srgbClr val="1C2530"/>
                </a:solidFill>
                <a:latin typeface="Arial"/>
              </a:rPr>
              <a:t>WMS go-live (critical path)</a:t>
            </a:r>
          </a:p>
          <a:p>
            <a:pPr algn="ctr">
              <a:lnSpc>
                <a:spcPct val="108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Owner: CIO · gates hub 2 and €13M of savings</a:t>
            </a:r>
          </a:p>
        </p:txBody>
      </p:sp>
      <p:sp>
        <p:nvSpPr>
          <p:cNvPr id="23" name="cpe|exhibit|marker|22"/>
          <p:cNvSpPr/>
          <p:nvPr/>
        </p:nvSpPr>
        <p:spPr>
          <a:xfrm>
            <a:off x="10501610" y="3084728"/>
            <a:ext cx="137160" cy="1371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24" name="cpe|exhibit|line|23"/>
          <p:cNvCxnSpPr/>
          <p:nvPr/>
        </p:nvCxnSpPr>
        <p:spPr>
          <a:xfrm flipV="1">
            <a:off x="10570190" y="2952140"/>
            <a:ext cx="0" cy="132588"/>
          </a:xfrm>
          <a:prstGeom prst="line">
            <a:avLst/>
          </a:prstGeom>
          <a:ln w="6350">
            <a:solidFill>
              <a:srgbClr val="B6C0CB"/>
            </a:solidFill>
          </a:ln>
        </p:spPr>
      </p:cxnSp>
      <p:sp>
        <p:nvSpPr>
          <p:cNvPr id="25" name="cpe|exhibit|text|24"/>
          <p:cNvSpPr txBox="1"/>
          <p:nvPr/>
        </p:nvSpPr>
        <p:spPr>
          <a:xfrm>
            <a:off x="9497324" y="2650388"/>
            <a:ext cx="2145731" cy="27432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13294B"/>
                </a:solidFill>
                <a:latin typeface="Arial"/>
              </a:rPr>
              <a:t>Dec 2027</a:t>
            </a:r>
          </a:p>
        </p:txBody>
      </p:sp>
      <p:sp>
        <p:nvSpPr>
          <p:cNvPr id="26" name="cpe|exhibit|text|25"/>
          <p:cNvSpPr txBox="1"/>
          <p:nvPr/>
        </p:nvSpPr>
        <p:spPr>
          <a:xfrm>
            <a:off x="9497324" y="1481328"/>
            <a:ext cx="2145731" cy="116906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100" b="0">
                <a:solidFill>
                  <a:srgbClr val="1C2530"/>
                </a:solidFill>
                <a:latin typeface="Arial"/>
              </a:rPr>
              <a:t>Network: 5 depots closed</a:t>
            </a:r>
          </a:p>
          <a:p>
            <a:pPr algn="ctr">
              <a:lnSpc>
                <a:spcPct val="108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Owner: Head of logistics · €17M run-rate</a:t>
            </a:r>
          </a:p>
        </p:txBody>
      </p:sp>
      <p:sp>
        <p:nvSpPr>
          <p:cNvPr id="27" name="cpe|commentary|text|26"/>
          <p:cNvSpPr txBox="1"/>
          <p:nvPr/>
        </p:nvSpPr>
        <p:spPr>
          <a:xfrm>
            <a:off x="502920" y="5317236"/>
            <a:ext cx="11185855" cy="196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3294B"/>
                </a:solidFill>
                <a:latin typeface="Arial"/>
              </a:rPr>
              <a:t>Why June 2027 matters</a:t>
            </a:r>
          </a:p>
        </p:txBody>
      </p:sp>
      <p:cxnSp>
        <p:nvCxnSpPr>
          <p:cNvPr id="28" name="cpe|commentary|line|27"/>
          <p:cNvCxnSpPr/>
          <p:nvPr/>
        </p:nvCxnSpPr>
        <p:spPr>
          <a:xfrm>
            <a:off x="502920" y="5568696"/>
            <a:ext cx="11185855" cy="0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29" name="cpe|commentary|text|28"/>
          <p:cNvSpPr txBox="1"/>
          <p:nvPr/>
        </p:nvSpPr>
        <p:spPr>
          <a:xfrm>
            <a:off x="502920" y="5705856"/>
            <a:ext cx="359450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The </a:t>
            </a:r>
            <a:r>
              <a:rPr sz="1200" b="1">
                <a:solidFill>
                  <a:srgbClr val="1C2530"/>
                </a:solidFill>
                <a:latin typeface="Arial"/>
              </a:rPr>
              <a:t>WMS go-live</a:t>
            </a:r>
            <a:r>
              <a:rPr sz="1200" b="0">
                <a:solidFill>
                  <a:srgbClr val="1C2530"/>
                </a:solidFill>
                <a:latin typeface="Arial"/>
              </a:rPr>
              <a:t> gates hub automation and €13M of savings</a:t>
            </a:r>
          </a:p>
        </p:txBody>
      </p:sp>
      <p:sp>
        <p:nvSpPr>
          <p:cNvPr id="30" name="cpe|commentary|text|29"/>
          <p:cNvSpPr txBox="1"/>
          <p:nvPr/>
        </p:nvSpPr>
        <p:spPr>
          <a:xfrm>
            <a:off x="4298594" y="5705856"/>
            <a:ext cx="359450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A one-quarter slip defers </a:t>
            </a:r>
            <a:r>
              <a:rPr sz="1200" b="1">
                <a:solidFill>
                  <a:srgbClr val="1C2530"/>
                </a:solidFill>
                <a:latin typeface="Arial"/>
              </a:rPr>
              <a:t>€3.5M</a:t>
            </a:r>
            <a:r>
              <a:rPr sz="1200" b="0">
                <a:solidFill>
                  <a:srgbClr val="1C2530"/>
                </a:solidFill>
                <a:latin typeface="Arial"/>
              </a:rPr>
              <a:t> of run-rate savings</a:t>
            </a:r>
          </a:p>
        </p:txBody>
      </p:sp>
      <p:sp>
        <p:nvSpPr>
          <p:cNvPr id="31" name="cpe|commentary|text|30"/>
          <p:cNvSpPr txBox="1"/>
          <p:nvPr/>
        </p:nvSpPr>
        <p:spPr>
          <a:xfrm>
            <a:off x="8094269" y="5705856"/>
            <a:ext cx="359450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Mitigation: parallel data migration and a frozen scope from Q4 2026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text|bleed|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cpe|text|text|2"/>
          <p:cNvSpPr txBox="1"/>
          <p:nvPr/>
        </p:nvSpPr>
        <p:spPr>
          <a:xfrm>
            <a:off x="502920" y="224028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CC8005"/>
                </a:solidFill>
                <a:latin typeface="Arial"/>
              </a:rPr>
              <a:t>03</a:t>
            </a:r>
          </a:p>
        </p:txBody>
      </p:sp>
      <p:sp>
        <p:nvSpPr>
          <p:cNvPr id="4" name="cpe|text|text|3"/>
          <p:cNvSpPr txBox="1"/>
          <p:nvPr/>
        </p:nvSpPr>
        <p:spPr>
          <a:xfrm>
            <a:off x="502920" y="2880360"/>
            <a:ext cx="9288018" cy="1463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Arial"/>
              </a:rPr>
              <a:t>Value and decision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VALUE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Three of four initiatives are on track; automation is amber on supplier lead times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Programme tracker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21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Initiative status, September 2026</a:t>
            </a:r>
          </a:p>
        </p:txBody>
      </p:sp>
      <p:graphicFrame>
        <p:nvGraphicFramePr>
          <p:cNvPr id="7" name="cpe|exhibit|table|6"/>
          <p:cNvGraphicFramePr>
            <a:graphicFrameLocks noGrp="1"/>
          </p:cNvGraphicFramePr>
          <p:nvPr/>
        </p:nvGraphicFramePr>
        <p:xfrm>
          <a:off x="502920" y="1901952"/>
          <a:ext cx="11185854" cy="4297679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43200"/>
                <a:gridCol w="2025369"/>
                <a:gridCol w="1041815"/>
                <a:gridCol w="1041815"/>
                <a:gridCol w="1041815"/>
                <a:gridCol w="3291840"/>
              </a:tblGrid>
              <a:tr h="52349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Initiative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3294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Owner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3294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Savings to date (€M)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3294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Target 2027 (€M)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3294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3294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Comment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3294B"/>
                      </a:solidFill>
                      <a:prstDash val="solid"/>
                    </a:lnB>
                    <a:noFill/>
                  </a:tcPr>
                </a:tc>
              </a:tr>
              <a:tr h="754837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Customer terms reset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Sales director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3.2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Signed with 60% of accounts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</a:tr>
              <a:tr h="754837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Transport procurement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CPO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2.1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Tender closes in December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</a:tr>
              <a:tr h="754837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Hub automation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Head of hubs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Supplier lead time +6 weeks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</a:tr>
              <a:tr h="754837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Network redesign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Head of logistics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0.4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Works council consulted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</a:tr>
              <a:tr h="754837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13294B"/>
                      </a:solidFill>
                      <a:prstDash val="solid"/>
                    </a:lnT>
                    <a:lnB w="9525" cap="flat">
                      <a:solidFill>
                        <a:srgbClr val="B6C0C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13294B"/>
                      </a:solidFill>
                      <a:prstDash val="solid"/>
                    </a:lnT>
                    <a:lnB w="9525" cap="flat">
                      <a:solidFill>
                        <a:srgbClr val="B6C0C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5.7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13294B"/>
                      </a:solidFill>
                      <a:prstDash val="solid"/>
                    </a:lnT>
                    <a:lnB w="9525" cap="flat">
                      <a:solidFill>
                        <a:srgbClr val="B6C0C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13294B"/>
                      </a:solidFill>
                      <a:prstDash val="solid"/>
                    </a:lnT>
                    <a:lnB w="9525" cap="flat">
                      <a:solidFill>
                        <a:srgbClr val="B6C0C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13294B"/>
                      </a:solidFill>
                      <a:prstDash val="solid"/>
                    </a:lnT>
                    <a:lnB w="9525" cap="flat">
                      <a:solidFill>
                        <a:srgbClr val="B6C0C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13294B"/>
                      </a:solidFill>
                      <a:prstDash val="solid"/>
                    </a:lnT>
                    <a:lnB w="9525" cap="flat">
                      <a:solidFill>
                        <a:srgbClr val="B6C0CB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" name="cpe|exhibit|marker|7"/>
          <p:cNvSpPr/>
          <p:nvPr/>
        </p:nvSpPr>
        <p:spPr>
          <a:xfrm>
            <a:off x="7757156" y="2683993"/>
            <a:ext cx="237744" cy="237744"/>
          </a:xfrm>
          <a:prstGeom prst="ellipse">
            <a:avLst/>
          </a:prstGeom>
          <a:solidFill>
            <a:srgbClr val="2E7D4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cpe|exhibit|marker|8"/>
          <p:cNvSpPr/>
          <p:nvPr/>
        </p:nvSpPr>
        <p:spPr>
          <a:xfrm>
            <a:off x="7757156" y="3438830"/>
            <a:ext cx="237744" cy="237744"/>
          </a:xfrm>
          <a:prstGeom prst="ellipse">
            <a:avLst/>
          </a:prstGeom>
          <a:solidFill>
            <a:srgbClr val="2E7D4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cpe|exhibit|marker|9"/>
          <p:cNvSpPr/>
          <p:nvPr/>
        </p:nvSpPr>
        <p:spPr>
          <a:xfrm>
            <a:off x="7757156" y="4193667"/>
            <a:ext cx="237744" cy="237744"/>
          </a:xfrm>
          <a:prstGeom prst="ellipse">
            <a:avLst/>
          </a:prstGeom>
          <a:solidFill>
            <a:srgbClr val="E08A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pe|exhibit|marker|10"/>
          <p:cNvSpPr/>
          <p:nvPr/>
        </p:nvSpPr>
        <p:spPr>
          <a:xfrm>
            <a:off x="7757156" y="4948504"/>
            <a:ext cx="237744" cy="237744"/>
          </a:xfrm>
          <a:prstGeom prst="ellipse">
            <a:avLst/>
          </a:prstGeom>
          <a:solidFill>
            <a:srgbClr val="2E7D4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cpe|exhibit|marker|11"/>
          <p:cNvSpPr/>
          <p:nvPr/>
        </p:nvSpPr>
        <p:spPr>
          <a:xfrm>
            <a:off x="7757156" y="5703341"/>
            <a:ext cx="237744" cy="237744"/>
          </a:xfrm>
          <a:prstGeom prst="ellipse">
            <a:avLst/>
          </a:prstGeom>
          <a:solidFill>
            <a:srgbClr val="8A95A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VALUE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Wave 1 already cut cost per drop by 3% and overtime by a fifth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KPI tracker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22</a:t>
            </a:r>
          </a:p>
        </p:txBody>
      </p:sp>
      <p:cxnSp>
        <p:nvCxnSpPr>
          <p:cNvPr id="6" name="cpe|kpis|line|5"/>
          <p:cNvCxnSpPr/>
          <p:nvPr/>
        </p:nvCxnSpPr>
        <p:spPr>
          <a:xfrm>
            <a:off x="502920" y="1948266"/>
            <a:ext cx="5391760" cy="0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7" name="cpe|kpis|text|6"/>
          <p:cNvSpPr txBox="1"/>
          <p:nvPr/>
        </p:nvSpPr>
        <p:spPr>
          <a:xfrm>
            <a:off x="502920" y="2085426"/>
            <a:ext cx="5391760" cy="7029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4100" b="1">
                <a:solidFill>
                  <a:srgbClr val="13294B"/>
                </a:solidFill>
                <a:latin typeface="Arial"/>
              </a:rPr>
              <a:t>€5.7M</a:t>
            </a:r>
          </a:p>
        </p:txBody>
      </p:sp>
      <p:sp>
        <p:nvSpPr>
          <p:cNvPr id="8" name="cpe|kpis|text|7"/>
          <p:cNvSpPr txBox="1"/>
          <p:nvPr/>
        </p:nvSpPr>
        <p:spPr>
          <a:xfrm>
            <a:off x="502920" y="2788371"/>
            <a:ext cx="5391760" cy="247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E7D4F"/>
                </a:solidFill>
                <a:latin typeface="Arial"/>
              </a:rPr>
              <a:t>▲ +€2.3M vs plan</a:t>
            </a:r>
          </a:p>
        </p:txBody>
      </p:sp>
      <p:sp>
        <p:nvSpPr>
          <p:cNvPr id="9" name="cpe|kpis|text|8"/>
          <p:cNvSpPr txBox="1"/>
          <p:nvPr/>
        </p:nvSpPr>
        <p:spPr>
          <a:xfrm>
            <a:off x="502920" y="3036021"/>
            <a:ext cx="5391760" cy="2388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B6776"/>
                </a:solidFill>
                <a:latin typeface="Arial"/>
              </a:rPr>
              <a:t>Savings delivered to date</a:t>
            </a:r>
          </a:p>
        </p:txBody>
      </p:sp>
      <p:sp>
        <p:nvSpPr>
          <p:cNvPr id="10" name="cpe|kpis|text|9"/>
          <p:cNvSpPr txBox="1"/>
          <p:nvPr/>
        </p:nvSpPr>
        <p:spPr>
          <a:xfrm>
            <a:off x="502920" y="3302340"/>
            <a:ext cx="5391760" cy="26631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2530"/>
                </a:solidFill>
                <a:latin typeface="Arial"/>
              </a:rPr>
              <a:t>Mostly customer terms and transport rates</a:t>
            </a:r>
          </a:p>
        </p:txBody>
      </p:sp>
      <p:cxnSp>
        <p:nvCxnSpPr>
          <p:cNvPr id="11" name="cpe|kpis|line|10"/>
          <p:cNvCxnSpPr/>
          <p:nvPr/>
        </p:nvCxnSpPr>
        <p:spPr>
          <a:xfrm>
            <a:off x="6297016" y="1948266"/>
            <a:ext cx="5391759" cy="0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12" name="cpe|kpis|text|11"/>
          <p:cNvSpPr txBox="1"/>
          <p:nvPr/>
        </p:nvSpPr>
        <p:spPr>
          <a:xfrm>
            <a:off x="6297016" y="2085426"/>
            <a:ext cx="5391760" cy="7029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4100" b="1">
                <a:solidFill>
                  <a:srgbClr val="13294B"/>
                </a:solidFill>
                <a:latin typeface="Arial"/>
              </a:rPr>
              <a:t>€5.63</a:t>
            </a:r>
          </a:p>
        </p:txBody>
      </p:sp>
      <p:sp>
        <p:nvSpPr>
          <p:cNvPr id="13" name="cpe|kpis|text|12"/>
          <p:cNvSpPr txBox="1"/>
          <p:nvPr/>
        </p:nvSpPr>
        <p:spPr>
          <a:xfrm>
            <a:off x="6297016" y="2788371"/>
            <a:ext cx="5391760" cy="247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E7D4F"/>
                </a:solidFill>
                <a:latin typeface="Arial"/>
              </a:rPr>
              <a:t>▼ −3.0% vs 2025</a:t>
            </a:r>
          </a:p>
        </p:txBody>
      </p:sp>
      <p:sp>
        <p:nvSpPr>
          <p:cNvPr id="14" name="cpe|kpis|text|13"/>
          <p:cNvSpPr txBox="1"/>
          <p:nvPr/>
        </p:nvSpPr>
        <p:spPr>
          <a:xfrm>
            <a:off x="6297016" y="3036021"/>
            <a:ext cx="5391760" cy="2388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B6776"/>
                </a:solidFill>
                <a:latin typeface="Arial"/>
              </a:rPr>
              <a:t>Cost per drop, August</a:t>
            </a:r>
          </a:p>
        </p:txBody>
      </p:sp>
      <p:sp>
        <p:nvSpPr>
          <p:cNvPr id="15" name="cpe|kpis|text|14"/>
          <p:cNvSpPr txBox="1"/>
          <p:nvPr/>
        </p:nvSpPr>
        <p:spPr>
          <a:xfrm>
            <a:off x="6297016" y="3302340"/>
            <a:ext cx="5391760" cy="26631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2530"/>
                </a:solidFill>
                <a:latin typeface="Arial"/>
              </a:rPr>
              <a:t>First decline in five years</a:t>
            </a:r>
          </a:p>
        </p:txBody>
      </p:sp>
      <p:cxnSp>
        <p:nvCxnSpPr>
          <p:cNvPr id="16" name="cpe|kpis|line|15"/>
          <p:cNvCxnSpPr/>
          <p:nvPr/>
        </p:nvCxnSpPr>
        <p:spPr>
          <a:xfrm>
            <a:off x="502920" y="3934419"/>
            <a:ext cx="5391760" cy="0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17" name="cpe|kpis|text|16"/>
          <p:cNvSpPr txBox="1"/>
          <p:nvPr/>
        </p:nvSpPr>
        <p:spPr>
          <a:xfrm>
            <a:off x="502920" y="4071579"/>
            <a:ext cx="5391760" cy="7029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4100" b="1">
                <a:solidFill>
                  <a:srgbClr val="13294B"/>
                </a:solidFill>
                <a:latin typeface="Arial"/>
              </a:rPr>
              <a:t>81%</a:t>
            </a:r>
          </a:p>
        </p:txBody>
      </p:sp>
      <p:sp>
        <p:nvSpPr>
          <p:cNvPr id="18" name="cpe|kpis|text|17"/>
          <p:cNvSpPr txBox="1"/>
          <p:nvPr/>
        </p:nvSpPr>
        <p:spPr>
          <a:xfrm>
            <a:off x="502920" y="4774524"/>
            <a:ext cx="5391760" cy="247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E7D4F"/>
                </a:solidFill>
                <a:latin typeface="Arial"/>
              </a:rPr>
              <a:t>▲ +4pp</a:t>
            </a:r>
          </a:p>
        </p:txBody>
      </p:sp>
      <p:sp>
        <p:nvSpPr>
          <p:cNvPr id="19" name="cpe|kpis|text|18"/>
          <p:cNvSpPr txBox="1"/>
          <p:nvPr/>
        </p:nvSpPr>
        <p:spPr>
          <a:xfrm>
            <a:off x="502920" y="5022174"/>
            <a:ext cx="5391760" cy="2388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B6776"/>
                </a:solidFill>
                <a:latin typeface="Arial"/>
              </a:rPr>
              <a:t>Truck fill</a:t>
            </a:r>
          </a:p>
        </p:txBody>
      </p:sp>
      <p:sp>
        <p:nvSpPr>
          <p:cNvPr id="20" name="cpe|kpis|text|19"/>
          <p:cNvSpPr txBox="1"/>
          <p:nvPr/>
        </p:nvSpPr>
        <p:spPr>
          <a:xfrm>
            <a:off x="502920" y="5288493"/>
            <a:ext cx="5391760" cy="26631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2530"/>
                </a:solidFill>
                <a:latin typeface="Arial"/>
              </a:rPr>
              <a:t>Dynamic routing pilot in Madrid</a:t>
            </a:r>
          </a:p>
        </p:txBody>
      </p:sp>
      <p:cxnSp>
        <p:nvCxnSpPr>
          <p:cNvPr id="21" name="cpe|kpis|line|20"/>
          <p:cNvCxnSpPr/>
          <p:nvPr/>
        </p:nvCxnSpPr>
        <p:spPr>
          <a:xfrm>
            <a:off x="6297016" y="3934419"/>
            <a:ext cx="5391759" cy="0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22" name="cpe|kpis|text|21"/>
          <p:cNvSpPr txBox="1"/>
          <p:nvPr/>
        </p:nvSpPr>
        <p:spPr>
          <a:xfrm>
            <a:off x="6297016" y="4071579"/>
            <a:ext cx="5391760" cy="7029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4100" b="1">
                <a:solidFill>
                  <a:srgbClr val="13294B"/>
                </a:solidFill>
                <a:latin typeface="Arial"/>
              </a:rPr>
              <a:t>−21%</a:t>
            </a:r>
          </a:p>
        </p:txBody>
      </p:sp>
      <p:sp>
        <p:nvSpPr>
          <p:cNvPr id="23" name="cpe|kpis|text|22"/>
          <p:cNvSpPr txBox="1"/>
          <p:nvPr/>
        </p:nvSpPr>
        <p:spPr>
          <a:xfrm>
            <a:off x="6297016" y="4774524"/>
            <a:ext cx="5391760" cy="247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E7D4F"/>
                </a:solidFill>
                <a:latin typeface="Arial"/>
              </a:rPr>
              <a:t>▼ −21% YoY</a:t>
            </a:r>
          </a:p>
        </p:txBody>
      </p:sp>
      <p:sp>
        <p:nvSpPr>
          <p:cNvPr id="24" name="cpe|kpis|text|23"/>
          <p:cNvSpPr txBox="1"/>
          <p:nvPr/>
        </p:nvSpPr>
        <p:spPr>
          <a:xfrm>
            <a:off x="6297016" y="5022174"/>
            <a:ext cx="5391760" cy="2388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B6776"/>
                </a:solidFill>
                <a:latin typeface="Arial"/>
              </a:rPr>
              <a:t>Overtime hours</a:t>
            </a:r>
          </a:p>
        </p:txBody>
      </p:sp>
      <p:sp>
        <p:nvSpPr>
          <p:cNvPr id="25" name="cpe|kpis|text|24"/>
          <p:cNvSpPr txBox="1"/>
          <p:nvPr/>
        </p:nvSpPr>
        <p:spPr>
          <a:xfrm>
            <a:off x="6297016" y="5288493"/>
            <a:ext cx="5391760" cy="26631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2530"/>
                </a:solidFill>
                <a:latin typeface="Arial"/>
              </a:rPr>
              <a:t>New shift patterns in 3 hubs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VALUE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€48M run-rate savings by 2027, with €24M secured by wave 1 and 2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Business cases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23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Run-rate savings build-up</a:t>
            </a:r>
            <a:r>
              <a:rPr sz="1100" b="0">
                <a:solidFill>
                  <a:srgbClr val="1C2530"/>
                </a:solidFill>
                <a:latin typeface="Arial"/>
              </a:rPr>
              <a:t>, €M</a:t>
            </a:r>
          </a:p>
        </p:txBody>
      </p:sp>
      <p:graphicFrame>
        <p:nvGraphicFramePr>
          <p:cNvPr id="7" name="cpe|exhibit|chart|6"/>
          <p:cNvGraphicFramePr>
            <a:graphicFrameLocks noGrp="1"/>
          </p:cNvGraphicFramePr>
          <p:nvPr/>
        </p:nvGraphicFramePr>
        <p:xfrm>
          <a:off x="502920" y="1901952"/>
          <a:ext cx="11185855" cy="364388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cpe|exhibit|label|7"/>
          <p:cNvSpPr txBox="1"/>
          <p:nvPr/>
        </p:nvSpPr>
        <p:spPr>
          <a:xfrm>
            <a:off x="502920" y="4347535"/>
            <a:ext cx="1864309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+11</a:t>
            </a:r>
          </a:p>
        </p:txBody>
      </p:sp>
      <p:sp>
        <p:nvSpPr>
          <p:cNvPr id="9" name="cpe|exhibit|label|8"/>
          <p:cNvSpPr txBox="1"/>
          <p:nvPr/>
        </p:nvSpPr>
        <p:spPr>
          <a:xfrm>
            <a:off x="2367229" y="3550036"/>
            <a:ext cx="1864309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+13</a:t>
            </a:r>
          </a:p>
        </p:txBody>
      </p:sp>
      <p:sp>
        <p:nvSpPr>
          <p:cNvPr id="10" name="cpe|exhibit|label|9"/>
          <p:cNvSpPr txBox="1"/>
          <p:nvPr/>
        </p:nvSpPr>
        <p:spPr>
          <a:xfrm>
            <a:off x="4231538" y="3550036"/>
            <a:ext cx="1864309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24</a:t>
            </a:r>
          </a:p>
        </p:txBody>
      </p:sp>
      <p:sp>
        <p:nvSpPr>
          <p:cNvPr id="11" name="cpe|exhibit|label|10"/>
          <p:cNvSpPr txBox="1"/>
          <p:nvPr/>
        </p:nvSpPr>
        <p:spPr>
          <a:xfrm>
            <a:off x="6095848" y="2507153"/>
            <a:ext cx="1864309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+17</a:t>
            </a:r>
          </a:p>
        </p:txBody>
      </p:sp>
      <p:sp>
        <p:nvSpPr>
          <p:cNvPr id="12" name="cpe|exhibit|label|11"/>
          <p:cNvSpPr txBox="1"/>
          <p:nvPr/>
        </p:nvSpPr>
        <p:spPr>
          <a:xfrm>
            <a:off x="7960157" y="2077730"/>
            <a:ext cx="1864309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+7</a:t>
            </a:r>
          </a:p>
        </p:txBody>
      </p:sp>
      <p:sp>
        <p:nvSpPr>
          <p:cNvPr id="13" name="cpe|exhibit|label|12"/>
          <p:cNvSpPr txBox="1"/>
          <p:nvPr/>
        </p:nvSpPr>
        <p:spPr>
          <a:xfrm>
            <a:off x="9824466" y="2077730"/>
            <a:ext cx="1864309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48</a:t>
            </a:r>
          </a:p>
        </p:txBody>
      </p:sp>
      <p:cxnSp>
        <p:nvCxnSpPr>
          <p:cNvPr id="14" name="cpe|exhibit|connector|13"/>
          <p:cNvCxnSpPr/>
          <p:nvPr/>
        </p:nvCxnSpPr>
        <p:spPr>
          <a:xfrm>
            <a:off x="2077940" y="4612711"/>
            <a:ext cx="578579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15" name="cpe|exhibit|connector|14"/>
          <p:cNvCxnSpPr/>
          <p:nvPr/>
        </p:nvCxnSpPr>
        <p:spPr>
          <a:xfrm>
            <a:off x="3942249" y="3815212"/>
            <a:ext cx="578579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16" name="cpe|exhibit|connector|15"/>
          <p:cNvCxnSpPr/>
          <p:nvPr/>
        </p:nvCxnSpPr>
        <p:spPr>
          <a:xfrm>
            <a:off x="5806558" y="3815212"/>
            <a:ext cx="578579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17" name="cpe|exhibit|connector|16"/>
          <p:cNvCxnSpPr/>
          <p:nvPr/>
        </p:nvCxnSpPr>
        <p:spPr>
          <a:xfrm>
            <a:off x="7670867" y="2772329"/>
            <a:ext cx="578579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18" name="cpe|exhibit|connector|17"/>
          <p:cNvCxnSpPr/>
          <p:nvPr/>
        </p:nvCxnSpPr>
        <p:spPr>
          <a:xfrm>
            <a:off x="9535177" y="2342906"/>
            <a:ext cx="578578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19" name="cpe|commentary|line|18"/>
          <p:cNvCxnSpPr/>
          <p:nvPr/>
        </p:nvCxnSpPr>
        <p:spPr>
          <a:xfrm>
            <a:off x="502920" y="5747004"/>
            <a:ext cx="11185855" cy="0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20" name="cpe|commentary|text|19"/>
          <p:cNvSpPr txBox="1"/>
          <p:nvPr/>
        </p:nvSpPr>
        <p:spPr>
          <a:xfrm>
            <a:off x="502920" y="5884164"/>
            <a:ext cx="5492344" cy="3154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Waves 1-2 secure </a:t>
            </a:r>
            <a:r>
              <a:rPr sz="1200" b="1">
                <a:solidFill>
                  <a:srgbClr val="1C2530"/>
                </a:solidFill>
                <a:latin typeface="Arial"/>
              </a:rPr>
              <a:t>half</a:t>
            </a:r>
            <a:r>
              <a:rPr sz="1200" b="0">
                <a:solidFill>
                  <a:srgbClr val="1C2530"/>
                </a:solidFill>
                <a:latin typeface="Arial"/>
              </a:rPr>
              <a:t> of the target</a:t>
            </a:r>
          </a:p>
        </p:txBody>
      </p:sp>
      <p:sp>
        <p:nvSpPr>
          <p:cNvPr id="21" name="cpe|commentary|text|20"/>
          <p:cNvSpPr txBox="1"/>
          <p:nvPr/>
        </p:nvSpPr>
        <p:spPr>
          <a:xfrm>
            <a:off x="6196432" y="5884164"/>
            <a:ext cx="5492344" cy="3154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Network carries the largest single block and the most execution risk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VALUE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Savings ramp up in every initiative, with automation back-loaded to 2027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Savings plan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24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3594506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Customer terms</a:t>
            </a:r>
            <a:r>
              <a:rPr sz="1100" b="0">
                <a:solidFill>
                  <a:srgbClr val="1C2530"/>
                </a:solidFill>
                <a:latin typeface="Arial"/>
              </a:rPr>
              <a:t>, €M</a:t>
            </a:r>
          </a:p>
        </p:txBody>
      </p:sp>
      <p:graphicFrame>
        <p:nvGraphicFramePr>
          <p:cNvPr id="7" name="cpe|exhibit|chart|6"/>
          <p:cNvGraphicFramePr>
            <a:graphicFrameLocks noGrp="1"/>
          </p:cNvGraphicFramePr>
          <p:nvPr/>
        </p:nvGraphicFramePr>
        <p:xfrm>
          <a:off x="502920" y="1901952"/>
          <a:ext cx="3594506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cpe|exhibit_2|text|7"/>
          <p:cNvSpPr txBox="1"/>
          <p:nvPr/>
        </p:nvSpPr>
        <p:spPr>
          <a:xfrm>
            <a:off x="4298594" y="1481328"/>
            <a:ext cx="3594506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Hub automation</a:t>
            </a:r>
            <a:r>
              <a:rPr sz="1100" b="0">
                <a:solidFill>
                  <a:srgbClr val="1C2530"/>
                </a:solidFill>
                <a:latin typeface="Arial"/>
              </a:rPr>
              <a:t>, €M</a:t>
            </a:r>
          </a:p>
        </p:txBody>
      </p:sp>
      <p:graphicFrame>
        <p:nvGraphicFramePr>
          <p:cNvPr id="9" name="cpe|exhibit_2|chart|8"/>
          <p:cNvGraphicFramePr>
            <a:graphicFrameLocks noGrp="1"/>
          </p:cNvGraphicFramePr>
          <p:nvPr/>
        </p:nvGraphicFramePr>
        <p:xfrm>
          <a:off x="4298594" y="1901952"/>
          <a:ext cx="3594506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cpe|exhibit_3|text|9"/>
          <p:cNvSpPr txBox="1"/>
          <p:nvPr/>
        </p:nvSpPr>
        <p:spPr>
          <a:xfrm>
            <a:off x="8094269" y="1481328"/>
            <a:ext cx="3594506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Network</a:t>
            </a:r>
            <a:r>
              <a:rPr sz="1100" b="0">
                <a:solidFill>
                  <a:srgbClr val="1C2530"/>
                </a:solidFill>
                <a:latin typeface="Arial"/>
              </a:rPr>
              <a:t>, €M</a:t>
            </a:r>
          </a:p>
        </p:txBody>
      </p:sp>
      <p:graphicFrame>
        <p:nvGraphicFramePr>
          <p:cNvPr id="11" name="cpe|exhibit_3|chart|10"/>
          <p:cNvGraphicFramePr>
            <a:graphicFrameLocks noGrp="1"/>
          </p:cNvGraphicFramePr>
          <p:nvPr/>
        </p:nvGraphicFramePr>
        <p:xfrm>
          <a:off x="8094269" y="1901952"/>
          <a:ext cx="3594506" cy="42976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VALUE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Network and automation deliver 63% of the savings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Business cases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25</a:t>
            </a:r>
          </a:p>
        </p:txBody>
      </p:sp>
      <p:cxnSp>
        <p:nvCxnSpPr>
          <p:cNvPr id="6" name="cpe|commentary|line|5"/>
          <p:cNvCxnSpPr/>
          <p:nvPr/>
        </p:nvCxnSpPr>
        <p:spPr>
          <a:xfrm>
            <a:off x="4097426" y="1481328"/>
            <a:ext cx="0" cy="4718304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7" name="cpe|commentary|text|6"/>
          <p:cNvSpPr txBox="1"/>
          <p:nvPr/>
        </p:nvSpPr>
        <p:spPr>
          <a:xfrm>
            <a:off x="502920" y="1481328"/>
            <a:ext cx="3365906" cy="4718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400" b="0">
                <a:solidFill>
                  <a:srgbClr val="1C2530"/>
                </a:solidFill>
                <a:latin typeface="Arial"/>
              </a:rPr>
              <a:t>Two initiatives carry two thirds of the value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400" b="0">
                <a:solidFill>
                  <a:srgbClr val="1C2530"/>
                </a:solidFill>
                <a:latin typeface="Arial"/>
              </a:rPr>
              <a:t>Both depend on capex released today</a:t>
            </a:r>
          </a:p>
        </p:txBody>
      </p:sp>
      <p:sp>
        <p:nvSpPr>
          <p:cNvPr id="8" name="cpe|exhibit|text|7"/>
          <p:cNvSpPr txBox="1"/>
          <p:nvPr/>
        </p:nvSpPr>
        <p:spPr>
          <a:xfrm>
            <a:off x="4298594" y="1481328"/>
            <a:ext cx="739018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Run-rate savings by initiative, 2027</a:t>
            </a:r>
            <a:r>
              <a:rPr sz="1100" b="0">
                <a:solidFill>
                  <a:srgbClr val="1C2530"/>
                </a:solidFill>
                <a:latin typeface="Arial"/>
              </a:rPr>
              <a:t>, €M</a:t>
            </a:r>
          </a:p>
        </p:txBody>
      </p:sp>
      <p:graphicFrame>
        <p:nvGraphicFramePr>
          <p:cNvPr id="9" name="cpe|exhibit|chart|8"/>
          <p:cNvGraphicFramePr>
            <a:graphicFrameLocks noGrp="1"/>
          </p:cNvGraphicFramePr>
          <p:nvPr/>
        </p:nvGraphicFramePr>
        <p:xfrm>
          <a:off x="4298594" y="2018492"/>
          <a:ext cx="4064599" cy="406459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cpe|exhibit|marker|9"/>
          <p:cNvSpPr/>
          <p:nvPr/>
        </p:nvSpPr>
        <p:spPr>
          <a:xfrm>
            <a:off x="8683234" y="3410712"/>
            <a:ext cx="128016" cy="128016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pe|exhibit|label|10"/>
          <p:cNvSpPr txBox="1"/>
          <p:nvPr/>
        </p:nvSpPr>
        <p:spPr>
          <a:xfrm>
            <a:off x="8911834" y="3282696"/>
            <a:ext cx="64008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35%</a:t>
            </a:r>
          </a:p>
        </p:txBody>
      </p:sp>
      <p:sp>
        <p:nvSpPr>
          <p:cNvPr id="12" name="cpe|exhibit|label|11"/>
          <p:cNvSpPr txBox="1"/>
          <p:nvPr/>
        </p:nvSpPr>
        <p:spPr>
          <a:xfrm>
            <a:off x="9551914" y="3282696"/>
            <a:ext cx="2136861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Network  (17)</a:t>
            </a:r>
          </a:p>
        </p:txBody>
      </p:sp>
      <p:sp>
        <p:nvSpPr>
          <p:cNvPr id="13" name="cpe|exhibit|marker|12"/>
          <p:cNvSpPr/>
          <p:nvPr/>
        </p:nvSpPr>
        <p:spPr>
          <a:xfrm>
            <a:off x="8683234" y="3794760"/>
            <a:ext cx="128016" cy="128016"/>
          </a:xfrm>
          <a:prstGeom prst="rect">
            <a:avLst/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cpe|exhibit|label|13"/>
          <p:cNvSpPr txBox="1"/>
          <p:nvPr/>
        </p:nvSpPr>
        <p:spPr>
          <a:xfrm>
            <a:off x="8911834" y="3666744"/>
            <a:ext cx="64008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27%</a:t>
            </a:r>
          </a:p>
        </p:txBody>
      </p:sp>
      <p:sp>
        <p:nvSpPr>
          <p:cNvPr id="15" name="cpe|exhibit|label|14"/>
          <p:cNvSpPr txBox="1"/>
          <p:nvPr/>
        </p:nvSpPr>
        <p:spPr>
          <a:xfrm>
            <a:off x="9551914" y="3666744"/>
            <a:ext cx="2136861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Hub automation  (13)</a:t>
            </a:r>
          </a:p>
        </p:txBody>
      </p:sp>
      <p:sp>
        <p:nvSpPr>
          <p:cNvPr id="16" name="cpe|exhibit|marker|15"/>
          <p:cNvSpPr/>
          <p:nvPr/>
        </p:nvSpPr>
        <p:spPr>
          <a:xfrm>
            <a:off x="8683234" y="4178808"/>
            <a:ext cx="128016" cy="128016"/>
          </a:xfrm>
          <a:prstGeom prst="rect">
            <a:avLst/>
          </a:prstGeom>
          <a:solidFill>
            <a:srgbClr val="CAD2D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cpe|exhibit|label|16"/>
          <p:cNvSpPr txBox="1"/>
          <p:nvPr/>
        </p:nvSpPr>
        <p:spPr>
          <a:xfrm>
            <a:off x="8911834" y="4050792"/>
            <a:ext cx="64008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23%</a:t>
            </a:r>
          </a:p>
        </p:txBody>
      </p:sp>
      <p:sp>
        <p:nvSpPr>
          <p:cNvPr id="18" name="cpe|exhibit|label|17"/>
          <p:cNvSpPr txBox="1"/>
          <p:nvPr/>
        </p:nvSpPr>
        <p:spPr>
          <a:xfrm>
            <a:off x="9551914" y="4050792"/>
            <a:ext cx="2136861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Customer terms  (11)</a:t>
            </a:r>
          </a:p>
        </p:txBody>
      </p:sp>
      <p:sp>
        <p:nvSpPr>
          <p:cNvPr id="19" name="cpe|exhibit|marker|18"/>
          <p:cNvSpPr/>
          <p:nvPr/>
        </p:nvSpPr>
        <p:spPr>
          <a:xfrm>
            <a:off x="8683234" y="4562856"/>
            <a:ext cx="128016" cy="128016"/>
          </a:xfrm>
          <a:prstGeom prst="rect">
            <a:avLst/>
          </a:prstGeom>
          <a:solidFill>
            <a:srgbClr val="B6C0C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cpe|exhibit|label|19"/>
          <p:cNvSpPr txBox="1"/>
          <p:nvPr/>
        </p:nvSpPr>
        <p:spPr>
          <a:xfrm>
            <a:off x="8911834" y="4434840"/>
            <a:ext cx="64008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15%</a:t>
            </a:r>
          </a:p>
        </p:txBody>
      </p:sp>
      <p:sp>
        <p:nvSpPr>
          <p:cNvPr id="21" name="cpe|exhibit|label|20"/>
          <p:cNvSpPr txBox="1"/>
          <p:nvPr/>
        </p:nvSpPr>
        <p:spPr>
          <a:xfrm>
            <a:off x="9551914" y="4434840"/>
            <a:ext cx="2136861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Procurement  (7)</a:t>
            </a:r>
          </a:p>
        </p:txBody>
      </p:sp>
      <p:cxnSp>
        <p:nvCxnSpPr>
          <p:cNvPr id="22" name="cpe|exhibit|line|21"/>
          <p:cNvCxnSpPr/>
          <p:nvPr/>
        </p:nvCxnSpPr>
        <p:spPr>
          <a:xfrm>
            <a:off x="8683234" y="4864608"/>
            <a:ext cx="3005541" cy="0"/>
          </a:xfrm>
          <a:prstGeom prst="line">
            <a:avLst/>
          </a:prstGeom>
          <a:ln w="6350">
            <a:solidFill>
              <a:srgbClr val="B6C0CB"/>
            </a:solidFill>
          </a:ln>
        </p:spPr>
      </p:cxnSp>
      <p:sp>
        <p:nvSpPr>
          <p:cNvPr id="23" name="cpe|exhibit|label|22"/>
          <p:cNvSpPr txBox="1"/>
          <p:nvPr/>
        </p:nvSpPr>
        <p:spPr>
          <a:xfrm>
            <a:off x="8911834" y="4882896"/>
            <a:ext cx="2776941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Top 2: 62%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DECISION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Decision requested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26</a:t>
            </a:r>
          </a:p>
        </p:txBody>
      </p:sp>
      <p:sp>
        <p:nvSpPr>
          <p:cNvPr id="5" name="cpe|text|fill|4"/>
          <p:cNvSpPr/>
          <p:nvPr/>
        </p:nvSpPr>
        <p:spPr>
          <a:xfrm>
            <a:off x="502920" y="2892421"/>
            <a:ext cx="822960" cy="64008"/>
          </a:xfrm>
          <a:prstGeom prst="rect">
            <a:avLst/>
          </a:prstGeom>
          <a:solidFill>
            <a:srgbClr val="E08A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cpe|text|text|5"/>
          <p:cNvSpPr txBox="1"/>
          <p:nvPr/>
        </p:nvSpPr>
        <p:spPr>
          <a:xfrm>
            <a:off x="502920" y="3139309"/>
            <a:ext cx="9288018" cy="1028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3294B"/>
                </a:solidFill>
                <a:latin typeface="Arial"/>
              </a:rPr>
              <a:t>Release €22M of wave 2 funding today to keep the €48M run-rate target for 2027</a:t>
            </a:r>
          </a:p>
        </p:txBody>
      </p:sp>
      <p:sp>
        <p:nvSpPr>
          <p:cNvPr id="7" name="cpe|text|text|6"/>
          <p:cNvSpPr txBox="1"/>
          <p:nvPr/>
        </p:nvSpPr>
        <p:spPr>
          <a:xfrm>
            <a:off x="502920" y="4350889"/>
            <a:ext cx="7894815" cy="3451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B6776"/>
                </a:solidFill>
                <a:latin typeface="Arial"/>
              </a:rPr>
              <a:t>Payback in 19 months; each quarter of delay defers about €3.5M of savings.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Helix Logistics transformation: steering committee</dc:title>
  <dc:subject>The programme is on track to deliver €48M run-rate savings; releasing wave 2 funding now keeps the 2027 target</dc:subject>
  <dc:creator>Consulting Presentation Engine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