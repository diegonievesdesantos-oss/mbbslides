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12218"/>
          <c:y val="0.01064"/>
          <c:w val="0.81782"/>
          <c:h val="0.96936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Index</c:v>
                </c:pt>
              </c:strCache>
            </c:strRef>
          </c:tx>
          <c:spPr>
            <a:solidFill>
              <a:srgbClr val="CAD2DB"/>
            </a:solidFill>
          </c:spPr>
          <c:invertIfNegative val="0"/>
          <c:dPt>
            <c:idx val="0"/>
            <c:spPr>
              <a:solidFill>
                <a:srgbClr val="13294B"/>
              </a:solidFill>
            </c:spPr>
          </c:dPt>
          <c:dLbls>
            <c:numFmt formatCode="#,##0;-#,##0" sourceLinked="0"/>
            <c:txPr>
              <a:bodyPr/>
              <a:lstStyle/>
              <a:p>
                <a:pPr>
                  <a:defRPr sz="1100" b="0">
                    <a:solidFill>
                      <a:srgbClr val="1C253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Helix</c:v>
                </c:pt>
                <c:pt idx="1">
                  <c:v>Peer B</c:v>
                </c:pt>
                <c:pt idx="2">
                  <c:v>Peer A</c:v>
                </c:pt>
                <c:pt idx="3">
                  <c:v>Peer median</c:v>
                </c:pt>
                <c:pt idx="4">
                  <c:v>Peer C</c:v>
                </c:pt>
                <c:pt idx="5">
                  <c:v>Peer 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118.0</c:v>
                </c:pt>
                <c:pt idx="1">
                  <c:v>109.0</c:v>
                </c:pt>
                <c:pt idx="2">
                  <c:v>103.0</c:v>
                </c:pt>
                <c:pt idx="3">
                  <c:v>100.0</c:v>
                </c:pt>
                <c:pt idx="4">
                  <c:v>96.0</c:v>
                </c:pt>
                <c:pt idx="5">
                  <c:v>91.0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1C253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.0"/>
          <c:min val="0.0"/>
        </c:scaling>
        <c:delete/>
        <c:axPos val="b"/>
        <c:majorTickMark val="none"/>
        <c:minorTickMark val="none"/>
        <c:tickLblPos val="nextTo"/>
        <c:crossAx val="-2068027336"/>
        <c:crosses val="autoZero"/>
        <c:majorUnit val="25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12218"/>
          <c:y val="0.01064"/>
          <c:w val="0.81782"/>
          <c:h val="0.96936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Index</c:v>
                </c:pt>
              </c:strCache>
            </c:strRef>
          </c:tx>
          <c:spPr>
            <a:solidFill>
              <a:srgbClr val="CAD2DB"/>
            </a:solidFill>
          </c:spPr>
          <c:invertIfNegative val="0"/>
          <c:dPt>
            <c:idx val="0"/>
            <c:spPr>
              <a:solidFill>
                <a:srgbClr val="13294B"/>
              </a:solidFill>
            </c:spPr>
          </c:dPt>
          <c:dLbls>
            <c:numFmt formatCode="#,##0;-#,##0" sourceLinked="0"/>
            <c:txPr>
              <a:bodyPr/>
              <a:lstStyle/>
              <a:p>
                <a:pPr>
                  <a:defRPr sz="1100" b="0">
                    <a:solidFill>
                      <a:srgbClr val="1C253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Helix</c:v>
                </c:pt>
                <c:pt idx="1">
                  <c:v>Peer B</c:v>
                </c:pt>
                <c:pt idx="2">
                  <c:v>Peer A</c:v>
                </c:pt>
                <c:pt idx="3">
                  <c:v>Peer median</c:v>
                </c:pt>
                <c:pt idx="4">
                  <c:v>Peer C</c:v>
                </c:pt>
                <c:pt idx="5">
                  <c:v>Peer 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118.0</c:v>
                </c:pt>
                <c:pt idx="1">
                  <c:v>109.0</c:v>
                </c:pt>
                <c:pt idx="2">
                  <c:v>103.0</c:v>
                </c:pt>
                <c:pt idx="3">
                  <c:v>100.0</c:v>
                </c:pt>
                <c:pt idx="4">
                  <c:v>96.0</c:v>
                </c:pt>
                <c:pt idx="5">
                  <c:v>91.0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1C253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.0"/>
          <c:min val="0.0"/>
        </c:scaling>
        <c:delete/>
        <c:axPos val="b"/>
        <c:majorTickMark val="none"/>
        <c:minorTickMark val="none"/>
        <c:tickLblPos val="nextTo"/>
        <c:crossAx val="-2068027336"/>
        <c:crosses val="autoZero"/>
        <c:majorUnit val="25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8072"/>
          <c:y val="0.01255"/>
          <c:w val="0.85928"/>
          <c:h val="0.96745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Index</c:v>
                </c:pt>
              </c:strCache>
            </c:strRef>
          </c:tx>
          <c:spPr>
            <a:solidFill>
              <a:srgbClr val="CAD2DB"/>
            </a:solidFill>
          </c:spPr>
          <c:invertIfNegative val="0"/>
          <c:dPt>
            <c:idx val="0"/>
            <c:spPr>
              <a:solidFill>
                <a:srgbClr val="13294B"/>
              </a:solidFill>
            </c:spPr>
          </c:dPt>
          <c:dLbls>
            <c:numFmt formatCode="#,##0;-#,##0" sourceLinked="0"/>
            <c:txPr>
              <a:bodyPr/>
              <a:lstStyle/>
              <a:p>
                <a:pPr>
                  <a:defRPr sz="1100" b="0">
                    <a:solidFill>
                      <a:srgbClr val="1C253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Helix</c:v>
                </c:pt>
                <c:pt idx="1">
                  <c:v>Peer B</c:v>
                </c:pt>
                <c:pt idx="2">
                  <c:v>Peer A</c:v>
                </c:pt>
                <c:pt idx="3">
                  <c:v>Peer median</c:v>
                </c:pt>
                <c:pt idx="4">
                  <c:v>Peer C</c:v>
                </c:pt>
                <c:pt idx="5">
                  <c:v>Peer 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118.0</c:v>
                </c:pt>
                <c:pt idx="1">
                  <c:v>109.0</c:v>
                </c:pt>
                <c:pt idx="2">
                  <c:v>103.0</c:v>
                </c:pt>
                <c:pt idx="3">
                  <c:v>100.0</c:v>
                </c:pt>
                <c:pt idx="4">
                  <c:v>96.0</c:v>
                </c:pt>
                <c:pt idx="5">
                  <c:v>91.0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1C253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.0"/>
          <c:min val="0.0"/>
        </c:scaling>
        <c:delete/>
        <c:axPos val="b"/>
        <c:majorTickMark val="none"/>
        <c:minorTickMark val="none"/>
        <c:tickLblPos val="nextTo"/>
        <c:crossAx val="-2068027336"/>
        <c:crosses val="autoZero"/>
        <c:majorUnit val="25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8072"/>
          <c:y val="0.01265"/>
          <c:w val="0.85928"/>
          <c:h val="0.96735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Index</c:v>
                </c:pt>
              </c:strCache>
            </c:strRef>
          </c:tx>
          <c:spPr>
            <a:solidFill>
              <a:srgbClr val="CAD2DB"/>
            </a:solidFill>
          </c:spPr>
          <c:invertIfNegative val="0"/>
          <c:dPt>
            <c:idx val="0"/>
            <c:spPr>
              <a:solidFill>
                <a:srgbClr val="13294B"/>
              </a:solidFill>
            </c:spPr>
          </c:dPt>
          <c:dLbls>
            <c:numFmt formatCode="#,##0;-#,##0" sourceLinked="0"/>
            <c:txPr>
              <a:bodyPr/>
              <a:lstStyle/>
              <a:p>
                <a:pPr>
                  <a:defRPr sz="1100" b="0">
                    <a:solidFill>
                      <a:srgbClr val="1C253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Helix</c:v>
                </c:pt>
                <c:pt idx="1">
                  <c:v>Peer B</c:v>
                </c:pt>
                <c:pt idx="2">
                  <c:v>Peer A</c:v>
                </c:pt>
                <c:pt idx="3">
                  <c:v>Peer median</c:v>
                </c:pt>
                <c:pt idx="4">
                  <c:v>Peer C</c:v>
                </c:pt>
                <c:pt idx="5">
                  <c:v>Peer 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118.0</c:v>
                </c:pt>
                <c:pt idx="1">
                  <c:v>109.0</c:v>
                </c:pt>
                <c:pt idx="2">
                  <c:v>103.0</c:v>
                </c:pt>
                <c:pt idx="3">
                  <c:v>100.0</c:v>
                </c:pt>
                <c:pt idx="4">
                  <c:v>96.0</c:v>
                </c:pt>
                <c:pt idx="5">
                  <c:v>91.0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1C253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.0"/>
          <c:min val="0.0"/>
        </c:scaling>
        <c:delete/>
        <c:axPos val="b"/>
        <c:majorTickMark val="none"/>
        <c:minorTickMark val="none"/>
        <c:tickLblPos val="nextTo"/>
        <c:crossAx val="-2068027336"/>
        <c:crosses val="autoZero"/>
        <c:majorUnit val="25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12218"/>
          <c:y val="0.01064"/>
          <c:w val="0.81782"/>
          <c:h val="0.96936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Index</c:v>
                </c:pt>
              </c:strCache>
            </c:strRef>
          </c:tx>
          <c:spPr>
            <a:solidFill>
              <a:srgbClr val="CAD2DB"/>
            </a:solidFill>
          </c:spPr>
          <c:invertIfNegative val="0"/>
          <c:dPt>
            <c:idx val="0"/>
            <c:spPr>
              <a:solidFill>
                <a:srgbClr val="13294B"/>
              </a:solidFill>
            </c:spPr>
          </c:dPt>
          <c:dLbls>
            <c:numFmt formatCode="#,##0;-#,##0" sourceLinked="0"/>
            <c:txPr>
              <a:bodyPr/>
              <a:lstStyle/>
              <a:p>
                <a:pPr>
                  <a:defRPr sz="1100" b="0">
                    <a:solidFill>
                      <a:srgbClr val="1C253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Helix</c:v>
                </c:pt>
                <c:pt idx="1">
                  <c:v>Peer B</c:v>
                </c:pt>
                <c:pt idx="2">
                  <c:v>Peer A</c:v>
                </c:pt>
                <c:pt idx="3">
                  <c:v>Peer median</c:v>
                </c:pt>
                <c:pt idx="4">
                  <c:v>Peer C</c:v>
                </c:pt>
                <c:pt idx="5">
                  <c:v>Peer 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118.0</c:v>
                </c:pt>
                <c:pt idx="1">
                  <c:v>109.0</c:v>
                </c:pt>
                <c:pt idx="2">
                  <c:v>103.0</c:v>
                </c:pt>
                <c:pt idx="3">
                  <c:v>100.0</c:v>
                </c:pt>
                <c:pt idx="4">
                  <c:v>96.0</c:v>
                </c:pt>
                <c:pt idx="5">
                  <c:v>91.0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1C253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.0"/>
          <c:min val="0.0"/>
        </c:scaling>
        <c:delete/>
        <c:axPos val="b"/>
        <c:majorTickMark val="none"/>
        <c:minorTickMark val="none"/>
        <c:tickLblPos val="nextTo"/>
        <c:crossAx val="-2068027336"/>
        <c:crosses val="autoZero"/>
        <c:majorUnit val="25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12218"/>
          <c:y val="0.01064"/>
          <c:w val="0.81782"/>
          <c:h val="0.96936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Index</c:v>
                </c:pt>
              </c:strCache>
            </c:strRef>
          </c:tx>
          <c:spPr>
            <a:solidFill>
              <a:srgbClr val="CAD2DB"/>
            </a:solidFill>
          </c:spPr>
          <c:invertIfNegative val="0"/>
          <c:dPt>
            <c:idx val="0"/>
            <c:spPr>
              <a:solidFill>
                <a:srgbClr val="13294B"/>
              </a:solidFill>
            </c:spPr>
          </c:dPt>
          <c:dLbls>
            <c:numFmt formatCode="#,##0;-#,##0" sourceLinked="0"/>
            <c:txPr>
              <a:bodyPr/>
              <a:lstStyle/>
              <a:p>
                <a:pPr>
                  <a:defRPr sz="1100" b="0">
                    <a:solidFill>
                      <a:srgbClr val="1C253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Helix</c:v>
                </c:pt>
                <c:pt idx="1">
                  <c:v>Peer B</c:v>
                </c:pt>
                <c:pt idx="2">
                  <c:v>Peer A</c:v>
                </c:pt>
                <c:pt idx="3">
                  <c:v>Peer median</c:v>
                </c:pt>
                <c:pt idx="4">
                  <c:v>Peer C</c:v>
                </c:pt>
                <c:pt idx="5">
                  <c:v>Peer 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118.0</c:v>
                </c:pt>
                <c:pt idx="1">
                  <c:v>109.0</c:v>
                </c:pt>
                <c:pt idx="2">
                  <c:v>103.0</c:v>
                </c:pt>
                <c:pt idx="3">
                  <c:v>100.0</c:v>
                </c:pt>
                <c:pt idx="4">
                  <c:v>96.0</c:v>
                </c:pt>
                <c:pt idx="5">
                  <c:v>91.0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1C253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.0"/>
          <c:min val="0.0"/>
        </c:scaling>
        <c:delete/>
        <c:axPos val="b"/>
        <c:majorTickMark val="none"/>
        <c:minorTickMark val="none"/>
        <c:tickLblPos val="nextTo"/>
        <c:crossAx val="-2068027336"/>
        <c:crosses val="autoZero"/>
        <c:majorUnit val="25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1064"/>
          <c:w val="0.88766"/>
          <c:h val="0.92926"/>
        </c:manualLayout>
      </c:layout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Small</c:v>
                </c:pt>
              </c:strCache>
            </c:strRef>
          </c:tx>
          <c:spPr>
            <a:solidFill>
              <a:srgbClr val="13294B"/>
            </a:solidFill>
            <a:ln w="9525">
              <a:solidFill>
                <a:srgbClr val="FFFFFF"/>
              </a:solidFill>
            </a:ln>
          </c:spPr>
          <c:dLbls>
            <c:numFmt formatCode="#,##0&quot;%&quot;;-#,##0&quot;%&quot;" sourceLinked="0"/>
            <c:txPr>
              <a:bodyPr/>
              <a:lstStyle/>
              <a:p>
                <a:pPr>
                  <a:defRPr sz="1050" b="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Drops</c:v>
                </c:pt>
                <c:pt idx="1">
                  <c:v>Revenue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38.0</c:v>
                </c:pt>
                <c:pt idx="1">
                  <c:v>12.0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2F5F8A"/>
            </a:solidFill>
            <a:ln w="9525">
              <a:solidFill>
                <a:srgbClr val="FFFFFF"/>
              </a:solidFill>
            </a:ln>
          </c:spPr>
          <c:dLbls>
            <c:numFmt formatCode="#,##0&quot;%&quot;;-#,##0&quot;%&quot;" sourceLinked="0"/>
            <c:txPr>
              <a:bodyPr/>
              <a:lstStyle/>
              <a:p>
                <a:pPr>
                  <a:defRPr sz="1050" b="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Drops</c:v>
                </c:pt>
                <c:pt idx="1">
                  <c:v>Revenue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35.0</c:v>
                </c:pt>
                <c:pt idx="1">
                  <c:v>30.0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Large</c:v>
                </c:pt>
              </c:strCache>
            </c:strRef>
          </c:tx>
          <c:spPr>
            <a:solidFill>
              <a:srgbClr val="86A6C6"/>
            </a:solidFill>
            <a:ln w="9525">
              <a:solidFill>
                <a:srgbClr val="FFFFFF"/>
              </a:solidFill>
            </a:ln>
          </c:spPr>
          <c:dLbls>
            <c:numFmt formatCode="#,##0&quot;%&quot;;-#,##0&quot;%&quot;" sourceLinked="0"/>
            <c:txPr>
              <a:bodyPr/>
              <a:lstStyle/>
              <a:p>
                <a:pPr>
                  <a:defRPr sz="1050" b="0">
                    <a:solidFill>
                      <a:srgbClr val="1C253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Drops</c:v>
                </c:pt>
                <c:pt idx="1">
                  <c:v>Revenue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27.0</c:v>
                </c:pt>
                <c:pt idx="1">
                  <c:v>58.0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1C253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l"/>
        <c:majorTickMark val="none"/>
        <c:minorTickMark val="none"/>
        <c:tickLblPos val="nextTo"/>
        <c:crossAx val="-2068027336"/>
        <c:crosses val="autoZero"/>
        <c:majorUnit val="0.25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1064"/>
          <c:w val="0.88766"/>
          <c:h val="0.92926"/>
        </c:manualLayout>
      </c:layout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Small</c:v>
                </c:pt>
              </c:strCache>
            </c:strRef>
          </c:tx>
          <c:spPr>
            <a:solidFill>
              <a:srgbClr val="13294B"/>
            </a:solidFill>
            <a:ln w="9525">
              <a:solidFill>
                <a:srgbClr val="FFFFFF"/>
              </a:solidFill>
            </a:ln>
          </c:spPr>
          <c:dLbls>
            <c:numFmt formatCode="#,##0&quot;%&quot;;-#,##0&quot;%&quot;" sourceLinked="0"/>
            <c:txPr>
              <a:bodyPr/>
              <a:lstStyle/>
              <a:p>
                <a:pPr>
                  <a:defRPr sz="1050" b="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Drops</c:v>
                </c:pt>
                <c:pt idx="1">
                  <c:v>Revenue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38.0</c:v>
                </c:pt>
                <c:pt idx="1">
                  <c:v>12.0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2F5F8A"/>
            </a:solidFill>
            <a:ln w="9525">
              <a:solidFill>
                <a:srgbClr val="FFFFFF"/>
              </a:solidFill>
            </a:ln>
          </c:spPr>
          <c:dLbls>
            <c:numFmt formatCode="#,##0&quot;%&quot;;-#,##0&quot;%&quot;" sourceLinked="0"/>
            <c:txPr>
              <a:bodyPr/>
              <a:lstStyle/>
              <a:p>
                <a:pPr>
                  <a:defRPr sz="1050" b="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Drops</c:v>
                </c:pt>
                <c:pt idx="1">
                  <c:v>Revenue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35.0</c:v>
                </c:pt>
                <c:pt idx="1">
                  <c:v>30.0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Large</c:v>
                </c:pt>
              </c:strCache>
            </c:strRef>
          </c:tx>
          <c:spPr>
            <a:solidFill>
              <a:srgbClr val="86A6C6"/>
            </a:solidFill>
            <a:ln w="9525">
              <a:solidFill>
                <a:srgbClr val="FFFFFF"/>
              </a:solidFill>
            </a:ln>
          </c:spPr>
          <c:dLbls>
            <c:numFmt formatCode="#,##0&quot;%&quot;;-#,##0&quot;%&quot;" sourceLinked="0"/>
            <c:txPr>
              <a:bodyPr/>
              <a:lstStyle/>
              <a:p>
                <a:pPr>
                  <a:defRPr sz="1050" b="0">
                    <a:solidFill>
                      <a:srgbClr val="1C253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Drops</c:v>
                </c:pt>
                <c:pt idx="1">
                  <c:v>Revenue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27.0</c:v>
                </c:pt>
                <c:pt idx="1">
                  <c:v>58.0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1C253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l"/>
        <c:majorTickMark val="none"/>
        <c:minorTickMark val="none"/>
        <c:tickLblPos val="nextTo"/>
        <c:crossAx val="-2068027336"/>
        <c:crosses val="autoZero"/>
        <c:majorUnit val="0.25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1255"/>
          <c:w val="0.92238"/>
          <c:h val="0.91656"/>
        </c:manualLayout>
      </c:layout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Small</c:v>
                </c:pt>
              </c:strCache>
            </c:strRef>
          </c:tx>
          <c:spPr>
            <a:solidFill>
              <a:srgbClr val="13294B"/>
            </a:solidFill>
            <a:ln w="9525">
              <a:solidFill>
                <a:srgbClr val="FFFFFF"/>
              </a:solidFill>
            </a:ln>
          </c:spPr>
          <c:dLbls>
            <c:numFmt formatCode="#,##0&quot;%&quot;;-#,##0&quot;%&quot;" sourceLinked="0"/>
            <c:txPr>
              <a:bodyPr/>
              <a:lstStyle/>
              <a:p>
                <a:pPr>
                  <a:defRPr sz="1050" b="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Drops</c:v>
                </c:pt>
                <c:pt idx="1">
                  <c:v>Revenue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38.0</c:v>
                </c:pt>
                <c:pt idx="1">
                  <c:v>12.0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2F5F8A"/>
            </a:solidFill>
            <a:ln w="9525">
              <a:solidFill>
                <a:srgbClr val="FFFFFF"/>
              </a:solidFill>
            </a:ln>
          </c:spPr>
          <c:dLbls>
            <c:numFmt formatCode="#,##0&quot;%&quot;;-#,##0&quot;%&quot;" sourceLinked="0"/>
            <c:txPr>
              <a:bodyPr/>
              <a:lstStyle/>
              <a:p>
                <a:pPr>
                  <a:defRPr sz="1050" b="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Drops</c:v>
                </c:pt>
                <c:pt idx="1">
                  <c:v>Revenue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35.0</c:v>
                </c:pt>
                <c:pt idx="1">
                  <c:v>30.0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Large</c:v>
                </c:pt>
              </c:strCache>
            </c:strRef>
          </c:tx>
          <c:spPr>
            <a:solidFill>
              <a:srgbClr val="86A6C6"/>
            </a:solidFill>
            <a:ln w="9525">
              <a:solidFill>
                <a:srgbClr val="FFFFFF"/>
              </a:solidFill>
            </a:ln>
          </c:spPr>
          <c:dLbls>
            <c:numFmt formatCode="#,##0&quot;%&quot;;-#,##0&quot;%&quot;" sourceLinked="0"/>
            <c:txPr>
              <a:bodyPr/>
              <a:lstStyle/>
              <a:p>
                <a:pPr>
                  <a:defRPr sz="1050" b="0">
                    <a:solidFill>
                      <a:srgbClr val="1C253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Drops</c:v>
                </c:pt>
                <c:pt idx="1">
                  <c:v>Revenue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27.0</c:v>
                </c:pt>
                <c:pt idx="1">
                  <c:v>58.0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1C253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l"/>
        <c:majorTickMark val="none"/>
        <c:minorTickMark val="none"/>
        <c:tickLblPos val="nextTo"/>
        <c:crossAx val="-2068027336"/>
        <c:crosses val="autoZero"/>
        <c:majorUnit val="0.25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1265"/>
          <c:w val="0.92238"/>
          <c:h val="0.91588"/>
        </c:manualLayout>
      </c:layout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Small</c:v>
                </c:pt>
              </c:strCache>
            </c:strRef>
          </c:tx>
          <c:spPr>
            <a:solidFill>
              <a:srgbClr val="13294B"/>
            </a:solidFill>
            <a:ln w="9525">
              <a:solidFill>
                <a:srgbClr val="FFFFFF"/>
              </a:solidFill>
            </a:ln>
          </c:spPr>
          <c:dLbls>
            <c:numFmt formatCode="#,##0&quot;%&quot;;-#,##0&quot;%&quot;" sourceLinked="0"/>
            <c:txPr>
              <a:bodyPr/>
              <a:lstStyle/>
              <a:p>
                <a:pPr>
                  <a:defRPr sz="1050" b="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Drops</c:v>
                </c:pt>
                <c:pt idx="1">
                  <c:v>Revenue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38.0</c:v>
                </c:pt>
                <c:pt idx="1">
                  <c:v>12.0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2F5F8A"/>
            </a:solidFill>
            <a:ln w="9525">
              <a:solidFill>
                <a:srgbClr val="FFFFFF"/>
              </a:solidFill>
            </a:ln>
          </c:spPr>
          <c:dLbls>
            <c:numFmt formatCode="#,##0&quot;%&quot;;-#,##0&quot;%&quot;" sourceLinked="0"/>
            <c:txPr>
              <a:bodyPr/>
              <a:lstStyle/>
              <a:p>
                <a:pPr>
                  <a:defRPr sz="1050" b="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Drops</c:v>
                </c:pt>
                <c:pt idx="1">
                  <c:v>Revenue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35.0</c:v>
                </c:pt>
                <c:pt idx="1">
                  <c:v>30.0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Large</c:v>
                </c:pt>
              </c:strCache>
            </c:strRef>
          </c:tx>
          <c:spPr>
            <a:solidFill>
              <a:srgbClr val="86A6C6"/>
            </a:solidFill>
            <a:ln w="9525">
              <a:solidFill>
                <a:srgbClr val="FFFFFF"/>
              </a:solidFill>
            </a:ln>
          </c:spPr>
          <c:dLbls>
            <c:numFmt formatCode="#,##0&quot;%&quot;;-#,##0&quot;%&quot;" sourceLinked="0"/>
            <c:txPr>
              <a:bodyPr/>
              <a:lstStyle/>
              <a:p>
                <a:pPr>
                  <a:defRPr sz="1050" b="0">
                    <a:solidFill>
                      <a:srgbClr val="1C253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Drops</c:v>
                </c:pt>
                <c:pt idx="1">
                  <c:v>Revenue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27.0</c:v>
                </c:pt>
                <c:pt idx="1">
                  <c:v>58.0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1C253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l"/>
        <c:majorTickMark val="none"/>
        <c:minorTickMark val="none"/>
        <c:tickLblPos val="nextTo"/>
        <c:crossAx val="-2068027336"/>
        <c:crosses val="autoZero"/>
        <c:majorUnit val="0.25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1064"/>
          <c:w val="0.88766"/>
          <c:h val="0.92926"/>
        </c:manualLayout>
      </c:layout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Small</c:v>
                </c:pt>
              </c:strCache>
            </c:strRef>
          </c:tx>
          <c:spPr>
            <a:solidFill>
              <a:srgbClr val="13294B"/>
            </a:solidFill>
            <a:ln w="9525">
              <a:solidFill>
                <a:srgbClr val="FFFFFF"/>
              </a:solidFill>
            </a:ln>
          </c:spPr>
          <c:dLbls>
            <c:numFmt formatCode="#,##0&quot;%&quot;;-#,##0&quot;%&quot;" sourceLinked="0"/>
            <c:txPr>
              <a:bodyPr/>
              <a:lstStyle/>
              <a:p>
                <a:pPr>
                  <a:defRPr sz="1050" b="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Drops</c:v>
                </c:pt>
                <c:pt idx="1">
                  <c:v>Revenue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38.0</c:v>
                </c:pt>
                <c:pt idx="1">
                  <c:v>12.0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2F5F8A"/>
            </a:solidFill>
            <a:ln w="9525">
              <a:solidFill>
                <a:srgbClr val="FFFFFF"/>
              </a:solidFill>
            </a:ln>
          </c:spPr>
          <c:dLbls>
            <c:numFmt formatCode="#,##0&quot;%&quot;;-#,##0&quot;%&quot;" sourceLinked="0"/>
            <c:txPr>
              <a:bodyPr/>
              <a:lstStyle/>
              <a:p>
                <a:pPr>
                  <a:defRPr sz="1050" b="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Drops</c:v>
                </c:pt>
                <c:pt idx="1">
                  <c:v>Revenue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35.0</c:v>
                </c:pt>
                <c:pt idx="1">
                  <c:v>30.0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Large</c:v>
                </c:pt>
              </c:strCache>
            </c:strRef>
          </c:tx>
          <c:spPr>
            <a:solidFill>
              <a:srgbClr val="86A6C6"/>
            </a:solidFill>
            <a:ln w="9525">
              <a:solidFill>
                <a:srgbClr val="FFFFFF"/>
              </a:solidFill>
            </a:ln>
          </c:spPr>
          <c:dLbls>
            <c:numFmt formatCode="#,##0&quot;%&quot;;-#,##0&quot;%&quot;" sourceLinked="0"/>
            <c:txPr>
              <a:bodyPr/>
              <a:lstStyle/>
              <a:p>
                <a:pPr>
                  <a:defRPr sz="1050" b="0">
                    <a:solidFill>
                      <a:srgbClr val="1C253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Drops</c:v>
                </c:pt>
                <c:pt idx="1">
                  <c:v>Revenue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27.0</c:v>
                </c:pt>
                <c:pt idx="1">
                  <c:v>58.0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1C253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l"/>
        <c:majorTickMark val="none"/>
        <c:minorTickMark val="none"/>
        <c:tickLblPos val="nextTo"/>
        <c:crossAx val="-2068027336"/>
        <c:crosses val="autoZero"/>
        <c:majorUnit val="0.25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1064"/>
          <c:w val="0.88766"/>
          <c:h val="0.92926"/>
        </c:manualLayout>
      </c:layout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Small</c:v>
                </c:pt>
              </c:strCache>
            </c:strRef>
          </c:tx>
          <c:spPr>
            <a:solidFill>
              <a:srgbClr val="13294B"/>
            </a:solidFill>
            <a:ln w="9525">
              <a:solidFill>
                <a:srgbClr val="FFFFFF"/>
              </a:solidFill>
            </a:ln>
          </c:spPr>
          <c:dLbls>
            <c:numFmt formatCode="#,##0&quot;%&quot;;-#,##0&quot;%&quot;" sourceLinked="0"/>
            <c:txPr>
              <a:bodyPr/>
              <a:lstStyle/>
              <a:p>
                <a:pPr>
                  <a:defRPr sz="1050" b="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Drops</c:v>
                </c:pt>
                <c:pt idx="1">
                  <c:v>Revenue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38.0</c:v>
                </c:pt>
                <c:pt idx="1">
                  <c:v>12.0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2F5F8A"/>
            </a:solidFill>
            <a:ln w="9525">
              <a:solidFill>
                <a:srgbClr val="FFFFFF"/>
              </a:solidFill>
            </a:ln>
          </c:spPr>
          <c:dLbls>
            <c:numFmt formatCode="#,##0&quot;%&quot;;-#,##0&quot;%&quot;" sourceLinked="0"/>
            <c:txPr>
              <a:bodyPr/>
              <a:lstStyle/>
              <a:p>
                <a:pPr>
                  <a:defRPr sz="1050" b="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Drops</c:v>
                </c:pt>
                <c:pt idx="1">
                  <c:v>Revenue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35.0</c:v>
                </c:pt>
                <c:pt idx="1">
                  <c:v>30.0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Large</c:v>
                </c:pt>
              </c:strCache>
            </c:strRef>
          </c:tx>
          <c:spPr>
            <a:solidFill>
              <a:srgbClr val="86A6C6"/>
            </a:solidFill>
            <a:ln w="9525">
              <a:solidFill>
                <a:srgbClr val="FFFFFF"/>
              </a:solidFill>
            </a:ln>
          </c:spPr>
          <c:dLbls>
            <c:numFmt formatCode="#,##0&quot;%&quot;;-#,##0&quot;%&quot;" sourceLinked="0"/>
            <c:txPr>
              <a:bodyPr/>
              <a:lstStyle/>
              <a:p>
                <a:pPr>
                  <a:defRPr sz="1050" b="0">
                    <a:solidFill>
                      <a:srgbClr val="1C253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Drops</c:v>
                </c:pt>
                <c:pt idx="1">
                  <c:v>Revenue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27.0</c:v>
                </c:pt>
                <c:pt idx="1">
                  <c:v>58.0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1C253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l"/>
        <c:majorTickMark val="none"/>
        <c:minorTickMark val="none"/>
        <c:tickLblPos val="nextTo"/>
        <c:crossAx val="-2068027336"/>
        <c:crosses val="autoZero"/>
        <c:majorUnit val="0.25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7"/>
          <c:y val="0.04"/>
          <c:w val="0.91"/>
          <c:h val="0.799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2F5F8A"/>
              </a:solidFill>
              <a:ln>
                <a:solidFill>
                  <a:srgbClr val="FFFFFF"/>
                </a:solidFill>
              </a:ln>
            </c:spPr>
          </c:marker>
          <c:dPt>
            <c:idx val="6"/>
            <c:marker>
              <c:spPr>
                <a:solidFill>
                  <a:srgbClr val="E08A00"/>
                </a:solidFill>
              </c:spPr>
            </c:marker>
          </c:dPt>
          <c:dPt>
            <c:idx val="7"/>
            <c:marker>
              <c:spPr>
                <a:solidFill>
                  <a:srgbClr val="E08A00"/>
                </a:solidFill>
              </c:spPr>
            </c:marker>
          </c:dPt>
          <c:xVal>
            <c:numRef>
              <c:f>Sheet1!$A$2:$A$10</c:f>
              <c:numCache>
                <c:formatCode>General</c:formatCode>
                <c:ptCount val="9"/>
                <c:pt idx="0">
                  <c:v>1450.0</c:v>
                </c:pt>
                <c:pt idx="1">
                  <c:v>1210.0</c:v>
                </c:pt>
                <c:pt idx="2">
                  <c:v>820.0</c:v>
                </c:pt>
                <c:pt idx="3">
                  <c:v>760.0</c:v>
                </c:pt>
                <c:pt idx="4">
                  <c:v>560.0</c:v>
                </c:pt>
                <c:pt idx="5">
                  <c:v>480.0</c:v>
                </c:pt>
                <c:pt idx="6">
                  <c:v>290.0</c:v>
                </c:pt>
                <c:pt idx="7">
                  <c:v>330.0</c:v>
                </c:pt>
                <c:pt idx="8">
                  <c:v>350.0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4.4</c:v>
                </c:pt>
                <c:pt idx="1">
                  <c:v>4.7</c:v>
                </c:pt>
                <c:pt idx="2">
                  <c:v>5.0</c:v>
                </c:pt>
                <c:pt idx="3">
                  <c:v>5.3</c:v>
                </c:pt>
                <c:pt idx="4">
                  <c:v>5.6</c:v>
                </c:pt>
                <c:pt idx="5">
                  <c:v>5.8</c:v>
                </c:pt>
                <c:pt idx="6">
                  <c:v>7.3</c:v>
                </c:pt>
                <c:pt idx="7">
                  <c:v>7.0</c:v>
                </c:pt>
                <c:pt idx="8">
                  <c:v>6.8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575.0"/>
          <c:min val="175.0"/>
        </c:scaling>
        <c:delete val="0"/>
        <c:axPos val="b"/>
        <c:numFmt formatCode="#,##0;-#,##0" sourceLinked="0"/>
        <c:majorTickMark val="out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5B6776"/>
                </a:solidFill>
                <a:latin typeface="Arial"/>
              </a:defRPr>
            </a:pPr>
          </a:p>
        </c:txPr>
        <c:crossAx val="-2129643912"/>
        <c:crosses val="autoZero"/>
        <c:crossBetween val="midCat"/>
        <c:majorUnit val="250.0"/>
      </c:valAx>
      <c:valAx>
        <c:axId val="-2129643912"/>
        <c:scaling>
          <c:orientation val="minMax"/>
          <c:max val="8.0"/>
          <c:min val="4.0"/>
        </c:scaling>
        <c:delete val="0"/>
        <c:axPos val="l"/>
        <c:numFmt formatCode="#,##0.0;-#,##0.0" sourceLinked="0"/>
        <c:majorTickMark val="out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5B6776"/>
                </a:solidFill>
                <a:latin typeface="Arial"/>
              </a:defRPr>
            </a:pPr>
          </a:p>
        </c:txPr>
        <c:crossAx val="-2128940872"/>
        <c:crosses val="autoZero"/>
        <c:crossBetween val="midCat"/>
        <c:majorUnit val="1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7"/>
          <c:y val="0.04"/>
          <c:w val="0.91"/>
          <c:h val="0.7980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2F5F8A"/>
              </a:solidFill>
              <a:ln>
                <a:solidFill>
                  <a:srgbClr val="FFFFFF"/>
                </a:solidFill>
              </a:ln>
            </c:spPr>
          </c:marker>
          <c:dPt>
            <c:idx val="6"/>
            <c:marker>
              <c:spPr>
                <a:solidFill>
                  <a:srgbClr val="E08A00"/>
                </a:solidFill>
              </c:spPr>
            </c:marker>
          </c:dPt>
          <c:dPt>
            <c:idx val="7"/>
            <c:marker>
              <c:spPr>
                <a:solidFill>
                  <a:srgbClr val="E08A00"/>
                </a:solidFill>
              </c:spPr>
            </c:marker>
          </c:dPt>
          <c:xVal>
            <c:numRef>
              <c:f>Sheet1!$A$2:$A$10</c:f>
              <c:numCache>
                <c:formatCode>General</c:formatCode>
                <c:ptCount val="9"/>
                <c:pt idx="0">
                  <c:v>1450.0</c:v>
                </c:pt>
                <c:pt idx="1">
                  <c:v>1210.0</c:v>
                </c:pt>
                <c:pt idx="2">
                  <c:v>820.0</c:v>
                </c:pt>
                <c:pt idx="3">
                  <c:v>760.0</c:v>
                </c:pt>
                <c:pt idx="4">
                  <c:v>560.0</c:v>
                </c:pt>
                <c:pt idx="5">
                  <c:v>480.0</c:v>
                </c:pt>
                <c:pt idx="6">
                  <c:v>290.0</c:v>
                </c:pt>
                <c:pt idx="7">
                  <c:v>330.0</c:v>
                </c:pt>
                <c:pt idx="8">
                  <c:v>350.0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4.4</c:v>
                </c:pt>
                <c:pt idx="1">
                  <c:v>4.7</c:v>
                </c:pt>
                <c:pt idx="2">
                  <c:v>5.0</c:v>
                </c:pt>
                <c:pt idx="3">
                  <c:v>5.3</c:v>
                </c:pt>
                <c:pt idx="4">
                  <c:v>5.6</c:v>
                </c:pt>
                <c:pt idx="5">
                  <c:v>5.8</c:v>
                </c:pt>
                <c:pt idx="6">
                  <c:v>7.3</c:v>
                </c:pt>
                <c:pt idx="7">
                  <c:v>7.0</c:v>
                </c:pt>
                <c:pt idx="8">
                  <c:v>6.8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575.0"/>
          <c:min val="175.0"/>
        </c:scaling>
        <c:delete val="0"/>
        <c:axPos val="b"/>
        <c:numFmt formatCode="#,##0;-#,##0" sourceLinked="0"/>
        <c:majorTickMark val="out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5B6776"/>
                </a:solidFill>
                <a:latin typeface="Arial"/>
              </a:defRPr>
            </a:pPr>
          </a:p>
        </c:txPr>
        <c:crossAx val="-2129643912"/>
        <c:crosses val="autoZero"/>
        <c:crossBetween val="midCat"/>
        <c:majorUnit val="250.0"/>
      </c:valAx>
      <c:valAx>
        <c:axId val="-2129643912"/>
        <c:scaling>
          <c:orientation val="minMax"/>
          <c:max val="8.0"/>
          <c:min val="4.0"/>
        </c:scaling>
        <c:delete val="0"/>
        <c:axPos val="l"/>
        <c:numFmt formatCode="#,##0.0;-#,##0.0" sourceLinked="0"/>
        <c:majorTickMark val="out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5B6776"/>
                </a:solidFill>
                <a:latin typeface="Arial"/>
              </a:defRPr>
            </a:pPr>
          </a:p>
        </c:txPr>
        <c:crossAx val="-2128940872"/>
        <c:crosses val="autoZero"/>
        <c:crossBetween val="midCat"/>
        <c:majorUnit val="1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7"/>
          <c:y val="0.04"/>
          <c:w val="0.91"/>
          <c:h val="0.82383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2F5F8A"/>
              </a:solidFill>
              <a:ln>
                <a:solidFill>
                  <a:srgbClr val="FFFFFF"/>
                </a:solidFill>
              </a:ln>
            </c:spPr>
          </c:marker>
          <c:dPt>
            <c:idx val="6"/>
            <c:marker>
              <c:spPr>
                <a:solidFill>
                  <a:srgbClr val="E08A00"/>
                </a:solidFill>
              </c:spPr>
            </c:marker>
          </c:dPt>
          <c:dPt>
            <c:idx val="7"/>
            <c:marker>
              <c:spPr>
                <a:solidFill>
                  <a:srgbClr val="E08A00"/>
                </a:solidFill>
              </c:spPr>
            </c:marker>
          </c:dPt>
          <c:xVal>
            <c:numRef>
              <c:f>Sheet1!$A$2:$A$10</c:f>
              <c:numCache>
                <c:formatCode>General</c:formatCode>
                <c:ptCount val="9"/>
                <c:pt idx="0">
                  <c:v>1450.0</c:v>
                </c:pt>
                <c:pt idx="1">
                  <c:v>1210.0</c:v>
                </c:pt>
                <c:pt idx="2">
                  <c:v>820.0</c:v>
                </c:pt>
                <c:pt idx="3">
                  <c:v>760.0</c:v>
                </c:pt>
                <c:pt idx="4">
                  <c:v>560.0</c:v>
                </c:pt>
                <c:pt idx="5">
                  <c:v>480.0</c:v>
                </c:pt>
                <c:pt idx="6">
                  <c:v>290.0</c:v>
                </c:pt>
                <c:pt idx="7">
                  <c:v>330.0</c:v>
                </c:pt>
                <c:pt idx="8">
                  <c:v>350.0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4.4</c:v>
                </c:pt>
                <c:pt idx="1">
                  <c:v>4.7</c:v>
                </c:pt>
                <c:pt idx="2">
                  <c:v>5.0</c:v>
                </c:pt>
                <c:pt idx="3">
                  <c:v>5.3</c:v>
                </c:pt>
                <c:pt idx="4">
                  <c:v>5.6</c:v>
                </c:pt>
                <c:pt idx="5">
                  <c:v>5.8</c:v>
                </c:pt>
                <c:pt idx="6">
                  <c:v>7.3</c:v>
                </c:pt>
                <c:pt idx="7">
                  <c:v>7.0</c:v>
                </c:pt>
                <c:pt idx="8">
                  <c:v>6.8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575.0"/>
          <c:min val="175.0"/>
        </c:scaling>
        <c:delete val="0"/>
        <c:axPos val="b"/>
        <c:numFmt formatCode="#,##0;-#,##0" sourceLinked="0"/>
        <c:majorTickMark val="out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5B6776"/>
                </a:solidFill>
                <a:latin typeface="Arial"/>
              </a:defRPr>
            </a:pPr>
          </a:p>
        </c:txPr>
        <c:crossAx val="-2129643912"/>
        <c:crosses val="autoZero"/>
        <c:crossBetween val="midCat"/>
        <c:majorUnit val="250.0"/>
      </c:valAx>
      <c:valAx>
        <c:axId val="-2129643912"/>
        <c:scaling>
          <c:orientation val="minMax"/>
          <c:max val="8.0"/>
          <c:min val="4.0"/>
        </c:scaling>
        <c:delete val="0"/>
        <c:axPos val="l"/>
        <c:numFmt formatCode="#,##0.0;-#,##0.0" sourceLinked="0"/>
        <c:majorTickMark val="out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5B6776"/>
                </a:solidFill>
                <a:latin typeface="Arial"/>
              </a:defRPr>
            </a:pPr>
          </a:p>
        </c:txPr>
        <c:crossAx val="-2128940872"/>
        <c:crosses val="autoZero"/>
        <c:crossBetween val="midCat"/>
        <c:majorUnit val="1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7"/>
          <c:y val="0.04"/>
          <c:w val="0.91"/>
          <c:h val="0.82383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2F5F8A"/>
              </a:solidFill>
              <a:ln>
                <a:solidFill>
                  <a:srgbClr val="FFFFFF"/>
                </a:solidFill>
              </a:ln>
            </c:spPr>
          </c:marker>
          <c:dPt>
            <c:idx val="6"/>
            <c:marker>
              <c:spPr>
                <a:solidFill>
                  <a:srgbClr val="E08A00"/>
                </a:solidFill>
              </c:spPr>
            </c:marker>
          </c:dPt>
          <c:dPt>
            <c:idx val="7"/>
            <c:marker>
              <c:spPr>
                <a:solidFill>
                  <a:srgbClr val="E08A00"/>
                </a:solidFill>
              </c:spPr>
            </c:marker>
          </c:dPt>
          <c:xVal>
            <c:numRef>
              <c:f>Sheet1!$A$2:$A$10</c:f>
              <c:numCache>
                <c:formatCode>General</c:formatCode>
                <c:ptCount val="9"/>
                <c:pt idx="0">
                  <c:v>1450.0</c:v>
                </c:pt>
                <c:pt idx="1">
                  <c:v>1210.0</c:v>
                </c:pt>
                <c:pt idx="2">
                  <c:v>820.0</c:v>
                </c:pt>
                <c:pt idx="3">
                  <c:v>760.0</c:v>
                </c:pt>
                <c:pt idx="4">
                  <c:v>560.0</c:v>
                </c:pt>
                <c:pt idx="5">
                  <c:v>480.0</c:v>
                </c:pt>
                <c:pt idx="6">
                  <c:v>290.0</c:v>
                </c:pt>
                <c:pt idx="7">
                  <c:v>330.0</c:v>
                </c:pt>
                <c:pt idx="8">
                  <c:v>350.0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4.4</c:v>
                </c:pt>
                <c:pt idx="1">
                  <c:v>4.7</c:v>
                </c:pt>
                <c:pt idx="2">
                  <c:v>5.0</c:v>
                </c:pt>
                <c:pt idx="3">
                  <c:v>5.3</c:v>
                </c:pt>
                <c:pt idx="4">
                  <c:v>5.6</c:v>
                </c:pt>
                <c:pt idx="5">
                  <c:v>5.8</c:v>
                </c:pt>
                <c:pt idx="6">
                  <c:v>7.3</c:v>
                </c:pt>
                <c:pt idx="7">
                  <c:v>7.0</c:v>
                </c:pt>
                <c:pt idx="8">
                  <c:v>6.8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575.0"/>
          <c:min val="175.0"/>
        </c:scaling>
        <c:delete val="0"/>
        <c:axPos val="b"/>
        <c:numFmt formatCode="#,##0;-#,##0" sourceLinked="0"/>
        <c:majorTickMark val="out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5B6776"/>
                </a:solidFill>
                <a:latin typeface="Arial"/>
              </a:defRPr>
            </a:pPr>
          </a:p>
        </c:txPr>
        <c:crossAx val="-2129643912"/>
        <c:crosses val="autoZero"/>
        <c:crossBetween val="midCat"/>
        <c:majorUnit val="250.0"/>
      </c:valAx>
      <c:valAx>
        <c:axId val="-2129643912"/>
        <c:scaling>
          <c:orientation val="minMax"/>
          <c:max val="8.0"/>
          <c:min val="4.0"/>
        </c:scaling>
        <c:delete val="0"/>
        <c:axPos val="l"/>
        <c:numFmt formatCode="#,##0.0;-#,##0.0" sourceLinked="0"/>
        <c:majorTickMark val="out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5B6776"/>
                </a:solidFill>
                <a:latin typeface="Arial"/>
              </a:defRPr>
            </a:pPr>
          </a:p>
        </c:txPr>
        <c:crossAx val="-2128940872"/>
        <c:crosses val="autoZero"/>
        <c:crossBetween val="midCat"/>
        <c:majorUnit val="1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7"/>
          <c:y val="0.04"/>
          <c:w val="0.91"/>
          <c:h val="0.82383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2F5F8A"/>
              </a:solidFill>
              <a:ln>
                <a:solidFill>
                  <a:srgbClr val="FFFFFF"/>
                </a:solidFill>
              </a:ln>
            </c:spPr>
          </c:marker>
          <c:dPt>
            <c:idx val="6"/>
            <c:marker>
              <c:spPr>
                <a:solidFill>
                  <a:srgbClr val="E08A00"/>
                </a:solidFill>
              </c:spPr>
            </c:marker>
          </c:dPt>
          <c:dPt>
            <c:idx val="7"/>
            <c:marker>
              <c:spPr>
                <a:solidFill>
                  <a:srgbClr val="E08A00"/>
                </a:solidFill>
              </c:spPr>
            </c:marker>
          </c:dPt>
          <c:xVal>
            <c:numRef>
              <c:f>Sheet1!$A$2:$A$10</c:f>
              <c:numCache>
                <c:formatCode>General</c:formatCode>
                <c:ptCount val="9"/>
                <c:pt idx="0">
                  <c:v>1450.0</c:v>
                </c:pt>
                <c:pt idx="1">
                  <c:v>1210.0</c:v>
                </c:pt>
                <c:pt idx="2">
                  <c:v>820.0</c:v>
                </c:pt>
                <c:pt idx="3">
                  <c:v>760.0</c:v>
                </c:pt>
                <c:pt idx="4">
                  <c:v>560.0</c:v>
                </c:pt>
                <c:pt idx="5">
                  <c:v>480.0</c:v>
                </c:pt>
                <c:pt idx="6">
                  <c:v>290.0</c:v>
                </c:pt>
                <c:pt idx="7">
                  <c:v>330.0</c:v>
                </c:pt>
                <c:pt idx="8">
                  <c:v>350.0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4.4</c:v>
                </c:pt>
                <c:pt idx="1">
                  <c:v>4.7</c:v>
                </c:pt>
                <c:pt idx="2">
                  <c:v>5.0</c:v>
                </c:pt>
                <c:pt idx="3">
                  <c:v>5.3</c:v>
                </c:pt>
                <c:pt idx="4">
                  <c:v>5.6</c:v>
                </c:pt>
                <c:pt idx="5">
                  <c:v>5.8</c:v>
                </c:pt>
                <c:pt idx="6">
                  <c:v>7.3</c:v>
                </c:pt>
                <c:pt idx="7">
                  <c:v>7.0</c:v>
                </c:pt>
                <c:pt idx="8">
                  <c:v>6.8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575.0"/>
          <c:min val="175.0"/>
        </c:scaling>
        <c:delete val="0"/>
        <c:axPos val="b"/>
        <c:numFmt formatCode="#,##0;-#,##0" sourceLinked="0"/>
        <c:majorTickMark val="out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5B6776"/>
                </a:solidFill>
                <a:latin typeface="Arial"/>
              </a:defRPr>
            </a:pPr>
          </a:p>
        </c:txPr>
        <c:crossAx val="-2129643912"/>
        <c:crosses val="autoZero"/>
        <c:crossBetween val="midCat"/>
        <c:majorUnit val="250.0"/>
      </c:valAx>
      <c:valAx>
        <c:axId val="-2129643912"/>
        <c:scaling>
          <c:orientation val="minMax"/>
          <c:max val="8.0"/>
          <c:min val="4.0"/>
        </c:scaling>
        <c:delete val="0"/>
        <c:axPos val="l"/>
        <c:numFmt formatCode="#,##0.0;-#,##0.0" sourceLinked="0"/>
        <c:majorTickMark val="out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5B6776"/>
                </a:solidFill>
                <a:latin typeface="Arial"/>
              </a:defRPr>
            </a:pPr>
          </a:p>
        </c:txPr>
        <c:crossAx val="-2128940872"/>
        <c:crosses val="autoZero"/>
        <c:crossBetween val="midCat"/>
        <c:majorUnit val="1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7"/>
          <c:y val="0.04"/>
          <c:w val="0.91"/>
          <c:h val="0.82383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2F5F8A"/>
              </a:solidFill>
              <a:ln>
                <a:solidFill>
                  <a:srgbClr val="FFFFFF"/>
                </a:solidFill>
              </a:ln>
            </c:spPr>
          </c:marker>
          <c:dPt>
            <c:idx val="6"/>
            <c:marker>
              <c:spPr>
                <a:solidFill>
                  <a:srgbClr val="E08A00"/>
                </a:solidFill>
              </c:spPr>
            </c:marker>
          </c:dPt>
          <c:dPt>
            <c:idx val="7"/>
            <c:marker>
              <c:spPr>
                <a:solidFill>
                  <a:srgbClr val="E08A00"/>
                </a:solidFill>
              </c:spPr>
            </c:marker>
          </c:dPt>
          <c:xVal>
            <c:numRef>
              <c:f>Sheet1!$A$2:$A$10</c:f>
              <c:numCache>
                <c:formatCode>General</c:formatCode>
                <c:ptCount val="9"/>
                <c:pt idx="0">
                  <c:v>1450.0</c:v>
                </c:pt>
                <c:pt idx="1">
                  <c:v>1210.0</c:v>
                </c:pt>
                <c:pt idx="2">
                  <c:v>820.0</c:v>
                </c:pt>
                <c:pt idx="3">
                  <c:v>760.0</c:v>
                </c:pt>
                <c:pt idx="4">
                  <c:v>560.0</c:v>
                </c:pt>
                <c:pt idx="5">
                  <c:v>480.0</c:v>
                </c:pt>
                <c:pt idx="6">
                  <c:v>290.0</c:v>
                </c:pt>
                <c:pt idx="7">
                  <c:v>330.0</c:v>
                </c:pt>
                <c:pt idx="8">
                  <c:v>350.0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4.4</c:v>
                </c:pt>
                <c:pt idx="1">
                  <c:v>4.7</c:v>
                </c:pt>
                <c:pt idx="2">
                  <c:v>5.0</c:v>
                </c:pt>
                <c:pt idx="3">
                  <c:v>5.3</c:v>
                </c:pt>
                <c:pt idx="4">
                  <c:v>5.6</c:v>
                </c:pt>
                <c:pt idx="5">
                  <c:v>5.8</c:v>
                </c:pt>
                <c:pt idx="6">
                  <c:v>7.3</c:v>
                </c:pt>
                <c:pt idx="7">
                  <c:v>7.0</c:v>
                </c:pt>
                <c:pt idx="8">
                  <c:v>6.8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575.0"/>
          <c:min val="175.0"/>
        </c:scaling>
        <c:delete val="0"/>
        <c:axPos val="b"/>
        <c:numFmt formatCode="#,##0;-#,##0" sourceLinked="0"/>
        <c:majorTickMark val="out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5B6776"/>
                </a:solidFill>
                <a:latin typeface="Arial"/>
              </a:defRPr>
            </a:pPr>
          </a:p>
        </c:txPr>
        <c:crossAx val="-2129643912"/>
        <c:crosses val="autoZero"/>
        <c:crossBetween val="midCat"/>
        <c:majorUnit val="250.0"/>
      </c:valAx>
      <c:valAx>
        <c:axId val="-2129643912"/>
        <c:scaling>
          <c:orientation val="minMax"/>
          <c:max val="8.0"/>
          <c:min val="4.0"/>
        </c:scaling>
        <c:delete val="0"/>
        <c:axPos val="l"/>
        <c:numFmt formatCode="#,##0.0;-#,##0.0" sourceLinked="0"/>
        <c:majorTickMark val="out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5B6776"/>
                </a:solidFill>
                <a:latin typeface="Arial"/>
              </a:defRPr>
            </a:pPr>
          </a:p>
        </c:txPr>
        <c:crossAx val="-2128940872"/>
        <c:crosses val="autoZero"/>
        <c:crossBetween val="midCat"/>
        <c:majorUnit val="1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"/>
          <c:y val="0.02"/>
          <c:w val="1.0"/>
          <c:h val="0.91989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Customer terms</c:v>
                </c:pt>
                <c:pt idx="1">
                  <c:v>Hub automation</c:v>
                </c:pt>
                <c:pt idx="2">
                  <c:v>Waves 1-2</c:v>
                </c:pt>
                <c:pt idx="3">
                  <c:v>Network</c:v>
                </c:pt>
                <c:pt idx="4">
                  <c:v>Procurement</c:v>
                </c:pt>
                <c:pt idx="5">
                  <c:v>Run-rate 2027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11.0</c:v>
                </c:pt>
                <c:pt idx="2">
                  <c:v>0.0</c:v>
                </c:pt>
                <c:pt idx="3">
                  <c:v>24.0</c:v>
                </c:pt>
                <c:pt idx="4">
                  <c:v>41.0</c:v>
                </c:pt>
                <c:pt idx="5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3294B"/>
            </a:solidFill>
          </c:spPr>
          <c:cat>
            <c:strRef>
              <c:f>Sheet1!$A$2:$A$7</c:f>
              <c:strCache>
                <c:ptCount val="6"/>
                <c:pt idx="0">
                  <c:v>Customer terms</c:v>
                </c:pt>
                <c:pt idx="1">
                  <c:v>Hub automation</c:v>
                </c:pt>
                <c:pt idx="2">
                  <c:v>Waves 1-2</c:v>
                </c:pt>
                <c:pt idx="3">
                  <c:v>Network</c:v>
                </c:pt>
                <c:pt idx="4">
                  <c:v>Procurement</c:v>
                </c:pt>
                <c:pt idx="5">
                  <c:v>Run-rate 2027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24.0</c:v>
                </c:pt>
                <c:pt idx="3">
                  <c:v>0.0</c:v>
                </c:pt>
                <c:pt idx="4">
                  <c:v>0.0</c:v>
                </c:pt>
                <c:pt idx="5">
                  <c:v>48.0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2E7D4F"/>
            </a:solidFill>
          </c:spPr>
          <c:cat>
            <c:strRef>
              <c:f>Sheet1!$A$2:$A$7</c:f>
              <c:strCache>
                <c:ptCount val="6"/>
                <c:pt idx="0">
                  <c:v>Customer terms</c:v>
                </c:pt>
                <c:pt idx="1">
                  <c:v>Hub automation</c:v>
                </c:pt>
                <c:pt idx="2">
                  <c:v>Waves 1-2</c:v>
                </c:pt>
                <c:pt idx="3">
                  <c:v>Network</c:v>
                </c:pt>
                <c:pt idx="4">
                  <c:v>Procurement</c:v>
                </c:pt>
                <c:pt idx="5">
                  <c:v>Run-rate 2027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11.0</c:v>
                </c:pt>
                <c:pt idx="1">
                  <c:v>13.0</c:v>
                </c:pt>
                <c:pt idx="2">
                  <c:v>0.0</c:v>
                </c:pt>
                <c:pt idx="3">
                  <c:v>17.0</c:v>
                </c:pt>
                <c:pt idx="4">
                  <c:v>7.0</c:v>
                </c:pt>
                <c:pt idx="5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0392B"/>
            </a:solidFill>
          </c:spPr>
          <c:cat>
            <c:strRef>
              <c:f>Sheet1!$A$2:$A$7</c:f>
              <c:strCache>
                <c:ptCount val="6"/>
                <c:pt idx="0">
                  <c:v>Customer terms</c:v>
                </c:pt>
                <c:pt idx="1">
                  <c:v>Hub automation</c:v>
                </c:pt>
                <c:pt idx="2">
                  <c:v>Waves 1-2</c:v>
                </c:pt>
                <c:pt idx="3">
                  <c:v>Network</c:v>
                </c:pt>
                <c:pt idx="4">
                  <c:v>Procurement</c:v>
                </c:pt>
                <c:pt idx="5">
                  <c:v>Run-rate 2027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1C253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4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majorUnit val="1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"/>
          <c:y val="0.02"/>
          <c:w val="1.0"/>
          <c:h val="0.91989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Customer terms</c:v>
                </c:pt>
                <c:pt idx="1">
                  <c:v>Hub automation</c:v>
                </c:pt>
                <c:pt idx="2">
                  <c:v>Waves 1-2</c:v>
                </c:pt>
                <c:pt idx="3">
                  <c:v>Network</c:v>
                </c:pt>
                <c:pt idx="4">
                  <c:v>Procurement</c:v>
                </c:pt>
                <c:pt idx="5">
                  <c:v>Run-rate 2027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11.0</c:v>
                </c:pt>
                <c:pt idx="2">
                  <c:v>0.0</c:v>
                </c:pt>
                <c:pt idx="3">
                  <c:v>24.0</c:v>
                </c:pt>
                <c:pt idx="4">
                  <c:v>41.0</c:v>
                </c:pt>
                <c:pt idx="5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3294B"/>
            </a:solidFill>
          </c:spPr>
          <c:cat>
            <c:strRef>
              <c:f>Sheet1!$A$2:$A$7</c:f>
              <c:strCache>
                <c:ptCount val="6"/>
                <c:pt idx="0">
                  <c:v>Customer terms</c:v>
                </c:pt>
                <c:pt idx="1">
                  <c:v>Hub automation</c:v>
                </c:pt>
                <c:pt idx="2">
                  <c:v>Waves 1-2</c:v>
                </c:pt>
                <c:pt idx="3">
                  <c:v>Network</c:v>
                </c:pt>
                <c:pt idx="4">
                  <c:v>Procurement</c:v>
                </c:pt>
                <c:pt idx="5">
                  <c:v>Run-rate 2027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24.0</c:v>
                </c:pt>
                <c:pt idx="3">
                  <c:v>0.0</c:v>
                </c:pt>
                <c:pt idx="4">
                  <c:v>0.0</c:v>
                </c:pt>
                <c:pt idx="5">
                  <c:v>48.0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2E7D4F"/>
            </a:solidFill>
          </c:spPr>
          <c:cat>
            <c:strRef>
              <c:f>Sheet1!$A$2:$A$7</c:f>
              <c:strCache>
                <c:ptCount val="6"/>
                <c:pt idx="0">
                  <c:v>Customer terms</c:v>
                </c:pt>
                <c:pt idx="1">
                  <c:v>Hub automation</c:v>
                </c:pt>
                <c:pt idx="2">
                  <c:v>Waves 1-2</c:v>
                </c:pt>
                <c:pt idx="3">
                  <c:v>Network</c:v>
                </c:pt>
                <c:pt idx="4">
                  <c:v>Procurement</c:v>
                </c:pt>
                <c:pt idx="5">
                  <c:v>Run-rate 2027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11.0</c:v>
                </c:pt>
                <c:pt idx="1">
                  <c:v>13.0</c:v>
                </c:pt>
                <c:pt idx="2">
                  <c:v>0.0</c:v>
                </c:pt>
                <c:pt idx="3">
                  <c:v>17.0</c:v>
                </c:pt>
                <c:pt idx="4">
                  <c:v>7.0</c:v>
                </c:pt>
                <c:pt idx="5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0392B"/>
            </a:solidFill>
          </c:spPr>
          <c:cat>
            <c:strRef>
              <c:f>Sheet1!$A$2:$A$7</c:f>
              <c:strCache>
                <c:ptCount val="6"/>
                <c:pt idx="0">
                  <c:v>Customer terms</c:v>
                </c:pt>
                <c:pt idx="1">
                  <c:v>Hub automation</c:v>
                </c:pt>
                <c:pt idx="2">
                  <c:v>Waves 1-2</c:v>
                </c:pt>
                <c:pt idx="3">
                  <c:v>Network</c:v>
                </c:pt>
                <c:pt idx="4">
                  <c:v>Procurement</c:v>
                </c:pt>
                <c:pt idx="5">
                  <c:v>Run-rate 2027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1C253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4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majorUnit val="1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"/>
          <c:y val="0.02"/>
          <c:w val="1.0"/>
          <c:h val="0.91989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Customer terms</c:v>
                </c:pt>
                <c:pt idx="1">
                  <c:v>Hub automation</c:v>
                </c:pt>
                <c:pt idx="2">
                  <c:v>Waves 1-2</c:v>
                </c:pt>
                <c:pt idx="3">
                  <c:v>Network</c:v>
                </c:pt>
                <c:pt idx="4">
                  <c:v>Procurement</c:v>
                </c:pt>
                <c:pt idx="5">
                  <c:v>Run-rate 2027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11.0</c:v>
                </c:pt>
                <c:pt idx="2">
                  <c:v>0.0</c:v>
                </c:pt>
                <c:pt idx="3">
                  <c:v>24.0</c:v>
                </c:pt>
                <c:pt idx="4">
                  <c:v>41.0</c:v>
                </c:pt>
                <c:pt idx="5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3294B"/>
            </a:solidFill>
          </c:spPr>
          <c:cat>
            <c:strRef>
              <c:f>Sheet1!$A$2:$A$7</c:f>
              <c:strCache>
                <c:ptCount val="6"/>
                <c:pt idx="0">
                  <c:v>Customer terms</c:v>
                </c:pt>
                <c:pt idx="1">
                  <c:v>Hub automation</c:v>
                </c:pt>
                <c:pt idx="2">
                  <c:v>Waves 1-2</c:v>
                </c:pt>
                <c:pt idx="3">
                  <c:v>Network</c:v>
                </c:pt>
                <c:pt idx="4">
                  <c:v>Procurement</c:v>
                </c:pt>
                <c:pt idx="5">
                  <c:v>Run-rate 2027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24.0</c:v>
                </c:pt>
                <c:pt idx="3">
                  <c:v>0.0</c:v>
                </c:pt>
                <c:pt idx="4">
                  <c:v>0.0</c:v>
                </c:pt>
                <c:pt idx="5">
                  <c:v>48.0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2E7D4F"/>
            </a:solidFill>
          </c:spPr>
          <c:cat>
            <c:strRef>
              <c:f>Sheet1!$A$2:$A$7</c:f>
              <c:strCache>
                <c:ptCount val="6"/>
                <c:pt idx="0">
                  <c:v>Customer terms</c:v>
                </c:pt>
                <c:pt idx="1">
                  <c:v>Hub automation</c:v>
                </c:pt>
                <c:pt idx="2">
                  <c:v>Waves 1-2</c:v>
                </c:pt>
                <c:pt idx="3">
                  <c:v>Network</c:v>
                </c:pt>
                <c:pt idx="4">
                  <c:v>Procurement</c:v>
                </c:pt>
                <c:pt idx="5">
                  <c:v>Run-rate 2027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11.0</c:v>
                </c:pt>
                <c:pt idx="1">
                  <c:v>13.0</c:v>
                </c:pt>
                <c:pt idx="2">
                  <c:v>0.0</c:v>
                </c:pt>
                <c:pt idx="3">
                  <c:v>17.0</c:v>
                </c:pt>
                <c:pt idx="4">
                  <c:v>7.0</c:v>
                </c:pt>
                <c:pt idx="5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0392B"/>
            </a:solidFill>
          </c:spPr>
          <c:cat>
            <c:strRef>
              <c:f>Sheet1!$A$2:$A$7</c:f>
              <c:strCache>
                <c:ptCount val="6"/>
                <c:pt idx="0">
                  <c:v>Customer terms</c:v>
                </c:pt>
                <c:pt idx="1">
                  <c:v>Hub automation</c:v>
                </c:pt>
                <c:pt idx="2">
                  <c:v>Waves 1-2</c:v>
                </c:pt>
                <c:pt idx="3">
                  <c:v>Network</c:v>
                </c:pt>
                <c:pt idx="4">
                  <c:v>Procurement</c:v>
                </c:pt>
                <c:pt idx="5">
                  <c:v>Run-rate 2027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1C253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4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majorUnit val="1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"/>
          <c:y val="0.02"/>
          <c:w val="1.0"/>
          <c:h val="0.91989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Customer terms</c:v>
                </c:pt>
                <c:pt idx="1">
                  <c:v>Hub automation</c:v>
                </c:pt>
                <c:pt idx="2">
                  <c:v>Waves 1-2</c:v>
                </c:pt>
                <c:pt idx="3">
                  <c:v>Network</c:v>
                </c:pt>
                <c:pt idx="4">
                  <c:v>Procurement</c:v>
                </c:pt>
                <c:pt idx="5">
                  <c:v>Run-rate 2027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11.0</c:v>
                </c:pt>
                <c:pt idx="2">
                  <c:v>0.0</c:v>
                </c:pt>
                <c:pt idx="3">
                  <c:v>24.0</c:v>
                </c:pt>
                <c:pt idx="4">
                  <c:v>41.0</c:v>
                </c:pt>
                <c:pt idx="5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3294B"/>
            </a:solidFill>
          </c:spPr>
          <c:cat>
            <c:strRef>
              <c:f>Sheet1!$A$2:$A$7</c:f>
              <c:strCache>
                <c:ptCount val="6"/>
                <c:pt idx="0">
                  <c:v>Customer terms</c:v>
                </c:pt>
                <c:pt idx="1">
                  <c:v>Hub automation</c:v>
                </c:pt>
                <c:pt idx="2">
                  <c:v>Waves 1-2</c:v>
                </c:pt>
                <c:pt idx="3">
                  <c:v>Network</c:v>
                </c:pt>
                <c:pt idx="4">
                  <c:v>Procurement</c:v>
                </c:pt>
                <c:pt idx="5">
                  <c:v>Run-rate 2027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24.0</c:v>
                </c:pt>
                <c:pt idx="3">
                  <c:v>0.0</c:v>
                </c:pt>
                <c:pt idx="4">
                  <c:v>0.0</c:v>
                </c:pt>
                <c:pt idx="5">
                  <c:v>48.0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2E7D4F"/>
            </a:solidFill>
          </c:spPr>
          <c:cat>
            <c:strRef>
              <c:f>Sheet1!$A$2:$A$7</c:f>
              <c:strCache>
                <c:ptCount val="6"/>
                <c:pt idx="0">
                  <c:v>Customer terms</c:v>
                </c:pt>
                <c:pt idx="1">
                  <c:v>Hub automation</c:v>
                </c:pt>
                <c:pt idx="2">
                  <c:v>Waves 1-2</c:v>
                </c:pt>
                <c:pt idx="3">
                  <c:v>Network</c:v>
                </c:pt>
                <c:pt idx="4">
                  <c:v>Procurement</c:v>
                </c:pt>
                <c:pt idx="5">
                  <c:v>Run-rate 2027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11.0</c:v>
                </c:pt>
                <c:pt idx="1">
                  <c:v>13.0</c:v>
                </c:pt>
                <c:pt idx="2">
                  <c:v>0.0</c:v>
                </c:pt>
                <c:pt idx="3">
                  <c:v>17.0</c:v>
                </c:pt>
                <c:pt idx="4">
                  <c:v>7.0</c:v>
                </c:pt>
                <c:pt idx="5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0392B"/>
            </a:solidFill>
          </c:spPr>
          <c:cat>
            <c:strRef>
              <c:f>Sheet1!$A$2:$A$7</c:f>
              <c:strCache>
                <c:ptCount val="6"/>
                <c:pt idx="0">
                  <c:v>Customer terms</c:v>
                </c:pt>
                <c:pt idx="1">
                  <c:v>Hub automation</c:v>
                </c:pt>
                <c:pt idx="2">
                  <c:v>Waves 1-2</c:v>
                </c:pt>
                <c:pt idx="3">
                  <c:v>Network</c:v>
                </c:pt>
                <c:pt idx="4">
                  <c:v>Procurement</c:v>
                </c:pt>
                <c:pt idx="5">
                  <c:v>Run-rate 2027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1C253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4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majorUnit val="1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"/>
          <c:y val="0.02"/>
          <c:w val="1.0"/>
          <c:h val="0.90911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Customer terms</c:v>
                </c:pt>
                <c:pt idx="1">
                  <c:v>Hub automation</c:v>
                </c:pt>
                <c:pt idx="2">
                  <c:v>Waves 1-2</c:v>
                </c:pt>
                <c:pt idx="3">
                  <c:v>Network</c:v>
                </c:pt>
                <c:pt idx="4">
                  <c:v>Procurement</c:v>
                </c:pt>
                <c:pt idx="5">
                  <c:v>Run-rate 2027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11.0</c:v>
                </c:pt>
                <c:pt idx="2">
                  <c:v>0.0</c:v>
                </c:pt>
                <c:pt idx="3">
                  <c:v>24.0</c:v>
                </c:pt>
                <c:pt idx="4">
                  <c:v>41.0</c:v>
                </c:pt>
                <c:pt idx="5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3294B"/>
            </a:solidFill>
          </c:spPr>
          <c:cat>
            <c:strRef>
              <c:f>Sheet1!$A$2:$A$7</c:f>
              <c:strCache>
                <c:ptCount val="6"/>
                <c:pt idx="0">
                  <c:v>Customer terms</c:v>
                </c:pt>
                <c:pt idx="1">
                  <c:v>Hub automation</c:v>
                </c:pt>
                <c:pt idx="2">
                  <c:v>Waves 1-2</c:v>
                </c:pt>
                <c:pt idx="3">
                  <c:v>Network</c:v>
                </c:pt>
                <c:pt idx="4">
                  <c:v>Procurement</c:v>
                </c:pt>
                <c:pt idx="5">
                  <c:v>Run-rate 2027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24.0</c:v>
                </c:pt>
                <c:pt idx="3">
                  <c:v>0.0</c:v>
                </c:pt>
                <c:pt idx="4">
                  <c:v>0.0</c:v>
                </c:pt>
                <c:pt idx="5">
                  <c:v>48.0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2E7D4F"/>
            </a:solidFill>
          </c:spPr>
          <c:cat>
            <c:strRef>
              <c:f>Sheet1!$A$2:$A$7</c:f>
              <c:strCache>
                <c:ptCount val="6"/>
                <c:pt idx="0">
                  <c:v>Customer terms</c:v>
                </c:pt>
                <c:pt idx="1">
                  <c:v>Hub automation</c:v>
                </c:pt>
                <c:pt idx="2">
                  <c:v>Waves 1-2</c:v>
                </c:pt>
                <c:pt idx="3">
                  <c:v>Network</c:v>
                </c:pt>
                <c:pt idx="4">
                  <c:v>Procurement</c:v>
                </c:pt>
                <c:pt idx="5">
                  <c:v>Run-rate 2027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11.0</c:v>
                </c:pt>
                <c:pt idx="1">
                  <c:v>13.0</c:v>
                </c:pt>
                <c:pt idx="2">
                  <c:v>0.0</c:v>
                </c:pt>
                <c:pt idx="3">
                  <c:v>17.0</c:v>
                </c:pt>
                <c:pt idx="4">
                  <c:v>7.0</c:v>
                </c:pt>
                <c:pt idx="5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0392B"/>
            </a:solidFill>
          </c:spPr>
          <c:cat>
            <c:strRef>
              <c:f>Sheet1!$A$2:$A$7</c:f>
              <c:strCache>
                <c:ptCount val="6"/>
                <c:pt idx="0">
                  <c:v>Customer terms</c:v>
                </c:pt>
                <c:pt idx="1">
                  <c:v>Hub automation</c:v>
                </c:pt>
                <c:pt idx="2">
                  <c:v>Waves 1-2</c:v>
                </c:pt>
                <c:pt idx="3">
                  <c:v>Network</c:v>
                </c:pt>
                <c:pt idx="4">
                  <c:v>Procurement</c:v>
                </c:pt>
                <c:pt idx="5">
                  <c:v>Run-rate 2027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1C253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4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majorUnit val="1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"/>
          <c:y val="0.02"/>
          <c:w val="1.0"/>
          <c:h val="0.90853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Customer terms</c:v>
                </c:pt>
                <c:pt idx="1">
                  <c:v>Hub automation</c:v>
                </c:pt>
                <c:pt idx="2">
                  <c:v>Waves 1-2</c:v>
                </c:pt>
                <c:pt idx="3">
                  <c:v>Network</c:v>
                </c:pt>
                <c:pt idx="4">
                  <c:v>Procurement</c:v>
                </c:pt>
                <c:pt idx="5">
                  <c:v>Run-rate 2027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11.0</c:v>
                </c:pt>
                <c:pt idx="2">
                  <c:v>0.0</c:v>
                </c:pt>
                <c:pt idx="3">
                  <c:v>24.0</c:v>
                </c:pt>
                <c:pt idx="4">
                  <c:v>41.0</c:v>
                </c:pt>
                <c:pt idx="5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3294B"/>
            </a:solidFill>
          </c:spPr>
          <c:cat>
            <c:strRef>
              <c:f>Sheet1!$A$2:$A$7</c:f>
              <c:strCache>
                <c:ptCount val="6"/>
                <c:pt idx="0">
                  <c:v>Customer terms</c:v>
                </c:pt>
                <c:pt idx="1">
                  <c:v>Hub automation</c:v>
                </c:pt>
                <c:pt idx="2">
                  <c:v>Waves 1-2</c:v>
                </c:pt>
                <c:pt idx="3">
                  <c:v>Network</c:v>
                </c:pt>
                <c:pt idx="4">
                  <c:v>Procurement</c:v>
                </c:pt>
                <c:pt idx="5">
                  <c:v>Run-rate 2027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24.0</c:v>
                </c:pt>
                <c:pt idx="3">
                  <c:v>0.0</c:v>
                </c:pt>
                <c:pt idx="4">
                  <c:v>0.0</c:v>
                </c:pt>
                <c:pt idx="5">
                  <c:v>48.0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2E7D4F"/>
            </a:solidFill>
          </c:spPr>
          <c:cat>
            <c:strRef>
              <c:f>Sheet1!$A$2:$A$7</c:f>
              <c:strCache>
                <c:ptCount val="6"/>
                <c:pt idx="0">
                  <c:v>Customer terms</c:v>
                </c:pt>
                <c:pt idx="1">
                  <c:v>Hub automation</c:v>
                </c:pt>
                <c:pt idx="2">
                  <c:v>Waves 1-2</c:v>
                </c:pt>
                <c:pt idx="3">
                  <c:v>Network</c:v>
                </c:pt>
                <c:pt idx="4">
                  <c:v>Procurement</c:v>
                </c:pt>
                <c:pt idx="5">
                  <c:v>Run-rate 2027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11.0</c:v>
                </c:pt>
                <c:pt idx="1">
                  <c:v>13.0</c:v>
                </c:pt>
                <c:pt idx="2">
                  <c:v>0.0</c:v>
                </c:pt>
                <c:pt idx="3">
                  <c:v>17.0</c:v>
                </c:pt>
                <c:pt idx="4">
                  <c:v>7.0</c:v>
                </c:pt>
                <c:pt idx="5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0392B"/>
            </a:solidFill>
          </c:spPr>
          <c:cat>
            <c:strRef>
              <c:f>Sheet1!$A$2:$A$7</c:f>
              <c:strCache>
                <c:ptCount val="6"/>
                <c:pt idx="0">
                  <c:v>Customer terms</c:v>
                </c:pt>
                <c:pt idx="1">
                  <c:v>Hub automation</c:v>
                </c:pt>
                <c:pt idx="2">
                  <c:v>Waves 1-2</c:v>
                </c:pt>
                <c:pt idx="3">
                  <c:v>Network</c:v>
                </c:pt>
                <c:pt idx="4">
                  <c:v>Procurement</c:v>
                </c:pt>
                <c:pt idx="5">
                  <c:v>Run-rate 2027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1C253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4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majorUnit val="1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4"/>
          <c:y val="0.04"/>
          <c:w val="0.92"/>
          <c:h val="0.9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Savings</c:v>
                </c:pt>
              </c:strCache>
            </c:strRef>
          </c:tx>
          <c:dPt>
            <c:idx val="0"/>
            <c:spPr>
              <a:solidFill>
                <a:srgbClr val="13294B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2F5F8A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CAD2DB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B6C0CB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Network</c:v>
                </c:pt>
                <c:pt idx="1">
                  <c:v>Hub automation</c:v>
                </c:pt>
                <c:pt idx="2">
                  <c:v>Customer terms</c:v>
                </c:pt>
                <c:pt idx="3">
                  <c:v>Procurement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17.0</c:v>
                </c:pt>
                <c:pt idx="1">
                  <c:v>13.0</c:v>
                </c:pt>
                <c:pt idx="2">
                  <c:v>11.0</c:v>
                </c:pt>
                <c:pt idx="3">
                  <c:v>7.0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4"/>
          <c:y val="0.04"/>
          <c:w val="0.92"/>
          <c:h val="0.9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Savings</c:v>
                </c:pt>
              </c:strCache>
            </c:strRef>
          </c:tx>
          <c:dPt>
            <c:idx val="0"/>
            <c:spPr>
              <a:solidFill>
                <a:srgbClr val="13294B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2F5F8A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CAD2DB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B6C0CB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Network</c:v>
                </c:pt>
                <c:pt idx="1">
                  <c:v>Hub automation</c:v>
                </c:pt>
                <c:pt idx="2">
                  <c:v>Customer terms</c:v>
                </c:pt>
                <c:pt idx="3">
                  <c:v>Procurement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17.0</c:v>
                </c:pt>
                <c:pt idx="1">
                  <c:v>13.0</c:v>
                </c:pt>
                <c:pt idx="2">
                  <c:v>11.0</c:v>
                </c:pt>
                <c:pt idx="3">
                  <c:v>7.0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4"/>
          <c:y val="0.04"/>
          <c:w val="0.92"/>
          <c:h val="0.9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Savings</c:v>
                </c:pt>
              </c:strCache>
            </c:strRef>
          </c:tx>
          <c:dPt>
            <c:idx val="0"/>
            <c:spPr>
              <a:solidFill>
                <a:srgbClr val="13294B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2F5F8A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CAD2DB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B6C0CB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Network</c:v>
                </c:pt>
                <c:pt idx="1">
                  <c:v>Hub automation</c:v>
                </c:pt>
                <c:pt idx="2">
                  <c:v>Customer terms</c:v>
                </c:pt>
                <c:pt idx="3">
                  <c:v>Procurement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17.0</c:v>
                </c:pt>
                <c:pt idx="1">
                  <c:v>13.0</c:v>
                </c:pt>
                <c:pt idx="2">
                  <c:v>11.0</c:v>
                </c:pt>
                <c:pt idx="3">
                  <c:v>7.0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4"/>
          <c:y val="0.04"/>
          <c:w val="0.92"/>
          <c:h val="0.9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Savings</c:v>
                </c:pt>
              </c:strCache>
            </c:strRef>
          </c:tx>
          <c:dPt>
            <c:idx val="0"/>
            <c:spPr>
              <a:solidFill>
                <a:srgbClr val="13294B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2F5F8A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CAD2DB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B6C0CB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Network</c:v>
                </c:pt>
                <c:pt idx="1">
                  <c:v>Hub automation</c:v>
                </c:pt>
                <c:pt idx="2">
                  <c:v>Customer terms</c:v>
                </c:pt>
                <c:pt idx="3">
                  <c:v>Procurement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17.0</c:v>
                </c:pt>
                <c:pt idx="1">
                  <c:v>13.0</c:v>
                </c:pt>
                <c:pt idx="2">
                  <c:v>11.0</c:v>
                </c:pt>
                <c:pt idx="3">
                  <c:v>7.0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4"/>
          <c:y val="0.04"/>
          <c:w val="0.92"/>
          <c:h val="0.9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Savings</c:v>
                </c:pt>
              </c:strCache>
            </c:strRef>
          </c:tx>
          <c:dPt>
            <c:idx val="0"/>
            <c:spPr>
              <a:solidFill>
                <a:srgbClr val="13294B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2F5F8A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CAD2DB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B6C0CB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Network</c:v>
                </c:pt>
                <c:pt idx="1">
                  <c:v>Hub automation</c:v>
                </c:pt>
                <c:pt idx="2">
                  <c:v>Customer terms</c:v>
                </c:pt>
                <c:pt idx="3">
                  <c:v>Procurement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17.0</c:v>
                </c:pt>
                <c:pt idx="1">
                  <c:v>13.0</c:v>
                </c:pt>
                <c:pt idx="2">
                  <c:v>11.0</c:v>
                </c:pt>
                <c:pt idx="3">
                  <c:v>7.0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4"/>
          <c:y val="0.04"/>
          <c:w val="0.92"/>
          <c:h val="0.9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Savings</c:v>
                </c:pt>
              </c:strCache>
            </c:strRef>
          </c:tx>
          <c:dPt>
            <c:idx val="0"/>
            <c:spPr>
              <a:solidFill>
                <a:srgbClr val="13294B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2F5F8A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CAD2DB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B6C0CB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Network</c:v>
                </c:pt>
                <c:pt idx="1">
                  <c:v>Hub automation</c:v>
                </c:pt>
                <c:pt idx="2">
                  <c:v>Customer terms</c:v>
                </c:pt>
                <c:pt idx="3">
                  <c:v>Procurement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17.0</c:v>
                </c:pt>
                <c:pt idx="1">
                  <c:v>13.0</c:v>
                </c:pt>
                <c:pt idx="2">
                  <c:v>11.0</c:v>
                </c:pt>
                <c:pt idx="3">
                  <c:v>7.0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Size the gap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Size the gap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Size the gap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Size the gap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Size the gap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Size the gap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Decompose cost-to-serve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Decompose cost-to-serve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Decompose cost-to-serve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Decompose cost-to-serve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Decompose cost-to-serve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Decompose cost-to-serve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where volume goes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where volume goes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where volume goes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where volume goes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where volume goes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where volume goes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geography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geography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geography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geography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geography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geography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customer mix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customer mix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customer mix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customer mix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customer mix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customer mix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relationship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relationship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relationship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relationship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relationship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relationship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initiatives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initiatives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initiatives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initiatives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initiatives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initiatives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initiatives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initiatives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initiatives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operating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operating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customer journey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customer journey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organisation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organisation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organisation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target 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target 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milestones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milestones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milestones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status of initiatives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status of initiatives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status of initiatives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status of initiatives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status of initiatives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status of initiatives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status of initiatives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status of initiatives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status of initiatives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KPIs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KPIs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KPIs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savings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savings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savings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savings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savings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savings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 of savings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 of savings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 of savings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 of savings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 of savings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 of savings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Relationship Id="rId3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6.xml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7.xml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8.xml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9.xml"/><Relationship Id="rId3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0.xml"/><Relationship Id="rId3" Type="http://schemas.openxmlformats.org/officeDocument/2006/relationships/notesSlide" Target="../notesSlides/notesSlide8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Helix's cost-to-serve is 18% above the peer median, the highest of the panel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Benchmark consortium 2025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5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Cost-to-serve, 2025</a:t>
            </a:r>
            <a:r>
              <a:rPr sz="1100" b="0">
                <a:solidFill>
                  <a:srgbClr val="1C2530"/>
                </a:solidFill>
                <a:latin typeface="Arial"/>
              </a:rPr>
              <a:t>, index, peer median = 100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739018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8" name="cpe|exhibit|connector|7"/>
          <p:cNvCxnSpPr/>
          <p:nvPr/>
        </p:nvCxnSpPr>
        <p:spPr>
          <a:xfrm>
            <a:off x="5722873" y="1947672"/>
            <a:ext cx="0" cy="4166006"/>
          </a:xfrm>
          <a:prstGeom prst="line">
            <a:avLst/>
          </a:prstGeom>
          <a:ln w="9525">
            <a:solidFill>
              <a:srgbClr val="5B6776"/>
            </a:solidFill>
            <a:prstDash val="dash"/>
          </a:ln>
        </p:spPr>
      </p:cxnSp>
      <p:sp>
        <p:nvSpPr>
          <p:cNvPr id="9" name="cpe|exhibit|label|8"/>
          <p:cNvSpPr txBox="1"/>
          <p:nvPr/>
        </p:nvSpPr>
        <p:spPr>
          <a:xfrm>
            <a:off x="5768593" y="167335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Median 100</a:t>
            </a:r>
          </a:p>
        </p:txBody>
      </p:sp>
      <p:cxnSp>
        <p:nvCxnSpPr>
          <p:cNvPr id="10" name="cpe|commentary|line|9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11" name="cpe|commentary|text|10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Helix is </a:t>
            </a:r>
            <a:r>
              <a:rPr sz="1200" b="1">
                <a:solidFill>
                  <a:srgbClr val="1C2530"/>
                </a:solidFill>
                <a:latin typeface="Arial"/>
              </a:rPr>
              <a:t>18 points</a:t>
            </a:r>
            <a:r>
              <a:rPr sz="1200" b="0">
                <a:solidFill>
                  <a:srgbClr val="1C2530"/>
                </a:solidFill>
                <a:latin typeface="Arial"/>
              </a:rPr>
              <a:t> above the median and 9 above the next worst peer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The gap widened by 5 points since 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Helix's cost-to-serve is 18% above the peer median, the highest of the panel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Benchmark consortium 2025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5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Cost-to-serve, 2025</a:t>
            </a:r>
            <a:r>
              <a:rPr sz="1100" b="0">
                <a:solidFill>
                  <a:srgbClr val="1C2530"/>
                </a:solidFill>
                <a:latin typeface="Arial"/>
              </a:rPr>
              <a:t>, index, peer median = 100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739018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8" name="cpe|exhibit|connector|7"/>
          <p:cNvCxnSpPr/>
          <p:nvPr/>
        </p:nvCxnSpPr>
        <p:spPr>
          <a:xfrm>
            <a:off x="5722873" y="1947672"/>
            <a:ext cx="0" cy="4166006"/>
          </a:xfrm>
          <a:prstGeom prst="line">
            <a:avLst/>
          </a:prstGeom>
          <a:ln w="9525">
            <a:solidFill>
              <a:srgbClr val="5B6776"/>
            </a:solidFill>
            <a:prstDash val="dash"/>
          </a:ln>
        </p:spPr>
      </p:cxnSp>
      <p:sp>
        <p:nvSpPr>
          <p:cNvPr id="9" name="cpe|exhibit|label|8"/>
          <p:cNvSpPr txBox="1"/>
          <p:nvPr/>
        </p:nvSpPr>
        <p:spPr>
          <a:xfrm>
            <a:off x="5768593" y="167335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Median 100</a:t>
            </a:r>
          </a:p>
        </p:txBody>
      </p:sp>
      <p:cxnSp>
        <p:nvCxnSpPr>
          <p:cNvPr id="10" name="cpe|commentary|line|9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11" name="cpe|commentary|text|10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C2530"/>
                </a:solidFill>
                <a:latin typeface="Arial"/>
              </a:rPr>
              <a:t>Helix is </a:t>
            </a:r>
            <a:r>
              <a:rPr sz="1400" b="1">
                <a:solidFill>
                  <a:srgbClr val="1C2530"/>
                </a:solidFill>
                <a:latin typeface="Arial"/>
              </a:rPr>
              <a:t>18 points</a:t>
            </a:r>
            <a:r>
              <a:rPr sz="1400" b="0">
                <a:solidFill>
                  <a:srgbClr val="1C2530"/>
                </a:solidFill>
                <a:latin typeface="Arial"/>
              </a:rPr>
              <a:t> above the median and 9 above the next worst peer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C2530"/>
                </a:solidFill>
                <a:latin typeface="Arial"/>
              </a:rPr>
              <a:t>The gap widened by 5 points since 2022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Helix's cost-to-serve is 18% above the peer median, the highest of the panel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Benchmark consortium 2025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5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Cost-to-serve, 2025</a:t>
            </a:r>
            <a:r>
              <a:rPr sz="1100" b="0">
                <a:solidFill>
                  <a:srgbClr val="1C2530"/>
                </a:solidFill>
                <a:latin typeface="Arial"/>
              </a:rPr>
              <a:t>, index, peer median = 100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11185855" cy="364388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8" name="cpe|exhibit|connector|7"/>
          <p:cNvCxnSpPr/>
          <p:nvPr/>
        </p:nvCxnSpPr>
        <p:spPr>
          <a:xfrm>
            <a:off x="8271397" y="1947672"/>
            <a:ext cx="0" cy="3525286"/>
          </a:xfrm>
          <a:prstGeom prst="line">
            <a:avLst/>
          </a:prstGeom>
          <a:ln w="9525">
            <a:solidFill>
              <a:srgbClr val="5B6776"/>
            </a:solidFill>
            <a:prstDash val="dash"/>
          </a:ln>
        </p:spPr>
      </p:cxnSp>
      <p:sp>
        <p:nvSpPr>
          <p:cNvPr id="9" name="cpe|exhibit|label|8"/>
          <p:cNvSpPr txBox="1"/>
          <p:nvPr/>
        </p:nvSpPr>
        <p:spPr>
          <a:xfrm>
            <a:off x="8317117" y="167335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Median 100</a:t>
            </a:r>
          </a:p>
        </p:txBody>
      </p:sp>
      <p:cxnSp>
        <p:nvCxnSpPr>
          <p:cNvPr id="10" name="cpe|commentary|line|9"/>
          <p:cNvCxnSpPr/>
          <p:nvPr/>
        </p:nvCxnSpPr>
        <p:spPr>
          <a:xfrm>
            <a:off x="502920" y="5747004"/>
            <a:ext cx="11185855" cy="0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11" name="cpe|commentary|text|10"/>
          <p:cNvSpPr txBox="1"/>
          <p:nvPr/>
        </p:nvSpPr>
        <p:spPr>
          <a:xfrm>
            <a:off x="502920" y="5884164"/>
            <a:ext cx="5492344" cy="3154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Helix is </a:t>
            </a:r>
            <a:r>
              <a:rPr sz="1200" b="1">
                <a:solidFill>
                  <a:srgbClr val="1C2530"/>
                </a:solidFill>
                <a:latin typeface="Arial"/>
              </a:rPr>
              <a:t>18 points</a:t>
            </a:r>
            <a:r>
              <a:rPr sz="1200" b="0">
                <a:solidFill>
                  <a:srgbClr val="1C2530"/>
                </a:solidFill>
                <a:latin typeface="Arial"/>
              </a:rPr>
              <a:t> above the median and 9 above the next worst peer</a:t>
            </a:r>
          </a:p>
        </p:txBody>
      </p:sp>
      <p:sp>
        <p:nvSpPr>
          <p:cNvPr id="12" name="cpe|commentary|text|11"/>
          <p:cNvSpPr txBox="1"/>
          <p:nvPr/>
        </p:nvSpPr>
        <p:spPr>
          <a:xfrm>
            <a:off x="6196432" y="5884164"/>
            <a:ext cx="5492344" cy="3154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The gap widened by 5 points since 2022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Helix's cost-to-serve is 18% above the peer median, the highest of the panel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Benchmark consortium 2025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5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Cost-to-serve, 2025</a:t>
            </a:r>
            <a:r>
              <a:rPr sz="1100" b="0">
                <a:solidFill>
                  <a:srgbClr val="1C2530"/>
                </a:solidFill>
                <a:latin typeface="Arial"/>
              </a:rPr>
              <a:t>, index, peer median = 100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11185855" cy="361416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8" name="cpe|exhibit|connector|7"/>
          <p:cNvCxnSpPr/>
          <p:nvPr/>
        </p:nvCxnSpPr>
        <p:spPr>
          <a:xfrm>
            <a:off x="8271397" y="1947672"/>
            <a:ext cx="0" cy="3496163"/>
          </a:xfrm>
          <a:prstGeom prst="line">
            <a:avLst/>
          </a:prstGeom>
          <a:ln w="9525">
            <a:solidFill>
              <a:srgbClr val="5B6776"/>
            </a:solidFill>
            <a:prstDash val="dash"/>
          </a:ln>
        </p:spPr>
      </p:cxnSp>
      <p:sp>
        <p:nvSpPr>
          <p:cNvPr id="9" name="cpe|exhibit|label|8"/>
          <p:cNvSpPr txBox="1"/>
          <p:nvPr/>
        </p:nvSpPr>
        <p:spPr>
          <a:xfrm>
            <a:off x="8317117" y="167335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Median 100</a:t>
            </a:r>
          </a:p>
        </p:txBody>
      </p:sp>
      <p:cxnSp>
        <p:nvCxnSpPr>
          <p:cNvPr id="10" name="cpe|commentary|line|9"/>
          <p:cNvCxnSpPr/>
          <p:nvPr/>
        </p:nvCxnSpPr>
        <p:spPr>
          <a:xfrm>
            <a:off x="502920" y="5717286"/>
            <a:ext cx="11185855" cy="0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11" name="cpe|commentary|text|10"/>
          <p:cNvSpPr txBox="1"/>
          <p:nvPr/>
        </p:nvSpPr>
        <p:spPr>
          <a:xfrm>
            <a:off x="502920" y="5854446"/>
            <a:ext cx="5492344" cy="3451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Helix is </a:t>
            </a:r>
            <a:r>
              <a:rPr sz="1400" b="1">
                <a:solidFill>
                  <a:srgbClr val="1C2530"/>
                </a:solidFill>
                <a:latin typeface="Arial"/>
              </a:rPr>
              <a:t>18 points</a:t>
            </a:r>
            <a:r>
              <a:rPr sz="1400" b="0">
                <a:solidFill>
                  <a:srgbClr val="1C2530"/>
                </a:solidFill>
                <a:latin typeface="Arial"/>
              </a:rPr>
              <a:t> above the median and 9 above the next worst peer</a:t>
            </a:r>
          </a:p>
        </p:txBody>
      </p:sp>
      <p:sp>
        <p:nvSpPr>
          <p:cNvPr id="12" name="cpe|commentary|text|11"/>
          <p:cNvSpPr txBox="1"/>
          <p:nvPr/>
        </p:nvSpPr>
        <p:spPr>
          <a:xfrm>
            <a:off x="6196432" y="5854446"/>
            <a:ext cx="5492344" cy="3451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The gap widened by 5 points since 2022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Helix's cost-to-serve is 18% above the peer median, the highest of the panel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Benchmark consortium 2025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5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Cost-to-serve, 2025</a:t>
            </a:r>
            <a:r>
              <a:rPr sz="1100" b="0">
                <a:solidFill>
                  <a:srgbClr val="1C2530"/>
                </a:solidFill>
                <a:latin typeface="Arial"/>
              </a:rPr>
              <a:t>, index, peer median = 100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739018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8" name="cpe|exhibit|connector|7"/>
          <p:cNvCxnSpPr/>
          <p:nvPr/>
        </p:nvCxnSpPr>
        <p:spPr>
          <a:xfrm>
            <a:off x="5722873" y="1947672"/>
            <a:ext cx="0" cy="4166006"/>
          </a:xfrm>
          <a:prstGeom prst="line">
            <a:avLst/>
          </a:prstGeom>
          <a:ln w="9525">
            <a:solidFill>
              <a:srgbClr val="5B6776"/>
            </a:solidFill>
            <a:prstDash val="dash"/>
          </a:ln>
        </p:spPr>
      </p:cxnSp>
      <p:sp>
        <p:nvSpPr>
          <p:cNvPr id="9" name="cpe|exhibit|label|8"/>
          <p:cNvSpPr txBox="1"/>
          <p:nvPr/>
        </p:nvSpPr>
        <p:spPr>
          <a:xfrm>
            <a:off x="5768593" y="167335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Median 100</a:t>
            </a:r>
          </a:p>
        </p:txBody>
      </p:sp>
      <p:cxnSp>
        <p:nvCxnSpPr>
          <p:cNvPr id="10" name="cpe|commentary|line|9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11" name="cpe|commentary|text|10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Helix is </a:t>
            </a:r>
            <a:r>
              <a:rPr sz="1200" b="1">
                <a:solidFill>
                  <a:srgbClr val="1C2530"/>
                </a:solidFill>
                <a:latin typeface="Arial"/>
              </a:rPr>
              <a:t>18 points</a:t>
            </a:r>
            <a:r>
              <a:rPr sz="1200" b="0">
                <a:solidFill>
                  <a:srgbClr val="1C2530"/>
                </a:solidFill>
                <a:latin typeface="Arial"/>
              </a:rPr>
              <a:t> above the median and 9 above the next worst peer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The gap widened by 5 points since 2022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Helix's cost-to-serve is 18% above the peer median, the highest of the panel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Benchmark consortium 2025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5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Cost-to-serve, 2025</a:t>
            </a:r>
            <a:r>
              <a:rPr sz="1100" b="0">
                <a:solidFill>
                  <a:srgbClr val="1C2530"/>
                </a:solidFill>
                <a:latin typeface="Arial"/>
              </a:rPr>
              <a:t>, index, peer median = 100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739018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8" name="cpe|exhibit|connector|7"/>
          <p:cNvCxnSpPr/>
          <p:nvPr/>
        </p:nvCxnSpPr>
        <p:spPr>
          <a:xfrm>
            <a:off x="5722873" y="1947672"/>
            <a:ext cx="0" cy="4166006"/>
          </a:xfrm>
          <a:prstGeom prst="line">
            <a:avLst/>
          </a:prstGeom>
          <a:ln w="9525">
            <a:solidFill>
              <a:srgbClr val="5B6776"/>
            </a:solidFill>
            <a:prstDash val="dash"/>
          </a:ln>
        </p:spPr>
      </p:cxnSp>
      <p:sp>
        <p:nvSpPr>
          <p:cNvPr id="9" name="cpe|exhibit|label|8"/>
          <p:cNvSpPr txBox="1"/>
          <p:nvPr/>
        </p:nvSpPr>
        <p:spPr>
          <a:xfrm>
            <a:off x="5768593" y="167335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Median 100</a:t>
            </a:r>
          </a:p>
        </p:txBody>
      </p:sp>
      <p:cxnSp>
        <p:nvCxnSpPr>
          <p:cNvPr id="10" name="cpe|commentary|line|9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11" name="cpe|commentary|text|10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C2530"/>
                </a:solidFill>
                <a:latin typeface="Arial"/>
              </a:rPr>
              <a:t>Helix is </a:t>
            </a:r>
            <a:r>
              <a:rPr sz="1400" b="1">
                <a:solidFill>
                  <a:srgbClr val="1C2530"/>
                </a:solidFill>
                <a:latin typeface="Arial"/>
              </a:rPr>
              <a:t>18 points</a:t>
            </a:r>
            <a:r>
              <a:rPr sz="1400" b="0">
                <a:solidFill>
                  <a:srgbClr val="1C2530"/>
                </a:solidFill>
                <a:latin typeface="Arial"/>
              </a:rPr>
              <a:t> above the median and 9 above the next worst peer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C2530"/>
                </a:solidFill>
                <a:latin typeface="Arial"/>
              </a:rPr>
              <a:t>The gap widened by 5 points since 2022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Network and warehousing explain €31M of the €44M gap to peers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Cost model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6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502920" y="3533790"/>
            <a:ext cx="2189074" cy="61338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576072" y="3552078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Gap to peer median
</a:t>
            </a:r>
            <a:r>
              <a:rPr sz="1200" b="1">
                <a:solidFill>
                  <a:srgbClr val="FFFFFF"/>
                </a:solidFill>
                <a:latin typeface="Arial"/>
              </a:rPr>
              <a:t>€44M</a:t>
            </a:r>
          </a:p>
        </p:txBody>
      </p:sp>
      <p:cxnSp>
        <p:nvCxnSpPr>
          <p:cNvPr id="8" name="cpe|exhibit|connector|7"/>
          <p:cNvCxnSpPr/>
          <p:nvPr/>
        </p:nvCxnSpPr>
        <p:spPr>
          <a:xfrm>
            <a:off x="2691994" y="384048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9" name="cpe|exhibit|connector|8"/>
          <p:cNvCxnSpPr/>
          <p:nvPr/>
        </p:nvCxnSpPr>
        <p:spPr>
          <a:xfrm>
            <a:off x="2897734" y="2267712"/>
            <a:ext cx="0" cy="1572768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0" name="cpe|exhibit|connector|9"/>
          <p:cNvCxnSpPr/>
          <p:nvPr/>
        </p:nvCxnSpPr>
        <p:spPr>
          <a:xfrm>
            <a:off x="2897734" y="2267712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11" name="cpe|exhibit|fill|10"/>
          <p:cNvSpPr/>
          <p:nvPr/>
        </p:nvSpPr>
        <p:spPr>
          <a:xfrm>
            <a:off x="3103474" y="1961022"/>
            <a:ext cx="2189074" cy="613380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text|11"/>
          <p:cNvSpPr txBox="1"/>
          <p:nvPr/>
        </p:nvSpPr>
        <p:spPr>
          <a:xfrm>
            <a:off x="3176626" y="1979310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Network
</a:t>
            </a:r>
            <a:r>
              <a:rPr sz="1200" b="1">
                <a:solidFill>
                  <a:srgbClr val="1C2530"/>
                </a:solidFill>
                <a:latin typeface="Arial"/>
              </a:rPr>
              <a:t>€19M</a:t>
            </a:r>
          </a:p>
        </p:txBody>
      </p:sp>
      <p:cxnSp>
        <p:nvCxnSpPr>
          <p:cNvPr id="13" name="cpe|exhibit|connector|12"/>
          <p:cNvCxnSpPr/>
          <p:nvPr/>
        </p:nvCxnSpPr>
        <p:spPr>
          <a:xfrm>
            <a:off x="5292547" y="2267712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4" name="cpe|exhibit|connector|13"/>
          <p:cNvCxnSpPr/>
          <p:nvPr/>
        </p:nvCxnSpPr>
        <p:spPr>
          <a:xfrm>
            <a:off x="5498287" y="1874520"/>
            <a:ext cx="0" cy="393192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5" name="cpe|exhibit|connector|14"/>
          <p:cNvCxnSpPr/>
          <p:nvPr/>
        </p:nvCxnSpPr>
        <p:spPr>
          <a:xfrm>
            <a:off x="5498287" y="187452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16" name="cpe|exhibit|fill|15"/>
          <p:cNvSpPr/>
          <p:nvPr/>
        </p:nvSpPr>
        <p:spPr>
          <a:xfrm>
            <a:off x="5704027" y="1567830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text|16"/>
          <p:cNvSpPr txBox="1"/>
          <p:nvPr/>
        </p:nvSpPr>
        <p:spPr>
          <a:xfrm>
            <a:off x="5777179" y="1586118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Too many depots
</a:t>
            </a:r>
            <a:r>
              <a:rPr sz="1200" b="1">
                <a:solidFill>
                  <a:srgbClr val="1C2530"/>
                </a:solidFill>
                <a:latin typeface="Arial"/>
              </a:rPr>
              <a:t>€11M</a:t>
            </a:r>
          </a:p>
        </p:txBody>
      </p:sp>
      <p:cxnSp>
        <p:nvCxnSpPr>
          <p:cNvPr id="18" name="cpe|exhibit|connector|17"/>
          <p:cNvCxnSpPr/>
          <p:nvPr/>
        </p:nvCxnSpPr>
        <p:spPr>
          <a:xfrm>
            <a:off x="5292547" y="2267712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9" name="cpe|exhibit|connector|18"/>
          <p:cNvCxnSpPr/>
          <p:nvPr/>
        </p:nvCxnSpPr>
        <p:spPr>
          <a:xfrm>
            <a:off x="5498287" y="2267712"/>
            <a:ext cx="0" cy="393192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0" name="cpe|exhibit|connector|19"/>
          <p:cNvCxnSpPr/>
          <p:nvPr/>
        </p:nvCxnSpPr>
        <p:spPr>
          <a:xfrm>
            <a:off x="5498287" y="2660904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21" name="cpe|exhibit|fill|20"/>
          <p:cNvSpPr/>
          <p:nvPr/>
        </p:nvSpPr>
        <p:spPr>
          <a:xfrm>
            <a:off x="5704027" y="2354214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text|21"/>
          <p:cNvSpPr txBox="1"/>
          <p:nvPr/>
        </p:nvSpPr>
        <p:spPr>
          <a:xfrm>
            <a:off x="5777179" y="2372502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Low truck fill
</a:t>
            </a:r>
            <a:r>
              <a:rPr sz="1200" b="1">
                <a:solidFill>
                  <a:srgbClr val="1C2530"/>
                </a:solidFill>
                <a:latin typeface="Arial"/>
              </a:rPr>
              <a:t>€8M</a:t>
            </a:r>
          </a:p>
        </p:txBody>
      </p:sp>
      <p:cxnSp>
        <p:nvCxnSpPr>
          <p:cNvPr id="23" name="cpe|exhibit|connector|22"/>
          <p:cNvCxnSpPr/>
          <p:nvPr/>
        </p:nvCxnSpPr>
        <p:spPr>
          <a:xfrm>
            <a:off x="2691994" y="384048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4" name="cpe|exhibit|connector|23"/>
          <p:cNvCxnSpPr/>
          <p:nvPr/>
        </p:nvCxnSpPr>
        <p:spPr>
          <a:xfrm>
            <a:off x="2897734" y="384048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25" name="cpe|exhibit|fill|24"/>
          <p:cNvSpPr/>
          <p:nvPr/>
        </p:nvSpPr>
        <p:spPr>
          <a:xfrm>
            <a:off x="3103474" y="3533790"/>
            <a:ext cx="2189074" cy="613380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text|25"/>
          <p:cNvSpPr txBox="1"/>
          <p:nvPr/>
        </p:nvSpPr>
        <p:spPr>
          <a:xfrm>
            <a:off x="3176626" y="3552078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Warehousing
</a:t>
            </a:r>
            <a:r>
              <a:rPr sz="1200" b="1">
                <a:solidFill>
                  <a:srgbClr val="1C2530"/>
                </a:solidFill>
                <a:latin typeface="Arial"/>
              </a:rPr>
              <a:t>€12M</a:t>
            </a:r>
          </a:p>
        </p:txBody>
      </p:sp>
      <p:cxnSp>
        <p:nvCxnSpPr>
          <p:cNvPr id="27" name="cpe|exhibit|connector|26"/>
          <p:cNvCxnSpPr/>
          <p:nvPr/>
        </p:nvCxnSpPr>
        <p:spPr>
          <a:xfrm>
            <a:off x="5292547" y="384048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8" name="cpe|exhibit|connector|27"/>
          <p:cNvCxnSpPr/>
          <p:nvPr/>
        </p:nvCxnSpPr>
        <p:spPr>
          <a:xfrm>
            <a:off x="5498287" y="3447288"/>
            <a:ext cx="0" cy="393192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9" name="cpe|exhibit|connector|28"/>
          <p:cNvCxnSpPr/>
          <p:nvPr/>
        </p:nvCxnSpPr>
        <p:spPr>
          <a:xfrm>
            <a:off x="5498287" y="344728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30" name="cpe|exhibit|fill|29"/>
          <p:cNvSpPr/>
          <p:nvPr/>
        </p:nvSpPr>
        <p:spPr>
          <a:xfrm>
            <a:off x="5704027" y="3140598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text|30"/>
          <p:cNvSpPr txBox="1"/>
          <p:nvPr/>
        </p:nvSpPr>
        <p:spPr>
          <a:xfrm>
            <a:off x="5777179" y="3158886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Manual picking
</a:t>
            </a:r>
            <a:r>
              <a:rPr sz="1200" b="1">
                <a:solidFill>
                  <a:srgbClr val="1C2530"/>
                </a:solidFill>
                <a:latin typeface="Arial"/>
              </a:rPr>
              <a:t>€9M</a:t>
            </a:r>
          </a:p>
        </p:txBody>
      </p:sp>
      <p:cxnSp>
        <p:nvCxnSpPr>
          <p:cNvPr id="32" name="cpe|exhibit|connector|31"/>
          <p:cNvCxnSpPr/>
          <p:nvPr/>
        </p:nvCxnSpPr>
        <p:spPr>
          <a:xfrm>
            <a:off x="5292547" y="384048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33" name="cpe|exhibit|connector|32"/>
          <p:cNvCxnSpPr/>
          <p:nvPr/>
        </p:nvCxnSpPr>
        <p:spPr>
          <a:xfrm>
            <a:off x="5498287" y="3840480"/>
            <a:ext cx="0" cy="393192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34" name="cpe|exhibit|connector|33"/>
          <p:cNvCxnSpPr/>
          <p:nvPr/>
        </p:nvCxnSpPr>
        <p:spPr>
          <a:xfrm>
            <a:off x="5498287" y="4233672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35" name="cpe|exhibit|fill|34"/>
          <p:cNvSpPr/>
          <p:nvPr/>
        </p:nvSpPr>
        <p:spPr>
          <a:xfrm>
            <a:off x="5704027" y="3926982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text|35"/>
          <p:cNvSpPr txBox="1"/>
          <p:nvPr/>
        </p:nvSpPr>
        <p:spPr>
          <a:xfrm>
            <a:off x="5777179" y="3945270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Overtime
</a:t>
            </a:r>
            <a:r>
              <a:rPr sz="1200" b="1">
                <a:solidFill>
                  <a:srgbClr val="1C2530"/>
                </a:solidFill>
                <a:latin typeface="Arial"/>
              </a:rPr>
              <a:t>€3M</a:t>
            </a:r>
          </a:p>
        </p:txBody>
      </p:sp>
      <p:cxnSp>
        <p:nvCxnSpPr>
          <p:cNvPr id="37" name="cpe|exhibit|connector|36"/>
          <p:cNvCxnSpPr/>
          <p:nvPr/>
        </p:nvCxnSpPr>
        <p:spPr>
          <a:xfrm>
            <a:off x="2691994" y="384048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38" name="cpe|exhibit|connector|37"/>
          <p:cNvCxnSpPr/>
          <p:nvPr/>
        </p:nvCxnSpPr>
        <p:spPr>
          <a:xfrm>
            <a:off x="2897734" y="3840480"/>
            <a:ext cx="0" cy="1572768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39" name="cpe|exhibit|connector|38"/>
          <p:cNvCxnSpPr/>
          <p:nvPr/>
        </p:nvCxnSpPr>
        <p:spPr>
          <a:xfrm>
            <a:off x="2897734" y="541324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40" name="cpe|exhibit|fill|39"/>
          <p:cNvSpPr/>
          <p:nvPr/>
        </p:nvSpPr>
        <p:spPr>
          <a:xfrm>
            <a:off x="3103474" y="5106558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cpe|exhibit|text|40"/>
          <p:cNvSpPr txBox="1"/>
          <p:nvPr/>
        </p:nvSpPr>
        <p:spPr>
          <a:xfrm>
            <a:off x="3176626" y="5124846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Customer terms
</a:t>
            </a:r>
            <a:r>
              <a:rPr sz="1200" b="1">
                <a:solidFill>
                  <a:srgbClr val="1C2530"/>
                </a:solidFill>
                <a:latin typeface="Arial"/>
              </a:rPr>
              <a:t>€13M</a:t>
            </a:r>
          </a:p>
        </p:txBody>
      </p:sp>
      <p:cxnSp>
        <p:nvCxnSpPr>
          <p:cNvPr id="42" name="cpe|exhibit|connector|41"/>
          <p:cNvCxnSpPr/>
          <p:nvPr/>
        </p:nvCxnSpPr>
        <p:spPr>
          <a:xfrm>
            <a:off x="5292547" y="541324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43" name="cpe|exhibit|connector|42"/>
          <p:cNvCxnSpPr/>
          <p:nvPr/>
        </p:nvCxnSpPr>
        <p:spPr>
          <a:xfrm>
            <a:off x="5498287" y="5020056"/>
            <a:ext cx="0" cy="393192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44" name="cpe|exhibit|connector|43"/>
          <p:cNvCxnSpPr/>
          <p:nvPr/>
        </p:nvCxnSpPr>
        <p:spPr>
          <a:xfrm>
            <a:off x="5498287" y="5020056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45" name="cpe|exhibit|fill|44"/>
          <p:cNvSpPr/>
          <p:nvPr/>
        </p:nvSpPr>
        <p:spPr>
          <a:xfrm>
            <a:off x="5704027" y="4713366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cpe|exhibit|text|45"/>
          <p:cNvSpPr txBox="1"/>
          <p:nvPr/>
        </p:nvSpPr>
        <p:spPr>
          <a:xfrm>
            <a:off x="5777179" y="4731654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Small drops
</a:t>
            </a:r>
            <a:r>
              <a:rPr sz="1200" b="1">
                <a:solidFill>
                  <a:srgbClr val="1C2530"/>
                </a:solidFill>
                <a:latin typeface="Arial"/>
              </a:rPr>
              <a:t>€8M</a:t>
            </a:r>
          </a:p>
        </p:txBody>
      </p:sp>
      <p:cxnSp>
        <p:nvCxnSpPr>
          <p:cNvPr id="47" name="cpe|exhibit|connector|46"/>
          <p:cNvCxnSpPr/>
          <p:nvPr/>
        </p:nvCxnSpPr>
        <p:spPr>
          <a:xfrm>
            <a:off x="5292547" y="541324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48" name="cpe|exhibit|connector|47"/>
          <p:cNvCxnSpPr/>
          <p:nvPr/>
        </p:nvCxnSpPr>
        <p:spPr>
          <a:xfrm>
            <a:off x="5498287" y="5413248"/>
            <a:ext cx="0" cy="393192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49" name="cpe|exhibit|connector|48"/>
          <p:cNvCxnSpPr/>
          <p:nvPr/>
        </p:nvCxnSpPr>
        <p:spPr>
          <a:xfrm>
            <a:off x="5498287" y="580644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50" name="cpe|exhibit|fill|49"/>
          <p:cNvSpPr/>
          <p:nvPr/>
        </p:nvSpPr>
        <p:spPr>
          <a:xfrm>
            <a:off x="5704027" y="5499750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cpe|exhibit|text|50"/>
          <p:cNvSpPr txBox="1"/>
          <p:nvPr/>
        </p:nvSpPr>
        <p:spPr>
          <a:xfrm>
            <a:off x="5777179" y="5518038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Free returns
</a:t>
            </a:r>
            <a:r>
              <a:rPr sz="1200" b="1">
                <a:solidFill>
                  <a:srgbClr val="1C2530"/>
                </a:solidFill>
                <a:latin typeface="Arial"/>
              </a:rPr>
              <a:t>€5M</a:t>
            </a:r>
          </a:p>
        </p:txBody>
      </p:sp>
      <p:cxnSp>
        <p:nvCxnSpPr>
          <p:cNvPr id="52" name="cpe|commentary|line|51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53" name="cpe|commentary|text|52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1C2530"/>
                </a:solidFill>
                <a:latin typeface="Arial"/>
              </a:rPr>
              <a:t>Network</a:t>
            </a:r>
            <a:r>
              <a:rPr sz="1200" b="0">
                <a:solidFill>
                  <a:srgbClr val="1C2530"/>
                </a:solidFill>
                <a:latin typeface="Arial"/>
              </a:rPr>
              <a:t> is the largest driver: 14 depots vs 9 at peers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1C2530"/>
                </a:solidFill>
                <a:latin typeface="Arial"/>
              </a:rPr>
              <a:t>Warehousing</a:t>
            </a:r>
            <a:r>
              <a:rPr sz="1200" b="0">
                <a:solidFill>
                  <a:srgbClr val="1C2530"/>
                </a:solidFill>
                <a:latin typeface="Arial"/>
              </a:rPr>
              <a:t> is fixable with automation of two hubs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Customer terms need commercial, not operational, 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Network and warehousing explain €31M of the €44M gap to peers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Cost model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6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502920" y="3533790"/>
            <a:ext cx="2189074" cy="61338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576072" y="3552078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Gap to peer median
</a:t>
            </a:r>
            <a:r>
              <a:rPr sz="1400" b="1">
                <a:solidFill>
                  <a:srgbClr val="FFFFFF"/>
                </a:solidFill>
                <a:latin typeface="Arial"/>
              </a:rPr>
              <a:t>€44M</a:t>
            </a:r>
          </a:p>
        </p:txBody>
      </p:sp>
      <p:cxnSp>
        <p:nvCxnSpPr>
          <p:cNvPr id="8" name="cpe|exhibit|connector|7"/>
          <p:cNvCxnSpPr/>
          <p:nvPr/>
        </p:nvCxnSpPr>
        <p:spPr>
          <a:xfrm>
            <a:off x="2691994" y="384048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9" name="cpe|exhibit|connector|8"/>
          <p:cNvCxnSpPr/>
          <p:nvPr/>
        </p:nvCxnSpPr>
        <p:spPr>
          <a:xfrm>
            <a:off x="2897734" y="2267712"/>
            <a:ext cx="0" cy="1572768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0" name="cpe|exhibit|connector|9"/>
          <p:cNvCxnSpPr/>
          <p:nvPr/>
        </p:nvCxnSpPr>
        <p:spPr>
          <a:xfrm>
            <a:off x="2897734" y="2267712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11" name="cpe|exhibit|fill|10"/>
          <p:cNvSpPr/>
          <p:nvPr/>
        </p:nvSpPr>
        <p:spPr>
          <a:xfrm>
            <a:off x="3103474" y="1961022"/>
            <a:ext cx="2189074" cy="613380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text|11"/>
          <p:cNvSpPr txBox="1"/>
          <p:nvPr/>
        </p:nvSpPr>
        <p:spPr>
          <a:xfrm>
            <a:off x="3176626" y="1979310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Network
</a:t>
            </a:r>
            <a:r>
              <a:rPr sz="1400" b="1">
                <a:solidFill>
                  <a:srgbClr val="1C2530"/>
                </a:solidFill>
                <a:latin typeface="Arial"/>
              </a:rPr>
              <a:t>€19M</a:t>
            </a:r>
          </a:p>
        </p:txBody>
      </p:sp>
      <p:cxnSp>
        <p:nvCxnSpPr>
          <p:cNvPr id="13" name="cpe|exhibit|connector|12"/>
          <p:cNvCxnSpPr/>
          <p:nvPr/>
        </p:nvCxnSpPr>
        <p:spPr>
          <a:xfrm>
            <a:off x="5292547" y="2267712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4" name="cpe|exhibit|connector|13"/>
          <p:cNvCxnSpPr/>
          <p:nvPr/>
        </p:nvCxnSpPr>
        <p:spPr>
          <a:xfrm>
            <a:off x="5498287" y="1874520"/>
            <a:ext cx="0" cy="393192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5" name="cpe|exhibit|connector|14"/>
          <p:cNvCxnSpPr/>
          <p:nvPr/>
        </p:nvCxnSpPr>
        <p:spPr>
          <a:xfrm>
            <a:off x="5498287" y="187452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16" name="cpe|exhibit|fill|15"/>
          <p:cNvSpPr/>
          <p:nvPr/>
        </p:nvSpPr>
        <p:spPr>
          <a:xfrm>
            <a:off x="5704027" y="1567830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text|16"/>
          <p:cNvSpPr txBox="1"/>
          <p:nvPr/>
        </p:nvSpPr>
        <p:spPr>
          <a:xfrm>
            <a:off x="5777179" y="1586118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Too many depots
</a:t>
            </a:r>
            <a:r>
              <a:rPr sz="1400" b="1">
                <a:solidFill>
                  <a:srgbClr val="1C2530"/>
                </a:solidFill>
                <a:latin typeface="Arial"/>
              </a:rPr>
              <a:t>€11M</a:t>
            </a:r>
          </a:p>
        </p:txBody>
      </p:sp>
      <p:cxnSp>
        <p:nvCxnSpPr>
          <p:cNvPr id="18" name="cpe|exhibit|connector|17"/>
          <p:cNvCxnSpPr/>
          <p:nvPr/>
        </p:nvCxnSpPr>
        <p:spPr>
          <a:xfrm>
            <a:off x="5292547" y="2267712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9" name="cpe|exhibit|connector|18"/>
          <p:cNvCxnSpPr/>
          <p:nvPr/>
        </p:nvCxnSpPr>
        <p:spPr>
          <a:xfrm>
            <a:off x="5498287" y="2267712"/>
            <a:ext cx="0" cy="393192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0" name="cpe|exhibit|connector|19"/>
          <p:cNvCxnSpPr/>
          <p:nvPr/>
        </p:nvCxnSpPr>
        <p:spPr>
          <a:xfrm>
            <a:off x="5498287" y="2660904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21" name="cpe|exhibit|fill|20"/>
          <p:cNvSpPr/>
          <p:nvPr/>
        </p:nvSpPr>
        <p:spPr>
          <a:xfrm>
            <a:off x="5704027" y="2354214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text|21"/>
          <p:cNvSpPr txBox="1"/>
          <p:nvPr/>
        </p:nvSpPr>
        <p:spPr>
          <a:xfrm>
            <a:off x="5777179" y="2372502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Low truck fill
</a:t>
            </a:r>
            <a:r>
              <a:rPr sz="1400" b="1">
                <a:solidFill>
                  <a:srgbClr val="1C2530"/>
                </a:solidFill>
                <a:latin typeface="Arial"/>
              </a:rPr>
              <a:t>€8M</a:t>
            </a:r>
          </a:p>
        </p:txBody>
      </p:sp>
      <p:cxnSp>
        <p:nvCxnSpPr>
          <p:cNvPr id="23" name="cpe|exhibit|connector|22"/>
          <p:cNvCxnSpPr/>
          <p:nvPr/>
        </p:nvCxnSpPr>
        <p:spPr>
          <a:xfrm>
            <a:off x="2691994" y="384048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4" name="cpe|exhibit|connector|23"/>
          <p:cNvCxnSpPr/>
          <p:nvPr/>
        </p:nvCxnSpPr>
        <p:spPr>
          <a:xfrm>
            <a:off x="2897734" y="384048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25" name="cpe|exhibit|fill|24"/>
          <p:cNvSpPr/>
          <p:nvPr/>
        </p:nvSpPr>
        <p:spPr>
          <a:xfrm>
            <a:off x="3103474" y="3533790"/>
            <a:ext cx="2189074" cy="613380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text|25"/>
          <p:cNvSpPr txBox="1"/>
          <p:nvPr/>
        </p:nvSpPr>
        <p:spPr>
          <a:xfrm>
            <a:off x="3176626" y="3552078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Warehousing
</a:t>
            </a:r>
            <a:r>
              <a:rPr sz="1400" b="1">
                <a:solidFill>
                  <a:srgbClr val="1C2530"/>
                </a:solidFill>
                <a:latin typeface="Arial"/>
              </a:rPr>
              <a:t>€12M</a:t>
            </a:r>
          </a:p>
        </p:txBody>
      </p:sp>
      <p:cxnSp>
        <p:nvCxnSpPr>
          <p:cNvPr id="27" name="cpe|exhibit|connector|26"/>
          <p:cNvCxnSpPr/>
          <p:nvPr/>
        </p:nvCxnSpPr>
        <p:spPr>
          <a:xfrm>
            <a:off x="5292547" y="384048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8" name="cpe|exhibit|connector|27"/>
          <p:cNvCxnSpPr/>
          <p:nvPr/>
        </p:nvCxnSpPr>
        <p:spPr>
          <a:xfrm>
            <a:off x="5498287" y="3447288"/>
            <a:ext cx="0" cy="393192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9" name="cpe|exhibit|connector|28"/>
          <p:cNvCxnSpPr/>
          <p:nvPr/>
        </p:nvCxnSpPr>
        <p:spPr>
          <a:xfrm>
            <a:off x="5498287" y="344728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30" name="cpe|exhibit|fill|29"/>
          <p:cNvSpPr/>
          <p:nvPr/>
        </p:nvSpPr>
        <p:spPr>
          <a:xfrm>
            <a:off x="5704027" y="3140598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text|30"/>
          <p:cNvSpPr txBox="1"/>
          <p:nvPr/>
        </p:nvSpPr>
        <p:spPr>
          <a:xfrm>
            <a:off x="5777179" y="3158886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Manual picking
</a:t>
            </a:r>
            <a:r>
              <a:rPr sz="1400" b="1">
                <a:solidFill>
                  <a:srgbClr val="1C2530"/>
                </a:solidFill>
                <a:latin typeface="Arial"/>
              </a:rPr>
              <a:t>€9M</a:t>
            </a:r>
          </a:p>
        </p:txBody>
      </p:sp>
      <p:cxnSp>
        <p:nvCxnSpPr>
          <p:cNvPr id="32" name="cpe|exhibit|connector|31"/>
          <p:cNvCxnSpPr/>
          <p:nvPr/>
        </p:nvCxnSpPr>
        <p:spPr>
          <a:xfrm>
            <a:off x="5292547" y="384048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33" name="cpe|exhibit|connector|32"/>
          <p:cNvCxnSpPr/>
          <p:nvPr/>
        </p:nvCxnSpPr>
        <p:spPr>
          <a:xfrm>
            <a:off x="5498287" y="3840480"/>
            <a:ext cx="0" cy="393192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34" name="cpe|exhibit|connector|33"/>
          <p:cNvCxnSpPr/>
          <p:nvPr/>
        </p:nvCxnSpPr>
        <p:spPr>
          <a:xfrm>
            <a:off x="5498287" y="4233672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35" name="cpe|exhibit|fill|34"/>
          <p:cNvSpPr/>
          <p:nvPr/>
        </p:nvSpPr>
        <p:spPr>
          <a:xfrm>
            <a:off x="5704027" y="3926982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text|35"/>
          <p:cNvSpPr txBox="1"/>
          <p:nvPr/>
        </p:nvSpPr>
        <p:spPr>
          <a:xfrm>
            <a:off x="5777179" y="3945270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Overtime
</a:t>
            </a:r>
            <a:r>
              <a:rPr sz="1400" b="1">
                <a:solidFill>
                  <a:srgbClr val="1C2530"/>
                </a:solidFill>
                <a:latin typeface="Arial"/>
              </a:rPr>
              <a:t>€3M</a:t>
            </a:r>
          </a:p>
        </p:txBody>
      </p:sp>
      <p:cxnSp>
        <p:nvCxnSpPr>
          <p:cNvPr id="37" name="cpe|exhibit|connector|36"/>
          <p:cNvCxnSpPr/>
          <p:nvPr/>
        </p:nvCxnSpPr>
        <p:spPr>
          <a:xfrm>
            <a:off x="2691994" y="384048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38" name="cpe|exhibit|connector|37"/>
          <p:cNvCxnSpPr/>
          <p:nvPr/>
        </p:nvCxnSpPr>
        <p:spPr>
          <a:xfrm>
            <a:off x="2897734" y="3840480"/>
            <a:ext cx="0" cy="1572768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39" name="cpe|exhibit|connector|38"/>
          <p:cNvCxnSpPr/>
          <p:nvPr/>
        </p:nvCxnSpPr>
        <p:spPr>
          <a:xfrm>
            <a:off x="2897734" y="541324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40" name="cpe|exhibit|fill|39"/>
          <p:cNvSpPr/>
          <p:nvPr/>
        </p:nvSpPr>
        <p:spPr>
          <a:xfrm>
            <a:off x="3103474" y="5106558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cpe|exhibit|text|40"/>
          <p:cNvSpPr txBox="1"/>
          <p:nvPr/>
        </p:nvSpPr>
        <p:spPr>
          <a:xfrm>
            <a:off x="3176626" y="5124846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Customer terms
</a:t>
            </a:r>
            <a:r>
              <a:rPr sz="1400" b="1">
                <a:solidFill>
                  <a:srgbClr val="1C2530"/>
                </a:solidFill>
                <a:latin typeface="Arial"/>
              </a:rPr>
              <a:t>€13M</a:t>
            </a:r>
          </a:p>
        </p:txBody>
      </p:sp>
      <p:cxnSp>
        <p:nvCxnSpPr>
          <p:cNvPr id="42" name="cpe|exhibit|connector|41"/>
          <p:cNvCxnSpPr/>
          <p:nvPr/>
        </p:nvCxnSpPr>
        <p:spPr>
          <a:xfrm>
            <a:off x="5292547" y="541324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43" name="cpe|exhibit|connector|42"/>
          <p:cNvCxnSpPr/>
          <p:nvPr/>
        </p:nvCxnSpPr>
        <p:spPr>
          <a:xfrm>
            <a:off x="5498287" y="5020056"/>
            <a:ext cx="0" cy="393192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44" name="cpe|exhibit|connector|43"/>
          <p:cNvCxnSpPr/>
          <p:nvPr/>
        </p:nvCxnSpPr>
        <p:spPr>
          <a:xfrm>
            <a:off x="5498287" y="5020056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45" name="cpe|exhibit|fill|44"/>
          <p:cNvSpPr/>
          <p:nvPr/>
        </p:nvSpPr>
        <p:spPr>
          <a:xfrm>
            <a:off x="5704027" y="4713366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cpe|exhibit|text|45"/>
          <p:cNvSpPr txBox="1"/>
          <p:nvPr/>
        </p:nvSpPr>
        <p:spPr>
          <a:xfrm>
            <a:off x="5777179" y="4731654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Small drops
</a:t>
            </a:r>
            <a:r>
              <a:rPr sz="1400" b="1">
                <a:solidFill>
                  <a:srgbClr val="1C2530"/>
                </a:solidFill>
                <a:latin typeface="Arial"/>
              </a:rPr>
              <a:t>€8M</a:t>
            </a:r>
          </a:p>
        </p:txBody>
      </p:sp>
      <p:cxnSp>
        <p:nvCxnSpPr>
          <p:cNvPr id="47" name="cpe|exhibit|connector|46"/>
          <p:cNvCxnSpPr/>
          <p:nvPr/>
        </p:nvCxnSpPr>
        <p:spPr>
          <a:xfrm>
            <a:off x="5292547" y="541324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48" name="cpe|exhibit|connector|47"/>
          <p:cNvCxnSpPr/>
          <p:nvPr/>
        </p:nvCxnSpPr>
        <p:spPr>
          <a:xfrm>
            <a:off x="5498287" y="5413248"/>
            <a:ext cx="0" cy="393192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49" name="cpe|exhibit|connector|48"/>
          <p:cNvCxnSpPr/>
          <p:nvPr/>
        </p:nvCxnSpPr>
        <p:spPr>
          <a:xfrm>
            <a:off x="5498287" y="580644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50" name="cpe|exhibit|fill|49"/>
          <p:cNvSpPr/>
          <p:nvPr/>
        </p:nvSpPr>
        <p:spPr>
          <a:xfrm>
            <a:off x="5704027" y="5499750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cpe|exhibit|text|50"/>
          <p:cNvSpPr txBox="1"/>
          <p:nvPr/>
        </p:nvSpPr>
        <p:spPr>
          <a:xfrm>
            <a:off x="5777179" y="5518038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Free returns
</a:t>
            </a:r>
            <a:r>
              <a:rPr sz="1400" b="1">
                <a:solidFill>
                  <a:srgbClr val="1C2530"/>
                </a:solidFill>
                <a:latin typeface="Arial"/>
              </a:rPr>
              <a:t>€5M</a:t>
            </a:r>
          </a:p>
        </p:txBody>
      </p:sp>
      <p:cxnSp>
        <p:nvCxnSpPr>
          <p:cNvPr id="52" name="cpe|commentary|line|51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53" name="cpe|commentary|text|52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1">
                <a:solidFill>
                  <a:srgbClr val="1C2530"/>
                </a:solidFill>
                <a:latin typeface="Arial"/>
              </a:rPr>
              <a:t>Network</a:t>
            </a:r>
            <a:r>
              <a:rPr sz="1400" b="0">
                <a:solidFill>
                  <a:srgbClr val="1C2530"/>
                </a:solidFill>
                <a:latin typeface="Arial"/>
              </a:rPr>
              <a:t> is the largest driver: 14 depots vs 9 at peers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1">
                <a:solidFill>
                  <a:srgbClr val="1C2530"/>
                </a:solidFill>
                <a:latin typeface="Arial"/>
              </a:rPr>
              <a:t>Warehousing</a:t>
            </a:r>
            <a:r>
              <a:rPr sz="1400" b="0">
                <a:solidFill>
                  <a:srgbClr val="1C2530"/>
                </a:solidFill>
                <a:latin typeface="Arial"/>
              </a:rPr>
              <a:t> is fixable with automation of two hubs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C2530"/>
                </a:solidFill>
                <a:latin typeface="Arial"/>
              </a:rPr>
              <a:t>Customer terms need commercial, not operational, action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Network and warehousing explain €31M of the €44M gap to peers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Cost model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6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502920" y="3171825"/>
            <a:ext cx="3454298" cy="505206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576072" y="3190113"/>
            <a:ext cx="3307994" cy="46863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Gap to peer median
</a:t>
            </a:r>
            <a:r>
              <a:rPr sz="1200" b="1">
                <a:solidFill>
                  <a:srgbClr val="FFFFFF"/>
                </a:solidFill>
                <a:latin typeface="Arial"/>
              </a:rPr>
              <a:t>€44M</a:t>
            </a:r>
          </a:p>
        </p:txBody>
      </p:sp>
      <p:cxnSp>
        <p:nvCxnSpPr>
          <p:cNvPr id="8" name="cpe|exhibit|connector|7"/>
          <p:cNvCxnSpPr/>
          <p:nvPr/>
        </p:nvCxnSpPr>
        <p:spPr>
          <a:xfrm>
            <a:off x="3957218" y="342442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9" name="cpe|exhibit|connector|8"/>
          <p:cNvCxnSpPr/>
          <p:nvPr/>
        </p:nvCxnSpPr>
        <p:spPr>
          <a:xfrm>
            <a:off x="4162958" y="2129028"/>
            <a:ext cx="0" cy="129540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0" name="cpe|exhibit|connector|9"/>
          <p:cNvCxnSpPr/>
          <p:nvPr/>
        </p:nvCxnSpPr>
        <p:spPr>
          <a:xfrm>
            <a:off x="4162958" y="212902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11" name="cpe|exhibit|fill|10"/>
          <p:cNvSpPr/>
          <p:nvPr/>
        </p:nvSpPr>
        <p:spPr>
          <a:xfrm>
            <a:off x="4368698" y="1876425"/>
            <a:ext cx="3454298" cy="505206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text|11"/>
          <p:cNvSpPr txBox="1"/>
          <p:nvPr/>
        </p:nvSpPr>
        <p:spPr>
          <a:xfrm>
            <a:off x="4441850" y="1894713"/>
            <a:ext cx="3307994" cy="46863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Network
</a:t>
            </a:r>
            <a:r>
              <a:rPr sz="1200" b="1">
                <a:solidFill>
                  <a:srgbClr val="1C2530"/>
                </a:solidFill>
                <a:latin typeface="Arial"/>
              </a:rPr>
              <a:t>€19M</a:t>
            </a:r>
          </a:p>
        </p:txBody>
      </p:sp>
      <p:cxnSp>
        <p:nvCxnSpPr>
          <p:cNvPr id="13" name="cpe|exhibit|connector|12"/>
          <p:cNvCxnSpPr/>
          <p:nvPr/>
        </p:nvCxnSpPr>
        <p:spPr>
          <a:xfrm>
            <a:off x="7822997" y="212902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4" name="cpe|exhibit|connector|13"/>
          <p:cNvCxnSpPr/>
          <p:nvPr/>
        </p:nvCxnSpPr>
        <p:spPr>
          <a:xfrm>
            <a:off x="8028737" y="1805178"/>
            <a:ext cx="0" cy="32385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5" name="cpe|exhibit|connector|14"/>
          <p:cNvCxnSpPr/>
          <p:nvPr/>
        </p:nvCxnSpPr>
        <p:spPr>
          <a:xfrm>
            <a:off x="8028737" y="180517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16" name="cpe|exhibit|fill|15"/>
          <p:cNvSpPr/>
          <p:nvPr/>
        </p:nvSpPr>
        <p:spPr>
          <a:xfrm>
            <a:off x="8234477" y="1552575"/>
            <a:ext cx="3454298" cy="50520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text|16"/>
          <p:cNvSpPr txBox="1"/>
          <p:nvPr/>
        </p:nvSpPr>
        <p:spPr>
          <a:xfrm>
            <a:off x="8307629" y="1570863"/>
            <a:ext cx="3307994" cy="46863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Too many depots
</a:t>
            </a:r>
            <a:r>
              <a:rPr sz="1200" b="1">
                <a:solidFill>
                  <a:srgbClr val="1C2530"/>
                </a:solidFill>
                <a:latin typeface="Arial"/>
              </a:rPr>
              <a:t>€11M</a:t>
            </a:r>
          </a:p>
        </p:txBody>
      </p:sp>
      <p:cxnSp>
        <p:nvCxnSpPr>
          <p:cNvPr id="18" name="cpe|exhibit|connector|17"/>
          <p:cNvCxnSpPr/>
          <p:nvPr/>
        </p:nvCxnSpPr>
        <p:spPr>
          <a:xfrm>
            <a:off x="7822997" y="212902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9" name="cpe|exhibit|connector|18"/>
          <p:cNvCxnSpPr/>
          <p:nvPr/>
        </p:nvCxnSpPr>
        <p:spPr>
          <a:xfrm>
            <a:off x="8028737" y="2129028"/>
            <a:ext cx="0" cy="32385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0" name="cpe|exhibit|connector|19"/>
          <p:cNvCxnSpPr/>
          <p:nvPr/>
        </p:nvCxnSpPr>
        <p:spPr>
          <a:xfrm>
            <a:off x="8028737" y="245287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21" name="cpe|exhibit|fill|20"/>
          <p:cNvSpPr/>
          <p:nvPr/>
        </p:nvSpPr>
        <p:spPr>
          <a:xfrm>
            <a:off x="8234477" y="2200275"/>
            <a:ext cx="3454298" cy="50520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text|21"/>
          <p:cNvSpPr txBox="1"/>
          <p:nvPr/>
        </p:nvSpPr>
        <p:spPr>
          <a:xfrm>
            <a:off x="8307629" y="2218563"/>
            <a:ext cx="3307994" cy="46863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Low truck fill
</a:t>
            </a:r>
            <a:r>
              <a:rPr sz="1200" b="1">
                <a:solidFill>
                  <a:srgbClr val="1C2530"/>
                </a:solidFill>
                <a:latin typeface="Arial"/>
              </a:rPr>
              <a:t>€8M</a:t>
            </a:r>
          </a:p>
        </p:txBody>
      </p:sp>
      <p:cxnSp>
        <p:nvCxnSpPr>
          <p:cNvPr id="23" name="cpe|exhibit|connector|22"/>
          <p:cNvCxnSpPr/>
          <p:nvPr/>
        </p:nvCxnSpPr>
        <p:spPr>
          <a:xfrm>
            <a:off x="3957218" y="342442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4" name="cpe|exhibit|connector|23"/>
          <p:cNvCxnSpPr/>
          <p:nvPr/>
        </p:nvCxnSpPr>
        <p:spPr>
          <a:xfrm>
            <a:off x="4162958" y="342442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25" name="cpe|exhibit|fill|24"/>
          <p:cNvSpPr/>
          <p:nvPr/>
        </p:nvSpPr>
        <p:spPr>
          <a:xfrm>
            <a:off x="4368698" y="3171825"/>
            <a:ext cx="3454298" cy="505206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text|25"/>
          <p:cNvSpPr txBox="1"/>
          <p:nvPr/>
        </p:nvSpPr>
        <p:spPr>
          <a:xfrm>
            <a:off x="4441850" y="3190113"/>
            <a:ext cx="3307994" cy="46863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Warehousing
</a:t>
            </a:r>
            <a:r>
              <a:rPr sz="1200" b="1">
                <a:solidFill>
                  <a:srgbClr val="1C2530"/>
                </a:solidFill>
                <a:latin typeface="Arial"/>
              </a:rPr>
              <a:t>€12M</a:t>
            </a:r>
          </a:p>
        </p:txBody>
      </p:sp>
      <p:cxnSp>
        <p:nvCxnSpPr>
          <p:cNvPr id="27" name="cpe|exhibit|connector|26"/>
          <p:cNvCxnSpPr/>
          <p:nvPr/>
        </p:nvCxnSpPr>
        <p:spPr>
          <a:xfrm>
            <a:off x="7822997" y="342442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8" name="cpe|exhibit|connector|27"/>
          <p:cNvCxnSpPr/>
          <p:nvPr/>
        </p:nvCxnSpPr>
        <p:spPr>
          <a:xfrm>
            <a:off x="8028737" y="3100578"/>
            <a:ext cx="0" cy="32385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9" name="cpe|exhibit|connector|28"/>
          <p:cNvCxnSpPr/>
          <p:nvPr/>
        </p:nvCxnSpPr>
        <p:spPr>
          <a:xfrm>
            <a:off x="8028737" y="310057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30" name="cpe|exhibit|fill|29"/>
          <p:cNvSpPr/>
          <p:nvPr/>
        </p:nvSpPr>
        <p:spPr>
          <a:xfrm>
            <a:off x="8234477" y="2847975"/>
            <a:ext cx="3454298" cy="50520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text|30"/>
          <p:cNvSpPr txBox="1"/>
          <p:nvPr/>
        </p:nvSpPr>
        <p:spPr>
          <a:xfrm>
            <a:off x="8307629" y="2866263"/>
            <a:ext cx="3307994" cy="46863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Manual picking
</a:t>
            </a:r>
            <a:r>
              <a:rPr sz="1200" b="1">
                <a:solidFill>
                  <a:srgbClr val="1C2530"/>
                </a:solidFill>
                <a:latin typeface="Arial"/>
              </a:rPr>
              <a:t>€9M</a:t>
            </a:r>
          </a:p>
        </p:txBody>
      </p:sp>
      <p:cxnSp>
        <p:nvCxnSpPr>
          <p:cNvPr id="32" name="cpe|exhibit|connector|31"/>
          <p:cNvCxnSpPr/>
          <p:nvPr/>
        </p:nvCxnSpPr>
        <p:spPr>
          <a:xfrm>
            <a:off x="7822997" y="342442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33" name="cpe|exhibit|connector|32"/>
          <p:cNvCxnSpPr/>
          <p:nvPr/>
        </p:nvCxnSpPr>
        <p:spPr>
          <a:xfrm>
            <a:off x="8028737" y="3424428"/>
            <a:ext cx="0" cy="32385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34" name="cpe|exhibit|connector|33"/>
          <p:cNvCxnSpPr/>
          <p:nvPr/>
        </p:nvCxnSpPr>
        <p:spPr>
          <a:xfrm>
            <a:off x="8028737" y="374827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35" name="cpe|exhibit|fill|34"/>
          <p:cNvSpPr/>
          <p:nvPr/>
        </p:nvSpPr>
        <p:spPr>
          <a:xfrm>
            <a:off x="8234477" y="3495675"/>
            <a:ext cx="3454298" cy="50520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text|35"/>
          <p:cNvSpPr txBox="1"/>
          <p:nvPr/>
        </p:nvSpPr>
        <p:spPr>
          <a:xfrm>
            <a:off x="8307629" y="3513963"/>
            <a:ext cx="3307994" cy="46863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Overtime
</a:t>
            </a:r>
            <a:r>
              <a:rPr sz="1200" b="1">
                <a:solidFill>
                  <a:srgbClr val="1C2530"/>
                </a:solidFill>
                <a:latin typeface="Arial"/>
              </a:rPr>
              <a:t>€3M</a:t>
            </a:r>
          </a:p>
        </p:txBody>
      </p:sp>
      <p:cxnSp>
        <p:nvCxnSpPr>
          <p:cNvPr id="37" name="cpe|exhibit|connector|36"/>
          <p:cNvCxnSpPr/>
          <p:nvPr/>
        </p:nvCxnSpPr>
        <p:spPr>
          <a:xfrm>
            <a:off x="3957218" y="342442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38" name="cpe|exhibit|connector|37"/>
          <p:cNvCxnSpPr/>
          <p:nvPr/>
        </p:nvCxnSpPr>
        <p:spPr>
          <a:xfrm>
            <a:off x="4162958" y="3424428"/>
            <a:ext cx="0" cy="129540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39" name="cpe|exhibit|connector|38"/>
          <p:cNvCxnSpPr/>
          <p:nvPr/>
        </p:nvCxnSpPr>
        <p:spPr>
          <a:xfrm>
            <a:off x="4162958" y="471982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40" name="cpe|exhibit|fill|39"/>
          <p:cNvSpPr/>
          <p:nvPr/>
        </p:nvSpPr>
        <p:spPr>
          <a:xfrm>
            <a:off x="4368698" y="4467225"/>
            <a:ext cx="3454298" cy="50520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cpe|exhibit|text|40"/>
          <p:cNvSpPr txBox="1"/>
          <p:nvPr/>
        </p:nvSpPr>
        <p:spPr>
          <a:xfrm>
            <a:off x="4441850" y="4485513"/>
            <a:ext cx="3307994" cy="46863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Customer terms
</a:t>
            </a:r>
            <a:r>
              <a:rPr sz="1200" b="1">
                <a:solidFill>
                  <a:srgbClr val="1C2530"/>
                </a:solidFill>
                <a:latin typeface="Arial"/>
              </a:rPr>
              <a:t>€13M</a:t>
            </a:r>
          </a:p>
        </p:txBody>
      </p:sp>
      <p:cxnSp>
        <p:nvCxnSpPr>
          <p:cNvPr id="42" name="cpe|exhibit|connector|41"/>
          <p:cNvCxnSpPr/>
          <p:nvPr/>
        </p:nvCxnSpPr>
        <p:spPr>
          <a:xfrm>
            <a:off x="7822997" y="471982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43" name="cpe|exhibit|connector|42"/>
          <p:cNvCxnSpPr/>
          <p:nvPr/>
        </p:nvCxnSpPr>
        <p:spPr>
          <a:xfrm>
            <a:off x="8028737" y="4395978"/>
            <a:ext cx="0" cy="32385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44" name="cpe|exhibit|connector|43"/>
          <p:cNvCxnSpPr/>
          <p:nvPr/>
        </p:nvCxnSpPr>
        <p:spPr>
          <a:xfrm>
            <a:off x="8028737" y="439597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45" name="cpe|exhibit|fill|44"/>
          <p:cNvSpPr/>
          <p:nvPr/>
        </p:nvSpPr>
        <p:spPr>
          <a:xfrm>
            <a:off x="8234477" y="4143375"/>
            <a:ext cx="3454298" cy="50520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cpe|exhibit|text|45"/>
          <p:cNvSpPr txBox="1"/>
          <p:nvPr/>
        </p:nvSpPr>
        <p:spPr>
          <a:xfrm>
            <a:off x="8307629" y="4161663"/>
            <a:ext cx="3307994" cy="46863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Small drops
</a:t>
            </a:r>
            <a:r>
              <a:rPr sz="1200" b="1">
                <a:solidFill>
                  <a:srgbClr val="1C2530"/>
                </a:solidFill>
                <a:latin typeface="Arial"/>
              </a:rPr>
              <a:t>€8M</a:t>
            </a:r>
          </a:p>
        </p:txBody>
      </p:sp>
      <p:cxnSp>
        <p:nvCxnSpPr>
          <p:cNvPr id="47" name="cpe|exhibit|connector|46"/>
          <p:cNvCxnSpPr/>
          <p:nvPr/>
        </p:nvCxnSpPr>
        <p:spPr>
          <a:xfrm>
            <a:off x="7822997" y="471982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48" name="cpe|exhibit|connector|47"/>
          <p:cNvCxnSpPr/>
          <p:nvPr/>
        </p:nvCxnSpPr>
        <p:spPr>
          <a:xfrm>
            <a:off x="8028737" y="4719828"/>
            <a:ext cx="0" cy="32385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49" name="cpe|exhibit|connector|48"/>
          <p:cNvCxnSpPr/>
          <p:nvPr/>
        </p:nvCxnSpPr>
        <p:spPr>
          <a:xfrm>
            <a:off x="8028737" y="504367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50" name="cpe|exhibit|fill|49"/>
          <p:cNvSpPr/>
          <p:nvPr/>
        </p:nvSpPr>
        <p:spPr>
          <a:xfrm>
            <a:off x="8234477" y="4791075"/>
            <a:ext cx="3454298" cy="50520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cpe|exhibit|text|50"/>
          <p:cNvSpPr txBox="1"/>
          <p:nvPr/>
        </p:nvSpPr>
        <p:spPr>
          <a:xfrm>
            <a:off x="8307629" y="4809363"/>
            <a:ext cx="3307994" cy="46863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Free returns
</a:t>
            </a:r>
            <a:r>
              <a:rPr sz="1200" b="1">
                <a:solidFill>
                  <a:srgbClr val="1C2530"/>
                </a:solidFill>
                <a:latin typeface="Arial"/>
              </a:rPr>
              <a:t>€5M</a:t>
            </a:r>
          </a:p>
        </p:txBody>
      </p:sp>
      <p:cxnSp>
        <p:nvCxnSpPr>
          <p:cNvPr id="52" name="cpe|commentary|line|51"/>
          <p:cNvCxnSpPr/>
          <p:nvPr/>
        </p:nvCxnSpPr>
        <p:spPr>
          <a:xfrm>
            <a:off x="502920" y="5568696"/>
            <a:ext cx="11185855" cy="0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53" name="cpe|commentary|text|52"/>
          <p:cNvSpPr txBox="1"/>
          <p:nvPr/>
        </p:nvSpPr>
        <p:spPr>
          <a:xfrm>
            <a:off x="502920" y="5705856"/>
            <a:ext cx="3594506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C2530"/>
                </a:solidFill>
                <a:latin typeface="Arial"/>
              </a:rPr>
              <a:t>Network</a:t>
            </a:r>
            <a:r>
              <a:rPr sz="1200" b="0">
                <a:solidFill>
                  <a:srgbClr val="1C2530"/>
                </a:solidFill>
                <a:latin typeface="Arial"/>
              </a:rPr>
              <a:t> is the largest driver: 14 depots vs 9 at peers</a:t>
            </a:r>
          </a:p>
        </p:txBody>
      </p:sp>
      <p:sp>
        <p:nvSpPr>
          <p:cNvPr id="54" name="cpe|commentary|text|53"/>
          <p:cNvSpPr txBox="1"/>
          <p:nvPr/>
        </p:nvSpPr>
        <p:spPr>
          <a:xfrm>
            <a:off x="4298594" y="5705856"/>
            <a:ext cx="3594506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C2530"/>
                </a:solidFill>
                <a:latin typeface="Arial"/>
              </a:rPr>
              <a:t>Warehousing</a:t>
            </a:r>
            <a:r>
              <a:rPr sz="1200" b="0">
                <a:solidFill>
                  <a:srgbClr val="1C2530"/>
                </a:solidFill>
                <a:latin typeface="Arial"/>
              </a:rPr>
              <a:t> is fixable with automation of two hubs</a:t>
            </a:r>
          </a:p>
        </p:txBody>
      </p:sp>
      <p:sp>
        <p:nvSpPr>
          <p:cNvPr id="55" name="cpe|commentary|text|54"/>
          <p:cNvSpPr txBox="1"/>
          <p:nvPr/>
        </p:nvSpPr>
        <p:spPr>
          <a:xfrm>
            <a:off x="8094269" y="5705856"/>
            <a:ext cx="3594506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Customer terms need commercial, not operational, action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Network and warehousing explain €31M of the €44M gap to peers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Cost model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6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502920" y="3145970"/>
            <a:ext cx="3454298" cy="497479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576072" y="3164258"/>
            <a:ext cx="3307994" cy="4609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Gap to peer median
</a:t>
            </a:r>
            <a:r>
              <a:rPr sz="1400" b="1">
                <a:solidFill>
                  <a:srgbClr val="FFFFFF"/>
                </a:solidFill>
                <a:latin typeface="Arial"/>
              </a:rPr>
              <a:t>€44M</a:t>
            </a:r>
          </a:p>
        </p:txBody>
      </p:sp>
      <p:cxnSp>
        <p:nvCxnSpPr>
          <p:cNvPr id="8" name="cpe|exhibit|connector|7"/>
          <p:cNvCxnSpPr/>
          <p:nvPr/>
        </p:nvCxnSpPr>
        <p:spPr>
          <a:xfrm>
            <a:off x="3957218" y="339471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9" name="cpe|exhibit|connector|8"/>
          <p:cNvCxnSpPr/>
          <p:nvPr/>
        </p:nvCxnSpPr>
        <p:spPr>
          <a:xfrm>
            <a:off x="4162958" y="2119122"/>
            <a:ext cx="0" cy="1275588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0" name="cpe|exhibit|connector|9"/>
          <p:cNvCxnSpPr/>
          <p:nvPr/>
        </p:nvCxnSpPr>
        <p:spPr>
          <a:xfrm>
            <a:off x="4162958" y="2119122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11" name="cpe|exhibit|fill|10"/>
          <p:cNvSpPr/>
          <p:nvPr/>
        </p:nvSpPr>
        <p:spPr>
          <a:xfrm>
            <a:off x="4368698" y="1870382"/>
            <a:ext cx="3454298" cy="497479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text|11"/>
          <p:cNvSpPr txBox="1"/>
          <p:nvPr/>
        </p:nvSpPr>
        <p:spPr>
          <a:xfrm>
            <a:off x="4441850" y="1888670"/>
            <a:ext cx="3307994" cy="4609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Network
</a:t>
            </a:r>
            <a:r>
              <a:rPr sz="1400" b="1">
                <a:solidFill>
                  <a:srgbClr val="1C2530"/>
                </a:solidFill>
                <a:latin typeface="Arial"/>
              </a:rPr>
              <a:t>€19M</a:t>
            </a:r>
          </a:p>
        </p:txBody>
      </p:sp>
      <p:cxnSp>
        <p:nvCxnSpPr>
          <p:cNvPr id="13" name="cpe|exhibit|connector|12"/>
          <p:cNvCxnSpPr/>
          <p:nvPr/>
        </p:nvCxnSpPr>
        <p:spPr>
          <a:xfrm>
            <a:off x="7822997" y="2119122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4" name="cpe|exhibit|connector|13"/>
          <p:cNvCxnSpPr/>
          <p:nvPr/>
        </p:nvCxnSpPr>
        <p:spPr>
          <a:xfrm>
            <a:off x="8028737" y="1800225"/>
            <a:ext cx="0" cy="318897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5" name="cpe|exhibit|connector|14"/>
          <p:cNvCxnSpPr/>
          <p:nvPr/>
        </p:nvCxnSpPr>
        <p:spPr>
          <a:xfrm>
            <a:off x="8028737" y="1800225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16" name="cpe|exhibit|fill|15"/>
          <p:cNvSpPr/>
          <p:nvPr/>
        </p:nvSpPr>
        <p:spPr>
          <a:xfrm>
            <a:off x="8234477" y="1551485"/>
            <a:ext cx="3454298" cy="49747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text|16"/>
          <p:cNvSpPr txBox="1"/>
          <p:nvPr/>
        </p:nvSpPr>
        <p:spPr>
          <a:xfrm>
            <a:off x="8307629" y="1569773"/>
            <a:ext cx="3307994" cy="4609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Too many depots
</a:t>
            </a:r>
            <a:r>
              <a:rPr sz="1400" b="1">
                <a:solidFill>
                  <a:srgbClr val="1C2530"/>
                </a:solidFill>
                <a:latin typeface="Arial"/>
              </a:rPr>
              <a:t>€11M</a:t>
            </a:r>
          </a:p>
        </p:txBody>
      </p:sp>
      <p:cxnSp>
        <p:nvCxnSpPr>
          <p:cNvPr id="18" name="cpe|exhibit|connector|17"/>
          <p:cNvCxnSpPr/>
          <p:nvPr/>
        </p:nvCxnSpPr>
        <p:spPr>
          <a:xfrm>
            <a:off x="7822997" y="2119122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9" name="cpe|exhibit|connector|18"/>
          <p:cNvCxnSpPr/>
          <p:nvPr/>
        </p:nvCxnSpPr>
        <p:spPr>
          <a:xfrm>
            <a:off x="8028737" y="2119122"/>
            <a:ext cx="0" cy="318897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0" name="cpe|exhibit|connector|19"/>
          <p:cNvCxnSpPr/>
          <p:nvPr/>
        </p:nvCxnSpPr>
        <p:spPr>
          <a:xfrm>
            <a:off x="8028737" y="2438019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21" name="cpe|exhibit|fill|20"/>
          <p:cNvSpPr/>
          <p:nvPr/>
        </p:nvSpPr>
        <p:spPr>
          <a:xfrm>
            <a:off x="8234477" y="2189279"/>
            <a:ext cx="3454298" cy="49747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text|21"/>
          <p:cNvSpPr txBox="1"/>
          <p:nvPr/>
        </p:nvSpPr>
        <p:spPr>
          <a:xfrm>
            <a:off x="8307629" y="2207567"/>
            <a:ext cx="3307994" cy="4609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Low truck fill
</a:t>
            </a:r>
            <a:r>
              <a:rPr sz="1400" b="1">
                <a:solidFill>
                  <a:srgbClr val="1C2530"/>
                </a:solidFill>
                <a:latin typeface="Arial"/>
              </a:rPr>
              <a:t>€8M</a:t>
            </a:r>
          </a:p>
        </p:txBody>
      </p:sp>
      <p:cxnSp>
        <p:nvCxnSpPr>
          <p:cNvPr id="23" name="cpe|exhibit|connector|22"/>
          <p:cNvCxnSpPr/>
          <p:nvPr/>
        </p:nvCxnSpPr>
        <p:spPr>
          <a:xfrm>
            <a:off x="3957218" y="339471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4" name="cpe|exhibit|connector|23"/>
          <p:cNvCxnSpPr/>
          <p:nvPr/>
        </p:nvCxnSpPr>
        <p:spPr>
          <a:xfrm>
            <a:off x="4162958" y="339471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25" name="cpe|exhibit|fill|24"/>
          <p:cNvSpPr/>
          <p:nvPr/>
        </p:nvSpPr>
        <p:spPr>
          <a:xfrm>
            <a:off x="4368698" y="3145970"/>
            <a:ext cx="3454298" cy="497479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text|25"/>
          <p:cNvSpPr txBox="1"/>
          <p:nvPr/>
        </p:nvSpPr>
        <p:spPr>
          <a:xfrm>
            <a:off x="4441850" y="3164258"/>
            <a:ext cx="3307994" cy="4609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Warehousing
</a:t>
            </a:r>
            <a:r>
              <a:rPr sz="1400" b="1">
                <a:solidFill>
                  <a:srgbClr val="1C2530"/>
                </a:solidFill>
                <a:latin typeface="Arial"/>
              </a:rPr>
              <a:t>€12M</a:t>
            </a:r>
          </a:p>
        </p:txBody>
      </p:sp>
      <p:cxnSp>
        <p:nvCxnSpPr>
          <p:cNvPr id="27" name="cpe|exhibit|connector|26"/>
          <p:cNvCxnSpPr/>
          <p:nvPr/>
        </p:nvCxnSpPr>
        <p:spPr>
          <a:xfrm>
            <a:off x="7822997" y="339471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8" name="cpe|exhibit|connector|27"/>
          <p:cNvCxnSpPr/>
          <p:nvPr/>
        </p:nvCxnSpPr>
        <p:spPr>
          <a:xfrm>
            <a:off x="8028737" y="3075813"/>
            <a:ext cx="0" cy="318897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9" name="cpe|exhibit|connector|28"/>
          <p:cNvCxnSpPr/>
          <p:nvPr/>
        </p:nvCxnSpPr>
        <p:spPr>
          <a:xfrm>
            <a:off x="8028737" y="3075813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30" name="cpe|exhibit|fill|29"/>
          <p:cNvSpPr/>
          <p:nvPr/>
        </p:nvSpPr>
        <p:spPr>
          <a:xfrm>
            <a:off x="8234477" y="2827073"/>
            <a:ext cx="3454298" cy="49747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text|30"/>
          <p:cNvSpPr txBox="1"/>
          <p:nvPr/>
        </p:nvSpPr>
        <p:spPr>
          <a:xfrm>
            <a:off x="8307629" y="2845361"/>
            <a:ext cx="3307994" cy="4609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Manual picking
</a:t>
            </a:r>
            <a:r>
              <a:rPr sz="1400" b="1">
                <a:solidFill>
                  <a:srgbClr val="1C2530"/>
                </a:solidFill>
                <a:latin typeface="Arial"/>
              </a:rPr>
              <a:t>€9M</a:t>
            </a:r>
          </a:p>
        </p:txBody>
      </p:sp>
      <p:cxnSp>
        <p:nvCxnSpPr>
          <p:cNvPr id="32" name="cpe|exhibit|connector|31"/>
          <p:cNvCxnSpPr/>
          <p:nvPr/>
        </p:nvCxnSpPr>
        <p:spPr>
          <a:xfrm>
            <a:off x="7822997" y="339471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33" name="cpe|exhibit|connector|32"/>
          <p:cNvCxnSpPr/>
          <p:nvPr/>
        </p:nvCxnSpPr>
        <p:spPr>
          <a:xfrm>
            <a:off x="8028737" y="3394710"/>
            <a:ext cx="0" cy="318897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34" name="cpe|exhibit|connector|33"/>
          <p:cNvCxnSpPr/>
          <p:nvPr/>
        </p:nvCxnSpPr>
        <p:spPr>
          <a:xfrm>
            <a:off x="8028737" y="3713607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35" name="cpe|exhibit|fill|34"/>
          <p:cNvSpPr/>
          <p:nvPr/>
        </p:nvSpPr>
        <p:spPr>
          <a:xfrm>
            <a:off x="8234477" y="3464867"/>
            <a:ext cx="3454298" cy="49747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text|35"/>
          <p:cNvSpPr txBox="1"/>
          <p:nvPr/>
        </p:nvSpPr>
        <p:spPr>
          <a:xfrm>
            <a:off x="8307629" y="3483155"/>
            <a:ext cx="3307994" cy="4609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Overtime
</a:t>
            </a:r>
            <a:r>
              <a:rPr sz="1400" b="1">
                <a:solidFill>
                  <a:srgbClr val="1C2530"/>
                </a:solidFill>
                <a:latin typeface="Arial"/>
              </a:rPr>
              <a:t>€3M</a:t>
            </a:r>
          </a:p>
        </p:txBody>
      </p:sp>
      <p:cxnSp>
        <p:nvCxnSpPr>
          <p:cNvPr id="37" name="cpe|exhibit|connector|36"/>
          <p:cNvCxnSpPr/>
          <p:nvPr/>
        </p:nvCxnSpPr>
        <p:spPr>
          <a:xfrm>
            <a:off x="3957218" y="339471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38" name="cpe|exhibit|connector|37"/>
          <p:cNvCxnSpPr/>
          <p:nvPr/>
        </p:nvCxnSpPr>
        <p:spPr>
          <a:xfrm>
            <a:off x="4162958" y="3394710"/>
            <a:ext cx="0" cy="1275588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39" name="cpe|exhibit|connector|38"/>
          <p:cNvCxnSpPr/>
          <p:nvPr/>
        </p:nvCxnSpPr>
        <p:spPr>
          <a:xfrm>
            <a:off x="4162958" y="467029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40" name="cpe|exhibit|fill|39"/>
          <p:cNvSpPr/>
          <p:nvPr/>
        </p:nvSpPr>
        <p:spPr>
          <a:xfrm>
            <a:off x="4368698" y="4421558"/>
            <a:ext cx="3454298" cy="49747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cpe|exhibit|text|40"/>
          <p:cNvSpPr txBox="1"/>
          <p:nvPr/>
        </p:nvSpPr>
        <p:spPr>
          <a:xfrm>
            <a:off x="4441850" y="4439846"/>
            <a:ext cx="3307994" cy="4609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Customer terms
</a:t>
            </a:r>
            <a:r>
              <a:rPr sz="1400" b="1">
                <a:solidFill>
                  <a:srgbClr val="1C2530"/>
                </a:solidFill>
                <a:latin typeface="Arial"/>
              </a:rPr>
              <a:t>€13M</a:t>
            </a:r>
          </a:p>
        </p:txBody>
      </p:sp>
      <p:cxnSp>
        <p:nvCxnSpPr>
          <p:cNvPr id="42" name="cpe|exhibit|connector|41"/>
          <p:cNvCxnSpPr/>
          <p:nvPr/>
        </p:nvCxnSpPr>
        <p:spPr>
          <a:xfrm>
            <a:off x="7822997" y="467029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43" name="cpe|exhibit|connector|42"/>
          <p:cNvCxnSpPr/>
          <p:nvPr/>
        </p:nvCxnSpPr>
        <p:spPr>
          <a:xfrm>
            <a:off x="8028737" y="4351401"/>
            <a:ext cx="0" cy="318897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44" name="cpe|exhibit|connector|43"/>
          <p:cNvCxnSpPr/>
          <p:nvPr/>
        </p:nvCxnSpPr>
        <p:spPr>
          <a:xfrm>
            <a:off x="8028737" y="4351401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45" name="cpe|exhibit|fill|44"/>
          <p:cNvSpPr/>
          <p:nvPr/>
        </p:nvSpPr>
        <p:spPr>
          <a:xfrm>
            <a:off x="8234477" y="4102661"/>
            <a:ext cx="3454298" cy="49747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cpe|exhibit|text|45"/>
          <p:cNvSpPr txBox="1"/>
          <p:nvPr/>
        </p:nvSpPr>
        <p:spPr>
          <a:xfrm>
            <a:off x="8307629" y="4120949"/>
            <a:ext cx="3307994" cy="4609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Small drops
</a:t>
            </a:r>
            <a:r>
              <a:rPr sz="1400" b="1">
                <a:solidFill>
                  <a:srgbClr val="1C2530"/>
                </a:solidFill>
                <a:latin typeface="Arial"/>
              </a:rPr>
              <a:t>€8M</a:t>
            </a:r>
          </a:p>
        </p:txBody>
      </p:sp>
      <p:cxnSp>
        <p:nvCxnSpPr>
          <p:cNvPr id="47" name="cpe|exhibit|connector|46"/>
          <p:cNvCxnSpPr/>
          <p:nvPr/>
        </p:nvCxnSpPr>
        <p:spPr>
          <a:xfrm>
            <a:off x="7822997" y="467029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48" name="cpe|exhibit|connector|47"/>
          <p:cNvCxnSpPr/>
          <p:nvPr/>
        </p:nvCxnSpPr>
        <p:spPr>
          <a:xfrm>
            <a:off x="8028737" y="4670298"/>
            <a:ext cx="0" cy="318897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49" name="cpe|exhibit|connector|48"/>
          <p:cNvCxnSpPr/>
          <p:nvPr/>
        </p:nvCxnSpPr>
        <p:spPr>
          <a:xfrm>
            <a:off x="8028737" y="4989195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50" name="cpe|exhibit|fill|49"/>
          <p:cNvSpPr/>
          <p:nvPr/>
        </p:nvSpPr>
        <p:spPr>
          <a:xfrm>
            <a:off x="8234477" y="4740455"/>
            <a:ext cx="3454298" cy="49747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cpe|exhibit|text|50"/>
          <p:cNvSpPr txBox="1"/>
          <p:nvPr/>
        </p:nvSpPr>
        <p:spPr>
          <a:xfrm>
            <a:off x="8307629" y="4758743"/>
            <a:ext cx="3307994" cy="4609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Free returns
</a:t>
            </a:r>
            <a:r>
              <a:rPr sz="1400" b="1">
                <a:solidFill>
                  <a:srgbClr val="1C2530"/>
                </a:solidFill>
                <a:latin typeface="Arial"/>
              </a:rPr>
              <a:t>€5M</a:t>
            </a:r>
          </a:p>
        </p:txBody>
      </p:sp>
      <p:cxnSp>
        <p:nvCxnSpPr>
          <p:cNvPr id="52" name="cpe|commentary|line|51"/>
          <p:cNvCxnSpPr/>
          <p:nvPr/>
        </p:nvCxnSpPr>
        <p:spPr>
          <a:xfrm>
            <a:off x="502920" y="5509260"/>
            <a:ext cx="11185855" cy="0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53" name="cpe|commentary|text|52"/>
          <p:cNvSpPr txBox="1"/>
          <p:nvPr/>
        </p:nvSpPr>
        <p:spPr>
          <a:xfrm>
            <a:off x="502920" y="5646420"/>
            <a:ext cx="3594506" cy="5532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2530"/>
                </a:solidFill>
                <a:latin typeface="Arial"/>
              </a:rPr>
              <a:t>Network</a:t>
            </a:r>
            <a:r>
              <a:rPr sz="1400" b="0">
                <a:solidFill>
                  <a:srgbClr val="1C2530"/>
                </a:solidFill>
                <a:latin typeface="Arial"/>
              </a:rPr>
              <a:t> is the largest driver: 14 depots vs 9 at peers</a:t>
            </a:r>
          </a:p>
        </p:txBody>
      </p:sp>
      <p:sp>
        <p:nvSpPr>
          <p:cNvPr id="54" name="cpe|commentary|text|53"/>
          <p:cNvSpPr txBox="1"/>
          <p:nvPr/>
        </p:nvSpPr>
        <p:spPr>
          <a:xfrm>
            <a:off x="4298594" y="5646420"/>
            <a:ext cx="3594506" cy="5532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2530"/>
                </a:solidFill>
                <a:latin typeface="Arial"/>
              </a:rPr>
              <a:t>Warehousing</a:t>
            </a:r>
            <a:r>
              <a:rPr sz="1400" b="0">
                <a:solidFill>
                  <a:srgbClr val="1C2530"/>
                </a:solidFill>
                <a:latin typeface="Arial"/>
              </a:rPr>
              <a:t> is fixable with automation of two hubs</a:t>
            </a:r>
          </a:p>
        </p:txBody>
      </p:sp>
      <p:sp>
        <p:nvSpPr>
          <p:cNvPr id="55" name="cpe|commentary|text|54"/>
          <p:cNvSpPr txBox="1"/>
          <p:nvPr/>
        </p:nvSpPr>
        <p:spPr>
          <a:xfrm>
            <a:off x="8094269" y="5646420"/>
            <a:ext cx="3594506" cy="5532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Customer terms need commercial, not operational, action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Network and warehousing explain €31M of the €44M gap to peers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Cost model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6</a:t>
            </a:r>
          </a:p>
        </p:txBody>
      </p:sp>
      <p:cxnSp>
        <p:nvCxnSpPr>
          <p:cNvPr id="6" name="cpe|commentary|line|5"/>
          <p:cNvCxnSpPr/>
          <p:nvPr/>
        </p:nvCxnSpPr>
        <p:spPr>
          <a:xfrm>
            <a:off x="4097426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7" name="cpe|commentary|text|6"/>
          <p:cNvSpPr txBox="1"/>
          <p:nvPr/>
        </p:nvSpPr>
        <p:spPr>
          <a:xfrm>
            <a:off x="502920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1C2530"/>
                </a:solidFill>
                <a:latin typeface="Arial"/>
              </a:rPr>
              <a:t>Network</a:t>
            </a:r>
            <a:r>
              <a:rPr sz="1200" b="0">
                <a:solidFill>
                  <a:srgbClr val="1C2530"/>
                </a:solidFill>
                <a:latin typeface="Arial"/>
              </a:rPr>
              <a:t> is the largest driver: 14 depots vs 9 at peers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1C2530"/>
                </a:solidFill>
                <a:latin typeface="Arial"/>
              </a:rPr>
              <a:t>Warehousing</a:t>
            </a:r>
            <a:r>
              <a:rPr sz="1200" b="0">
                <a:solidFill>
                  <a:srgbClr val="1C2530"/>
                </a:solidFill>
                <a:latin typeface="Arial"/>
              </a:rPr>
              <a:t> is fixable with automation of two hubs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Customer terms need commercial, not operational, action</a:t>
            </a:r>
          </a:p>
        </p:txBody>
      </p:sp>
      <p:sp>
        <p:nvSpPr>
          <p:cNvPr id="8" name="cpe|exhibit|fill|7"/>
          <p:cNvSpPr/>
          <p:nvPr/>
        </p:nvSpPr>
        <p:spPr>
          <a:xfrm>
            <a:off x="4298594" y="3533790"/>
            <a:ext cx="2189074" cy="61338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text|8"/>
          <p:cNvSpPr txBox="1"/>
          <p:nvPr/>
        </p:nvSpPr>
        <p:spPr>
          <a:xfrm>
            <a:off x="4371746" y="3552078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Gap to peer median
</a:t>
            </a:r>
            <a:r>
              <a:rPr sz="1200" b="1">
                <a:solidFill>
                  <a:srgbClr val="FFFFFF"/>
                </a:solidFill>
                <a:latin typeface="Arial"/>
              </a:rPr>
              <a:t>€44M</a:t>
            </a:r>
          </a:p>
        </p:txBody>
      </p:sp>
      <p:cxnSp>
        <p:nvCxnSpPr>
          <p:cNvPr id="10" name="cpe|exhibit|connector|9"/>
          <p:cNvCxnSpPr/>
          <p:nvPr/>
        </p:nvCxnSpPr>
        <p:spPr>
          <a:xfrm>
            <a:off x="6487668" y="384048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1" name="cpe|exhibit|connector|10"/>
          <p:cNvCxnSpPr/>
          <p:nvPr/>
        </p:nvCxnSpPr>
        <p:spPr>
          <a:xfrm>
            <a:off x="6693408" y="2267712"/>
            <a:ext cx="0" cy="1572768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2" name="cpe|exhibit|connector|11"/>
          <p:cNvCxnSpPr/>
          <p:nvPr/>
        </p:nvCxnSpPr>
        <p:spPr>
          <a:xfrm>
            <a:off x="6693408" y="2267712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13" name="cpe|exhibit|fill|12"/>
          <p:cNvSpPr/>
          <p:nvPr/>
        </p:nvSpPr>
        <p:spPr>
          <a:xfrm>
            <a:off x="6899148" y="1961022"/>
            <a:ext cx="2189074" cy="613380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cpe|exhibit|text|13"/>
          <p:cNvSpPr txBox="1"/>
          <p:nvPr/>
        </p:nvSpPr>
        <p:spPr>
          <a:xfrm>
            <a:off x="6972300" y="1979310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Network
</a:t>
            </a:r>
            <a:r>
              <a:rPr sz="1200" b="1">
                <a:solidFill>
                  <a:srgbClr val="1C2530"/>
                </a:solidFill>
                <a:latin typeface="Arial"/>
              </a:rPr>
              <a:t>€19M</a:t>
            </a:r>
          </a:p>
        </p:txBody>
      </p:sp>
      <p:cxnSp>
        <p:nvCxnSpPr>
          <p:cNvPr id="15" name="cpe|exhibit|connector|14"/>
          <p:cNvCxnSpPr/>
          <p:nvPr/>
        </p:nvCxnSpPr>
        <p:spPr>
          <a:xfrm>
            <a:off x="9088222" y="2267712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6" name="cpe|exhibit|connector|15"/>
          <p:cNvCxnSpPr/>
          <p:nvPr/>
        </p:nvCxnSpPr>
        <p:spPr>
          <a:xfrm>
            <a:off x="9293962" y="1874520"/>
            <a:ext cx="0" cy="393192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7" name="cpe|exhibit|connector|16"/>
          <p:cNvCxnSpPr/>
          <p:nvPr/>
        </p:nvCxnSpPr>
        <p:spPr>
          <a:xfrm>
            <a:off x="9293962" y="187452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18" name="cpe|exhibit|fill|17"/>
          <p:cNvSpPr/>
          <p:nvPr/>
        </p:nvSpPr>
        <p:spPr>
          <a:xfrm>
            <a:off x="9499702" y="1567830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cpe|exhibit|text|18"/>
          <p:cNvSpPr txBox="1"/>
          <p:nvPr/>
        </p:nvSpPr>
        <p:spPr>
          <a:xfrm>
            <a:off x="9572854" y="1586118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Too many depots
</a:t>
            </a:r>
            <a:r>
              <a:rPr sz="1200" b="1">
                <a:solidFill>
                  <a:srgbClr val="1C2530"/>
                </a:solidFill>
                <a:latin typeface="Arial"/>
              </a:rPr>
              <a:t>€11M</a:t>
            </a:r>
          </a:p>
        </p:txBody>
      </p:sp>
      <p:cxnSp>
        <p:nvCxnSpPr>
          <p:cNvPr id="20" name="cpe|exhibit|connector|19"/>
          <p:cNvCxnSpPr/>
          <p:nvPr/>
        </p:nvCxnSpPr>
        <p:spPr>
          <a:xfrm>
            <a:off x="9088222" y="2267712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1" name="cpe|exhibit|connector|20"/>
          <p:cNvCxnSpPr/>
          <p:nvPr/>
        </p:nvCxnSpPr>
        <p:spPr>
          <a:xfrm>
            <a:off x="9293962" y="2267712"/>
            <a:ext cx="0" cy="393192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2" name="cpe|exhibit|connector|21"/>
          <p:cNvCxnSpPr/>
          <p:nvPr/>
        </p:nvCxnSpPr>
        <p:spPr>
          <a:xfrm>
            <a:off x="9293962" y="2660904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23" name="cpe|exhibit|fill|22"/>
          <p:cNvSpPr/>
          <p:nvPr/>
        </p:nvSpPr>
        <p:spPr>
          <a:xfrm>
            <a:off x="9499702" y="2354214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text|23"/>
          <p:cNvSpPr txBox="1"/>
          <p:nvPr/>
        </p:nvSpPr>
        <p:spPr>
          <a:xfrm>
            <a:off x="9572854" y="2372502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Low truck fill
</a:t>
            </a:r>
            <a:r>
              <a:rPr sz="1200" b="1">
                <a:solidFill>
                  <a:srgbClr val="1C2530"/>
                </a:solidFill>
                <a:latin typeface="Arial"/>
              </a:rPr>
              <a:t>€8M</a:t>
            </a:r>
          </a:p>
        </p:txBody>
      </p:sp>
      <p:cxnSp>
        <p:nvCxnSpPr>
          <p:cNvPr id="25" name="cpe|exhibit|connector|24"/>
          <p:cNvCxnSpPr/>
          <p:nvPr/>
        </p:nvCxnSpPr>
        <p:spPr>
          <a:xfrm>
            <a:off x="6487668" y="384048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6" name="cpe|exhibit|connector|25"/>
          <p:cNvCxnSpPr/>
          <p:nvPr/>
        </p:nvCxnSpPr>
        <p:spPr>
          <a:xfrm>
            <a:off x="6693408" y="384048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27" name="cpe|exhibit|fill|26"/>
          <p:cNvSpPr/>
          <p:nvPr/>
        </p:nvSpPr>
        <p:spPr>
          <a:xfrm>
            <a:off x="6899148" y="3533790"/>
            <a:ext cx="2189074" cy="613380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text|27"/>
          <p:cNvSpPr txBox="1"/>
          <p:nvPr/>
        </p:nvSpPr>
        <p:spPr>
          <a:xfrm>
            <a:off x="6972300" y="3552078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Warehousing
</a:t>
            </a:r>
            <a:r>
              <a:rPr sz="1200" b="1">
                <a:solidFill>
                  <a:srgbClr val="1C2530"/>
                </a:solidFill>
                <a:latin typeface="Arial"/>
              </a:rPr>
              <a:t>€12M</a:t>
            </a:r>
          </a:p>
        </p:txBody>
      </p:sp>
      <p:cxnSp>
        <p:nvCxnSpPr>
          <p:cNvPr id="29" name="cpe|exhibit|connector|28"/>
          <p:cNvCxnSpPr/>
          <p:nvPr/>
        </p:nvCxnSpPr>
        <p:spPr>
          <a:xfrm>
            <a:off x="9088222" y="384048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30" name="cpe|exhibit|connector|29"/>
          <p:cNvCxnSpPr/>
          <p:nvPr/>
        </p:nvCxnSpPr>
        <p:spPr>
          <a:xfrm>
            <a:off x="9293962" y="3447288"/>
            <a:ext cx="0" cy="393192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31" name="cpe|exhibit|connector|30"/>
          <p:cNvCxnSpPr/>
          <p:nvPr/>
        </p:nvCxnSpPr>
        <p:spPr>
          <a:xfrm>
            <a:off x="9293962" y="344728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32" name="cpe|exhibit|fill|31"/>
          <p:cNvSpPr/>
          <p:nvPr/>
        </p:nvSpPr>
        <p:spPr>
          <a:xfrm>
            <a:off x="9499702" y="3140598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text|32"/>
          <p:cNvSpPr txBox="1"/>
          <p:nvPr/>
        </p:nvSpPr>
        <p:spPr>
          <a:xfrm>
            <a:off x="9572854" y="3158886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Manual picking
</a:t>
            </a:r>
            <a:r>
              <a:rPr sz="1200" b="1">
                <a:solidFill>
                  <a:srgbClr val="1C2530"/>
                </a:solidFill>
                <a:latin typeface="Arial"/>
              </a:rPr>
              <a:t>€9M</a:t>
            </a:r>
          </a:p>
        </p:txBody>
      </p:sp>
      <p:cxnSp>
        <p:nvCxnSpPr>
          <p:cNvPr id="34" name="cpe|exhibit|connector|33"/>
          <p:cNvCxnSpPr/>
          <p:nvPr/>
        </p:nvCxnSpPr>
        <p:spPr>
          <a:xfrm>
            <a:off x="9088222" y="384048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35" name="cpe|exhibit|connector|34"/>
          <p:cNvCxnSpPr/>
          <p:nvPr/>
        </p:nvCxnSpPr>
        <p:spPr>
          <a:xfrm>
            <a:off x="9293962" y="3840480"/>
            <a:ext cx="0" cy="393192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36" name="cpe|exhibit|connector|35"/>
          <p:cNvCxnSpPr/>
          <p:nvPr/>
        </p:nvCxnSpPr>
        <p:spPr>
          <a:xfrm>
            <a:off x="9293962" y="4233672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37" name="cpe|exhibit|fill|36"/>
          <p:cNvSpPr/>
          <p:nvPr/>
        </p:nvSpPr>
        <p:spPr>
          <a:xfrm>
            <a:off x="9499702" y="3926982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cpe|exhibit|text|37"/>
          <p:cNvSpPr txBox="1"/>
          <p:nvPr/>
        </p:nvSpPr>
        <p:spPr>
          <a:xfrm>
            <a:off x="9572854" y="3945270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Overtime
</a:t>
            </a:r>
            <a:r>
              <a:rPr sz="1200" b="1">
                <a:solidFill>
                  <a:srgbClr val="1C2530"/>
                </a:solidFill>
                <a:latin typeface="Arial"/>
              </a:rPr>
              <a:t>€3M</a:t>
            </a:r>
          </a:p>
        </p:txBody>
      </p:sp>
      <p:cxnSp>
        <p:nvCxnSpPr>
          <p:cNvPr id="39" name="cpe|exhibit|connector|38"/>
          <p:cNvCxnSpPr/>
          <p:nvPr/>
        </p:nvCxnSpPr>
        <p:spPr>
          <a:xfrm>
            <a:off x="6487668" y="384048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40" name="cpe|exhibit|connector|39"/>
          <p:cNvCxnSpPr/>
          <p:nvPr/>
        </p:nvCxnSpPr>
        <p:spPr>
          <a:xfrm>
            <a:off x="6693408" y="3840480"/>
            <a:ext cx="0" cy="1572768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41" name="cpe|exhibit|connector|40"/>
          <p:cNvCxnSpPr/>
          <p:nvPr/>
        </p:nvCxnSpPr>
        <p:spPr>
          <a:xfrm>
            <a:off x="6693408" y="541324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42" name="cpe|exhibit|fill|41"/>
          <p:cNvSpPr/>
          <p:nvPr/>
        </p:nvSpPr>
        <p:spPr>
          <a:xfrm>
            <a:off x="6899148" y="5106558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cpe|exhibit|text|42"/>
          <p:cNvSpPr txBox="1"/>
          <p:nvPr/>
        </p:nvSpPr>
        <p:spPr>
          <a:xfrm>
            <a:off x="6972300" y="5124846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Customer terms
</a:t>
            </a:r>
            <a:r>
              <a:rPr sz="1200" b="1">
                <a:solidFill>
                  <a:srgbClr val="1C2530"/>
                </a:solidFill>
                <a:latin typeface="Arial"/>
              </a:rPr>
              <a:t>€13M</a:t>
            </a:r>
          </a:p>
        </p:txBody>
      </p:sp>
      <p:cxnSp>
        <p:nvCxnSpPr>
          <p:cNvPr id="44" name="cpe|exhibit|connector|43"/>
          <p:cNvCxnSpPr/>
          <p:nvPr/>
        </p:nvCxnSpPr>
        <p:spPr>
          <a:xfrm>
            <a:off x="9088222" y="541324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45" name="cpe|exhibit|connector|44"/>
          <p:cNvCxnSpPr/>
          <p:nvPr/>
        </p:nvCxnSpPr>
        <p:spPr>
          <a:xfrm>
            <a:off x="9293962" y="5020056"/>
            <a:ext cx="0" cy="393192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46" name="cpe|exhibit|connector|45"/>
          <p:cNvCxnSpPr/>
          <p:nvPr/>
        </p:nvCxnSpPr>
        <p:spPr>
          <a:xfrm>
            <a:off x="9293962" y="5020056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47" name="cpe|exhibit|fill|46"/>
          <p:cNvSpPr/>
          <p:nvPr/>
        </p:nvSpPr>
        <p:spPr>
          <a:xfrm>
            <a:off x="9499702" y="4713366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cpe|exhibit|text|47"/>
          <p:cNvSpPr txBox="1"/>
          <p:nvPr/>
        </p:nvSpPr>
        <p:spPr>
          <a:xfrm>
            <a:off x="9572854" y="4731654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Small drops
</a:t>
            </a:r>
            <a:r>
              <a:rPr sz="1200" b="1">
                <a:solidFill>
                  <a:srgbClr val="1C2530"/>
                </a:solidFill>
                <a:latin typeface="Arial"/>
              </a:rPr>
              <a:t>€8M</a:t>
            </a:r>
          </a:p>
        </p:txBody>
      </p:sp>
      <p:cxnSp>
        <p:nvCxnSpPr>
          <p:cNvPr id="49" name="cpe|exhibit|connector|48"/>
          <p:cNvCxnSpPr/>
          <p:nvPr/>
        </p:nvCxnSpPr>
        <p:spPr>
          <a:xfrm>
            <a:off x="9088222" y="541324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50" name="cpe|exhibit|connector|49"/>
          <p:cNvCxnSpPr/>
          <p:nvPr/>
        </p:nvCxnSpPr>
        <p:spPr>
          <a:xfrm>
            <a:off x="9293962" y="5413248"/>
            <a:ext cx="0" cy="393192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51" name="cpe|exhibit|connector|50"/>
          <p:cNvCxnSpPr/>
          <p:nvPr/>
        </p:nvCxnSpPr>
        <p:spPr>
          <a:xfrm>
            <a:off x="9293962" y="580644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52" name="cpe|exhibit|fill|51"/>
          <p:cNvSpPr/>
          <p:nvPr/>
        </p:nvSpPr>
        <p:spPr>
          <a:xfrm>
            <a:off x="9499702" y="5499750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cpe|exhibit|text|52"/>
          <p:cNvSpPr txBox="1"/>
          <p:nvPr/>
        </p:nvSpPr>
        <p:spPr>
          <a:xfrm>
            <a:off x="9572854" y="5518038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Free returns
</a:t>
            </a:r>
            <a:r>
              <a:rPr sz="1200" b="1">
                <a:solidFill>
                  <a:srgbClr val="1C2530"/>
                </a:solidFill>
                <a:latin typeface="Arial"/>
              </a:rPr>
              <a:t>€5M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Network and warehousing explain €31M of the €44M gap to peers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Cost model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6</a:t>
            </a:r>
          </a:p>
        </p:txBody>
      </p:sp>
      <p:cxnSp>
        <p:nvCxnSpPr>
          <p:cNvPr id="6" name="cpe|commentary|line|5"/>
          <p:cNvCxnSpPr/>
          <p:nvPr/>
        </p:nvCxnSpPr>
        <p:spPr>
          <a:xfrm>
            <a:off x="4097426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7" name="cpe|commentary|text|6"/>
          <p:cNvSpPr txBox="1"/>
          <p:nvPr/>
        </p:nvSpPr>
        <p:spPr>
          <a:xfrm>
            <a:off x="502920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1">
                <a:solidFill>
                  <a:srgbClr val="1C2530"/>
                </a:solidFill>
                <a:latin typeface="Arial"/>
              </a:rPr>
              <a:t>Network</a:t>
            </a:r>
            <a:r>
              <a:rPr sz="1400" b="0">
                <a:solidFill>
                  <a:srgbClr val="1C2530"/>
                </a:solidFill>
                <a:latin typeface="Arial"/>
              </a:rPr>
              <a:t> is the largest driver: 14 depots vs 9 at peers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1">
                <a:solidFill>
                  <a:srgbClr val="1C2530"/>
                </a:solidFill>
                <a:latin typeface="Arial"/>
              </a:rPr>
              <a:t>Warehousing</a:t>
            </a:r>
            <a:r>
              <a:rPr sz="1400" b="0">
                <a:solidFill>
                  <a:srgbClr val="1C2530"/>
                </a:solidFill>
                <a:latin typeface="Arial"/>
              </a:rPr>
              <a:t> is fixable with automation of two hubs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C2530"/>
                </a:solidFill>
                <a:latin typeface="Arial"/>
              </a:rPr>
              <a:t>Customer terms need commercial, not operational, action</a:t>
            </a:r>
          </a:p>
        </p:txBody>
      </p:sp>
      <p:sp>
        <p:nvSpPr>
          <p:cNvPr id="8" name="cpe|exhibit|fill|7"/>
          <p:cNvSpPr/>
          <p:nvPr/>
        </p:nvSpPr>
        <p:spPr>
          <a:xfrm>
            <a:off x="4298594" y="3533790"/>
            <a:ext cx="2189074" cy="61338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text|8"/>
          <p:cNvSpPr txBox="1"/>
          <p:nvPr/>
        </p:nvSpPr>
        <p:spPr>
          <a:xfrm>
            <a:off x="4371746" y="3552078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Gap to peer median
</a:t>
            </a:r>
            <a:r>
              <a:rPr sz="1400" b="1">
                <a:solidFill>
                  <a:srgbClr val="FFFFFF"/>
                </a:solidFill>
                <a:latin typeface="Arial"/>
              </a:rPr>
              <a:t>€44M</a:t>
            </a:r>
          </a:p>
        </p:txBody>
      </p:sp>
      <p:cxnSp>
        <p:nvCxnSpPr>
          <p:cNvPr id="10" name="cpe|exhibit|connector|9"/>
          <p:cNvCxnSpPr/>
          <p:nvPr/>
        </p:nvCxnSpPr>
        <p:spPr>
          <a:xfrm>
            <a:off x="6487668" y="384048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1" name="cpe|exhibit|connector|10"/>
          <p:cNvCxnSpPr/>
          <p:nvPr/>
        </p:nvCxnSpPr>
        <p:spPr>
          <a:xfrm>
            <a:off x="6693408" y="2267712"/>
            <a:ext cx="0" cy="1572768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2" name="cpe|exhibit|connector|11"/>
          <p:cNvCxnSpPr/>
          <p:nvPr/>
        </p:nvCxnSpPr>
        <p:spPr>
          <a:xfrm>
            <a:off x="6693408" y="2267712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13" name="cpe|exhibit|fill|12"/>
          <p:cNvSpPr/>
          <p:nvPr/>
        </p:nvSpPr>
        <p:spPr>
          <a:xfrm>
            <a:off x="6899148" y="1961022"/>
            <a:ext cx="2189074" cy="613380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cpe|exhibit|text|13"/>
          <p:cNvSpPr txBox="1"/>
          <p:nvPr/>
        </p:nvSpPr>
        <p:spPr>
          <a:xfrm>
            <a:off x="6972300" y="1979310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Network
</a:t>
            </a:r>
            <a:r>
              <a:rPr sz="1400" b="1">
                <a:solidFill>
                  <a:srgbClr val="1C2530"/>
                </a:solidFill>
                <a:latin typeface="Arial"/>
              </a:rPr>
              <a:t>€19M</a:t>
            </a:r>
          </a:p>
        </p:txBody>
      </p:sp>
      <p:cxnSp>
        <p:nvCxnSpPr>
          <p:cNvPr id="15" name="cpe|exhibit|connector|14"/>
          <p:cNvCxnSpPr/>
          <p:nvPr/>
        </p:nvCxnSpPr>
        <p:spPr>
          <a:xfrm>
            <a:off x="9088222" y="2267712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6" name="cpe|exhibit|connector|15"/>
          <p:cNvCxnSpPr/>
          <p:nvPr/>
        </p:nvCxnSpPr>
        <p:spPr>
          <a:xfrm>
            <a:off x="9293962" y="1874520"/>
            <a:ext cx="0" cy="393192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7" name="cpe|exhibit|connector|16"/>
          <p:cNvCxnSpPr/>
          <p:nvPr/>
        </p:nvCxnSpPr>
        <p:spPr>
          <a:xfrm>
            <a:off x="9293962" y="187452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18" name="cpe|exhibit|fill|17"/>
          <p:cNvSpPr/>
          <p:nvPr/>
        </p:nvSpPr>
        <p:spPr>
          <a:xfrm>
            <a:off x="9499702" y="1567830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cpe|exhibit|text|18"/>
          <p:cNvSpPr txBox="1"/>
          <p:nvPr/>
        </p:nvSpPr>
        <p:spPr>
          <a:xfrm>
            <a:off x="9572854" y="1586118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Too many depots
</a:t>
            </a:r>
            <a:r>
              <a:rPr sz="1400" b="1">
                <a:solidFill>
                  <a:srgbClr val="1C2530"/>
                </a:solidFill>
                <a:latin typeface="Arial"/>
              </a:rPr>
              <a:t>€11M</a:t>
            </a:r>
          </a:p>
        </p:txBody>
      </p:sp>
      <p:cxnSp>
        <p:nvCxnSpPr>
          <p:cNvPr id="20" name="cpe|exhibit|connector|19"/>
          <p:cNvCxnSpPr/>
          <p:nvPr/>
        </p:nvCxnSpPr>
        <p:spPr>
          <a:xfrm>
            <a:off x="9088222" y="2267712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1" name="cpe|exhibit|connector|20"/>
          <p:cNvCxnSpPr/>
          <p:nvPr/>
        </p:nvCxnSpPr>
        <p:spPr>
          <a:xfrm>
            <a:off x="9293962" y="2267712"/>
            <a:ext cx="0" cy="393192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2" name="cpe|exhibit|connector|21"/>
          <p:cNvCxnSpPr/>
          <p:nvPr/>
        </p:nvCxnSpPr>
        <p:spPr>
          <a:xfrm>
            <a:off x="9293962" y="2660904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23" name="cpe|exhibit|fill|22"/>
          <p:cNvSpPr/>
          <p:nvPr/>
        </p:nvSpPr>
        <p:spPr>
          <a:xfrm>
            <a:off x="9499702" y="2354214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text|23"/>
          <p:cNvSpPr txBox="1"/>
          <p:nvPr/>
        </p:nvSpPr>
        <p:spPr>
          <a:xfrm>
            <a:off x="9572854" y="2372502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Low truck fill
</a:t>
            </a:r>
            <a:r>
              <a:rPr sz="1400" b="1">
                <a:solidFill>
                  <a:srgbClr val="1C2530"/>
                </a:solidFill>
                <a:latin typeface="Arial"/>
              </a:rPr>
              <a:t>€8M</a:t>
            </a:r>
          </a:p>
        </p:txBody>
      </p:sp>
      <p:cxnSp>
        <p:nvCxnSpPr>
          <p:cNvPr id="25" name="cpe|exhibit|connector|24"/>
          <p:cNvCxnSpPr/>
          <p:nvPr/>
        </p:nvCxnSpPr>
        <p:spPr>
          <a:xfrm>
            <a:off x="6487668" y="384048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6" name="cpe|exhibit|connector|25"/>
          <p:cNvCxnSpPr/>
          <p:nvPr/>
        </p:nvCxnSpPr>
        <p:spPr>
          <a:xfrm>
            <a:off x="6693408" y="384048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27" name="cpe|exhibit|fill|26"/>
          <p:cNvSpPr/>
          <p:nvPr/>
        </p:nvSpPr>
        <p:spPr>
          <a:xfrm>
            <a:off x="6899148" y="3533790"/>
            <a:ext cx="2189074" cy="613380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text|27"/>
          <p:cNvSpPr txBox="1"/>
          <p:nvPr/>
        </p:nvSpPr>
        <p:spPr>
          <a:xfrm>
            <a:off x="6972300" y="3552078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Warehousing
</a:t>
            </a:r>
            <a:r>
              <a:rPr sz="1400" b="1">
                <a:solidFill>
                  <a:srgbClr val="1C2530"/>
                </a:solidFill>
                <a:latin typeface="Arial"/>
              </a:rPr>
              <a:t>€12M</a:t>
            </a:r>
          </a:p>
        </p:txBody>
      </p:sp>
      <p:cxnSp>
        <p:nvCxnSpPr>
          <p:cNvPr id="29" name="cpe|exhibit|connector|28"/>
          <p:cNvCxnSpPr/>
          <p:nvPr/>
        </p:nvCxnSpPr>
        <p:spPr>
          <a:xfrm>
            <a:off x="9088222" y="384048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30" name="cpe|exhibit|connector|29"/>
          <p:cNvCxnSpPr/>
          <p:nvPr/>
        </p:nvCxnSpPr>
        <p:spPr>
          <a:xfrm>
            <a:off x="9293962" y="3447288"/>
            <a:ext cx="0" cy="393192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31" name="cpe|exhibit|connector|30"/>
          <p:cNvCxnSpPr/>
          <p:nvPr/>
        </p:nvCxnSpPr>
        <p:spPr>
          <a:xfrm>
            <a:off x="9293962" y="344728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32" name="cpe|exhibit|fill|31"/>
          <p:cNvSpPr/>
          <p:nvPr/>
        </p:nvSpPr>
        <p:spPr>
          <a:xfrm>
            <a:off x="9499702" y="3140598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text|32"/>
          <p:cNvSpPr txBox="1"/>
          <p:nvPr/>
        </p:nvSpPr>
        <p:spPr>
          <a:xfrm>
            <a:off x="9572854" y="3158886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Manual picking
</a:t>
            </a:r>
            <a:r>
              <a:rPr sz="1400" b="1">
                <a:solidFill>
                  <a:srgbClr val="1C2530"/>
                </a:solidFill>
                <a:latin typeface="Arial"/>
              </a:rPr>
              <a:t>€9M</a:t>
            </a:r>
          </a:p>
        </p:txBody>
      </p:sp>
      <p:cxnSp>
        <p:nvCxnSpPr>
          <p:cNvPr id="34" name="cpe|exhibit|connector|33"/>
          <p:cNvCxnSpPr/>
          <p:nvPr/>
        </p:nvCxnSpPr>
        <p:spPr>
          <a:xfrm>
            <a:off x="9088222" y="384048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35" name="cpe|exhibit|connector|34"/>
          <p:cNvCxnSpPr/>
          <p:nvPr/>
        </p:nvCxnSpPr>
        <p:spPr>
          <a:xfrm>
            <a:off x="9293962" y="3840480"/>
            <a:ext cx="0" cy="393192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36" name="cpe|exhibit|connector|35"/>
          <p:cNvCxnSpPr/>
          <p:nvPr/>
        </p:nvCxnSpPr>
        <p:spPr>
          <a:xfrm>
            <a:off x="9293962" y="4233672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37" name="cpe|exhibit|fill|36"/>
          <p:cNvSpPr/>
          <p:nvPr/>
        </p:nvSpPr>
        <p:spPr>
          <a:xfrm>
            <a:off x="9499702" y="3926982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cpe|exhibit|text|37"/>
          <p:cNvSpPr txBox="1"/>
          <p:nvPr/>
        </p:nvSpPr>
        <p:spPr>
          <a:xfrm>
            <a:off x="9572854" y="3945270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Overtime
</a:t>
            </a:r>
            <a:r>
              <a:rPr sz="1400" b="1">
                <a:solidFill>
                  <a:srgbClr val="1C2530"/>
                </a:solidFill>
                <a:latin typeface="Arial"/>
              </a:rPr>
              <a:t>€3M</a:t>
            </a:r>
          </a:p>
        </p:txBody>
      </p:sp>
      <p:cxnSp>
        <p:nvCxnSpPr>
          <p:cNvPr id="39" name="cpe|exhibit|connector|38"/>
          <p:cNvCxnSpPr/>
          <p:nvPr/>
        </p:nvCxnSpPr>
        <p:spPr>
          <a:xfrm>
            <a:off x="6487668" y="384048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40" name="cpe|exhibit|connector|39"/>
          <p:cNvCxnSpPr/>
          <p:nvPr/>
        </p:nvCxnSpPr>
        <p:spPr>
          <a:xfrm>
            <a:off x="6693408" y="3840480"/>
            <a:ext cx="0" cy="1572768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41" name="cpe|exhibit|connector|40"/>
          <p:cNvCxnSpPr/>
          <p:nvPr/>
        </p:nvCxnSpPr>
        <p:spPr>
          <a:xfrm>
            <a:off x="6693408" y="541324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42" name="cpe|exhibit|fill|41"/>
          <p:cNvSpPr/>
          <p:nvPr/>
        </p:nvSpPr>
        <p:spPr>
          <a:xfrm>
            <a:off x="6899148" y="5106558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cpe|exhibit|text|42"/>
          <p:cNvSpPr txBox="1"/>
          <p:nvPr/>
        </p:nvSpPr>
        <p:spPr>
          <a:xfrm>
            <a:off x="6972300" y="5124846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Customer terms
</a:t>
            </a:r>
            <a:r>
              <a:rPr sz="1400" b="1">
                <a:solidFill>
                  <a:srgbClr val="1C2530"/>
                </a:solidFill>
                <a:latin typeface="Arial"/>
              </a:rPr>
              <a:t>€13M</a:t>
            </a:r>
          </a:p>
        </p:txBody>
      </p:sp>
      <p:cxnSp>
        <p:nvCxnSpPr>
          <p:cNvPr id="44" name="cpe|exhibit|connector|43"/>
          <p:cNvCxnSpPr/>
          <p:nvPr/>
        </p:nvCxnSpPr>
        <p:spPr>
          <a:xfrm>
            <a:off x="9088222" y="541324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45" name="cpe|exhibit|connector|44"/>
          <p:cNvCxnSpPr/>
          <p:nvPr/>
        </p:nvCxnSpPr>
        <p:spPr>
          <a:xfrm>
            <a:off x="9293962" y="5020056"/>
            <a:ext cx="0" cy="393192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46" name="cpe|exhibit|connector|45"/>
          <p:cNvCxnSpPr/>
          <p:nvPr/>
        </p:nvCxnSpPr>
        <p:spPr>
          <a:xfrm>
            <a:off x="9293962" y="5020056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47" name="cpe|exhibit|fill|46"/>
          <p:cNvSpPr/>
          <p:nvPr/>
        </p:nvSpPr>
        <p:spPr>
          <a:xfrm>
            <a:off x="9499702" y="4713366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cpe|exhibit|text|47"/>
          <p:cNvSpPr txBox="1"/>
          <p:nvPr/>
        </p:nvSpPr>
        <p:spPr>
          <a:xfrm>
            <a:off x="9572854" y="4731654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Small drops
</a:t>
            </a:r>
            <a:r>
              <a:rPr sz="1400" b="1">
                <a:solidFill>
                  <a:srgbClr val="1C2530"/>
                </a:solidFill>
                <a:latin typeface="Arial"/>
              </a:rPr>
              <a:t>€8M</a:t>
            </a:r>
          </a:p>
        </p:txBody>
      </p:sp>
      <p:cxnSp>
        <p:nvCxnSpPr>
          <p:cNvPr id="49" name="cpe|exhibit|connector|48"/>
          <p:cNvCxnSpPr/>
          <p:nvPr/>
        </p:nvCxnSpPr>
        <p:spPr>
          <a:xfrm>
            <a:off x="9088222" y="541324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50" name="cpe|exhibit|connector|49"/>
          <p:cNvCxnSpPr/>
          <p:nvPr/>
        </p:nvCxnSpPr>
        <p:spPr>
          <a:xfrm>
            <a:off x="9293962" y="5413248"/>
            <a:ext cx="0" cy="393192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51" name="cpe|exhibit|connector|50"/>
          <p:cNvCxnSpPr/>
          <p:nvPr/>
        </p:nvCxnSpPr>
        <p:spPr>
          <a:xfrm>
            <a:off x="9293962" y="580644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52" name="cpe|exhibit|fill|51"/>
          <p:cNvSpPr/>
          <p:nvPr/>
        </p:nvSpPr>
        <p:spPr>
          <a:xfrm>
            <a:off x="9499702" y="5499750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cpe|exhibit|text|52"/>
          <p:cNvSpPr txBox="1"/>
          <p:nvPr/>
        </p:nvSpPr>
        <p:spPr>
          <a:xfrm>
            <a:off x="9572854" y="5518038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Free returns
</a:t>
            </a:r>
            <a:r>
              <a:rPr sz="1400" b="1">
                <a:solidFill>
                  <a:srgbClr val="1C2530"/>
                </a:solidFill>
                <a:latin typeface="Arial"/>
              </a:rPr>
              <a:t>€5M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Only 61% of orders arrive in full and on time, with picking causing the largest loss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WMS extract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8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Order fulfilment, Q2 2026</a:t>
            </a:r>
            <a:r>
              <a:rPr sz="1100" b="0">
                <a:solidFill>
                  <a:srgbClr val="1C2530"/>
                </a:solidFill>
                <a:latin typeface="Arial"/>
              </a:rPr>
              <a:t>, % of orders</a:t>
            </a:r>
          </a:p>
        </p:txBody>
      </p:sp>
      <p:sp>
        <p:nvSpPr>
          <p:cNvPr id="7" name="cpe|exhibit|fill|6"/>
          <p:cNvSpPr/>
          <p:nvPr/>
        </p:nvSpPr>
        <p:spPr>
          <a:xfrm>
            <a:off x="2572171" y="1901952"/>
            <a:ext cx="4132210" cy="749808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pe|exhibit|text|7"/>
          <p:cNvSpPr txBox="1"/>
          <p:nvPr/>
        </p:nvSpPr>
        <p:spPr>
          <a:xfrm>
            <a:off x="2572171" y="1901952"/>
            <a:ext cx="413221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100</a:t>
            </a:r>
          </a:p>
        </p:txBody>
      </p:sp>
      <p:sp>
        <p:nvSpPr>
          <p:cNvPr id="9" name="cpe|exhibit|text|8"/>
          <p:cNvSpPr txBox="1"/>
          <p:nvPr/>
        </p:nvSpPr>
        <p:spPr>
          <a:xfrm>
            <a:off x="502920" y="1901952"/>
            <a:ext cx="1932091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Orders received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6795821" y="2542032"/>
            <a:ext cx="109728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▼ 92%</a:t>
            </a:r>
          </a:p>
        </p:txBody>
      </p:sp>
      <p:sp>
        <p:nvSpPr>
          <p:cNvPr id="11" name="cpe|exhibit|fill|10"/>
          <p:cNvSpPr/>
          <p:nvPr/>
        </p:nvSpPr>
        <p:spPr>
          <a:xfrm>
            <a:off x="2737459" y="2788920"/>
            <a:ext cx="3801633" cy="749808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text|11"/>
          <p:cNvSpPr txBox="1"/>
          <p:nvPr/>
        </p:nvSpPr>
        <p:spPr>
          <a:xfrm>
            <a:off x="2737459" y="2788920"/>
            <a:ext cx="3801633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92</a:t>
            </a:r>
          </a:p>
        </p:txBody>
      </p:sp>
      <p:sp>
        <p:nvSpPr>
          <p:cNvPr id="13" name="cpe|exhibit|text|12"/>
          <p:cNvSpPr txBox="1"/>
          <p:nvPr/>
        </p:nvSpPr>
        <p:spPr>
          <a:xfrm>
            <a:off x="502920" y="2788920"/>
            <a:ext cx="1932091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Stock available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6795821" y="3429000"/>
            <a:ext cx="109728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▼ 85%</a:t>
            </a:r>
          </a:p>
        </p:txBody>
      </p:sp>
      <p:sp>
        <p:nvSpPr>
          <p:cNvPr id="15" name="cpe|exhibit|fill|14"/>
          <p:cNvSpPr/>
          <p:nvPr/>
        </p:nvSpPr>
        <p:spPr>
          <a:xfrm>
            <a:off x="3026714" y="3675888"/>
            <a:ext cx="3223124" cy="749808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text|15"/>
          <p:cNvSpPr txBox="1"/>
          <p:nvPr/>
        </p:nvSpPr>
        <p:spPr>
          <a:xfrm>
            <a:off x="3026714" y="3675888"/>
            <a:ext cx="3223124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78</a:t>
            </a:r>
          </a:p>
        </p:txBody>
      </p:sp>
      <p:sp>
        <p:nvSpPr>
          <p:cNvPr id="17" name="cpe|exhibit|text|16"/>
          <p:cNvSpPr txBox="1"/>
          <p:nvPr/>
        </p:nvSpPr>
        <p:spPr>
          <a:xfrm>
            <a:off x="502920" y="3675888"/>
            <a:ext cx="1932091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Picked correctly</a:t>
            </a:r>
          </a:p>
        </p:txBody>
      </p:sp>
      <p:sp>
        <p:nvSpPr>
          <p:cNvPr id="18" name="cpe|exhibit|label|17"/>
          <p:cNvSpPr txBox="1"/>
          <p:nvPr/>
        </p:nvSpPr>
        <p:spPr>
          <a:xfrm>
            <a:off x="6795821" y="4315968"/>
            <a:ext cx="109728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0392B"/>
                </a:solidFill>
                <a:latin typeface="Arial"/>
              </a:rPr>
              <a:t>▼ 82%</a:t>
            </a:r>
          </a:p>
        </p:txBody>
      </p:sp>
      <p:sp>
        <p:nvSpPr>
          <p:cNvPr id="19" name="cpe|exhibit|fill|18"/>
          <p:cNvSpPr/>
          <p:nvPr/>
        </p:nvSpPr>
        <p:spPr>
          <a:xfrm>
            <a:off x="3315968" y="4562856"/>
            <a:ext cx="2644615" cy="749808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text|19"/>
          <p:cNvSpPr txBox="1"/>
          <p:nvPr/>
        </p:nvSpPr>
        <p:spPr>
          <a:xfrm>
            <a:off x="3315968" y="4562856"/>
            <a:ext cx="2644615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21" name="cpe|exhibit|text|20"/>
          <p:cNvSpPr txBox="1"/>
          <p:nvPr/>
        </p:nvSpPr>
        <p:spPr>
          <a:xfrm>
            <a:off x="502920" y="4562856"/>
            <a:ext cx="1932091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Shipped on time</a:t>
            </a:r>
          </a:p>
        </p:txBody>
      </p:sp>
      <p:sp>
        <p:nvSpPr>
          <p:cNvPr id="22" name="cpe|exhibit|label|21"/>
          <p:cNvSpPr txBox="1"/>
          <p:nvPr/>
        </p:nvSpPr>
        <p:spPr>
          <a:xfrm>
            <a:off x="6795821" y="5202936"/>
            <a:ext cx="109728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▼ 95%</a:t>
            </a:r>
          </a:p>
        </p:txBody>
      </p:sp>
      <p:sp>
        <p:nvSpPr>
          <p:cNvPr id="23" name="cpe|exhibit|fill|22"/>
          <p:cNvSpPr/>
          <p:nvPr/>
        </p:nvSpPr>
        <p:spPr>
          <a:xfrm>
            <a:off x="3377952" y="5449824"/>
            <a:ext cx="2520648" cy="749808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text|23"/>
          <p:cNvSpPr txBox="1"/>
          <p:nvPr/>
        </p:nvSpPr>
        <p:spPr>
          <a:xfrm>
            <a:off x="3377952" y="5449824"/>
            <a:ext cx="2520648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25" name="cpe|exhibit|text|24"/>
          <p:cNvSpPr txBox="1"/>
          <p:nvPr/>
        </p:nvSpPr>
        <p:spPr>
          <a:xfrm>
            <a:off x="502920" y="5449824"/>
            <a:ext cx="1932091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Delivered in full, on time</a:t>
            </a:r>
          </a:p>
        </p:txBody>
      </p:sp>
      <p:cxnSp>
        <p:nvCxnSpPr>
          <p:cNvPr id="26" name="cpe|commentary|line|25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27" name="cpe|commentary|text|26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Picking errors lose </a:t>
            </a:r>
            <a:r>
              <a:rPr sz="1200" b="1">
                <a:solidFill>
                  <a:srgbClr val="1C2530"/>
                </a:solidFill>
                <a:latin typeface="Arial"/>
              </a:rPr>
              <a:t>14 points</a:t>
            </a:r>
            <a:r>
              <a:rPr sz="1200" b="0">
                <a:solidFill>
                  <a:srgbClr val="1C2530"/>
                </a:solidFill>
                <a:latin typeface="Arial"/>
              </a:rPr>
              <a:t>, the largest single drop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Stock availability is at peer level (92%)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Only 61% of orders arrive in full and on time, with picking causing the largest loss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WMS extract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8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Order fulfilment, Q2 2026</a:t>
            </a:r>
            <a:r>
              <a:rPr sz="1100" b="0">
                <a:solidFill>
                  <a:srgbClr val="1C2530"/>
                </a:solidFill>
                <a:latin typeface="Arial"/>
              </a:rPr>
              <a:t>, % of orders</a:t>
            </a:r>
          </a:p>
        </p:txBody>
      </p:sp>
      <p:sp>
        <p:nvSpPr>
          <p:cNvPr id="7" name="cpe|exhibit|fill|6"/>
          <p:cNvSpPr/>
          <p:nvPr/>
        </p:nvSpPr>
        <p:spPr>
          <a:xfrm>
            <a:off x="2572171" y="1901952"/>
            <a:ext cx="4132210" cy="749808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pe|exhibit|text|7"/>
          <p:cNvSpPr txBox="1"/>
          <p:nvPr/>
        </p:nvSpPr>
        <p:spPr>
          <a:xfrm>
            <a:off x="2572171" y="1901952"/>
            <a:ext cx="413221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100</a:t>
            </a:r>
          </a:p>
        </p:txBody>
      </p:sp>
      <p:sp>
        <p:nvSpPr>
          <p:cNvPr id="9" name="cpe|exhibit|text|8"/>
          <p:cNvSpPr txBox="1"/>
          <p:nvPr/>
        </p:nvSpPr>
        <p:spPr>
          <a:xfrm>
            <a:off x="502920" y="1901952"/>
            <a:ext cx="1932091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Orders received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6795821" y="2542032"/>
            <a:ext cx="109728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▼ 92%</a:t>
            </a:r>
          </a:p>
        </p:txBody>
      </p:sp>
      <p:sp>
        <p:nvSpPr>
          <p:cNvPr id="11" name="cpe|exhibit|fill|10"/>
          <p:cNvSpPr/>
          <p:nvPr/>
        </p:nvSpPr>
        <p:spPr>
          <a:xfrm>
            <a:off x="2737459" y="2788920"/>
            <a:ext cx="3801633" cy="749808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text|11"/>
          <p:cNvSpPr txBox="1"/>
          <p:nvPr/>
        </p:nvSpPr>
        <p:spPr>
          <a:xfrm>
            <a:off x="2737459" y="2788920"/>
            <a:ext cx="3801633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92</a:t>
            </a:r>
          </a:p>
        </p:txBody>
      </p:sp>
      <p:sp>
        <p:nvSpPr>
          <p:cNvPr id="13" name="cpe|exhibit|text|12"/>
          <p:cNvSpPr txBox="1"/>
          <p:nvPr/>
        </p:nvSpPr>
        <p:spPr>
          <a:xfrm>
            <a:off x="502920" y="2788920"/>
            <a:ext cx="1932091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Stock available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6795821" y="3429000"/>
            <a:ext cx="109728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▼ 85%</a:t>
            </a:r>
          </a:p>
        </p:txBody>
      </p:sp>
      <p:sp>
        <p:nvSpPr>
          <p:cNvPr id="15" name="cpe|exhibit|fill|14"/>
          <p:cNvSpPr/>
          <p:nvPr/>
        </p:nvSpPr>
        <p:spPr>
          <a:xfrm>
            <a:off x="3026714" y="3675888"/>
            <a:ext cx="3223124" cy="749808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text|15"/>
          <p:cNvSpPr txBox="1"/>
          <p:nvPr/>
        </p:nvSpPr>
        <p:spPr>
          <a:xfrm>
            <a:off x="3026714" y="3675888"/>
            <a:ext cx="3223124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78</a:t>
            </a:r>
          </a:p>
        </p:txBody>
      </p:sp>
      <p:sp>
        <p:nvSpPr>
          <p:cNvPr id="17" name="cpe|exhibit|text|16"/>
          <p:cNvSpPr txBox="1"/>
          <p:nvPr/>
        </p:nvSpPr>
        <p:spPr>
          <a:xfrm>
            <a:off x="502920" y="3675888"/>
            <a:ext cx="1932091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Picked correctly</a:t>
            </a:r>
          </a:p>
        </p:txBody>
      </p:sp>
      <p:sp>
        <p:nvSpPr>
          <p:cNvPr id="18" name="cpe|exhibit|label|17"/>
          <p:cNvSpPr txBox="1"/>
          <p:nvPr/>
        </p:nvSpPr>
        <p:spPr>
          <a:xfrm>
            <a:off x="6795821" y="4315968"/>
            <a:ext cx="109728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0392B"/>
                </a:solidFill>
                <a:latin typeface="Arial"/>
              </a:rPr>
              <a:t>▼ 82%</a:t>
            </a:r>
          </a:p>
        </p:txBody>
      </p:sp>
      <p:sp>
        <p:nvSpPr>
          <p:cNvPr id="19" name="cpe|exhibit|fill|18"/>
          <p:cNvSpPr/>
          <p:nvPr/>
        </p:nvSpPr>
        <p:spPr>
          <a:xfrm>
            <a:off x="3315968" y="4562856"/>
            <a:ext cx="2644615" cy="749808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text|19"/>
          <p:cNvSpPr txBox="1"/>
          <p:nvPr/>
        </p:nvSpPr>
        <p:spPr>
          <a:xfrm>
            <a:off x="3315968" y="4562856"/>
            <a:ext cx="2644615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21" name="cpe|exhibit|text|20"/>
          <p:cNvSpPr txBox="1"/>
          <p:nvPr/>
        </p:nvSpPr>
        <p:spPr>
          <a:xfrm>
            <a:off x="502920" y="4562856"/>
            <a:ext cx="1932091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Shipped on time</a:t>
            </a:r>
          </a:p>
        </p:txBody>
      </p:sp>
      <p:sp>
        <p:nvSpPr>
          <p:cNvPr id="22" name="cpe|exhibit|label|21"/>
          <p:cNvSpPr txBox="1"/>
          <p:nvPr/>
        </p:nvSpPr>
        <p:spPr>
          <a:xfrm>
            <a:off x="6795821" y="5202936"/>
            <a:ext cx="109728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▼ 95%</a:t>
            </a:r>
          </a:p>
        </p:txBody>
      </p:sp>
      <p:sp>
        <p:nvSpPr>
          <p:cNvPr id="23" name="cpe|exhibit|fill|22"/>
          <p:cNvSpPr/>
          <p:nvPr/>
        </p:nvSpPr>
        <p:spPr>
          <a:xfrm>
            <a:off x="3377952" y="5449824"/>
            <a:ext cx="2520648" cy="749808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text|23"/>
          <p:cNvSpPr txBox="1"/>
          <p:nvPr/>
        </p:nvSpPr>
        <p:spPr>
          <a:xfrm>
            <a:off x="3377952" y="5449824"/>
            <a:ext cx="2520648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25" name="cpe|exhibit|text|24"/>
          <p:cNvSpPr txBox="1"/>
          <p:nvPr/>
        </p:nvSpPr>
        <p:spPr>
          <a:xfrm>
            <a:off x="502920" y="5449824"/>
            <a:ext cx="1932091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Delivered in full, on time</a:t>
            </a:r>
          </a:p>
        </p:txBody>
      </p:sp>
      <p:cxnSp>
        <p:nvCxnSpPr>
          <p:cNvPr id="26" name="cpe|commentary|line|25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27" name="cpe|commentary|text|26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C2530"/>
                </a:solidFill>
                <a:latin typeface="Arial"/>
              </a:rPr>
              <a:t>Picking errors lose </a:t>
            </a:r>
            <a:r>
              <a:rPr sz="1400" b="1">
                <a:solidFill>
                  <a:srgbClr val="1C2530"/>
                </a:solidFill>
                <a:latin typeface="Arial"/>
              </a:rPr>
              <a:t>14 points</a:t>
            </a:r>
            <a:r>
              <a:rPr sz="1400" b="0">
                <a:solidFill>
                  <a:srgbClr val="1C2530"/>
                </a:solidFill>
                <a:latin typeface="Arial"/>
              </a:rPr>
              <a:t>, the largest single drop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C2530"/>
                </a:solidFill>
                <a:latin typeface="Arial"/>
              </a:rPr>
              <a:t>Stock availability is at peer level (92%)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Only 61% of orders arrive in full and on time, with picking causing the largest loss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WMS extract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8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Order fulfilment, Q2 2026</a:t>
            </a:r>
            <a:r>
              <a:rPr sz="1100" b="0">
                <a:solidFill>
                  <a:srgbClr val="1C2530"/>
                </a:solidFill>
                <a:latin typeface="Arial"/>
              </a:rPr>
              <a:t>, % of orders</a:t>
            </a:r>
          </a:p>
        </p:txBody>
      </p:sp>
      <p:sp>
        <p:nvSpPr>
          <p:cNvPr id="7" name="cpe|exhibit|fill|6"/>
          <p:cNvSpPr/>
          <p:nvPr/>
        </p:nvSpPr>
        <p:spPr>
          <a:xfrm>
            <a:off x="2572171" y="1901952"/>
            <a:ext cx="4132210" cy="749808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pe|exhibit|text|7"/>
          <p:cNvSpPr txBox="1"/>
          <p:nvPr/>
        </p:nvSpPr>
        <p:spPr>
          <a:xfrm>
            <a:off x="2572171" y="1901952"/>
            <a:ext cx="413221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100</a:t>
            </a:r>
          </a:p>
        </p:txBody>
      </p:sp>
      <p:sp>
        <p:nvSpPr>
          <p:cNvPr id="9" name="cpe|exhibit|text|8"/>
          <p:cNvSpPr txBox="1"/>
          <p:nvPr/>
        </p:nvSpPr>
        <p:spPr>
          <a:xfrm>
            <a:off x="502920" y="1901952"/>
            <a:ext cx="1932091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Orders received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6795821" y="2542032"/>
            <a:ext cx="109728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▼ 92%</a:t>
            </a:r>
          </a:p>
        </p:txBody>
      </p:sp>
      <p:sp>
        <p:nvSpPr>
          <p:cNvPr id="11" name="cpe|exhibit|fill|10"/>
          <p:cNvSpPr/>
          <p:nvPr/>
        </p:nvSpPr>
        <p:spPr>
          <a:xfrm>
            <a:off x="2737459" y="2788920"/>
            <a:ext cx="3801633" cy="749808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text|11"/>
          <p:cNvSpPr txBox="1"/>
          <p:nvPr/>
        </p:nvSpPr>
        <p:spPr>
          <a:xfrm>
            <a:off x="2737459" y="2788920"/>
            <a:ext cx="3801633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92</a:t>
            </a:r>
          </a:p>
        </p:txBody>
      </p:sp>
      <p:sp>
        <p:nvSpPr>
          <p:cNvPr id="13" name="cpe|exhibit|text|12"/>
          <p:cNvSpPr txBox="1"/>
          <p:nvPr/>
        </p:nvSpPr>
        <p:spPr>
          <a:xfrm>
            <a:off x="502920" y="2788920"/>
            <a:ext cx="1932091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Stock available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6795821" y="3429000"/>
            <a:ext cx="109728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▼ 85%</a:t>
            </a:r>
          </a:p>
        </p:txBody>
      </p:sp>
      <p:sp>
        <p:nvSpPr>
          <p:cNvPr id="15" name="cpe|exhibit|fill|14"/>
          <p:cNvSpPr/>
          <p:nvPr/>
        </p:nvSpPr>
        <p:spPr>
          <a:xfrm>
            <a:off x="3026714" y="3675888"/>
            <a:ext cx="3223124" cy="749808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text|15"/>
          <p:cNvSpPr txBox="1"/>
          <p:nvPr/>
        </p:nvSpPr>
        <p:spPr>
          <a:xfrm>
            <a:off x="3026714" y="3675888"/>
            <a:ext cx="3223124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78</a:t>
            </a:r>
          </a:p>
        </p:txBody>
      </p:sp>
      <p:sp>
        <p:nvSpPr>
          <p:cNvPr id="17" name="cpe|exhibit|text|16"/>
          <p:cNvSpPr txBox="1"/>
          <p:nvPr/>
        </p:nvSpPr>
        <p:spPr>
          <a:xfrm>
            <a:off x="502920" y="3675888"/>
            <a:ext cx="1932091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Picked correctly</a:t>
            </a:r>
          </a:p>
        </p:txBody>
      </p:sp>
      <p:sp>
        <p:nvSpPr>
          <p:cNvPr id="18" name="cpe|exhibit|label|17"/>
          <p:cNvSpPr txBox="1"/>
          <p:nvPr/>
        </p:nvSpPr>
        <p:spPr>
          <a:xfrm>
            <a:off x="6795821" y="4315968"/>
            <a:ext cx="109728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0392B"/>
                </a:solidFill>
                <a:latin typeface="Arial"/>
              </a:rPr>
              <a:t>▼ 82%</a:t>
            </a:r>
          </a:p>
        </p:txBody>
      </p:sp>
      <p:sp>
        <p:nvSpPr>
          <p:cNvPr id="19" name="cpe|exhibit|fill|18"/>
          <p:cNvSpPr/>
          <p:nvPr/>
        </p:nvSpPr>
        <p:spPr>
          <a:xfrm>
            <a:off x="3315968" y="4562856"/>
            <a:ext cx="2644615" cy="749808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text|19"/>
          <p:cNvSpPr txBox="1"/>
          <p:nvPr/>
        </p:nvSpPr>
        <p:spPr>
          <a:xfrm>
            <a:off x="3315968" y="4562856"/>
            <a:ext cx="2644615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21" name="cpe|exhibit|text|20"/>
          <p:cNvSpPr txBox="1"/>
          <p:nvPr/>
        </p:nvSpPr>
        <p:spPr>
          <a:xfrm>
            <a:off x="502920" y="4562856"/>
            <a:ext cx="1932091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Shipped on time</a:t>
            </a:r>
          </a:p>
        </p:txBody>
      </p:sp>
      <p:sp>
        <p:nvSpPr>
          <p:cNvPr id="22" name="cpe|exhibit|label|21"/>
          <p:cNvSpPr txBox="1"/>
          <p:nvPr/>
        </p:nvSpPr>
        <p:spPr>
          <a:xfrm>
            <a:off x="6795821" y="5202936"/>
            <a:ext cx="109728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▼ 95%</a:t>
            </a:r>
          </a:p>
        </p:txBody>
      </p:sp>
      <p:sp>
        <p:nvSpPr>
          <p:cNvPr id="23" name="cpe|exhibit|fill|22"/>
          <p:cNvSpPr/>
          <p:nvPr/>
        </p:nvSpPr>
        <p:spPr>
          <a:xfrm>
            <a:off x="3377952" y="5449824"/>
            <a:ext cx="2520648" cy="749808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text|23"/>
          <p:cNvSpPr txBox="1"/>
          <p:nvPr/>
        </p:nvSpPr>
        <p:spPr>
          <a:xfrm>
            <a:off x="3377952" y="5449824"/>
            <a:ext cx="2520648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25" name="cpe|exhibit|text|24"/>
          <p:cNvSpPr txBox="1"/>
          <p:nvPr/>
        </p:nvSpPr>
        <p:spPr>
          <a:xfrm>
            <a:off x="502920" y="5449824"/>
            <a:ext cx="1932091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Delivered in full, on time</a:t>
            </a:r>
          </a:p>
        </p:txBody>
      </p:sp>
      <p:cxnSp>
        <p:nvCxnSpPr>
          <p:cNvPr id="26" name="cpe|commentary|line|25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27" name="cpe|commentary|text|26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Picking errors lose </a:t>
            </a:r>
            <a:r>
              <a:rPr sz="1200" b="1">
                <a:solidFill>
                  <a:srgbClr val="1C2530"/>
                </a:solidFill>
                <a:latin typeface="Arial"/>
              </a:rPr>
              <a:t>14 points</a:t>
            </a:r>
            <a:r>
              <a:rPr sz="1200" b="0">
                <a:solidFill>
                  <a:srgbClr val="1C2530"/>
                </a:solidFill>
                <a:latin typeface="Arial"/>
              </a:rPr>
              <a:t>, the largest single drop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Stock availability is at peer level (92%)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Only 61% of orders arrive in full and on time, with picking causing the largest loss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WMS extract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8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Order fulfilment, Q2 2026</a:t>
            </a:r>
            <a:r>
              <a:rPr sz="1100" b="0">
                <a:solidFill>
                  <a:srgbClr val="1C2530"/>
                </a:solidFill>
                <a:latin typeface="Arial"/>
              </a:rPr>
              <a:t>, % of orders</a:t>
            </a:r>
          </a:p>
        </p:txBody>
      </p:sp>
      <p:sp>
        <p:nvSpPr>
          <p:cNvPr id="7" name="cpe|exhibit|fill|6"/>
          <p:cNvSpPr/>
          <p:nvPr/>
        </p:nvSpPr>
        <p:spPr>
          <a:xfrm>
            <a:off x="2572171" y="1901952"/>
            <a:ext cx="4132210" cy="749808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pe|exhibit|text|7"/>
          <p:cNvSpPr txBox="1"/>
          <p:nvPr/>
        </p:nvSpPr>
        <p:spPr>
          <a:xfrm>
            <a:off x="2572171" y="1901952"/>
            <a:ext cx="413221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100</a:t>
            </a:r>
          </a:p>
        </p:txBody>
      </p:sp>
      <p:sp>
        <p:nvSpPr>
          <p:cNvPr id="9" name="cpe|exhibit|text|8"/>
          <p:cNvSpPr txBox="1"/>
          <p:nvPr/>
        </p:nvSpPr>
        <p:spPr>
          <a:xfrm>
            <a:off x="502920" y="1901952"/>
            <a:ext cx="1932091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Orders received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6795821" y="2542032"/>
            <a:ext cx="109728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▼ 92%</a:t>
            </a:r>
          </a:p>
        </p:txBody>
      </p:sp>
      <p:sp>
        <p:nvSpPr>
          <p:cNvPr id="11" name="cpe|exhibit|fill|10"/>
          <p:cNvSpPr/>
          <p:nvPr/>
        </p:nvSpPr>
        <p:spPr>
          <a:xfrm>
            <a:off x="2737459" y="2788920"/>
            <a:ext cx="3801633" cy="749808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text|11"/>
          <p:cNvSpPr txBox="1"/>
          <p:nvPr/>
        </p:nvSpPr>
        <p:spPr>
          <a:xfrm>
            <a:off x="2737459" y="2788920"/>
            <a:ext cx="3801633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92</a:t>
            </a:r>
          </a:p>
        </p:txBody>
      </p:sp>
      <p:sp>
        <p:nvSpPr>
          <p:cNvPr id="13" name="cpe|exhibit|text|12"/>
          <p:cNvSpPr txBox="1"/>
          <p:nvPr/>
        </p:nvSpPr>
        <p:spPr>
          <a:xfrm>
            <a:off x="502920" y="2788920"/>
            <a:ext cx="1932091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Stock available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6795821" y="3429000"/>
            <a:ext cx="109728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▼ 85%</a:t>
            </a:r>
          </a:p>
        </p:txBody>
      </p:sp>
      <p:sp>
        <p:nvSpPr>
          <p:cNvPr id="15" name="cpe|exhibit|fill|14"/>
          <p:cNvSpPr/>
          <p:nvPr/>
        </p:nvSpPr>
        <p:spPr>
          <a:xfrm>
            <a:off x="3026714" y="3675888"/>
            <a:ext cx="3223124" cy="749808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text|15"/>
          <p:cNvSpPr txBox="1"/>
          <p:nvPr/>
        </p:nvSpPr>
        <p:spPr>
          <a:xfrm>
            <a:off x="3026714" y="3675888"/>
            <a:ext cx="3223124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78</a:t>
            </a:r>
          </a:p>
        </p:txBody>
      </p:sp>
      <p:sp>
        <p:nvSpPr>
          <p:cNvPr id="17" name="cpe|exhibit|text|16"/>
          <p:cNvSpPr txBox="1"/>
          <p:nvPr/>
        </p:nvSpPr>
        <p:spPr>
          <a:xfrm>
            <a:off x="502920" y="3675888"/>
            <a:ext cx="1932091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Picked correctly</a:t>
            </a:r>
          </a:p>
        </p:txBody>
      </p:sp>
      <p:sp>
        <p:nvSpPr>
          <p:cNvPr id="18" name="cpe|exhibit|label|17"/>
          <p:cNvSpPr txBox="1"/>
          <p:nvPr/>
        </p:nvSpPr>
        <p:spPr>
          <a:xfrm>
            <a:off x="6795821" y="4315968"/>
            <a:ext cx="109728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0392B"/>
                </a:solidFill>
                <a:latin typeface="Arial"/>
              </a:rPr>
              <a:t>▼ 82%</a:t>
            </a:r>
          </a:p>
        </p:txBody>
      </p:sp>
      <p:sp>
        <p:nvSpPr>
          <p:cNvPr id="19" name="cpe|exhibit|fill|18"/>
          <p:cNvSpPr/>
          <p:nvPr/>
        </p:nvSpPr>
        <p:spPr>
          <a:xfrm>
            <a:off x="3315968" y="4562856"/>
            <a:ext cx="2644615" cy="749808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text|19"/>
          <p:cNvSpPr txBox="1"/>
          <p:nvPr/>
        </p:nvSpPr>
        <p:spPr>
          <a:xfrm>
            <a:off x="3315968" y="4562856"/>
            <a:ext cx="2644615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21" name="cpe|exhibit|text|20"/>
          <p:cNvSpPr txBox="1"/>
          <p:nvPr/>
        </p:nvSpPr>
        <p:spPr>
          <a:xfrm>
            <a:off x="502920" y="4562856"/>
            <a:ext cx="1932091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Shipped on time</a:t>
            </a:r>
          </a:p>
        </p:txBody>
      </p:sp>
      <p:sp>
        <p:nvSpPr>
          <p:cNvPr id="22" name="cpe|exhibit|label|21"/>
          <p:cNvSpPr txBox="1"/>
          <p:nvPr/>
        </p:nvSpPr>
        <p:spPr>
          <a:xfrm>
            <a:off x="6795821" y="5202936"/>
            <a:ext cx="109728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▼ 95%</a:t>
            </a:r>
          </a:p>
        </p:txBody>
      </p:sp>
      <p:sp>
        <p:nvSpPr>
          <p:cNvPr id="23" name="cpe|exhibit|fill|22"/>
          <p:cNvSpPr/>
          <p:nvPr/>
        </p:nvSpPr>
        <p:spPr>
          <a:xfrm>
            <a:off x="3377952" y="5449824"/>
            <a:ext cx="2520648" cy="749808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text|23"/>
          <p:cNvSpPr txBox="1"/>
          <p:nvPr/>
        </p:nvSpPr>
        <p:spPr>
          <a:xfrm>
            <a:off x="3377952" y="5449824"/>
            <a:ext cx="2520648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25" name="cpe|exhibit|text|24"/>
          <p:cNvSpPr txBox="1"/>
          <p:nvPr/>
        </p:nvSpPr>
        <p:spPr>
          <a:xfrm>
            <a:off x="502920" y="5449824"/>
            <a:ext cx="1932091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Delivered in full, on time</a:t>
            </a:r>
          </a:p>
        </p:txBody>
      </p:sp>
      <p:cxnSp>
        <p:nvCxnSpPr>
          <p:cNvPr id="26" name="cpe|commentary|line|25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27" name="cpe|commentary|text|26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C2530"/>
                </a:solidFill>
                <a:latin typeface="Arial"/>
              </a:rPr>
              <a:t>Picking errors lose </a:t>
            </a:r>
            <a:r>
              <a:rPr sz="1400" b="1">
                <a:solidFill>
                  <a:srgbClr val="1C2530"/>
                </a:solidFill>
                <a:latin typeface="Arial"/>
              </a:rPr>
              <a:t>14 points</a:t>
            </a:r>
            <a:r>
              <a:rPr sz="1400" b="0">
                <a:solidFill>
                  <a:srgbClr val="1C2530"/>
                </a:solidFill>
                <a:latin typeface="Arial"/>
              </a:rPr>
              <a:t>, the largest single drop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C2530"/>
                </a:solidFill>
                <a:latin typeface="Arial"/>
              </a:rPr>
              <a:t>Stock availability is at peer level (92%)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Only 61% of orders arrive in full and on time, with picking causing the largest loss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WMS extract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8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Order fulfilment, Q2 2026</a:t>
            </a:r>
            <a:r>
              <a:rPr sz="1100" b="0">
                <a:solidFill>
                  <a:srgbClr val="1C2530"/>
                </a:solidFill>
                <a:latin typeface="Arial"/>
              </a:rPr>
              <a:t>, % of orders</a:t>
            </a:r>
          </a:p>
        </p:txBody>
      </p:sp>
      <p:sp>
        <p:nvSpPr>
          <p:cNvPr id="7" name="cpe|exhibit|fill|6"/>
          <p:cNvSpPr/>
          <p:nvPr/>
        </p:nvSpPr>
        <p:spPr>
          <a:xfrm>
            <a:off x="2880360" y="1901952"/>
            <a:ext cx="7619695" cy="619049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pe|exhibit|text|7"/>
          <p:cNvSpPr txBox="1"/>
          <p:nvPr/>
        </p:nvSpPr>
        <p:spPr>
          <a:xfrm>
            <a:off x="2880360" y="1901952"/>
            <a:ext cx="7619695" cy="61904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100</a:t>
            </a:r>
          </a:p>
        </p:txBody>
      </p:sp>
      <p:sp>
        <p:nvSpPr>
          <p:cNvPr id="9" name="cpe|exhibit|text|8"/>
          <p:cNvSpPr txBox="1"/>
          <p:nvPr/>
        </p:nvSpPr>
        <p:spPr>
          <a:xfrm>
            <a:off x="502920" y="1901952"/>
            <a:ext cx="2240280" cy="61904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Orders received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10591495" y="2411273"/>
            <a:ext cx="109728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▼ 92%</a:t>
            </a:r>
          </a:p>
        </p:txBody>
      </p:sp>
      <p:sp>
        <p:nvSpPr>
          <p:cNvPr id="11" name="cpe|exhibit|fill|10"/>
          <p:cNvSpPr/>
          <p:nvPr/>
        </p:nvSpPr>
        <p:spPr>
          <a:xfrm>
            <a:off x="3185148" y="2658161"/>
            <a:ext cx="7010120" cy="619049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text|11"/>
          <p:cNvSpPr txBox="1"/>
          <p:nvPr/>
        </p:nvSpPr>
        <p:spPr>
          <a:xfrm>
            <a:off x="3185148" y="2658161"/>
            <a:ext cx="7010120" cy="61904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92</a:t>
            </a:r>
          </a:p>
        </p:txBody>
      </p:sp>
      <p:sp>
        <p:nvSpPr>
          <p:cNvPr id="13" name="cpe|exhibit|text|12"/>
          <p:cNvSpPr txBox="1"/>
          <p:nvPr/>
        </p:nvSpPr>
        <p:spPr>
          <a:xfrm>
            <a:off x="502920" y="2658161"/>
            <a:ext cx="2240280" cy="61904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Stock available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10591495" y="3167482"/>
            <a:ext cx="109728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▼ 85%</a:t>
            </a:r>
          </a:p>
        </p:txBody>
      </p:sp>
      <p:sp>
        <p:nvSpPr>
          <p:cNvPr id="15" name="cpe|exhibit|fill|14"/>
          <p:cNvSpPr/>
          <p:nvPr/>
        </p:nvSpPr>
        <p:spPr>
          <a:xfrm>
            <a:off x="3718526" y="3414370"/>
            <a:ext cx="5943362" cy="619049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text|15"/>
          <p:cNvSpPr txBox="1"/>
          <p:nvPr/>
        </p:nvSpPr>
        <p:spPr>
          <a:xfrm>
            <a:off x="3718526" y="3414370"/>
            <a:ext cx="5943362" cy="61904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78</a:t>
            </a:r>
          </a:p>
        </p:txBody>
      </p:sp>
      <p:sp>
        <p:nvSpPr>
          <p:cNvPr id="17" name="cpe|exhibit|text|16"/>
          <p:cNvSpPr txBox="1"/>
          <p:nvPr/>
        </p:nvSpPr>
        <p:spPr>
          <a:xfrm>
            <a:off x="502920" y="3414370"/>
            <a:ext cx="2240280" cy="61904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Picked correctly</a:t>
            </a:r>
          </a:p>
        </p:txBody>
      </p:sp>
      <p:sp>
        <p:nvSpPr>
          <p:cNvPr id="18" name="cpe|exhibit|label|17"/>
          <p:cNvSpPr txBox="1"/>
          <p:nvPr/>
        </p:nvSpPr>
        <p:spPr>
          <a:xfrm>
            <a:off x="10591495" y="3923690"/>
            <a:ext cx="109728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0392B"/>
                </a:solidFill>
                <a:latin typeface="Arial"/>
              </a:rPr>
              <a:t>▼ 82%</a:t>
            </a:r>
          </a:p>
        </p:txBody>
      </p:sp>
      <p:sp>
        <p:nvSpPr>
          <p:cNvPr id="19" name="cpe|exhibit|fill|18"/>
          <p:cNvSpPr/>
          <p:nvPr/>
        </p:nvSpPr>
        <p:spPr>
          <a:xfrm>
            <a:off x="4251905" y="4170578"/>
            <a:ext cx="4876605" cy="619049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text|19"/>
          <p:cNvSpPr txBox="1"/>
          <p:nvPr/>
        </p:nvSpPr>
        <p:spPr>
          <a:xfrm>
            <a:off x="4251905" y="4170578"/>
            <a:ext cx="4876605" cy="61904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21" name="cpe|exhibit|text|20"/>
          <p:cNvSpPr txBox="1"/>
          <p:nvPr/>
        </p:nvSpPr>
        <p:spPr>
          <a:xfrm>
            <a:off x="502920" y="4170578"/>
            <a:ext cx="2240280" cy="61904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Shipped on time</a:t>
            </a:r>
          </a:p>
        </p:txBody>
      </p:sp>
      <p:sp>
        <p:nvSpPr>
          <p:cNvPr id="22" name="cpe|exhibit|label|21"/>
          <p:cNvSpPr txBox="1"/>
          <p:nvPr/>
        </p:nvSpPr>
        <p:spPr>
          <a:xfrm>
            <a:off x="10591495" y="4679899"/>
            <a:ext cx="109728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▼ 95%</a:t>
            </a:r>
          </a:p>
        </p:txBody>
      </p:sp>
      <p:sp>
        <p:nvSpPr>
          <p:cNvPr id="23" name="cpe|exhibit|fill|22"/>
          <p:cNvSpPr/>
          <p:nvPr/>
        </p:nvSpPr>
        <p:spPr>
          <a:xfrm>
            <a:off x="4366201" y="4926787"/>
            <a:ext cx="4648014" cy="619049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text|23"/>
          <p:cNvSpPr txBox="1"/>
          <p:nvPr/>
        </p:nvSpPr>
        <p:spPr>
          <a:xfrm>
            <a:off x="4366201" y="4926787"/>
            <a:ext cx="4648014" cy="61904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25" name="cpe|exhibit|text|24"/>
          <p:cNvSpPr txBox="1"/>
          <p:nvPr/>
        </p:nvSpPr>
        <p:spPr>
          <a:xfrm>
            <a:off x="502920" y="4926787"/>
            <a:ext cx="2240280" cy="61904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Delivered in full, on time</a:t>
            </a:r>
          </a:p>
        </p:txBody>
      </p:sp>
      <p:cxnSp>
        <p:nvCxnSpPr>
          <p:cNvPr id="26" name="cpe|commentary|line|25"/>
          <p:cNvCxnSpPr/>
          <p:nvPr/>
        </p:nvCxnSpPr>
        <p:spPr>
          <a:xfrm>
            <a:off x="502920" y="5747004"/>
            <a:ext cx="11185855" cy="0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27" name="cpe|commentary|text|26"/>
          <p:cNvSpPr txBox="1"/>
          <p:nvPr/>
        </p:nvSpPr>
        <p:spPr>
          <a:xfrm>
            <a:off x="502920" y="5884164"/>
            <a:ext cx="5492344" cy="3154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Picking errors lose </a:t>
            </a:r>
            <a:r>
              <a:rPr sz="1200" b="1">
                <a:solidFill>
                  <a:srgbClr val="1C2530"/>
                </a:solidFill>
                <a:latin typeface="Arial"/>
              </a:rPr>
              <a:t>14 points</a:t>
            </a:r>
            <a:r>
              <a:rPr sz="1200" b="0">
                <a:solidFill>
                  <a:srgbClr val="1C2530"/>
                </a:solidFill>
                <a:latin typeface="Arial"/>
              </a:rPr>
              <a:t>, the largest single drop</a:t>
            </a:r>
          </a:p>
        </p:txBody>
      </p:sp>
      <p:sp>
        <p:nvSpPr>
          <p:cNvPr id="28" name="cpe|commentary|text|27"/>
          <p:cNvSpPr txBox="1"/>
          <p:nvPr/>
        </p:nvSpPr>
        <p:spPr>
          <a:xfrm>
            <a:off x="6196432" y="5884164"/>
            <a:ext cx="5492344" cy="3154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Stock availability is at peer level (92%)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Only 61% of orders arrive in full and on time, with picking causing the largest loss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WMS extract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8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Order fulfilment, Q2 2026</a:t>
            </a:r>
            <a:r>
              <a:rPr sz="1100" b="0">
                <a:solidFill>
                  <a:srgbClr val="1C2530"/>
                </a:solidFill>
                <a:latin typeface="Arial"/>
              </a:rPr>
              <a:t>, % of orders</a:t>
            </a:r>
          </a:p>
        </p:txBody>
      </p:sp>
      <p:sp>
        <p:nvSpPr>
          <p:cNvPr id="7" name="cpe|exhibit|fill|6"/>
          <p:cNvSpPr/>
          <p:nvPr/>
        </p:nvSpPr>
        <p:spPr>
          <a:xfrm>
            <a:off x="2880360" y="1901952"/>
            <a:ext cx="7619695" cy="613105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pe|exhibit|text|7"/>
          <p:cNvSpPr txBox="1"/>
          <p:nvPr/>
        </p:nvSpPr>
        <p:spPr>
          <a:xfrm>
            <a:off x="2880360" y="1901952"/>
            <a:ext cx="7619695" cy="61310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100</a:t>
            </a:r>
          </a:p>
        </p:txBody>
      </p:sp>
      <p:sp>
        <p:nvSpPr>
          <p:cNvPr id="9" name="cpe|exhibit|text|8"/>
          <p:cNvSpPr txBox="1"/>
          <p:nvPr/>
        </p:nvSpPr>
        <p:spPr>
          <a:xfrm>
            <a:off x="502920" y="1901952"/>
            <a:ext cx="2240280" cy="61310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Orders received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10591495" y="2405329"/>
            <a:ext cx="109728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▼ 92%</a:t>
            </a:r>
          </a:p>
        </p:txBody>
      </p:sp>
      <p:sp>
        <p:nvSpPr>
          <p:cNvPr id="11" name="cpe|exhibit|fill|10"/>
          <p:cNvSpPr/>
          <p:nvPr/>
        </p:nvSpPr>
        <p:spPr>
          <a:xfrm>
            <a:off x="3185148" y="2652217"/>
            <a:ext cx="7010120" cy="613105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text|11"/>
          <p:cNvSpPr txBox="1"/>
          <p:nvPr/>
        </p:nvSpPr>
        <p:spPr>
          <a:xfrm>
            <a:off x="3185148" y="2652217"/>
            <a:ext cx="7010120" cy="61310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92</a:t>
            </a:r>
          </a:p>
        </p:txBody>
      </p:sp>
      <p:sp>
        <p:nvSpPr>
          <p:cNvPr id="13" name="cpe|exhibit|text|12"/>
          <p:cNvSpPr txBox="1"/>
          <p:nvPr/>
        </p:nvSpPr>
        <p:spPr>
          <a:xfrm>
            <a:off x="502920" y="2652217"/>
            <a:ext cx="2240280" cy="61310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Stock available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10591495" y="3155594"/>
            <a:ext cx="109728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▼ 85%</a:t>
            </a:r>
          </a:p>
        </p:txBody>
      </p:sp>
      <p:sp>
        <p:nvSpPr>
          <p:cNvPr id="15" name="cpe|exhibit|fill|14"/>
          <p:cNvSpPr/>
          <p:nvPr/>
        </p:nvSpPr>
        <p:spPr>
          <a:xfrm>
            <a:off x="3718526" y="3402482"/>
            <a:ext cx="5943362" cy="613105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text|15"/>
          <p:cNvSpPr txBox="1"/>
          <p:nvPr/>
        </p:nvSpPr>
        <p:spPr>
          <a:xfrm>
            <a:off x="3718526" y="3402482"/>
            <a:ext cx="5943362" cy="61310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78</a:t>
            </a:r>
          </a:p>
        </p:txBody>
      </p:sp>
      <p:sp>
        <p:nvSpPr>
          <p:cNvPr id="17" name="cpe|exhibit|text|16"/>
          <p:cNvSpPr txBox="1"/>
          <p:nvPr/>
        </p:nvSpPr>
        <p:spPr>
          <a:xfrm>
            <a:off x="502920" y="3402482"/>
            <a:ext cx="2240280" cy="61310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Picked correctly</a:t>
            </a:r>
          </a:p>
        </p:txBody>
      </p:sp>
      <p:sp>
        <p:nvSpPr>
          <p:cNvPr id="18" name="cpe|exhibit|label|17"/>
          <p:cNvSpPr txBox="1"/>
          <p:nvPr/>
        </p:nvSpPr>
        <p:spPr>
          <a:xfrm>
            <a:off x="10591495" y="3905860"/>
            <a:ext cx="109728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0392B"/>
                </a:solidFill>
                <a:latin typeface="Arial"/>
              </a:rPr>
              <a:t>▼ 82%</a:t>
            </a:r>
          </a:p>
        </p:txBody>
      </p:sp>
      <p:sp>
        <p:nvSpPr>
          <p:cNvPr id="19" name="cpe|exhibit|fill|18"/>
          <p:cNvSpPr/>
          <p:nvPr/>
        </p:nvSpPr>
        <p:spPr>
          <a:xfrm>
            <a:off x="4251905" y="4152748"/>
            <a:ext cx="4876605" cy="613105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text|19"/>
          <p:cNvSpPr txBox="1"/>
          <p:nvPr/>
        </p:nvSpPr>
        <p:spPr>
          <a:xfrm>
            <a:off x="4251905" y="4152748"/>
            <a:ext cx="4876605" cy="61310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21" name="cpe|exhibit|text|20"/>
          <p:cNvSpPr txBox="1"/>
          <p:nvPr/>
        </p:nvSpPr>
        <p:spPr>
          <a:xfrm>
            <a:off x="502920" y="4152748"/>
            <a:ext cx="2240280" cy="61310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Shipped on time</a:t>
            </a:r>
          </a:p>
        </p:txBody>
      </p:sp>
      <p:sp>
        <p:nvSpPr>
          <p:cNvPr id="22" name="cpe|exhibit|label|21"/>
          <p:cNvSpPr txBox="1"/>
          <p:nvPr/>
        </p:nvSpPr>
        <p:spPr>
          <a:xfrm>
            <a:off x="10591495" y="4656125"/>
            <a:ext cx="109728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▼ 95%</a:t>
            </a:r>
          </a:p>
        </p:txBody>
      </p:sp>
      <p:sp>
        <p:nvSpPr>
          <p:cNvPr id="23" name="cpe|exhibit|fill|22"/>
          <p:cNvSpPr/>
          <p:nvPr/>
        </p:nvSpPr>
        <p:spPr>
          <a:xfrm>
            <a:off x="4366201" y="4903013"/>
            <a:ext cx="4648014" cy="613105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text|23"/>
          <p:cNvSpPr txBox="1"/>
          <p:nvPr/>
        </p:nvSpPr>
        <p:spPr>
          <a:xfrm>
            <a:off x="4366201" y="4903013"/>
            <a:ext cx="4648014" cy="61310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25" name="cpe|exhibit|text|24"/>
          <p:cNvSpPr txBox="1"/>
          <p:nvPr/>
        </p:nvSpPr>
        <p:spPr>
          <a:xfrm>
            <a:off x="502920" y="4903013"/>
            <a:ext cx="2240280" cy="61310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Delivered in full, on time</a:t>
            </a:r>
          </a:p>
        </p:txBody>
      </p:sp>
      <p:cxnSp>
        <p:nvCxnSpPr>
          <p:cNvPr id="26" name="cpe|commentary|line|25"/>
          <p:cNvCxnSpPr/>
          <p:nvPr/>
        </p:nvCxnSpPr>
        <p:spPr>
          <a:xfrm>
            <a:off x="502920" y="5717286"/>
            <a:ext cx="11185855" cy="0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27" name="cpe|commentary|text|26"/>
          <p:cNvSpPr txBox="1"/>
          <p:nvPr/>
        </p:nvSpPr>
        <p:spPr>
          <a:xfrm>
            <a:off x="502920" y="5854446"/>
            <a:ext cx="5492344" cy="3451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Picking errors lose </a:t>
            </a:r>
            <a:r>
              <a:rPr sz="1400" b="1">
                <a:solidFill>
                  <a:srgbClr val="1C2530"/>
                </a:solidFill>
                <a:latin typeface="Arial"/>
              </a:rPr>
              <a:t>14 points</a:t>
            </a:r>
            <a:r>
              <a:rPr sz="1400" b="0">
                <a:solidFill>
                  <a:srgbClr val="1C2530"/>
                </a:solidFill>
                <a:latin typeface="Arial"/>
              </a:rPr>
              <a:t>, the largest single drop</a:t>
            </a:r>
          </a:p>
        </p:txBody>
      </p:sp>
      <p:sp>
        <p:nvSpPr>
          <p:cNvPr id="28" name="cpe|commentary|text|27"/>
          <p:cNvSpPr txBox="1"/>
          <p:nvPr/>
        </p:nvSpPr>
        <p:spPr>
          <a:xfrm>
            <a:off x="6196432" y="5854446"/>
            <a:ext cx="5492344" cy="3451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Stock availability is at peer level (92%)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Cost-to-serve is highest in the north-west, where depot density is lowest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Transport management system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9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Cost per drop by region, 2025</a:t>
            </a:r>
            <a:r>
              <a:rPr sz="1100" b="0">
                <a:solidFill>
                  <a:srgbClr val="1C2530"/>
                </a:solidFill>
                <a:latin typeface="Arial"/>
              </a:rPr>
              <a:t>, €</a:t>
            </a:r>
          </a:p>
        </p:txBody>
      </p:sp>
      <p:sp>
        <p:nvSpPr>
          <p:cNvPr id="7" name="cpe|exhibit|fill|6"/>
          <p:cNvSpPr/>
          <p:nvPr/>
        </p:nvSpPr>
        <p:spPr>
          <a:xfrm>
            <a:off x="1473098" y="1929384"/>
            <a:ext cx="731520" cy="731520"/>
          </a:xfrm>
          <a:prstGeom prst="rect">
            <a:avLst/>
          </a:prstGeom>
          <a:solidFill>
            <a:srgbClr val="193458"/>
          </a:solidFill>
          <a:ln w="28575">
            <a:solidFill>
              <a:srgbClr val="E08A0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pe|exhibit|text|7"/>
          <p:cNvSpPr txBox="1"/>
          <p:nvPr/>
        </p:nvSpPr>
        <p:spPr>
          <a:xfrm>
            <a:off x="1473098" y="1929384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GA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7.4</a:t>
            </a:r>
          </a:p>
        </p:txBody>
      </p:sp>
      <p:sp>
        <p:nvSpPr>
          <p:cNvPr id="9" name="cpe|exhibit|fill|8"/>
          <p:cNvSpPr/>
          <p:nvPr/>
        </p:nvSpPr>
        <p:spPr>
          <a:xfrm>
            <a:off x="2259482" y="1929384"/>
            <a:ext cx="731520" cy="731520"/>
          </a:xfrm>
          <a:prstGeom prst="rect">
            <a:avLst/>
          </a:prstGeom>
          <a:solidFill>
            <a:srgbClr val="23476E"/>
          </a:solidFill>
          <a:ln w="28575">
            <a:solidFill>
              <a:srgbClr val="E08A0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text|9"/>
          <p:cNvSpPr txBox="1"/>
          <p:nvPr/>
        </p:nvSpPr>
        <p:spPr>
          <a:xfrm>
            <a:off x="2259482" y="1929384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AS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7.1</a:t>
            </a:r>
          </a:p>
        </p:txBody>
      </p:sp>
      <p:sp>
        <p:nvSpPr>
          <p:cNvPr id="11" name="cpe|exhibit|fill|10"/>
          <p:cNvSpPr/>
          <p:nvPr/>
        </p:nvSpPr>
        <p:spPr>
          <a:xfrm>
            <a:off x="3045866" y="1929384"/>
            <a:ext cx="731520" cy="731520"/>
          </a:xfrm>
          <a:prstGeom prst="rect">
            <a:avLst/>
          </a:prstGeom>
          <a:solidFill>
            <a:srgbClr val="55779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text|11"/>
          <p:cNvSpPr txBox="1"/>
          <p:nvPr/>
        </p:nvSpPr>
        <p:spPr>
          <a:xfrm>
            <a:off x="3045866" y="1929384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CB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6.2</a:t>
            </a:r>
          </a:p>
        </p:txBody>
      </p:sp>
      <p:sp>
        <p:nvSpPr>
          <p:cNvPr id="13" name="cpe|exhibit|fill|12"/>
          <p:cNvSpPr/>
          <p:nvPr/>
        </p:nvSpPr>
        <p:spPr>
          <a:xfrm>
            <a:off x="3832250" y="1929384"/>
            <a:ext cx="731520" cy="731520"/>
          </a:xfrm>
          <a:prstGeom prst="rect">
            <a:avLst/>
          </a:prstGeom>
          <a:solidFill>
            <a:srgbClr val="A2BAD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cpe|exhibit|text|13"/>
          <p:cNvSpPr txBox="1"/>
          <p:nvPr/>
        </p:nvSpPr>
        <p:spPr>
          <a:xfrm>
            <a:off x="3832250" y="1929384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PV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5.5</a:t>
            </a:r>
          </a:p>
        </p:txBody>
      </p:sp>
      <p:sp>
        <p:nvSpPr>
          <p:cNvPr id="15" name="cpe|exhibit|fill|14"/>
          <p:cNvSpPr/>
          <p:nvPr/>
        </p:nvSpPr>
        <p:spPr>
          <a:xfrm>
            <a:off x="4618634" y="1929384"/>
            <a:ext cx="731520" cy="731520"/>
          </a:xfrm>
          <a:prstGeom prst="rect">
            <a:avLst/>
          </a:prstGeom>
          <a:solidFill>
            <a:srgbClr val="9AB5D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text|15"/>
          <p:cNvSpPr txBox="1"/>
          <p:nvPr/>
        </p:nvSpPr>
        <p:spPr>
          <a:xfrm>
            <a:off x="4618634" y="1929384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NA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5.6</a:t>
            </a:r>
          </a:p>
        </p:txBody>
      </p:sp>
      <p:sp>
        <p:nvSpPr>
          <p:cNvPr id="17" name="cpe|exhibit|fill|16"/>
          <p:cNvSpPr/>
          <p:nvPr/>
        </p:nvSpPr>
        <p:spPr>
          <a:xfrm>
            <a:off x="2259482" y="2715768"/>
            <a:ext cx="731520" cy="731520"/>
          </a:xfrm>
          <a:prstGeom prst="rect">
            <a:avLst/>
          </a:prstGeom>
          <a:solidFill>
            <a:srgbClr val="2D5A8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cpe|exhibit|text|17"/>
          <p:cNvSpPr txBox="1"/>
          <p:nvPr/>
        </p:nvSpPr>
        <p:spPr>
          <a:xfrm>
            <a:off x="2259482" y="271576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CL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6.8</a:t>
            </a:r>
          </a:p>
        </p:txBody>
      </p:sp>
      <p:sp>
        <p:nvSpPr>
          <p:cNvPr id="19" name="cpe|exhibit|fill|18"/>
          <p:cNvSpPr/>
          <p:nvPr/>
        </p:nvSpPr>
        <p:spPr>
          <a:xfrm>
            <a:off x="3832250" y="2715768"/>
            <a:ext cx="731520" cy="731520"/>
          </a:xfrm>
          <a:prstGeom prst="rect">
            <a:avLst/>
          </a:prstGeom>
          <a:solidFill>
            <a:srgbClr val="84A4C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text|19"/>
          <p:cNvSpPr txBox="1"/>
          <p:nvPr/>
        </p:nvSpPr>
        <p:spPr>
          <a:xfrm>
            <a:off x="3832250" y="271576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RI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5.9</a:t>
            </a:r>
          </a:p>
        </p:txBody>
      </p:sp>
      <p:sp>
        <p:nvSpPr>
          <p:cNvPr id="21" name="cpe|exhibit|fill|20"/>
          <p:cNvSpPr/>
          <p:nvPr/>
        </p:nvSpPr>
        <p:spPr>
          <a:xfrm>
            <a:off x="4618634" y="2715768"/>
            <a:ext cx="731520" cy="731520"/>
          </a:xfrm>
          <a:prstGeom prst="rect">
            <a:avLst/>
          </a:prstGeom>
          <a:solidFill>
            <a:srgbClr val="7A9CB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text|21"/>
          <p:cNvSpPr txBox="1"/>
          <p:nvPr/>
        </p:nvSpPr>
        <p:spPr>
          <a:xfrm>
            <a:off x="4618634" y="271576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AR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6.0</a:t>
            </a:r>
          </a:p>
        </p:txBody>
      </p:sp>
      <p:sp>
        <p:nvSpPr>
          <p:cNvPr id="23" name="cpe|exhibit|fill|22"/>
          <p:cNvSpPr/>
          <p:nvPr/>
        </p:nvSpPr>
        <p:spPr>
          <a:xfrm>
            <a:off x="5405018" y="2715768"/>
            <a:ext cx="731520" cy="731520"/>
          </a:xfrm>
          <a:prstGeom prst="rect">
            <a:avLst/>
          </a:prstGeom>
          <a:solidFill>
            <a:srgbClr val="BFD0E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text|23"/>
          <p:cNvSpPr txBox="1"/>
          <p:nvPr/>
        </p:nvSpPr>
        <p:spPr>
          <a:xfrm>
            <a:off x="5405018" y="271576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CT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5.1</a:t>
            </a:r>
          </a:p>
        </p:txBody>
      </p:sp>
      <p:sp>
        <p:nvSpPr>
          <p:cNvPr id="25" name="cpe|exhibit|fill|24"/>
          <p:cNvSpPr/>
          <p:nvPr/>
        </p:nvSpPr>
        <p:spPr>
          <a:xfrm>
            <a:off x="3045866" y="3502152"/>
            <a:ext cx="731520" cy="731520"/>
          </a:xfrm>
          <a:prstGeom prst="rect">
            <a:avLst/>
          </a:prstGeom>
          <a:solidFill>
            <a:srgbClr val="D9E4E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text|25"/>
          <p:cNvSpPr txBox="1"/>
          <p:nvPr/>
        </p:nvSpPr>
        <p:spPr>
          <a:xfrm>
            <a:off x="3045866" y="3502152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MD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4.6</a:t>
            </a:r>
          </a:p>
        </p:txBody>
      </p:sp>
      <p:sp>
        <p:nvSpPr>
          <p:cNvPr id="27" name="cpe|exhibit|fill|26"/>
          <p:cNvSpPr/>
          <p:nvPr/>
        </p:nvSpPr>
        <p:spPr>
          <a:xfrm>
            <a:off x="1473098" y="3502152"/>
            <a:ext cx="731520" cy="731520"/>
          </a:xfrm>
          <a:prstGeom prst="rect">
            <a:avLst/>
          </a:prstGeom>
          <a:solidFill>
            <a:srgbClr val="29547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text|27"/>
          <p:cNvSpPr txBox="1"/>
          <p:nvPr/>
        </p:nvSpPr>
        <p:spPr>
          <a:xfrm>
            <a:off x="1473098" y="3502152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EX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6.9</a:t>
            </a:r>
          </a:p>
        </p:txBody>
      </p:sp>
      <p:sp>
        <p:nvSpPr>
          <p:cNvPr id="29" name="cpe|exhibit|fill|28"/>
          <p:cNvSpPr/>
          <p:nvPr/>
        </p:nvSpPr>
        <p:spPr>
          <a:xfrm>
            <a:off x="3832250" y="3502152"/>
            <a:ext cx="731520" cy="731520"/>
          </a:xfrm>
          <a:prstGeom prst="rect">
            <a:avLst/>
          </a:prstGeom>
          <a:solidFill>
            <a:srgbClr val="7094B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cpe|exhibit|text|29"/>
          <p:cNvSpPr txBox="1"/>
          <p:nvPr/>
        </p:nvSpPr>
        <p:spPr>
          <a:xfrm>
            <a:off x="3832250" y="3502152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CM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6.1</a:t>
            </a:r>
          </a:p>
        </p:txBody>
      </p:sp>
      <p:sp>
        <p:nvSpPr>
          <p:cNvPr id="31" name="cpe|exhibit|fill|30"/>
          <p:cNvSpPr/>
          <p:nvPr/>
        </p:nvSpPr>
        <p:spPr>
          <a:xfrm>
            <a:off x="4618634" y="3502152"/>
            <a:ext cx="731520" cy="731520"/>
          </a:xfrm>
          <a:prstGeom prst="rect">
            <a:avLst/>
          </a:prstGeom>
          <a:solidFill>
            <a:srgbClr val="C5D4E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cpe|exhibit|text|31"/>
          <p:cNvSpPr txBox="1"/>
          <p:nvPr/>
        </p:nvSpPr>
        <p:spPr>
          <a:xfrm>
            <a:off x="4618634" y="3502152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VC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5.0</a:t>
            </a:r>
          </a:p>
        </p:txBody>
      </p:sp>
      <p:sp>
        <p:nvSpPr>
          <p:cNvPr id="33" name="cpe|exhibit|fill|32"/>
          <p:cNvSpPr/>
          <p:nvPr/>
        </p:nvSpPr>
        <p:spPr>
          <a:xfrm>
            <a:off x="6191402" y="3502152"/>
            <a:ext cx="731520" cy="731520"/>
          </a:xfrm>
          <a:prstGeom prst="rect">
            <a:avLst/>
          </a:prstGeom>
          <a:solidFill>
            <a:srgbClr val="3C6A9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cpe|exhibit|text|33"/>
          <p:cNvSpPr txBox="1"/>
          <p:nvPr/>
        </p:nvSpPr>
        <p:spPr>
          <a:xfrm>
            <a:off x="6191402" y="3502152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IB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6.6</a:t>
            </a:r>
          </a:p>
        </p:txBody>
      </p:sp>
      <p:sp>
        <p:nvSpPr>
          <p:cNvPr id="35" name="cpe|exhibit|fill|34"/>
          <p:cNvSpPr/>
          <p:nvPr/>
        </p:nvSpPr>
        <p:spPr>
          <a:xfrm>
            <a:off x="2259482" y="4288536"/>
            <a:ext cx="731520" cy="731520"/>
          </a:xfrm>
          <a:prstGeom prst="rect">
            <a:avLst/>
          </a:prstGeom>
          <a:solidFill>
            <a:srgbClr val="A9C0D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text|35"/>
          <p:cNvSpPr txBox="1"/>
          <p:nvPr/>
        </p:nvSpPr>
        <p:spPr>
          <a:xfrm>
            <a:off x="2259482" y="4288536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AN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5.4</a:t>
            </a:r>
          </a:p>
        </p:txBody>
      </p:sp>
      <p:sp>
        <p:nvSpPr>
          <p:cNvPr id="37" name="cpe|exhibit|fill|36"/>
          <p:cNvSpPr/>
          <p:nvPr/>
        </p:nvSpPr>
        <p:spPr>
          <a:xfrm>
            <a:off x="3832250" y="4288536"/>
            <a:ext cx="731520" cy="731520"/>
          </a:xfrm>
          <a:prstGeom prst="rect">
            <a:avLst/>
          </a:prstGeom>
          <a:solidFill>
            <a:srgbClr val="B7CAD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cpe|exhibit|text|37"/>
          <p:cNvSpPr txBox="1"/>
          <p:nvPr/>
        </p:nvSpPr>
        <p:spPr>
          <a:xfrm>
            <a:off x="3832250" y="4288536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MC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5.2</a:t>
            </a:r>
          </a:p>
        </p:txBody>
      </p:sp>
      <p:sp>
        <p:nvSpPr>
          <p:cNvPr id="39" name="cpe|exhibit|fill|38"/>
          <p:cNvSpPr/>
          <p:nvPr/>
        </p:nvSpPr>
        <p:spPr>
          <a:xfrm>
            <a:off x="1473098" y="5074920"/>
            <a:ext cx="731520" cy="731520"/>
          </a:xfrm>
          <a:prstGeom prst="rect">
            <a:avLst/>
          </a:prstGeom>
          <a:solidFill>
            <a:srgbClr val="264D7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cpe|exhibit|text|39"/>
          <p:cNvSpPr txBox="1"/>
          <p:nvPr/>
        </p:nvSpPr>
        <p:spPr>
          <a:xfrm>
            <a:off x="1473098" y="50749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CN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7.0</a:t>
            </a:r>
          </a:p>
        </p:txBody>
      </p:sp>
      <p:sp>
        <p:nvSpPr>
          <p:cNvPr id="41" name="cpe|exhibit|fill|40"/>
          <p:cNvSpPr/>
          <p:nvPr/>
        </p:nvSpPr>
        <p:spPr>
          <a:xfrm>
            <a:off x="3045866" y="5074920"/>
            <a:ext cx="731520" cy="7315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cpe|exhibit|text|41"/>
          <p:cNvSpPr txBox="1"/>
          <p:nvPr/>
        </p:nvSpPr>
        <p:spPr>
          <a:xfrm>
            <a:off x="3045866" y="50749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1C2530"/>
                </a:solidFill>
                <a:latin typeface="Arial"/>
              </a:rPr>
              <a:t>CE</a:t>
            </a:r>
          </a:p>
        </p:txBody>
      </p:sp>
      <p:sp>
        <p:nvSpPr>
          <p:cNvPr id="43" name="cpe|exhibit|fill|42"/>
          <p:cNvSpPr/>
          <p:nvPr/>
        </p:nvSpPr>
        <p:spPr>
          <a:xfrm>
            <a:off x="3832250" y="5074920"/>
            <a:ext cx="731520" cy="7315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cpe|exhibit|text|43"/>
          <p:cNvSpPr txBox="1"/>
          <p:nvPr/>
        </p:nvSpPr>
        <p:spPr>
          <a:xfrm>
            <a:off x="3832250" y="50749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1C2530"/>
                </a:solidFill>
                <a:latin typeface="Arial"/>
              </a:rPr>
              <a:t>ML</a:t>
            </a:r>
          </a:p>
        </p:txBody>
      </p:sp>
      <p:sp>
        <p:nvSpPr>
          <p:cNvPr id="45" name="cpe|exhibit|marker|44"/>
          <p:cNvSpPr/>
          <p:nvPr/>
        </p:nvSpPr>
        <p:spPr>
          <a:xfrm>
            <a:off x="1445666" y="5971032"/>
            <a:ext cx="384048" cy="146304"/>
          </a:xfrm>
          <a:prstGeom prst="rect">
            <a:avLst/>
          </a:prstGeom>
          <a:solidFill>
            <a:srgbClr val="D9E4E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cpe|exhibit|marker|45"/>
          <p:cNvSpPr/>
          <p:nvPr/>
        </p:nvSpPr>
        <p:spPr>
          <a:xfrm>
            <a:off x="1829714" y="5971032"/>
            <a:ext cx="384048" cy="146304"/>
          </a:xfrm>
          <a:prstGeom prst="rect">
            <a:avLst/>
          </a:prstGeom>
          <a:solidFill>
            <a:srgbClr val="B0C5D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cpe|exhibit|marker|46"/>
          <p:cNvSpPr/>
          <p:nvPr/>
        </p:nvSpPr>
        <p:spPr>
          <a:xfrm>
            <a:off x="2213762" y="5971032"/>
            <a:ext cx="384048" cy="146304"/>
          </a:xfrm>
          <a:prstGeom prst="rect">
            <a:avLst/>
          </a:prstGeom>
          <a:solidFill>
            <a:srgbClr val="7A9CB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cpe|exhibit|marker|47"/>
          <p:cNvSpPr/>
          <p:nvPr/>
        </p:nvSpPr>
        <p:spPr>
          <a:xfrm>
            <a:off x="2597810" y="5971032"/>
            <a:ext cx="384048" cy="146304"/>
          </a:xfrm>
          <a:prstGeom prst="rect">
            <a:avLst/>
          </a:prstGeom>
          <a:solidFill>
            <a:srgbClr val="32618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cpe|exhibit|marker|48"/>
          <p:cNvSpPr/>
          <p:nvPr/>
        </p:nvSpPr>
        <p:spPr>
          <a:xfrm>
            <a:off x="2981858" y="5971032"/>
            <a:ext cx="384048" cy="146304"/>
          </a:xfrm>
          <a:prstGeom prst="rect">
            <a:avLst/>
          </a:prstGeom>
          <a:solidFill>
            <a:srgbClr val="19345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cpe|exhibit|label|49"/>
          <p:cNvSpPr txBox="1"/>
          <p:nvPr/>
        </p:nvSpPr>
        <p:spPr>
          <a:xfrm>
            <a:off x="3457346" y="5925312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4.6 → 7.4</a:t>
            </a:r>
          </a:p>
        </p:txBody>
      </p:sp>
      <p:cxnSp>
        <p:nvCxnSpPr>
          <p:cNvPr id="51" name="cpe|commentary|line|50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52" name="cpe|commentary|text|51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Galicia and Asturias cost </a:t>
            </a:r>
            <a:r>
              <a:rPr sz="1200" b="1">
                <a:solidFill>
                  <a:srgbClr val="1C2530"/>
                </a:solidFill>
                <a:latin typeface="Arial"/>
              </a:rPr>
              <a:t>€7+ per drop</a:t>
            </a:r>
            <a:r>
              <a:rPr sz="1200" b="0">
                <a:solidFill>
                  <a:srgbClr val="1C2530"/>
                </a:solidFill>
                <a:latin typeface="Arial"/>
              </a:rPr>
              <a:t>, 55% above Madrid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Consolidating three north-west depots saves €6M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Cost-to-serve is highest in the north-west, where depot density is lowest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Transport management system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9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Cost per drop by region, 2025</a:t>
            </a:r>
            <a:r>
              <a:rPr sz="1100" b="0">
                <a:solidFill>
                  <a:srgbClr val="1C2530"/>
                </a:solidFill>
                <a:latin typeface="Arial"/>
              </a:rPr>
              <a:t>, €</a:t>
            </a:r>
          </a:p>
        </p:txBody>
      </p:sp>
      <p:sp>
        <p:nvSpPr>
          <p:cNvPr id="7" name="cpe|exhibit|fill|6"/>
          <p:cNvSpPr/>
          <p:nvPr/>
        </p:nvSpPr>
        <p:spPr>
          <a:xfrm>
            <a:off x="1473098" y="1929384"/>
            <a:ext cx="731520" cy="731520"/>
          </a:xfrm>
          <a:prstGeom prst="rect">
            <a:avLst/>
          </a:prstGeom>
          <a:solidFill>
            <a:srgbClr val="193458"/>
          </a:solidFill>
          <a:ln w="28575">
            <a:solidFill>
              <a:srgbClr val="E08A0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pe|exhibit|text|7"/>
          <p:cNvSpPr txBox="1"/>
          <p:nvPr/>
        </p:nvSpPr>
        <p:spPr>
          <a:xfrm>
            <a:off x="1473098" y="1929384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GA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7.4</a:t>
            </a:r>
          </a:p>
        </p:txBody>
      </p:sp>
      <p:sp>
        <p:nvSpPr>
          <p:cNvPr id="9" name="cpe|exhibit|fill|8"/>
          <p:cNvSpPr/>
          <p:nvPr/>
        </p:nvSpPr>
        <p:spPr>
          <a:xfrm>
            <a:off x="2259482" y="1929384"/>
            <a:ext cx="731520" cy="731520"/>
          </a:xfrm>
          <a:prstGeom prst="rect">
            <a:avLst/>
          </a:prstGeom>
          <a:solidFill>
            <a:srgbClr val="23476E"/>
          </a:solidFill>
          <a:ln w="28575">
            <a:solidFill>
              <a:srgbClr val="E08A0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text|9"/>
          <p:cNvSpPr txBox="1"/>
          <p:nvPr/>
        </p:nvSpPr>
        <p:spPr>
          <a:xfrm>
            <a:off x="2259482" y="1929384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AS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7.1</a:t>
            </a:r>
          </a:p>
        </p:txBody>
      </p:sp>
      <p:sp>
        <p:nvSpPr>
          <p:cNvPr id="11" name="cpe|exhibit|fill|10"/>
          <p:cNvSpPr/>
          <p:nvPr/>
        </p:nvSpPr>
        <p:spPr>
          <a:xfrm>
            <a:off x="3045866" y="1929384"/>
            <a:ext cx="731520" cy="731520"/>
          </a:xfrm>
          <a:prstGeom prst="rect">
            <a:avLst/>
          </a:prstGeom>
          <a:solidFill>
            <a:srgbClr val="55779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text|11"/>
          <p:cNvSpPr txBox="1"/>
          <p:nvPr/>
        </p:nvSpPr>
        <p:spPr>
          <a:xfrm>
            <a:off x="3045866" y="1929384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CB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6.2</a:t>
            </a:r>
          </a:p>
        </p:txBody>
      </p:sp>
      <p:sp>
        <p:nvSpPr>
          <p:cNvPr id="13" name="cpe|exhibit|fill|12"/>
          <p:cNvSpPr/>
          <p:nvPr/>
        </p:nvSpPr>
        <p:spPr>
          <a:xfrm>
            <a:off x="3832250" y="1929384"/>
            <a:ext cx="731520" cy="731520"/>
          </a:xfrm>
          <a:prstGeom prst="rect">
            <a:avLst/>
          </a:prstGeom>
          <a:solidFill>
            <a:srgbClr val="A2BAD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cpe|exhibit|text|13"/>
          <p:cNvSpPr txBox="1"/>
          <p:nvPr/>
        </p:nvSpPr>
        <p:spPr>
          <a:xfrm>
            <a:off x="3832250" y="1929384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PV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5.5</a:t>
            </a:r>
          </a:p>
        </p:txBody>
      </p:sp>
      <p:sp>
        <p:nvSpPr>
          <p:cNvPr id="15" name="cpe|exhibit|fill|14"/>
          <p:cNvSpPr/>
          <p:nvPr/>
        </p:nvSpPr>
        <p:spPr>
          <a:xfrm>
            <a:off x="4618634" y="1929384"/>
            <a:ext cx="731520" cy="731520"/>
          </a:xfrm>
          <a:prstGeom prst="rect">
            <a:avLst/>
          </a:prstGeom>
          <a:solidFill>
            <a:srgbClr val="9AB5D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text|15"/>
          <p:cNvSpPr txBox="1"/>
          <p:nvPr/>
        </p:nvSpPr>
        <p:spPr>
          <a:xfrm>
            <a:off x="4618634" y="1929384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NA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5.6</a:t>
            </a:r>
          </a:p>
        </p:txBody>
      </p:sp>
      <p:sp>
        <p:nvSpPr>
          <p:cNvPr id="17" name="cpe|exhibit|fill|16"/>
          <p:cNvSpPr/>
          <p:nvPr/>
        </p:nvSpPr>
        <p:spPr>
          <a:xfrm>
            <a:off x="2259482" y="2715768"/>
            <a:ext cx="731520" cy="731520"/>
          </a:xfrm>
          <a:prstGeom prst="rect">
            <a:avLst/>
          </a:prstGeom>
          <a:solidFill>
            <a:srgbClr val="2D5A8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cpe|exhibit|text|17"/>
          <p:cNvSpPr txBox="1"/>
          <p:nvPr/>
        </p:nvSpPr>
        <p:spPr>
          <a:xfrm>
            <a:off x="2259482" y="271576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CL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6.8</a:t>
            </a:r>
          </a:p>
        </p:txBody>
      </p:sp>
      <p:sp>
        <p:nvSpPr>
          <p:cNvPr id="19" name="cpe|exhibit|fill|18"/>
          <p:cNvSpPr/>
          <p:nvPr/>
        </p:nvSpPr>
        <p:spPr>
          <a:xfrm>
            <a:off x="3832250" y="2715768"/>
            <a:ext cx="731520" cy="731520"/>
          </a:xfrm>
          <a:prstGeom prst="rect">
            <a:avLst/>
          </a:prstGeom>
          <a:solidFill>
            <a:srgbClr val="84A4C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text|19"/>
          <p:cNvSpPr txBox="1"/>
          <p:nvPr/>
        </p:nvSpPr>
        <p:spPr>
          <a:xfrm>
            <a:off x="3832250" y="271576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RI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5.9</a:t>
            </a:r>
          </a:p>
        </p:txBody>
      </p:sp>
      <p:sp>
        <p:nvSpPr>
          <p:cNvPr id="21" name="cpe|exhibit|fill|20"/>
          <p:cNvSpPr/>
          <p:nvPr/>
        </p:nvSpPr>
        <p:spPr>
          <a:xfrm>
            <a:off x="4618634" y="2715768"/>
            <a:ext cx="731520" cy="731520"/>
          </a:xfrm>
          <a:prstGeom prst="rect">
            <a:avLst/>
          </a:prstGeom>
          <a:solidFill>
            <a:srgbClr val="7A9CB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text|21"/>
          <p:cNvSpPr txBox="1"/>
          <p:nvPr/>
        </p:nvSpPr>
        <p:spPr>
          <a:xfrm>
            <a:off x="4618634" y="271576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AR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6.0</a:t>
            </a:r>
          </a:p>
        </p:txBody>
      </p:sp>
      <p:sp>
        <p:nvSpPr>
          <p:cNvPr id="23" name="cpe|exhibit|fill|22"/>
          <p:cNvSpPr/>
          <p:nvPr/>
        </p:nvSpPr>
        <p:spPr>
          <a:xfrm>
            <a:off x="5405018" y="2715768"/>
            <a:ext cx="731520" cy="731520"/>
          </a:xfrm>
          <a:prstGeom prst="rect">
            <a:avLst/>
          </a:prstGeom>
          <a:solidFill>
            <a:srgbClr val="BFD0E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text|23"/>
          <p:cNvSpPr txBox="1"/>
          <p:nvPr/>
        </p:nvSpPr>
        <p:spPr>
          <a:xfrm>
            <a:off x="5405018" y="271576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CT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5.1</a:t>
            </a:r>
          </a:p>
        </p:txBody>
      </p:sp>
      <p:sp>
        <p:nvSpPr>
          <p:cNvPr id="25" name="cpe|exhibit|fill|24"/>
          <p:cNvSpPr/>
          <p:nvPr/>
        </p:nvSpPr>
        <p:spPr>
          <a:xfrm>
            <a:off x="3045866" y="3502152"/>
            <a:ext cx="731520" cy="731520"/>
          </a:xfrm>
          <a:prstGeom prst="rect">
            <a:avLst/>
          </a:prstGeom>
          <a:solidFill>
            <a:srgbClr val="D9E4E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text|25"/>
          <p:cNvSpPr txBox="1"/>
          <p:nvPr/>
        </p:nvSpPr>
        <p:spPr>
          <a:xfrm>
            <a:off x="3045866" y="3502152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MD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4.6</a:t>
            </a:r>
          </a:p>
        </p:txBody>
      </p:sp>
      <p:sp>
        <p:nvSpPr>
          <p:cNvPr id="27" name="cpe|exhibit|fill|26"/>
          <p:cNvSpPr/>
          <p:nvPr/>
        </p:nvSpPr>
        <p:spPr>
          <a:xfrm>
            <a:off x="1473098" y="3502152"/>
            <a:ext cx="731520" cy="731520"/>
          </a:xfrm>
          <a:prstGeom prst="rect">
            <a:avLst/>
          </a:prstGeom>
          <a:solidFill>
            <a:srgbClr val="29547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text|27"/>
          <p:cNvSpPr txBox="1"/>
          <p:nvPr/>
        </p:nvSpPr>
        <p:spPr>
          <a:xfrm>
            <a:off x="1473098" y="3502152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EX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6.9</a:t>
            </a:r>
          </a:p>
        </p:txBody>
      </p:sp>
      <p:sp>
        <p:nvSpPr>
          <p:cNvPr id="29" name="cpe|exhibit|fill|28"/>
          <p:cNvSpPr/>
          <p:nvPr/>
        </p:nvSpPr>
        <p:spPr>
          <a:xfrm>
            <a:off x="3832250" y="3502152"/>
            <a:ext cx="731520" cy="731520"/>
          </a:xfrm>
          <a:prstGeom prst="rect">
            <a:avLst/>
          </a:prstGeom>
          <a:solidFill>
            <a:srgbClr val="7094B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cpe|exhibit|text|29"/>
          <p:cNvSpPr txBox="1"/>
          <p:nvPr/>
        </p:nvSpPr>
        <p:spPr>
          <a:xfrm>
            <a:off x="3832250" y="3502152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CM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6.1</a:t>
            </a:r>
          </a:p>
        </p:txBody>
      </p:sp>
      <p:sp>
        <p:nvSpPr>
          <p:cNvPr id="31" name="cpe|exhibit|fill|30"/>
          <p:cNvSpPr/>
          <p:nvPr/>
        </p:nvSpPr>
        <p:spPr>
          <a:xfrm>
            <a:off x="4618634" y="3502152"/>
            <a:ext cx="731520" cy="731520"/>
          </a:xfrm>
          <a:prstGeom prst="rect">
            <a:avLst/>
          </a:prstGeom>
          <a:solidFill>
            <a:srgbClr val="C5D4E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cpe|exhibit|text|31"/>
          <p:cNvSpPr txBox="1"/>
          <p:nvPr/>
        </p:nvSpPr>
        <p:spPr>
          <a:xfrm>
            <a:off x="4618634" y="3502152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VC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5.0</a:t>
            </a:r>
          </a:p>
        </p:txBody>
      </p:sp>
      <p:sp>
        <p:nvSpPr>
          <p:cNvPr id="33" name="cpe|exhibit|fill|32"/>
          <p:cNvSpPr/>
          <p:nvPr/>
        </p:nvSpPr>
        <p:spPr>
          <a:xfrm>
            <a:off x="6191402" y="3502152"/>
            <a:ext cx="731520" cy="731520"/>
          </a:xfrm>
          <a:prstGeom prst="rect">
            <a:avLst/>
          </a:prstGeom>
          <a:solidFill>
            <a:srgbClr val="3C6A9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cpe|exhibit|text|33"/>
          <p:cNvSpPr txBox="1"/>
          <p:nvPr/>
        </p:nvSpPr>
        <p:spPr>
          <a:xfrm>
            <a:off x="6191402" y="3502152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IB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6.6</a:t>
            </a:r>
          </a:p>
        </p:txBody>
      </p:sp>
      <p:sp>
        <p:nvSpPr>
          <p:cNvPr id="35" name="cpe|exhibit|fill|34"/>
          <p:cNvSpPr/>
          <p:nvPr/>
        </p:nvSpPr>
        <p:spPr>
          <a:xfrm>
            <a:off x="2259482" y="4288536"/>
            <a:ext cx="731520" cy="731520"/>
          </a:xfrm>
          <a:prstGeom prst="rect">
            <a:avLst/>
          </a:prstGeom>
          <a:solidFill>
            <a:srgbClr val="A9C0D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text|35"/>
          <p:cNvSpPr txBox="1"/>
          <p:nvPr/>
        </p:nvSpPr>
        <p:spPr>
          <a:xfrm>
            <a:off x="2259482" y="4288536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AN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5.4</a:t>
            </a:r>
          </a:p>
        </p:txBody>
      </p:sp>
      <p:sp>
        <p:nvSpPr>
          <p:cNvPr id="37" name="cpe|exhibit|fill|36"/>
          <p:cNvSpPr/>
          <p:nvPr/>
        </p:nvSpPr>
        <p:spPr>
          <a:xfrm>
            <a:off x="3832250" y="4288536"/>
            <a:ext cx="731520" cy="731520"/>
          </a:xfrm>
          <a:prstGeom prst="rect">
            <a:avLst/>
          </a:prstGeom>
          <a:solidFill>
            <a:srgbClr val="B7CAD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cpe|exhibit|text|37"/>
          <p:cNvSpPr txBox="1"/>
          <p:nvPr/>
        </p:nvSpPr>
        <p:spPr>
          <a:xfrm>
            <a:off x="3832250" y="4288536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MC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5.2</a:t>
            </a:r>
          </a:p>
        </p:txBody>
      </p:sp>
      <p:sp>
        <p:nvSpPr>
          <p:cNvPr id="39" name="cpe|exhibit|fill|38"/>
          <p:cNvSpPr/>
          <p:nvPr/>
        </p:nvSpPr>
        <p:spPr>
          <a:xfrm>
            <a:off x="1473098" y="5074920"/>
            <a:ext cx="731520" cy="731520"/>
          </a:xfrm>
          <a:prstGeom prst="rect">
            <a:avLst/>
          </a:prstGeom>
          <a:solidFill>
            <a:srgbClr val="264D7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cpe|exhibit|text|39"/>
          <p:cNvSpPr txBox="1"/>
          <p:nvPr/>
        </p:nvSpPr>
        <p:spPr>
          <a:xfrm>
            <a:off x="1473098" y="50749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CN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7.0</a:t>
            </a:r>
          </a:p>
        </p:txBody>
      </p:sp>
      <p:sp>
        <p:nvSpPr>
          <p:cNvPr id="41" name="cpe|exhibit|fill|40"/>
          <p:cNvSpPr/>
          <p:nvPr/>
        </p:nvSpPr>
        <p:spPr>
          <a:xfrm>
            <a:off x="3045866" y="5074920"/>
            <a:ext cx="731520" cy="7315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cpe|exhibit|text|41"/>
          <p:cNvSpPr txBox="1"/>
          <p:nvPr/>
        </p:nvSpPr>
        <p:spPr>
          <a:xfrm>
            <a:off x="3045866" y="50749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1C2530"/>
                </a:solidFill>
                <a:latin typeface="Arial"/>
              </a:rPr>
              <a:t>CE</a:t>
            </a:r>
          </a:p>
        </p:txBody>
      </p:sp>
      <p:sp>
        <p:nvSpPr>
          <p:cNvPr id="43" name="cpe|exhibit|fill|42"/>
          <p:cNvSpPr/>
          <p:nvPr/>
        </p:nvSpPr>
        <p:spPr>
          <a:xfrm>
            <a:off x="3832250" y="5074920"/>
            <a:ext cx="731520" cy="7315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cpe|exhibit|text|43"/>
          <p:cNvSpPr txBox="1"/>
          <p:nvPr/>
        </p:nvSpPr>
        <p:spPr>
          <a:xfrm>
            <a:off x="3832250" y="50749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1C2530"/>
                </a:solidFill>
                <a:latin typeface="Arial"/>
              </a:rPr>
              <a:t>ML</a:t>
            </a:r>
          </a:p>
        </p:txBody>
      </p:sp>
      <p:sp>
        <p:nvSpPr>
          <p:cNvPr id="45" name="cpe|exhibit|marker|44"/>
          <p:cNvSpPr/>
          <p:nvPr/>
        </p:nvSpPr>
        <p:spPr>
          <a:xfrm>
            <a:off x="1445666" y="5971032"/>
            <a:ext cx="384048" cy="146304"/>
          </a:xfrm>
          <a:prstGeom prst="rect">
            <a:avLst/>
          </a:prstGeom>
          <a:solidFill>
            <a:srgbClr val="D9E4E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cpe|exhibit|marker|45"/>
          <p:cNvSpPr/>
          <p:nvPr/>
        </p:nvSpPr>
        <p:spPr>
          <a:xfrm>
            <a:off x="1829714" y="5971032"/>
            <a:ext cx="384048" cy="146304"/>
          </a:xfrm>
          <a:prstGeom prst="rect">
            <a:avLst/>
          </a:prstGeom>
          <a:solidFill>
            <a:srgbClr val="B0C5D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cpe|exhibit|marker|46"/>
          <p:cNvSpPr/>
          <p:nvPr/>
        </p:nvSpPr>
        <p:spPr>
          <a:xfrm>
            <a:off x="2213762" y="5971032"/>
            <a:ext cx="384048" cy="146304"/>
          </a:xfrm>
          <a:prstGeom prst="rect">
            <a:avLst/>
          </a:prstGeom>
          <a:solidFill>
            <a:srgbClr val="7A9CB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cpe|exhibit|marker|47"/>
          <p:cNvSpPr/>
          <p:nvPr/>
        </p:nvSpPr>
        <p:spPr>
          <a:xfrm>
            <a:off x="2597810" y="5971032"/>
            <a:ext cx="384048" cy="146304"/>
          </a:xfrm>
          <a:prstGeom prst="rect">
            <a:avLst/>
          </a:prstGeom>
          <a:solidFill>
            <a:srgbClr val="32618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cpe|exhibit|marker|48"/>
          <p:cNvSpPr/>
          <p:nvPr/>
        </p:nvSpPr>
        <p:spPr>
          <a:xfrm>
            <a:off x="2981858" y="5971032"/>
            <a:ext cx="384048" cy="146304"/>
          </a:xfrm>
          <a:prstGeom prst="rect">
            <a:avLst/>
          </a:prstGeom>
          <a:solidFill>
            <a:srgbClr val="19345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cpe|exhibit|label|49"/>
          <p:cNvSpPr txBox="1"/>
          <p:nvPr/>
        </p:nvSpPr>
        <p:spPr>
          <a:xfrm>
            <a:off x="3457346" y="5925312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4.6 → 7.4</a:t>
            </a:r>
          </a:p>
        </p:txBody>
      </p:sp>
      <p:cxnSp>
        <p:nvCxnSpPr>
          <p:cNvPr id="51" name="cpe|commentary|line|50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52" name="cpe|commentary|text|51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C2530"/>
                </a:solidFill>
                <a:latin typeface="Arial"/>
              </a:rPr>
              <a:t>Galicia and Asturias cost </a:t>
            </a:r>
            <a:r>
              <a:rPr sz="1400" b="1">
                <a:solidFill>
                  <a:srgbClr val="1C2530"/>
                </a:solidFill>
                <a:latin typeface="Arial"/>
              </a:rPr>
              <a:t>€7+ per drop</a:t>
            </a:r>
            <a:r>
              <a:rPr sz="1400" b="0">
                <a:solidFill>
                  <a:srgbClr val="1C2530"/>
                </a:solidFill>
                <a:latin typeface="Arial"/>
              </a:rPr>
              <a:t>, 55% above Madrid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C2530"/>
                </a:solidFill>
                <a:latin typeface="Arial"/>
              </a:rPr>
              <a:t>Consolidating three north-west depots saves €6M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Cost-to-serve is highest in the north-west, where depot density is lowest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Transport management system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9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Cost per drop by region, 2025</a:t>
            </a:r>
            <a:r>
              <a:rPr sz="1100" b="0">
                <a:solidFill>
                  <a:srgbClr val="1C2530"/>
                </a:solidFill>
                <a:latin typeface="Arial"/>
              </a:rPr>
              <a:t>, €</a:t>
            </a:r>
          </a:p>
        </p:txBody>
      </p:sp>
      <p:sp>
        <p:nvSpPr>
          <p:cNvPr id="7" name="cpe|exhibit|fill|6"/>
          <p:cNvSpPr/>
          <p:nvPr/>
        </p:nvSpPr>
        <p:spPr>
          <a:xfrm>
            <a:off x="1473098" y="1929384"/>
            <a:ext cx="731520" cy="731520"/>
          </a:xfrm>
          <a:prstGeom prst="rect">
            <a:avLst/>
          </a:prstGeom>
          <a:solidFill>
            <a:srgbClr val="193458"/>
          </a:solidFill>
          <a:ln w="28575">
            <a:solidFill>
              <a:srgbClr val="E08A0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pe|exhibit|text|7"/>
          <p:cNvSpPr txBox="1"/>
          <p:nvPr/>
        </p:nvSpPr>
        <p:spPr>
          <a:xfrm>
            <a:off x="1473098" y="1929384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GA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7.4</a:t>
            </a:r>
          </a:p>
        </p:txBody>
      </p:sp>
      <p:sp>
        <p:nvSpPr>
          <p:cNvPr id="9" name="cpe|exhibit|fill|8"/>
          <p:cNvSpPr/>
          <p:nvPr/>
        </p:nvSpPr>
        <p:spPr>
          <a:xfrm>
            <a:off x="2259482" y="1929384"/>
            <a:ext cx="731520" cy="731520"/>
          </a:xfrm>
          <a:prstGeom prst="rect">
            <a:avLst/>
          </a:prstGeom>
          <a:solidFill>
            <a:srgbClr val="23476E"/>
          </a:solidFill>
          <a:ln w="28575">
            <a:solidFill>
              <a:srgbClr val="E08A0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text|9"/>
          <p:cNvSpPr txBox="1"/>
          <p:nvPr/>
        </p:nvSpPr>
        <p:spPr>
          <a:xfrm>
            <a:off x="2259482" y="1929384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AS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7.1</a:t>
            </a:r>
          </a:p>
        </p:txBody>
      </p:sp>
      <p:sp>
        <p:nvSpPr>
          <p:cNvPr id="11" name="cpe|exhibit|fill|10"/>
          <p:cNvSpPr/>
          <p:nvPr/>
        </p:nvSpPr>
        <p:spPr>
          <a:xfrm>
            <a:off x="3045866" y="1929384"/>
            <a:ext cx="731520" cy="731520"/>
          </a:xfrm>
          <a:prstGeom prst="rect">
            <a:avLst/>
          </a:prstGeom>
          <a:solidFill>
            <a:srgbClr val="55779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text|11"/>
          <p:cNvSpPr txBox="1"/>
          <p:nvPr/>
        </p:nvSpPr>
        <p:spPr>
          <a:xfrm>
            <a:off x="3045866" y="1929384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CB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6.2</a:t>
            </a:r>
          </a:p>
        </p:txBody>
      </p:sp>
      <p:sp>
        <p:nvSpPr>
          <p:cNvPr id="13" name="cpe|exhibit|fill|12"/>
          <p:cNvSpPr/>
          <p:nvPr/>
        </p:nvSpPr>
        <p:spPr>
          <a:xfrm>
            <a:off x="3832250" y="1929384"/>
            <a:ext cx="731520" cy="731520"/>
          </a:xfrm>
          <a:prstGeom prst="rect">
            <a:avLst/>
          </a:prstGeom>
          <a:solidFill>
            <a:srgbClr val="A2BAD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cpe|exhibit|text|13"/>
          <p:cNvSpPr txBox="1"/>
          <p:nvPr/>
        </p:nvSpPr>
        <p:spPr>
          <a:xfrm>
            <a:off x="3832250" y="1929384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PV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5.5</a:t>
            </a:r>
          </a:p>
        </p:txBody>
      </p:sp>
      <p:sp>
        <p:nvSpPr>
          <p:cNvPr id="15" name="cpe|exhibit|fill|14"/>
          <p:cNvSpPr/>
          <p:nvPr/>
        </p:nvSpPr>
        <p:spPr>
          <a:xfrm>
            <a:off x="4618634" y="1929384"/>
            <a:ext cx="731520" cy="731520"/>
          </a:xfrm>
          <a:prstGeom prst="rect">
            <a:avLst/>
          </a:prstGeom>
          <a:solidFill>
            <a:srgbClr val="9AB5D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text|15"/>
          <p:cNvSpPr txBox="1"/>
          <p:nvPr/>
        </p:nvSpPr>
        <p:spPr>
          <a:xfrm>
            <a:off x="4618634" y="1929384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NA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5.6</a:t>
            </a:r>
          </a:p>
        </p:txBody>
      </p:sp>
      <p:sp>
        <p:nvSpPr>
          <p:cNvPr id="17" name="cpe|exhibit|fill|16"/>
          <p:cNvSpPr/>
          <p:nvPr/>
        </p:nvSpPr>
        <p:spPr>
          <a:xfrm>
            <a:off x="2259482" y="2715768"/>
            <a:ext cx="731520" cy="731520"/>
          </a:xfrm>
          <a:prstGeom prst="rect">
            <a:avLst/>
          </a:prstGeom>
          <a:solidFill>
            <a:srgbClr val="2D5A8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cpe|exhibit|text|17"/>
          <p:cNvSpPr txBox="1"/>
          <p:nvPr/>
        </p:nvSpPr>
        <p:spPr>
          <a:xfrm>
            <a:off x="2259482" y="271576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CL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6.8</a:t>
            </a:r>
          </a:p>
        </p:txBody>
      </p:sp>
      <p:sp>
        <p:nvSpPr>
          <p:cNvPr id="19" name="cpe|exhibit|fill|18"/>
          <p:cNvSpPr/>
          <p:nvPr/>
        </p:nvSpPr>
        <p:spPr>
          <a:xfrm>
            <a:off x="3832250" y="2715768"/>
            <a:ext cx="731520" cy="731520"/>
          </a:xfrm>
          <a:prstGeom prst="rect">
            <a:avLst/>
          </a:prstGeom>
          <a:solidFill>
            <a:srgbClr val="84A4C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text|19"/>
          <p:cNvSpPr txBox="1"/>
          <p:nvPr/>
        </p:nvSpPr>
        <p:spPr>
          <a:xfrm>
            <a:off x="3832250" y="271576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RI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5.9</a:t>
            </a:r>
          </a:p>
        </p:txBody>
      </p:sp>
      <p:sp>
        <p:nvSpPr>
          <p:cNvPr id="21" name="cpe|exhibit|fill|20"/>
          <p:cNvSpPr/>
          <p:nvPr/>
        </p:nvSpPr>
        <p:spPr>
          <a:xfrm>
            <a:off x="4618634" y="2715768"/>
            <a:ext cx="731520" cy="731520"/>
          </a:xfrm>
          <a:prstGeom prst="rect">
            <a:avLst/>
          </a:prstGeom>
          <a:solidFill>
            <a:srgbClr val="7A9CB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text|21"/>
          <p:cNvSpPr txBox="1"/>
          <p:nvPr/>
        </p:nvSpPr>
        <p:spPr>
          <a:xfrm>
            <a:off x="4618634" y="271576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AR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6.0</a:t>
            </a:r>
          </a:p>
        </p:txBody>
      </p:sp>
      <p:sp>
        <p:nvSpPr>
          <p:cNvPr id="23" name="cpe|exhibit|fill|22"/>
          <p:cNvSpPr/>
          <p:nvPr/>
        </p:nvSpPr>
        <p:spPr>
          <a:xfrm>
            <a:off x="5405018" y="2715768"/>
            <a:ext cx="731520" cy="731520"/>
          </a:xfrm>
          <a:prstGeom prst="rect">
            <a:avLst/>
          </a:prstGeom>
          <a:solidFill>
            <a:srgbClr val="BFD0E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text|23"/>
          <p:cNvSpPr txBox="1"/>
          <p:nvPr/>
        </p:nvSpPr>
        <p:spPr>
          <a:xfrm>
            <a:off x="5405018" y="271576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CT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5.1</a:t>
            </a:r>
          </a:p>
        </p:txBody>
      </p:sp>
      <p:sp>
        <p:nvSpPr>
          <p:cNvPr id="25" name="cpe|exhibit|fill|24"/>
          <p:cNvSpPr/>
          <p:nvPr/>
        </p:nvSpPr>
        <p:spPr>
          <a:xfrm>
            <a:off x="3045866" y="3502152"/>
            <a:ext cx="731520" cy="731520"/>
          </a:xfrm>
          <a:prstGeom prst="rect">
            <a:avLst/>
          </a:prstGeom>
          <a:solidFill>
            <a:srgbClr val="D9E4E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text|25"/>
          <p:cNvSpPr txBox="1"/>
          <p:nvPr/>
        </p:nvSpPr>
        <p:spPr>
          <a:xfrm>
            <a:off x="3045866" y="3502152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MD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4.6</a:t>
            </a:r>
          </a:p>
        </p:txBody>
      </p:sp>
      <p:sp>
        <p:nvSpPr>
          <p:cNvPr id="27" name="cpe|exhibit|fill|26"/>
          <p:cNvSpPr/>
          <p:nvPr/>
        </p:nvSpPr>
        <p:spPr>
          <a:xfrm>
            <a:off x="1473098" y="3502152"/>
            <a:ext cx="731520" cy="731520"/>
          </a:xfrm>
          <a:prstGeom prst="rect">
            <a:avLst/>
          </a:prstGeom>
          <a:solidFill>
            <a:srgbClr val="29547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text|27"/>
          <p:cNvSpPr txBox="1"/>
          <p:nvPr/>
        </p:nvSpPr>
        <p:spPr>
          <a:xfrm>
            <a:off x="1473098" y="3502152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EX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6.9</a:t>
            </a:r>
          </a:p>
        </p:txBody>
      </p:sp>
      <p:sp>
        <p:nvSpPr>
          <p:cNvPr id="29" name="cpe|exhibit|fill|28"/>
          <p:cNvSpPr/>
          <p:nvPr/>
        </p:nvSpPr>
        <p:spPr>
          <a:xfrm>
            <a:off x="3832250" y="3502152"/>
            <a:ext cx="731520" cy="731520"/>
          </a:xfrm>
          <a:prstGeom prst="rect">
            <a:avLst/>
          </a:prstGeom>
          <a:solidFill>
            <a:srgbClr val="7094B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cpe|exhibit|text|29"/>
          <p:cNvSpPr txBox="1"/>
          <p:nvPr/>
        </p:nvSpPr>
        <p:spPr>
          <a:xfrm>
            <a:off x="3832250" y="3502152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CM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6.1</a:t>
            </a:r>
          </a:p>
        </p:txBody>
      </p:sp>
      <p:sp>
        <p:nvSpPr>
          <p:cNvPr id="31" name="cpe|exhibit|fill|30"/>
          <p:cNvSpPr/>
          <p:nvPr/>
        </p:nvSpPr>
        <p:spPr>
          <a:xfrm>
            <a:off x="4618634" y="3502152"/>
            <a:ext cx="731520" cy="731520"/>
          </a:xfrm>
          <a:prstGeom prst="rect">
            <a:avLst/>
          </a:prstGeom>
          <a:solidFill>
            <a:srgbClr val="C5D4E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cpe|exhibit|text|31"/>
          <p:cNvSpPr txBox="1"/>
          <p:nvPr/>
        </p:nvSpPr>
        <p:spPr>
          <a:xfrm>
            <a:off x="4618634" y="3502152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VC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5.0</a:t>
            </a:r>
          </a:p>
        </p:txBody>
      </p:sp>
      <p:sp>
        <p:nvSpPr>
          <p:cNvPr id="33" name="cpe|exhibit|fill|32"/>
          <p:cNvSpPr/>
          <p:nvPr/>
        </p:nvSpPr>
        <p:spPr>
          <a:xfrm>
            <a:off x="6191402" y="3502152"/>
            <a:ext cx="731520" cy="731520"/>
          </a:xfrm>
          <a:prstGeom prst="rect">
            <a:avLst/>
          </a:prstGeom>
          <a:solidFill>
            <a:srgbClr val="3C6A9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cpe|exhibit|text|33"/>
          <p:cNvSpPr txBox="1"/>
          <p:nvPr/>
        </p:nvSpPr>
        <p:spPr>
          <a:xfrm>
            <a:off x="6191402" y="3502152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IB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6.6</a:t>
            </a:r>
          </a:p>
        </p:txBody>
      </p:sp>
      <p:sp>
        <p:nvSpPr>
          <p:cNvPr id="35" name="cpe|exhibit|fill|34"/>
          <p:cNvSpPr/>
          <p:nvPr/>
        </p:nvSpPr>
        <p:spPr>
          <a:xfrm>
            <a:off x="2259482" y="4288536"/>
            <a:ext cx="731520" cy="731520"/>
          </a:xfrm>
          <a:prstGeom prst="rect">
            <a:avLst/>
          </a:prstGeom>
          <a:solidFill>
            <a:srgbClr val="A9C0D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text|35"/>
          <p:cNvSpPr txBox="1"/>
          <p:nvPr/>
        </p:nvSpPr>
        <p:spPr>
          <a:xfrm>
            <a:off x="2259482" y="4288536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AN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5.4</a:t>
            </a:r>
          </a:p>
        </p:txBody>
      </p:sp>
      <p:sp>
        <p:nvSpPr>
          <p:cNvPr id="37" name="cpe|exhibit|fill|36"/>
          <p:cNvSpPr/>
          <p:nvPr/>
        </p:nvSpPr>
        <p:spPr>
          <a:xfrm>
            <a:off x="3832250" y="4288536"/>
            <a:ext cx="731520" cy="731520"/>
          </a:xfrm>
          <a:prstGeom prst="rect">
            <a:avLst/>
          </a:prstGeom>
          <a:solidFill>
            <a:srgbClr val="B7CAD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cpe|exhibit|text|37"/>
          <p:cNvSpPr txBox="1"/>
          <p:nvPr/>
        </p:nvSpPr>
        <p:spPr>
          <a:xfrm>
            <a:off x="3832250" y="4288536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MC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5.2</a:t>
            </a:r>
          </a:p>
        </p:txBody>
      </p:sp>
      <p:sp>
        <p:nvSpPr>
          <p:cNvPr id="39" name="cpe|exhibit|fill|38"/>
          <p:cNvSpPr/>
          <p:nvPr/>
        </p:nvSpPr>
        <p:spPr>
          <a:xfrm>
            <a:off x="1473098" y="5074920"/>
            <a:ext cx="731520" cy="731520"/>
          </a:xfrm>
          <a:prstGeom prst="rect">
            <a:avLst/>
          </a:prstGeom>
          <a:solidFill>
            <a:srgbClr val="264D7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cpe|exhibit|text|39"/>
          <p:cNvSpPr txBox="1"/>
          <p:nvPr/>
        </p:nvSpPr>
        <p:spPr>
          <a:xfrm>
            <a:off x="1473098" y="50749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CN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7.0</a:t>
            </a:r>
          </a:p>
        </p:txBody>
      </p:sp>
      <p:sp>
        <p:nvSpPr>
          <p:cNvPr id="41" name="cpe|exhibit|fill|40"/>
          <p:cNvSpPr/>
          <p:nvPr/>
        </p:nvSpPr>
        <p:spPr>
          <a:xfrm>
            <a:off x="3045866" y="5074920"/>
            <a:ext cx="731520" cy="7315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cpe|exhibit|text|41"/>
          <p:cNvSpPr txBox="1"/>
          <p:nvPr/>
        </p:nvSpPr>
        <p:spPr>
          <a:xfrm>
            <a:off x="3045866" y="50749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1C2530"/>
                </a:solidFill>
                <a:latin typeface="Arial"/>
              </a:rPr>
              <a:t>CE</a:t>
            </a:r>
          </a:p>
        </p:txBody>
      </p:sp>
      <p:sp>
        <p:nvSpPr>
          <p:cNvPr id="43" name="cpe|exhibit|fill|42"/>
          <p:cNvSpPr/>
          <p:nvPr/>
        </p:nvSpPr>
        <p:spPr>
          <a:xfrm>
            <a:off x="3832250" y="5074920"/>
            <a:ext cx="731520" cy="7315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cpe|exhibit|text|43"/>
          <p:cNvSpPr txBox="1"/>
          <p:nvPr/>
        </p:nvSpPr>
        <p:spPr>
          <a:xfrm>
            <a:off x="3832250" y="50749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1C2530"/>
                </a:solidFill>
                <a:latin typeface="Arial"/>
              </a:rPr>
              <a:t>ML</a:t>
            </a:r>
          </a:p>
        </p:txBody>
      </p:sp>
      <p:sp>
        <p:nvSpPr>
          <p:cNvPr id="45" name="cpe|exhibit|marker|44"/>
          <p:cNvSpPr/>
          <p:nvPr/>
        </p:nvSpPr>
        <p:spPr>
          <a:xfrm>
            <a:off x="1445666" y="5971032"/>
            <a:ext cx="384048" cy="146304"/>
          </a:xfrm>
          <a:prstGeom prst="rect">
            <a:avLst/>
          </a:prstGeom>
          <a:solidFill>
            <a:srgbClr val="D9E4E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cpe|exhibit|marker|45"/>
          <p:cNvSpPr/>
          <p:nvPr/>
        </p:nvSpPr>
        <p:spPr>
          <a:xfrm>
            <a:off x="1829714" y="5971032"/>
            <a:ext cx="384048" cy="146304"/>
          </a:xfrm>
          <a:prstGeom prst="rect">
            <a:avLst/>
          </a:prstGeom>
          <a:solidFill>
            <a:srgbClr val="B0C5D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cpe|exhibit|marker|46"/>
          <p:cNvSpPr/>
          <p:nvPr/>
        </p:nvSpPr>
        <p:spPr>
          <a:xfrm>
            <a:off x="2213762" y="5971032"/>
            <a:ext cx="384048" cy="146304"/>
          </a:xfrm>
          <a:prstGeom prst="rect">
            <a:avLst/>
          </a:prstGeom>
          <a:solidFill>
            <a:srgbClr val="7A9CB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cpe|exhibit|marker|47"/>
          <p:cNvSpPr/>
          <p:nvPr/>
        </p:nvSpPr>
        <p:spPr>
          <a:xfrm>
            <a:off x="2597810" y="5971032"/>
            <a:ext cx="384048" cy="146304"/>
          </a:xfrm>
          <a:prstGeom prst="rect">
            <a:avLst/>
          </a:prstGeom>
          <a:solidFill>
            <a:srgbClr val="32618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cpe|exhibit|marker|48"/>
          <p:cNvSpPr/>
          <p:nvPr/>
        </p:nvSpPr>
        <p:spPr>
          <a:xfrm>
            <a:off x="2981858" y="5971032"/>
            <a:ext cx="384048" cy="146304"/>
          </a:xfrm>
          <a:prstGeom prst="rect">
            <a:avLst/>
          </a:prstGeom>
          <a:solidFill>
            <a:srgbClr val="19345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cpe|exhibit|label|49"/>
          <p:cNvSpPr txBox="1"/>
          <p:nvPr/>
        </p:nvSpPr>
        <p:spPr>
          <a:xfrm>
            <a:off x="3457346" y="5925312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4.6 → 7.4</a:t>
            </a:r>
          </a:p>
        </p:txBody>
      </p:sp>
      <p:cxnSp>
        <p:nvCxnSpPr>
          <p:cNvPr id="51" name="cpe|commentary|line|50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52" name="cpe|commentary|text|51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Galicia and Asturias cost </a:t>
            </a:r>
            <a:r>
              <a:rPr sz="1200" b="1">
                <a:solidFill>
                  <a:srgbClr val="1C2530"/>
                </a:solidFill>
                <a:latin typeface="Arial"/>
              </a:rPr>
              <a:t>€7+ per drop</a:t>
            </a:r>
            <a:r>
              <a:rPr sz="1200" b="0">
                <a:solidFill>
                  <a:srgbClr val="1C2530"/>
                </a:solidFill>
                <a:latin typeface="Arial"/>
              </a:rPr>
              <a:t>, 55% above Madrid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Consolidating three north-west depots saves €6M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Cost-to-serve is highest in the north-west, where depot density is lowest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Transport management system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9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Cost per drop by region, 2025</a:t>
            </a:r>
            <a:r>
              <a:rPr sz="1100" b="0">
                <a:solidFill>
                  <a:srgbClr val="1C2530"/>
                </a:solidFill>
                <a:latin typeface="Arial"/>
              </a:rPr>
              <a:t>, €</a:t>
            </a:r>
          </a:p>
        </p:txBody>
      </p:sp>
      <p:sp>
        <p:nvSpPr>
          <p:cNvPr id="7" name="cpe|exhibit|fill|6"/>
          <p:cNvSpPr/>
          <p:nvPr/>
        </p:nvSpPr>
        <p:spPr>
          <a:xfrm>
            <a:off x="1473098" y="1929384"/>
            <a:ext cx="731520" cy="731520"/>
          </a:xfrm>
          <a:prstGeom prst="rect">
            <a:avLst/>
          </a:prstGeom>
          <a:solidFill>
            <a:srgbClr val="193458"/>
          </a:solidFill>
          <a:ln w="28575">
            <a:solidFill>
              <a:srgbClr val="E08A0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pe|exhibit|text|7"/>
          <p:cNvSpPr txBox="1"/>
          <p:nvPr/>
        </p:nvSpPr>
        <p:spPr>
          <a:xfrm>
            <a:off x="1473098" y="1929384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GA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7.4</a:t>
            </a:r>
          </a:p>
        </p:txBody>
      </p:sp>
      <p:sp>
        <p:nvSpPr>
          <p:cNvPr id="9" name="cpe|exhibit|fill|8"/>
          <p:cNvSpPr/>
          <p:nvPr/>
        </p:nvSpPr>
        <p:spPr>
          <a:xfrm>
            <a:off x="2259482" y="1929384"/>
            <a:ext cx="731520" cy="731520"/>
          </a:xfrm>
          <a:prstGeom prst="rect">
            <a:avLst/>
          </a:prstGeom>
          <a:solidFill>
            <a:srgbClr val="23476E"/>
          </a:solidFill>
          <a:ln w="28575">
            <a:solidFill>
              <a:srgbClr val="E08A0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text|9"/>
          <p:cNvSpPr txBox="1"/>
          <p:nvPr/>
        </p:nvSpPr>
        <p:spPr>
          <a:xfrm>
            <a:off x="2259482" y="1929384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AS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7.1</a:t>
            </a:r>
          </a:p>
        </p:txBody>
      </p:sp>
      <p:sp>
        <p:nvSpPr>
          <p:cNvPr id="11" name="cpe|exhibit|fill|10"/>
          <p:cNvSpPr/>
          <p:nvPr/>
        </p:nvSpPr>
        <p:spPr>
          <a:xfrm>
            <a:off x="3045866" y="1929384"/>
            <a:ext cx="731520" cy="731520"/>
          </a:xfrm>
          <a:prstGeom prst="rect">
            <a:avLst/>
          </a:prstGeom>
          <a:solidFill>
            <a:srgbClr val="55779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text|11"/>
          <p:cNvSpPr txBox="1"/>
          <p:nvPr/>
        </p:nvSpPr>
        <p:spPr>
          <a:xfrm>
            <a:off x="3045866" y="1929384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CB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6.2</a:t>
            </a:r>
          </a:p>
        </p:txBody>
      </p:sp>
      <p:sp>
        <p:nvSpPr>
          <p:cNvPr id="13" name="cpe|exhibit|fill|12"/>
          <p:cNvSpPr/>
          <p:nvPr/>
        </p:nvSpPr>
        <p:spPr>
          <a:xfrm>
            <a:off x="3832250" y="1929384"/>
            <a:ext cx="731520" cy="731520"/>
          </a:xfrm>
          <a:prstGeom prst="rect">
            <a:avLst/>
          </a:prstGeom>
          <a:solidFill>
            <a:srgbClr val="A2BAD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cpe|exhibit|text|13"/>
          <p:cNvSpPr txBox="1"/>
          <p:nvPr/>
        </p:nvSpPr>
        <p:spPr>
          <a:xfrm>
            <a:off x="3832250" y="1929384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PV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5.5</a:t>
            </a:r>
          </a:p>
        </p:txBody>
      </p:sp>
      <p:sp>
        <p:nvSpPr>
          <p:cNvPr id="15" name="cpe|exhibit|fill|14"/>
          <p:cNvSpPr/>
          <p:nvPr/>
        </p:nvSpPr>
        <p:spPr>
          <a:xfrm>
            <a:off x="4618634" y="1929384"/>
            <a:ext cx="731520" cy="731520"/>
          </a:xfrm>
          <a:prstGeom prst="rect">
            <a:avLst/>
          </a:prstGeom>
          <a:solidFill>
            <a:srgbClr val="9AB5D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text|15"/>
          <p:cNvSpPr txBox="1"/>
          <p:nvPr/>
        </p:nvSpPr>
        <p:spPr>
          <a:xfrm>
            <a:off x="4618634" y="1929384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NA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5.6</a:t>
            </a:r>
          </a:p>
        </p:txBody>
      </p:sp>
      <p:sp>
        <p:nvSpPr>
          <p:cNvPr id="17" name="cpe|exhibit|fill|16"/>
          <p:cNvSpPr/>
          <p:nvPr/>
        </p:nvSpPr>
        <p:spPr>
          <a:xfrm>
            <a:off x="2259482" y="2715768"/>
            <a:ext cx="731520" cy="731520"/>
          </a:xfrm>
          <a:prstGeom prst="rect">
            <a:avLst/>
          </a:prstGeom>
          <a:solidFill>
            <a:srgbClr val="2D5A8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cpe|exhibit|text|17"/>
          <p:cNvSpPr txBox="1"/>
          <p:nvPr/>
        </p:nvSpPr>
        <p:spPr>
          <a:xfrm>
            <a:off x="2259482" y="271576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CL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6.8</a:t>
            </a:r>
          </a:p>
        </p:txBody>
      </p:sp>
      <p:sp>
        <p:nvSpPr>
          <p:cNvPr id="19" name="cpe|exhibit|fill|18"/>
          <p:cNvSpPr/>
          <p:nvPr/>
        </p:nvSpPr>
        <p:spPr>
          <a:xfrm>
            <a:off x="3832250" y="2715768"/>
            <a:ext cx="731520" cy="731520"/>
          </a:xfrm>
          <a:prstGeom prst="rect">
            <a:avLst/>
          </a:prstGeom>
          <a:solidFill>
            <a:srgbClr val="84A4C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text|19"/>
          <p:cNvSpPr txBox="1"/>
          <p:nvPr/>
        </p:nvSpPr>
        <p:spPr>
          <a:xfrm>
            <a:off x="3832250" y="271576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RI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5.9</a:t>
            </a:r>
          </a:p>
        </p:txBody>
      </p:sp>
      <p:sp>
        <p:nvSpPr>
          <p:cNvPr id="21" name="cpe|exhibit|fill|20"/>
          <p:cNvSpPr/>
          <p:nvPr/>
        </p:nvSpPr>
        <p:spPr>
          <a:xfrm>
            <a:off x="4618634" y="2715768"/>
            <a:ext cx="731520" cy="731520"/>
          </a:xfrm>
          <a:prstGeom prst="rect">
            <a:avLst/>
          </a:prstGeom>
          <a:solidFill>
            <a:srgbClr val="7A9CB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text|21"/>
          <p:cNvSpPr txBox="1"/>
          <p:nvPr/>
        </p:nvSpPr>
        <p:spPr>
          <a:xfrm>
            <a:off x="4618634" y="271576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AR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6.0</a:t>
            </a:r>
          </a:p>
        </p:txBody>
      </p:sp>
      <p:sp>
        <p:nvSpPr>
          <p:cNvPr id="23" name="cpe|exhibit|fill|22"/>
          <p:cNvSpPr/>
          <p:nvPr/>
        </p:nvSpPr>
        <p:spPr>
          <a:xfrm>
            <a:off x="5405018" y="2715768"/>
            <a:ext cx="731520" cy="731520"/>
          </a:xfrm>
          <a:prstGeom prst="rect">
            <a:avLst/>
          </a:prstGeom>
          <a:solidFill>
            <a:srgbClr val="BFD0E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text|23"/>
          <p:cNvSpPr txBox="1"/>
          <p:nvPr/>
        </p:nvSpPr>
        <p:spPr>
          <a:xfrm>
            <a:off x="5405018" y="271576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CT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5.1</a:t>
            </a:r>
          </a:p>
        </p:txBody>
      </p:sp>
      <p:sp>
        <p:nvSpPr>
          <p:cNvPr id="25" name="cpe|exhibit|fill|24"/>
          <p:cNvSpPr/>
          <p:nvPr/>
        </p:nvSpPr>
        <p:spPr>
          <a:xfrm>
            <a:off x="3045866" y="3502152"/>
            <a:ext cx="731520" cy="731520"/>
          </a:xfrm>
          <a:prstGeom prst="rect">
            <a:avLst/>
          </a:prstGeom>
          <a:solidFill>
            <a:srgbClr val="D9E4E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text|25"/>
          <p:cNvSpPr txBox="1"/>
          <p:nvPr/>
        </p:nvSpPr>
        <p:spPr>
          <a:xfrm>
            <a:off x="3045866" y="3502152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MD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4.6</a:t>
            </a:r>
          </a:p>
        </p:txBody>
      </p:sp>
      <p:sp>
        <p:nvSpPr>
          <p:cNvPr id="27" name="cpe|exhibit|fill|26"/>
          <p:cNvSpPr/>
          <p:nvPr/>
        </p:nvSpPr>
        <p:spPr>
          <a:xfrm>
            <a:off x="1473098" y="3502152"/>
            <a:ext cx="731520" cy="731520"/>
          </a:xfrm>
          <a:prstGeom prst="rect">
            <a:avLst/>
          </a:prstGeom>
          <a:solidFill>
            <a:srgbClr val="29547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text|27"/>
          <p:cNvSpPr txBox="1"/>
          <p:nvPr/>
        </p:nvSpPr>
        <p:spPr>
          <a:xfrm>
            <a:off x="1473098" y="3502152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EX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6.9</a:t>
            </a:r>
          </a:p>
        </p:txBody>
      </p:sp>
      <p:sp>
        <p:nvSpPr>
          <p:cNvPr id="29" name="cpe|exhibit|fill|28"/>
          <p:cNvSpPr/>
          <p:nvPr/>
        </p:nvSpPr>
        <p:spPr>
          <a:xfrm>
            <a:off x="3832250" y="3502152"/>
            <a:ext cx="731520" cy="731520"/>
          </a:xfrm>
          <a:prstGeom prst="rect">
            <a:avLst/>
          </a:prstGeom>
          <a:solidFill>
            <a:srgbClr val="7094B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cpe|exhibit|text|29"/>
          <p:cNvSpPr txBox="1"/>
          <p:nvPr/>
        </p:nvSpPr>
        <p:spPr>
          <a:xfrm>
            <a:off x="3832250" y="3502152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CM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6.1</a:t>
            </a:r>
          </a:p>
        </p:txBody>
      </p:sp>
      <p:sp>
        <p:nvSpPr>
          <p:cNvPr id="31" name="cpe|exhibit|fill|30"/>
          <p:cNvSpPr/>
          <p:nvPr/>
        </p:nvSpPr>
        <p:spPr>
          <a:xfrm>
            <a:off x="4618634" y="3502152"/>
            <a:ext cx="731520" cy="731520"/>
          </a:xfrm>
          <a:prstGeom prst="rect">
            <a:avLst/>
          </a:prstGeom>
          <a:solidFill>
            <a:srgbClr val="C5D4E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cpe|exhibit|text|31"/>
          <p:cNvSpPr txBox="1"/>
          <p:nvPr/>
        </p:nvSpPr>
        <p:spPr>
          <a:xfrm>
            <a:off x="4618634" y="3502152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VC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5.0</a:t>
            </a:r>
          </a:p>
        </p:txBody>
      </p:sp>
      <p:sp>
        <p:nvSpPr>
          <p:cNvPr id="33" name="cpe|exhibit|fill|32"/>
          <p:cNvSpPr/>
          <p:nvPr/>
        </p:nvSpPr>
        <p:spPr>
          <a:xfrm>
            <a:off x="6191402" y="3502152"/>
            <a:ext cx="731520" cy="731520"/>
          </a:xfrm>
          <a:prstGeom prst="rect">
            <a:avLst/>
          </a:prstGeom>
          <a:solidFill>
            <a:srgbClr val="3C6A9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cpe|exhibit|text|33"/>
          <p:cNvSpPr txBox="1"/>
          <p:nvPr/>
        </p:nvSpPr>
        <p:spPr>
          <a:xfrm>
            <a:off x="6191402" y="3502152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IB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6.6</a:t>
            </a:r>
          </a:p>
        </p:txBody>
      </p:sp>
      <p:sp>
        <p:nvSpPr>
          <p:cNvPr id="35" name="cpe|exhibit|fill|34"/>
          <p:cNvSpPr/>
          <p:nvPr/>
        </p:nvSpPr>
        <p:spPr>
          <a:xfrm>
            <a:off x="2259482" y="4288536"/>
            <a:ext cx="731520" cy="731520"/>
          </a:xfrm>
          <a:prstGeom prst="rect">
            <a:avLst/>
          </a:prstGeom>
          <a:solidFill>
            <a:srgbClr val="A9C0D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text|35"/>
          <p:cNvSpPr txBox="1"/>
          <p:nvPr/>
        </p:nvSpPr>
        <p:spPr>
          <a:xfrm>
            <a:off x="2259482" y="4288536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AN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5.4</a:t>
            </a:r>
          </a:p>
        </p:txBody>
      </p:sp>
      <p:sp>
        <p:nvSpPr>
          <p:cNvPr id="37" name="cpe|exhibit|fill|36"/>
          <p:cNvSpPr/>
          <p:nvPr/>
        </p:nvSpPr>
        <p:spPr>
          <a:xfrm>
            <a:off x="3832250" y="4288536"/>
            <a:ext cx="731520" cy="731520"/>
          </a:xfrm>
          <a:prstGeom prst="rect">
            <a:avLst/>
          </a:prstGeom>
          <a:solidFill>
            <a:srgbClr val="B7CAD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cpe|exhibit|text|37"/>
          <p:cNvSpPr txBox="1"/>
          <p:nvPr/>
        </p:nvSpPr>
        <p:spPr>
          <a:xfrm>
            <a:off x="3832250" y="4288536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MC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5.2</a:t>
            </a:r>
          </a:p>
        </p:txBody>
      </p:sp>
      <p:sp>
        <p:nvSpPr>
          <p:cNvPr id="39" name="cpe|exhibit|fill|38"/>
          <p:cNvSpPr/>
          <p:nvPr/>
        </p:nvSpPr>
        <p:spPr>
          <a:xfrm>
            <a:off x="1473098" y="5074920"/>
            <a:ext cx="731520" cy="731520"/>
          </a:xfrm>
          <a:prstGeom prst="rect">
            <a:avLst/>
          </a:prstGeom>
          <a:solidFill>
            <a:srgbClr val="264D7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cpe|exhibit|text|39"/>
          <p:cNvSpPr txBox="1"/>
          <p:nvPr/>
        </p:nvSpPr>
        <p:spPr>
          <a:xfrm>
            <a:off x="1473098" y="50749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CN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7.0</a:t>
            </a:r>
          </a:p>
        </p:txBody>
      </p:sp>
      <p:sp>
        <p:nvSpPr>
          <p:cNvPr id="41" name="cpe|exhibit|fill|40"/>
          <p:cNvSpPr/>
          <p:nvPr/>
        </p:nvSpPr>
        <p:spPr>
          <a:xfrm>
            <a:off x="3045866" y="5074920"/>
            <a:ext cx="731520" cy="7315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cpe|exhibit|text|41"/>
          <p:cNvSpPr txBox="1"/>
          <p:nvPr/>
        </p:nvSpPr>
        <p:spPr>
          <a:xfrm>
            <a:off x="3045866" y="50749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1C2530"/>
                </a:solidFill>
                <a:latin typeface="Arial"/>
              </a:rPr>
              <a:t>CE</a:t>
            </a:r>
          </a:p>
        </p:txBody>
      </p:sp>
      <p:sp>
        <p:nvSpPr>
          <p:cNvPr id="43" name="cpe|exhibit|fill|42"/>
          <p:cNvSpPr/>
          <p:nvPr/>
        </p:nvSpPr>
        <p:spPr>
          <a:xfrm>
            <a:off x="3832250" y="5074920"/>
            <a:ext cx="731520" cy="7315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cpe|exhibit|text|43"/>
          <p:cNvSpPr txBox="1"/>
          <p:nvPr/>
        </p:nvSpPr>
        <p:spPr>
          <a:xfrm>
            <a:off x="3832250" y="50749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1C2530"/>
                </a:solidFill>
                <a:latin typeface="Arial"/>
              </a:rPr>
              <a:t>ML</a:t>
            </a:r>
          </a:p>
        </p:txBody>
      </p:sp>
      <p:sp>
        <p:nvSpPr>
          <p:cNvPr id="45" name="cpe|exhibit|marker|44"/>
          <p:cNvSpPr/>
          <p:nvPr/>
        </p:nvSpPr>
        <p:spPr>
          <a:xfrm>
            <a:off x="1445666" y="5971032"/>
            <a:ext cx="384048" cy="146304"/>
          </a:xfrm>
          <a:prstGeom prst="rect">
            <a:avLst/>
          </a:prstGeom>
          <a:solidFill>
            <a:srgbClr val="D9E4E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cpe|exhibit|marker|45"/>
          <p:cNvSpPr/>
          <p:nvPr/>
        </p:nvSpPr>
        <p:spPr>
          <a:xfrm>
            <a:off x="1829714" y="5971032"/>
            <a:ext cx="384048" cy="146304"/>
          </a:xfrm>
          <a:prstGeom prst="rect">
            <a:avLst/>
          </a:prstGeom>
          <a:solidFill>
            <a:srgbClr val="B0C5D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cpe|exhibit|marker|46"/>
          <p:cNvSpPr/>
          <p:nvPr/>
        </p:nvSpPr>
        <p:spPr>
          <a:xfrm>
            <a:off x="2213762" y="5971032"/>
            <a:ext cx="384048" cy="146304"/>
          </a:xfrm>
          <a:prstGeom prst="rect">
            <a:avLst/>
          </a:prstGeom>
          <a:solidFill>
            <a:srgbClr val="7A9CB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cpe|exhibit|marker|47"/>
          <p:cNvSpPr/>
          <p:nvPr/>
        </p:nvSpPr>
        <p:spPr>
          <a:xfrm>
            <a:off x="2597810" y="5971032"/>
            <a:ext cx="384048" cy="146304"/>
          </a:xfrm>
          <a:prstGeom prst="rect">
            <a:avLst/>
          </a:prstGeom>
          <a:solidFill>
            <a:srgbClr val="32618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cpe|exhibit|marker|48"/>
          <p:cNvSpPr/>
          <p:nvPr/>
        </p:nvSpPr>
        <p:spPr>
          <a:xfrm>
            <a:off x="2981858" y="5971032"/>
            <a:ext cx="384048" cy="146304"/>
          </a:xfrm>
          <a:prstGeom prst="rect">
            <a:avLst/>
          </a:prstGeom>
          <a:solidFill>
            <a:srgbClr val="19345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cpe|exhibit|label|49"/>
          <p:cNvSpPr txBox="1"/>
          <p:nvPr/>
        </p:nvSpPr>
        <p:spPr>
          <a:xfrm>
            <a:off x="3457346" y="5925312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4.6 → 7.4</a:t>
            </a:r>
          </a:p>
        </p:txBody>
      </p:sp>
      <p:cxnSp>
        <p:nvCxnSpPr>
          <p:cNvPr id="51" name="cpe|commentary|line|50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52" name="cpe|commentary|text|51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C2530"/>
                </a:solidFill>
                <a:latin typeface="Arial"/>
              </a:rPr>
              <a:t>Galicia and Asturias cost </a:t>
            </a:r>
            <a:r>
              <a:rPr sz="1400" b="1">
                <a:solidFill>
                  <a:srgbClr val="1C2530"/>
                </a:solidFill>
                <a:latin typeface="Arial"/>
              </a:rPr>
              <a:t>€7+ per drop</a:t>
            </a:r>
            <a:r>
              <a:rPr sz="1400" b="0">
                <a:solidFill>
                  <a:srgbClr val="1C2530"/>
                </a:solidFill>
                <a:latin typeface="Arial"/>
              </a:rPr>
              <a:t>, 55% above Madrid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C2530"/>
                </a:solidFill>
                <a:latin typeface="Arial"/>
              </a:rPr>
              <a:t>Consolidating three north-west depots saves €6M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Cost-to-serve is highest in the north-west, where depot density is lowest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Transport management system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9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Cost per drop by region, 2025</a:t>
            </a:r>
            <a:r>
              <a:rPr sz="1100" b="0">
                <a:solidFill>
                  <a:srgbClr val="1C2530"/>
                </a:solidFill>
                <a:latin typeface="Arial"/>
              </a:rPr>
              <a:t>, €</a:t>
            </a:r>
          </a:p>
        </p:txBody>
      </p:sp>
      <p:sp>
        <p:nvSpPr>
          <p:cNvPr id="7" name="cpe|exhibit|fill|6"/>
          <p:cNvSpPr/>
          <p:nvPr/>
        </p:nvSpPr>
        <p:spPr>
          <a:xfrm>
            <a:off x="3828593" y="1929384"/>
            <a:ext cx="600761" cy="600761"/>
          </a:xfrm>
          <a:prstGeom prst="rect">
            <a:avLst/>
          </a:prstGeom>
          <a:solidFill>
            <a:srgbClr val="193458"/>
          </a:solidFill>
          <a:ln w="28575">
            <a:solidFill>
              <a:srgbClr val="E08A0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pe|exhibit|text|7"/>
          <p:cNvSpPr txBox="1"/>
          <p:nvPr/>
        </p:nvSpPr>
        <p:spPr>
          <a:xfrm>
            <a:off x="3828593" y="1929384"/>
            <a:ext cx="600761" cy="60076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GA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7.4</a:t>
            </a:r>
          </a:p>
        </p:txBody>
      </p:sp>
      <p:sp>
        <p:nvSpPr>
          <p:cNvPr id="9" name="cpe|exhibit|fill|8"/>
          <p:cNvSpPr/>
          <p:nvPr/>
        </p:nvSpPr>
        <p:spPr>
          <a:xfrm>
            <a:off x="4484218" y="1929384"/>
            <a:ext cx="600761" cy="600761"/>
          </a:xfrm>
          <a:prstGeom prst="rect">
            <a:avLst/>
          </a:prstGeom>
          <a:solidFill>
            <a:srgbClr val="23476E"/>
          </a:solidFill>
          <a:ln w="28575">
            <a:solidFill>
              <a:srgbClr val="E08A0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text|9"/>
          <p:cNvSpPr txBox="1"/>
          <p:nvPr/>
        </p:nvSpPr>
        <p:spPr>
          <a:xfrm>
            <a:off x="4484218" y="1929384"/>
            <a:ext cx="600761" cy="60076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AS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7.1</a:t>
            </a:r>
          </a:p>
        </p:txBody>
      </p:sp>
      <p:sp>
        <p:nvSpPr>
          <p:cNvPr id="11" name="cpe|exhibit|fill|10"/>
          <p:cNvSpPr/>
          <p:nvPr/>
        </p:nvSpPr>
        <p:spPr>
          <a:xfrm>
            <a:off x="5139842" y="1929384"/>
            <a:ext cx="600761" cy="600761"/>
          </a:xfrm>
          <a:prstGeom prst="rect">
            <a:avLst/>
          </a:prstGeom>
          <a:solidFill>
            <a:srgbClr val="55779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text|11"/>
          <p:cNvSpPr txBox="1"/>
          <p:nvPr/>
        </p:nvSpPr>
        <p:spPr>
          <a:xfrm>
            <a:off x="5139842" y="1929384"/>
            <a:ext cx="600761" cy="60076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CB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6.2</a:t>
            </a:r>
          </a:p>
        </p:txBody>
      </p:sp>
      <p:sp>
        <p:nvSpPr>
          <p:cNvPr id="13" name="cpe|exhibit|fill|12"/>
          <p:cNvSpPr/>
          <p:nvPr/>
        </p:nvSpPr>
        <p:spPr>
          <a:xfrm>
            <a:off x="5795467" y="1929384"/>
            <a:ext cx="600761" cy="600761"/>
          </a:xfrm>
          <a:prstGeom prst="rect">
            <a:avLst/>
          </a:prstGeom>
          <a:solidFill>
            <a:srgbClr val="A2BAD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cpe|exhibit|text|13"/>
          <p:cNvSpPr txBox="1"/>
          <p:nvPr/>
        </p:nvSpPr>
        <p:spPr>
          <a:xfrm>
            <a:off x="5795467" y="1929384"/>
            <a:ext cx="600761" cy="60076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PV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5.5</a:t>
            </a:r>
          </a:p>
        </p:txBody>
      </p:sp>
      <p:sp>
        <p:nvSpPr>
          <p:cNvPr id="15" name="cpe|exhibit|fill|14"/>
          <p:cNvSpPr/>
          <p:nvPr/>
        </p:nvSpPr>
        <p:spPr>
          <a:xfrm>
            <a:off x="6451092" y="1929384"/>
            <a:ext cx="600761" cy="600761"/>
          </a:xfrm>
          <a:prstGeom prst="rect">
            <a:avLst/>
          </a:prstGeom>
          <a:solidFill>
            <a:srgbClr val="9AB5D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text|15"/>
          <p:cNvSpPr txBox="1"/>
          <p:nvPr/>
        </p:nvSpPr>
        <p:spPr>
          <a:xfrm>
            <a:off x="6451092" y="1929384"/>
            <a:ext cx="600761" cy="60076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NA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5.6</a:t>
            </a:r>
          </a:p>
        </p:txBody>
      </p:sp>
      <p:sp>
        <p:nvSpPr>
          <p:cNvPr id="17" name="cpe|exhibit|fill|16"/>
          <p:cNvSpPr/>
          <p:nvPr/>
        </p:nvSpPr>
        <p:spPr>
          <a:xfrm>
            <a:off x="4484218" y="2585009"/>
            <a:ext cx="600761" cy="600761"/>
          </a:xfrm>
          <a:prstGeom prst="rect">
            <a:avLst/>
          </a:prstGeom>
          <a:solidFill>
            <a:srgbClr val="2D5A8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cpe|exhibit|text|17"/>
          <p:cNvSpPr txBox="1"/>
          <p:nvPr/>
        </p:nvSpPr>
        <p:spPr>
          <a:xfrm>
            <a:off x="4484218" y="2585009"/>
            <a:ext cx="600761" cy="60076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CL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6.8</a:t>
            </a:r>
          </a:p>
        </p:txBody>
      </p:sp>
      <p:sp>
        <p:nvSpPr>
          <p:cNvPr id="19" name="cpe|exhibit|fill|18"/>
          <p:cNvSpPr/>
          <p:nvPr/>
        </p:nvSpPr>
        <p:spPr>
          <a:xfrm>
            <a:off x="5795467" y="2585009"/>
            <a:ext cx="600761" cy="600761"/>
          </a:xfrm>
          <a:prstGeom prst="rect">
            <a:avLst/>
          </a:prstGeom>
          <a:solidFill>
            <a:srgbClr val="84A4C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text|19"/>
          <p:cNvSpPr txBox="1"/>
          <p:nvPr/>
        </p:nvSpPr>
        <p:spPr>
          <a:xfrm>
            <a:off x="5795467" y="2585009"/>
            <a:ext cx="600761" cy="60076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RI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5.9</a:t>
            </a:r>
          </a:p>
        </p:txBody>
      </p:sp>
      <p:sp>
        <p:nvSpPr>
          <p:cNvPr id="21" name="cpe|exhibit|fill|20"/>
          <p:cNvSpPr/>
          <p:nvPr/>
        </p:nvSpPr>
        <p:spPr>
          <a:xfrm>
            <a:off x="6451092" y="2585009"/>
            <a:ext cx="600761" cy="600761"/>
          </a:xfrm>
          <a:prstGeom prst="rect">
            <a:avLst/>
          </a:prstGeom>
          <a:solidFill>
            <a:srgbClr val="7A9CB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text|21"/>
          <p:cNvSpPr txBox="1"/>
          <p:nvPr/>
        </p:nvSpPr>
        <p:spPr>
          <a:xfrm>
            <a:off x="6451092" y="2585009"/>
            <a:ext cx="600761" cy="60076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AR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6.0</a:t>
            </a:r>
          </a:p>
        </p:txBody>
      </p:sp>
      <p:sp>
        <p:nvSpPr>
          <p:cNvPr id="23" name="cpe|exhibit|fill|22"/>
          <p:cNvSpPr/>
          <p:nvPr/>
        </p:nvSpPr>
        <p:spPr>
          <a:xfrm>
            <a:off x="7106717" y="2585009"/>
            <a:ext cx="600761" cy="600761"/>
          </a:xfrm>
          <a:prstGeom prst="rect">
            <a:avLst/>
          </a:prstGeom>
          <a:solidFill>
            <a:srgbClr val="BFD0E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text|23"/>
          <p:cNvSpPr txBox="1"/>
          <p:nvPr/>
        </p:nvSpPr>
        <p:spPr>
          <a:xfrm>
            <a:off x="7106717" y="2585009"/>
            <a:ext cx="600761" cy="60076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CT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5.1</a:t>
            </a:r>
          </a:p>
        </p:txBody>
      </p:sp>
      <p:sp>
        <p:nvSpPr>
          <p:cNvPr id="25" name="cpe|exhibit|fill|24"/>
          <p:cNvSpPr/>
          <p:nvPr/>
        </p:nvSpPr>
        <p:spPr>
          <a:xfrm>
            <a:off x="5139842" y="3240634"/>
            <a:ext cx="600761" cy="600761"/>
          </a:xfrm>
          <a:prstGeom prst="rect">
            <a:avLst/>
          </a:prstGeom>
          <a:solidFill>
            <a:srgbClr val="D9E4E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text|25"/>
          <p:cNvSpPr txBox="1"/>
          <p:nvPr/>
        </p:nvSpPr>
        <p:spPr>
          <a:xfrm>
            <a:off x="5139842" y="3240634"/>
            <a:ext cx="600761" cy="60076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MD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4.6</a:t>
            </a:r>
          </a:p>
        </p:txBody>
      </p:sp>
      <p:sp>
        <p:nvSpPr>
          <p:cNvPr id="27" name="cpe|exhibit|fill|26"/>
          <p:cNvSpPr/>
          <p:nvPr/>
        </p:nvSpPr>
        <p:spPr>
          <a:xfrm>
            <a:off x="3828593" y="3240634"/>
            <a:ext cx="600761" cy="600761"/>
          </a:xfrm>
          <a:prstGeom prst="rect">
            <a:avLst/>
          </a:prstGeom>
          <a:solidFill>
            <a:srgbClr val="29547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text|27"/>
          <p:cNvSpPr txBox="1"/>
          <p:nvPr/>
        </p:nvSpPr>
        <p:spPr>
          <a:xfrm>
            <a:off x="3828593" y="3240634"/>
            <a:ext cx="600761" cy="60076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EX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6.9</a:t>
            </a:r>
          </a:p>
        </p:txBody>
      </p:sp>
      <p:sp>
        <p:nvSpPr>
          <p:cNvPr id="29" name="cpe|exhibit|fill|28"/>
          <p:cNvSpPr/>
          <p:nvPr/>
        </p:nvSpPr>
        <p:spPr>
          <a:xfrm>
            <a:off x="5795467" y="3240634"/>
            <a:ext cx="600761" cy="600761"/>
          </a:xfrm>
          <a:prstGeom prst="rect">
            <a:avLst/>
          </a:prstGeom>
          <a:solidFill>
            <a:srgbClr val="7094B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cpe|exhibit|text|29"/>
          <p:cNvSpPr txBox="1"/>
          <p:nvPr/>
        </p:nvSpPr>
        <p:spPr>
          <a:xfrm>
            <a:off x="5795467" y="3240634"/>
            <a:ext cx="600761" cy="60076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CM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6.1</a:t>
            </a:r>
          </a:p>
        </p:txBody>
      </p:sp>
      <p:sp>
        <p:nvSpPr>
          <p:cNvPr id="31" name="cpe|exhibit|fill|30"/>
          <p:cNvSpPr/>
          <p:nvPr/>
        </p:nvSpPr>
        <p:spPr>
          <a:xfrm>
            <a:off x="6451092" y="3240634"/>
            <a:ext cx="600761" cy="600761"/>
          </a:xfrm>
          <a:prstGeom prst="rect">
            <a:avLst/>
          </a:prstGeom>
          <a:solidFill>
            <a:srgbClr val="C5D4E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cpe|exhibit|text|31"/>
          <p:cNvSpPr txBox="1"/>
          <p:nvPr/>
        </p:nvSpPr>
        <p:spPr>
          <a:xfrm>
            <a:off x="6451092" y="3240634"/>
            <a:ext cx="600761" cy="60076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VC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5.0</a:t>
            </a:r>
          </a:p>
        </p:txBody>
      </p:sp>
      <p:sp>
        <p:nvSpPr>
          <p:cNvPr id="33" name="cpe|exhibit|fill|32"/>
          <p:cNvSpPr/>
          <p:nvPr/>
        </p:nvSpPr>
        <p:spPr>
          <a:xfrm>
            <a:off x="7762342" y="3240634"/>
            <a:ext cx="600761" cy="600761"/>
          </a:xfrm>
          <a:prstGeom prst="rect">
            <a:avLst/>
          </a:prstGeom>
          <a:solidFill>
            <a:srgbClr val="3C6A9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cpe|exhibit|text|33"/>
          <p:cNvSpPr txBox="1"/>
          <p:nvPr/>
        </p:nvSpPr>
        <p:spPr>
          <a:xfrm>
            <a:off x="7762342" y="3240634"/>
            <a:ext cx="600761" cy="60076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IB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6.6</a:t>
            </a:r>
          </a:p>
        </p:txBody>
      </p:sp>
      <p:sp>
        <p:nvSpPr>
          <p:cNvPr id="35" name="cpe|exhibit|fill|34"/>
          <p:cNvSpPr/>
          <p:nvPr/>
        </p:nvSpPr>
        <p:spPr>
          <a:xfrm>
            <a:off x="4484218" y="3896258"/>
            <a:ext cx="600761" cy="600761"/>
          </a:xfrm>
          <a:prstGeom prst="rect">
            <a:avLst/>
          </a:prstGeom>
          <a:solidFill>
            <a:srgbClr val="A9C0D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text|35"/>
          <p:cNvSpPr txBox="1"/>
          <p:nvPr/>
        </p:nvSpPr>
        <p:spPr>
          <a:xfrm>
            <a:off x="4484218" y="3896258"/>
            <a:ext cx="600761" cy="60076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AN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5.4</a:t>
            </a:r>
          </a:p>
        </p:txBody>
      </p:sp>
      <p:sp>
        <p:nvSpPr>
          <p:cNvPr id="37" name="cpe|exhibit|fill|36"/>
          <p:cNvSpPr/>
          <p:nvPr/>
        </p:nvSpPr>
        <p:spPr>
          <a:xfrm>
            <a:off x="5795467" y="3896258"/>
            <a:ext cx="600761" cy="600761"/>
          </a:xfrm>
          <a:prstGeom prst="rect">
            <a:avLst/>
          </a:prstGeom>
          <a:solidFill>
            <a:srgbClr val="B7CAD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cpe|exhibit|text|37"/>
          <p:cNvSpPr txBox="1"/>
          <p:nvPr/>
        </p:nvSpPr>
        <p:spPr>
          <a:xfrm>
            <a:off x="5795467" y="3896258"/>
            <a:ext cx="600761" cy="60076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MC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5.2</a:t>
            </a:r>
          </a:p>
        </p:txBody>
      </p:sp>
      <p:sp>
        <p:nvSpPr>
          <p:cNvPr id="39" name="cpe|exhibit|fill|38"/>
          <p:cNvSpPr/>
          <p:nvPr/>
        </p:nvSpPr>
        <p:spPr>
          <a:xfrm>
            <a:off x="3828593" y="4551883"/>
            <a:ext cx="600761" cy="600761"/>
          </a:xfrm>
          <a:prstGeom prst="rect">
            <a:avLst/>
          </a:prstGeom>
          <a:solidFill>
            <a:srgbClr val="264D7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cpe|exhibit|text|39"/>
          <p:cNvSpPr txBox="1"/>
          <p:nvPr/>
        </p:nvSpPr>
        <p:spPr>
          <a:xfrm>
            <a:off x="3828593" y="4551883"/>
            <a:ext cx="600761" cy="60076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CN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7.0</a:t>
            </a:r>
          </a:p>
        </p:txBody>
      </p:sp>
      <p:sp>
        <p:nvSpPr>
          <p:cNvPr id="41" name="cpe|exhibit|fill|40"/>
          <p:cNvSpPr/>
          <p:nvPr/>
        </p:nvSpPr>
        <p:spPr>
          <a:xfrm>
            <a:off x="5139842" y="4551883"/>
            <a:ext cx="600761" cy="600761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cpe|exhibit|text|41"/>
          <p:cNvSpPr txBox="1"/>
          <p:nvPr/>
        </p:nvSpPr>
        <p:spPr>
          <a:xfrm>
            <a:off x="5139842" y="4551883"/>
            <a:ext cx="600761" cy="60076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1C2530"/>
                </a:solidFill>
                <a:latin typeface="Arial"/>
              </a:rPr>
              <a:t>CE</a:t>
            </a:r>
          </a:p>
        </p:txBody>
      </p:sp>
      <p:sp>
        <p:nvSpPr>
          <p:cNvPr id="43" name="cpe|exhibit|fill|42"/>
          <p:cNvSpPr/>
          <p:nvPr/>
        </p:nvSpPr>
        <p:spPr>
          <a:xfrm>
            <a:off x="5795467" y="4551883"/>
            <a:ext cx="600761" cy="600761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cpe|exhibit|text|43"/>
          <p:cNvSpPr txBox="1"/>
          <p:nvPr/>
        </p:nvSpPr>
        <p:spPr>
          <a:xfrm>
            <a:off x="5795467" y="4551883"/>
            <a:ext cx="600761" cy="60076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1C2530"/>
                </a:solidFill>
                <a:latin typeface="Arial"/>
              </a:rPr>
              <a:t>ML</a:t>
            </a:r>
          </a:p>
        </p:txBody>
      </p:sp>
      <p:sp>
        <p:nvSpPr>
          <p:cNvPr id="45" name="cpe|exhibit|marker|44"/>
          <p:cNvSpPr/>
          <p:nvPr/>
        </p:nvSpPr>
        <p:spPr>
          <a:xfrm>
            <a:off x="3801161" y="5317236"/>
            <a:ext cx="384048" cy="146304"/>
          </a:xfrm>
          <a:prstGeom prst="rect">
            <a:avLst/>
          </a:prstGeom>
          <a:solidFill>
            <a:srgbClr val="D9E4E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cpe|exhibit|marker|45"/>
          <p:cNvSpPr/>
          <p:nvPr/>
        </p:nvSpPr>
        <p:spPr>
          <a:xfrm>
            <a:off x="4185209" y="5317236"/>
            <a:ext cx="384048" cy="146304"/>
          </a:xfrm>
          <a:prstGeom prst="rect">
            <a:avLst/>
          </a:prstGeom>
          <a:solidFill>
            <a:srgbClr val="B0C5D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cpe|exhibit|marker|46"/>
          <p:cNvSpPr/>
          <p:nvPr/>
        </p:nvSpPr>
        <p:spPr>
          <a:xfrm>
            <a:off x="4569257" y="5317236"/>
            <a:ext cx="384048" cy="146304"/>
          </a:xfrm>
          <a:prstGeom prst="rect">
            <a:avLst/>
          </a:prstGeom>
          <a:solidFill>
            <a:srgbClr val="7A9CB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cpe|exhibit|marker|47"/>
          <p:cNvSpPr/>
          <p:nvPr/>
        </p:nvSpPr>
        <p:spPr>
          <a:xfrm>
            <a:off x="4953305" y="5317236"/>
            <a:ext cx="384048" cy="146304"/>
          </a:xfrm>
          <a:prstGeom prst="rect">
            <a:avLst/>
          </a:prstGeom>
          <a:solidFill>
            <a:srgbClr val="32618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cpe|exhibit|marker|48"/>
          <p:cNvSpPr/>
          <p:nvPr/>
        </p:nvSpPr>
        <p:spPr>
          <a:xfrm>
            <a:off x="5337353" y="5317236"/>
            <a:ext cx="384048" cy="146304"/>
          </a:xfrm>
          <a:prstGeom prst="rect">
            <a:avLst/>
          </a:prstGeom>
          <a:solidFill>
            <a:srgbClr val="19345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cpe|exhibit|label|49"/>
          <p:cNvSpPr txBox="1"/>
          <p:nvPr/>
        </p:nvSpPr>
        <p:spPr>
          <a:xfrm>
            <a:off x="5812841" y="5271516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4.6 → 7.4</a:t>
            </a:r>
          </a:p>
        </p:txBody>
      </p:sp>
      <p:cxnSp>
        <p:nvCxnSpPr>
          <p:cNvPr id="51" name="cpe|commentary|line|50"/>
          <p:cNvCxnSpPr/>
          <p:nvPr/>
        </p:nvCxnSpPr>
        <p:spPr>
          <a:xfrm>
            <a:off x="502920" y="5747004"/>
            <a:ext cx="11185855" cy="0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52" name="cpe|commentary|text|51"/>
          <p:cNvSpPr txBox="1"/>
          <p:nvPr/>
        </p:nvSpPr>
        <p:spPr>
          <a:xfrm>
            <a:off x="502920" y="5884164"/>
            <a:ext cx="5492344" cy="3154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Galicia and Asturias cost </a:t>
            </a:r>
            <a:r>
              <a:rPr sz="1200" b="1">
                <a:solidFill>
                  <a:srgbClr val="1C2530"/>
                </a:solidFill>
                <a:latin typeface="Arial"/>
              </a:rPr>
              <a:t>€7+ per drop</a:t>
            </a:r>
            <a:r>
              <a:rPr sz="1200" b="0">
                <a:solidFill>
                  <a:srgbClr val="1C2530"/>
                </a:solidFill>
                <a:latin typeface="Arial"/>
              </a:rPr>
              <a:t>, 55% above Madrid</a:t>
            </a:r>
          </a:p>
        </p:txBody>
      </p:sp>
      <p:sp>
        <p:nvSpPr>
          <p:cNvPr id="53" name="cpe|commentary|text|52"/>
          <p:cNvSpPr txBox="1"/>
          <p:nvPr/>
        </p:nvSpPr>
        <p:spPr>
          <a:xfrm>
            <a:off x="6196432" y="5884164"/>
            <a:ext cx="5492344" cy="3154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Consolidating three north-west depots saves €6M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Cost-to-serve is highest in the north-west, where depot density is lowest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Transport management system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9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Cost per drop by region, 2025</a:t>
            </a:r>
            <a:r>
              <a:rPr sz="1100" b="0">
                <a:solidFill>
                  <a:srgbClr val="1C2530"/>
                </a:solidFill>
                <a:latin typeface="Arial"/>
              </a:rPr>
              <a:t>, €</a:t>
            </a:r>
          </a:p>
        </p:txBody>
      </p:sp>
      <p:sp>
        <p:nvSpPr>
          <p:cNvPr id="7" name="cpe|exhibit|fill|6"/>
          <p:cNvSpPr/>
          <p:nvPr/>
        </p:nvSpPr>
        <p:spPr>
          <a:xfrm>
            <a:off x="3849395" y="1929384"/>
            <a:ext cx="594817" cy="594817"/>
          </a:xfrm>
          <a:prstGeom prst="rect">
            <a:avLst/>
          </a:prstGeom>
          <a:solidFill>
            <a:srgbClr val="193458"/>
          </a:solidFill>
          <a:ln w="28575">
            <a:solidFill>
              <a:srgbClr val="E08A0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pe|exhibit|text|7"/>
          <p:cNvSpPr txBox="1"/>
          <p:nvPr/>
        </p:nvSpPr>
        <p:spPr>
          <a:xfrm>
            <a:off x="3849395" y="1929384"/>
            <a:ext cx="594817" cy="5948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GA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7.4</a:t>
            </a:r>
          </a:p>
        </p:txBody>
      </p:sp>
      <p:sp>
        <p:nvSpPr>
          <p:cNvPr id="9" name="cpe|exhibit|fill|8"/>
          <p:cNvSpPr/>
          <p:nvPr/>
        </p:nvSpPr>
        <p:spPr>
          <a:xfrm>
            <a:off x="4499077" y="1929384"/>
            <a:ext cx="594817" cy="594817"/>
          </a:xfrm>
          <a:prstGeom prst="rect">
            <a:avLst/>
          </a:prstGeom>
          <a:solidFill>
            <a:srgbClr val="23476E"/>
          </a:solidFill>
          <a:ln w="28575">
            <a:solidFill>
              <a:srgbClr val="E08A0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text|9"/>
          <p:cNvSpPr txBox="1"/>
          <p:nvPr/>
        </p:nvSpPr>
        <p:spPr>
          <a:xfrm>
            <a:off x="4499077" y="1929384"/>
            <a:ext cx="594817" cy="5948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AS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7.1</a:t>
            </a:r>
          </a:p>
        </p:txBody>
      </p:sp>
      <p:sp>
        <p:nvSpPr>
          <p:cNvPr id="11" name="cpe|exhibit|fill|10"/>
          <p:cNvSpPr/>
          <p:nvPr/>
        </p:nvSpPr>
        <p:spPr>
          <a:xfrm>
            <a:off x="5148758" y="1929384"/>
            <a:ext cx="594817" cy="594817"/>
          </a:xfrm>
          <a:prstGeom prst="rect">
            <a:avLst/>
          </a:prstGeom>
          <a:solidFill>
            <a:srgbClr val="55779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text|11"/>
          <p:cNvSpPr txBox="1"/>
          <p:nvPr/>
        </p:nvSpPr>
        <p:spPr>
          <a:xfrm>
            <a:off x="5148758" y="1929384"/>
            <a:ext cx="594817" cy="5948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CB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6.2</a:t>
            </a:r>
          </a:p>
        </p:txBody>
      </p:sp>
      <p:sp>
        <p:nvSpPr>
          <p:cNvPr id="13" name="cpe|exhibit|fill|12"/>
          <p:cNvSpPr/>
          <p:nvPr/>
        </p:nvSpPr>
        <p:spPr>
          <a:xfrm>
            <a:off x="5798439" y="1929384"/>
            <a:ext cx="594817" cy="594817"/>
          </a:xfrm>
          <a:prstGeom prst="rect">
            <a:avLst/>
          </a:prstGeom>
          <a:solidFill>
            <a:srgbClr val="A2BAD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cpe|exhibit|text|13"/>
          <p:cNvSpPr txBox="1"/>
          <p:nvPr/>
        </p:nvSpPr>
        <p:spPr>
          <a:xfrm>
            <a:off x="5798439" y="1929384"/>
            <a:ext cx="594817" cy="5948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PV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5.5</a:t>
            </a:r>
          </a:p>
        </p:txBody>
      </p:sp>
      <p:sp>
        <p:nvSpPr>
          <p:cNvPr id="15" name="cpe|exhibit|fill|14"/>
          <p:cNvSpPr/>
          <p:nvPr/>
        </p:nvSpPr>
        <p:spPr>
          <a:xfrm>
            <a:off x="6448120" y="1929384"/>
            <a:ext cx="594817" cy="594817"/>
          </a:xfrm>
          <a:prstGeom prst="rect">
            <a:avLst/>
          </a:prstGeom>
          <a:solidFill>
            <a:srgbClr val="9AB5D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text|15"/>
          <p:cNvSpPr txBox="1"/>
          <p:nvPr/>
        </p:nvSpPr>
        <p:spPr>
          <a:xfrm>
            <a:off x="6448120" y="1929384"/>
            <a:ext cx="594817" cy="5948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NA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5.6</a:t>
            </a:r>
          </a:p>
        </p:txBody>
      </p:sp>
      <p:sp>
        <p:nvSpPr>
          <p:cNvPr id="17" name="cpe|exhibit|fill|16"/>
          <p:cNvSpPr/>
          <p:nvPr/>
        </p:nvSpPr>
        <p:spPr>
          <a:xfrm>
            <a:off x="4499077" y="2579065"/>
            <a:ext cx="594817" cy="594817"/>
          </a:xfrm>
          <a:prstGeom prst="rect">
            <a:avLst/>
          </a:prstGeom>
          <a:solidFill>
            <a:srgbClr val="2D5A8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cpe|exhibit|text|17"/>
          <p:cNvSpPr txBox="1"/>
          <p:nvPr/>
        </p:nvSpPr>
        <p:spPr>
          <a:xfrm>
            <a:off x="4499077" y="2579065"/>
            <a:ext cx="594817" cy="5948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CL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6.8</a:t>
            </a:r>
          </a:p>
        </p:txBody>
      </p:sp>
      <p:sp>
        <p:nvSpPr>
          <p:cNvPr id="19" name="cpe|exhibit|fill|18"/>
          <p:cNvSpPr/>
          <p:nvPr/>
        </p:nvSpPr>
        <p:spPr>
          <a:xfrm>
            <a:off x="5798439" y="2579065"/>
            <a:ext cx="594817" cy="594817"/>
          </a:xfrm>
          <a:prstGeom prst="rect">
            <a:avLst/>
          </a:prstGeom>
          <a:solidFill>
            <a:srgbClr val="84A4C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text|19"/>
          <p:cNvSpPr txBox="1"/>
          <p:nvPr/>
        </p:nvSpPr>
        <p:spPr>
          <a:xfrm>
            <a:off x="5798439" y="2579065"/>
            <a:ext cx="594817" cy="5948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RI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5.9</a:t>
            </a:r>
          </a:p>
        </p:txBody>
      </p:sp>
      <p:sp>
        <p:nvSpPr>
          <p:cNvPr id="21" name="cpe|exhibit|fill|20"/>
          <p:cNvSpPr/>
          <p:nvPr/>
        </p:nvSpPr>
        <p:spPr>
          <a:xfrm>
            <a:off x="6448120" y="2579065"/>
            <a:ext cx="594817" cy="594817"/>
          </a:xfrm>
          <a:prstGeom prst="rect">
            <a:avLst/>
          </a:prstGeom>
          <a:solidFill>
            <a:srgbClr val="7A9CB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text|21"/>
          <p:cNvSpPr txBox="1"/>
          <p:nvPr/>
        </p:nvSpPr>
        <p:spPr>
          <a:xfrm>
            <a:off x="6448120" y="2579065"/>
            <a:ext cx="594817" cy="5948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AR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6.0</a:t>
            </a:r>
          </a:p>
        </p:txBody>
      </p:sp>
      <p:sp>
        <p:nvSpPr>
          <p:cNvPr id="23" name="cpe|exhibit|fill|22"/>
          <p:cNvSpPr/>
          <p:nvPr/>
        </p:nvSpPr>
        <p:spPr>
          <a:xfrm>
            <a:off x="7097801" y="2579065"/>
            <a:ext cx="594817" cy="594817"/>
          </a:xfrm>
          <a:prstGeom prst="rect">
            <a:avLst/>
          </a:prstGeom>
          <a:solidFill>
            <a:srgbClr val="BFD0E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text|23"/>
          <p:cNvSpPr txBox="1"/>
          <p:nvPr/>
        </p:nvSpPr>
        <p:spPr>
          <a:xfrm>
            <a:off x="7097801" y="2579065"/>
            <a:ext cx="594817" cy="5948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CT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5.1</a:t>
            </a:r>
          </a:p>
        </p:txBody>
      </p:sp>
      <p:sp>
        <p:nvSpPr>
          <p:cNvPr id="25" name="cpe|exhibit|fill|24"/>
          <p:cNvSpPr/>
          <p:nvPr/>
        </p:nvSpPr>
        <p:spPr>
          <a:xfrm>
            <a:off x="5148758" y="3228746"/>
            <a:ext cx="594817" cy="594817"/>
          </a:xfrm>
          <a:prstGeom prst="rect">
            <a:avLst/>
          </a:prstGeom>
          <a:solidFill>
            <a:srgbClr val="D9E4E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text|25"/>
          <p:cNvSpPr txBox="1"/>
          <p:nvPr/>
        </p:nvSpPr>
        <p:spPr>
          <a:xfrm>
            <a:off x="5148758" y="3228746"/>
            <a:ext cx="594817" cy="5948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MD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4.6</a:t>
            </a:r>
          </a:p>
        </p:txBody>
      </p:sp>
      <p:sp>
        <p:nvSpPr>
          <p:cNvPr id="27" name="cpe|exhibit|fill|26"/>
          <p:cNvSpPr/>
          <p:nvPr/>
        </p:nvSpPr>
        <p:spPr>
          <a:xfrm>
            <a:off x="3849395" y="3228746"/>
            <a:ext cx="594817" cy="594817"/>
          </a:xfrm>
          <a:prstGeom prst="rect">
            <a:avLst/>
          </a:prstGeom>
          <a:solidFill>
            <a:srgbClr val="29547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text|27"/>
          <p:cNvSpPr txBox="1"/>
          <p:nvPr/>
        </p:nvSpPr>
        <p:spPr>
          <a:xfrm>
            <a:off x="3849395" y="3228746"/>
            <a:ext cx="594817" cy="5948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EX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6.9</a:t>
            </a:r>
          </a:p>
        </p:txBody>
      </p:sp>
      <p:sp>
        <p:nvSpPr>
          <p:cNvPr id="29" name="cpe|exhibit|fill|28"/>
          <p:cNvSpPr/>
          <p:nvPr/>
        </p:nvSpPr>
        <p:spPr>
          <a:xfrm>
            <a:off x="5798439" y="3228746"/>
            <a:ext cx="594817" cy="594817"/>
          </a:xfrm>
          <a:prstGeom prst="rect">
            <a:avLst/>
          </a:prstGeom>
          <a:solidFill>
            <a:srgbClr val="7094B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cpe|exhibit|text|29"/>
          <p:cNvSpPr txBox="1"/>
          <p:nvPr/>
        </p:nvSpPr>
        <p:spPr>
          <a:xfrm>
            <a:off x="5798439" y="3228746"/>
            <a:ext cx="594817" cy="5948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CM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6.1</a:t>
            </a:r>
          </a:p>
        </p:txBody>
      </p:sp>
      <p:sp>
        <p:nvSpPr>
          <p:cNvPr id="31" name="cpe|exhibit|fill|30"/>
          <p:cNvSpPr/>
          <p:nvPr/>
        </p:nvSpPr>
        <p:spPr>
          <a:xfrm>
            <a:off x="6448120" y="3228746"/>
            <a:ext cx="594817" cy="594817"/>
          </a:xfrm>
          <a:prstGeom prst="rect">
            <a:avLst/>
          </a:prstGeom>
          <a:solidFill>
            <a:srgbClr val="C5D4E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cpe|exhibit|text|31"/>
          <p:cNvSpPr txBox="1"/>
          <p:nvPr/>
        </p:nvSpPr>
        <p:spPr>
          <a:xfrm>
            <a:off x="6448120" y="3228746"/>
            <a:ext cx="594817" cy="5948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VC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5.0</a:t>
            </a:r>
          </a:p>
        </p:txBody>
      </p:sp>
      <p:sp>
        <p:nvSpPr>
          <p:cNvPr id="33" name="cpe|exhibit|fill|32"/>
          <p:cNvSpPr/>
          <p:nvPr/>
        </p:nvSpPr>
        <p:spPr>
          <a:xfrm>
            <a:off x="7747483" y="3228746"/>
            <a:ext cx="594817" cy="594817"/>
          </a:xfrm>
          <a:prstGeom prst="rect">
            <a:avLst/>
          </a:prstGeom>
          <a:solidFill>
            <a:srgbClr val="3C6A9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cpe|exhibit|text|33"/>
          <p:cNvSpPr txBox="1"/>
          <p:nvPr/>
        </p:nvSpPr>
        <p:spPr>
          <a:xfrm>
            <a:off x="7747483" y="3228746"/>
            <a:ext cx="594817" cy="5948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IB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6.6</a:t>
            </a:r>
          </a:p>
        </p:txBody>
      </p:sp>
      <p:sp>
        <p:nvSpPr>
          <p:cNvPr id="35" name="cpe|exhibit|fill|34"/>
          <p:cNvSpPr/>
          <p:nvPr/>
        </p:nvSpPr>
        <p:spPr>
          <a:xfrm>
            <a:off x="4499077" y="3878428"/>
            <a:ext cx="594817" cy="594817"/>
          </a:xfrm>
          <a:prstGeom prst="rect">
            <a:avLst/>
          </a:prstGeom>
          <a:solidFill>
            <a:srgbClr val="A9C0D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text|35"/>
          <p:cNvSpPr txBox="1"/>
          <p:nvPr/>
        </p:nvSpPr>
        <p:spPr>
          <a:xfrm>
            <a:off x="4499077" y="3878428"/>
            <a:ext cx="594817" cy="5948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AN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5.4</a:t>
            </a:r>
          </a:p>
        </p:txBody>
      </p:sp>
      <p:sp>
        <p:nvSpPr>
          <p:cNvPr id="37" name="cpe|exhibit|fill|36"/>
          <p:cNvSpPr/>
          <p:nvPr/>
        </p:nvSpPr>
        <p:spPr>
          <a:xfrm>
            <a:off x="5798439" y="3878428"/>
            <a:ext cx="594817" cy="594817"/>
          </a:xfrm>
          <a:prstGeom prst="rect">
            <a:avLst/>
          </a:prstGeom>
          <a:solidFill>
            <a:srgbClr val="B7CAD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cpe|exhibit|text|37"/>
          <p:cNvSpPr txBox="1"/>
          <p:nvPr/>
        </p:nvSpPr>
        <p:spPr>
          <a:xfrm>
            <a:off x="5798439" y="3878428"/>
            <a:ext cx="594817" cy="5948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MC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5.2</a:t>
            </a:r>
          </a:p>
        </p:txBody>
      </p:sp>
      <p:sp>
        <p:nvSpPr>
          <p:cNvPr id="39" name="cpe|exhibit|fill|38"/>
          <p:cNvSpPr/>
          <p:nvPr/>
        </p:nvSpPr>
        <p:spPr>
          <a:xfrm>
            <a:off x="3849395" y="4528109"/>
            <a:ext cx="594817" cy="594817"/>
          </a:xfrm>
          <a:prstGeom prst="rect">
            <a:avLst/>
          </a:prstGeom>
          <a:solidFill>
            <a:srgbClr val="264D7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cpe|exhibit|text|39"/>
          <p:cNvSpPr txBox="1"/>
          <p:nvPr/>
        </p:nvSpPr>
        <p:spPr>
          <a:xfrm>
            <a:off x="3849395" y="4528109"/>
            <a:ext cx="594817" cy="5948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CN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7.0</a:t>
            </a:r>
          </a:p>
        </p:txBody>
      </p:sp>
      <p:sp>
        <p:nvSpPr>
          <p:cNvPr id="41" name="cpe|exhibit|fill|40"/>
          <p:cNvSpPr/>
          <p:nvPr/>
        </p:nvSpPr>
        <p:spPr>
          <a:xfrm>
            <a:off x="5148758" y="4528109"/>
            <a:ext cx="594817" cy="594817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cpe|exhibit|text|41"/>
          <p:cNvSpPr txBox="1"/>
          <p:nvPr/>
        </p:nvSpPr>
        <p:spPr>
          <a:xfrm>
            <a:off x="5148758" y="4528109"/>
            <a:ext cx="594817" cy="5948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1C2530"/>
                </a:solidFill>
                <a:latin typeface="Arial"/>
              </a:rPr>
              <a:t>CE</a:t>
            </a:r>
          </a:p>
        </p:txBody>
      </p:sp>
      <p:sp>
        <p:nvSpPr>
          <p:cNvPr id="43" name="cpe|exhibit|fill|42"/>
          <p:cNvSpPr/>
          <p:nvPr/>
        </p:nvSpPr>
        <p:spPr>
          <a:xfrm>
            <a:off x="5798439" y="4528109"/>
            <a:ext cx="594817" cy="594817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cpe|exhibit|text|43"/>
          <p:cNvSpPr txBox="1"/>
          <p:nvPr/>
        </p:nvSpPr>
        <p:spPr>
          <a:xfrm>
            <a:off x="5798439" y="4528109"/>
            <a:ext cx="594817" cy="5948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1C2530"/>
                </a:solidFill>
                <a:latin typeface="Arial"/>
              </a:rPr>
              <a:t>ML</a:t>
            </a:r>
          </a:p>
        </p:txBody>
      </p:sp>
      <p:sp>
        <p:nvSpPr>
          <p:cNvPr id="45" name="cpe|exhibit|marker|44"/>
          <p:cNvSpPr/>
          <p:nvPr/>
        </p:nvSpPr>
        <p:spPr>
          <a:xfrm>
            <a:off x="3821963" y="5287518"/>
            <a:ext cx="384048" cy="146304"/>
          </a:xfrm>
          <a:prstGeom prst="rect">
            <a:avLst/>
          </a:prstGeom>
          <a:solidFill>
            <a:srgbClr val="D9E4E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cpe|exhibit|marker|45"/>
          <p:cNvSpPr/>
          <p:nvPr/>
        </p:nvSpPr>
        <p:spPr>
          <a:xfrm>
            <a:off x="4206011" y="5287518"/>
            <a:ext cx="384048" cy="146304"/>
          </a:xfrm>
          <a:prstGeom prst="rect">
            <a:avLst/>
          </a:prstGeom>
          <a:solidFill>
            <a:srgbClr val="B0C5D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cpe|exhibit|marker|46"/>
          <p:cNvSpPr/>
          <p:nvPr/>
        </p:nvSpPr>
        <p:spPr>
          <a:xfrm>
            <a:off x="4590059" y="5287518"/>
            <a:ext cx="384048" cy="146304"/>
          </a:xfrm>
          <a:prstGeom prst="rect">
            <a:avLst/>
          </a:prstGeom>
          <a:solidFill>
            <a:srgbClr val="7A9CB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cpe|exhibit|marker|47"/>
          <p:cNvSpPr/>
          <p:nvPr/>
        </p:nvSpPr>
        <p:spPr>
          <a:xfrm>
            <a:off x="4974107" y="5287518"/>
            <a:ext cx="384048" cy="146304"/>
          </a:xfrm>
          <a:prstGeom prst="rect">
            <a:avLst/>
          </a:prstGeom>
          <a:solidFill>
            <a:srgbClr val="32618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cpe|exhibit|marker|48"/>
          <p:cNvSpPr/>
          <p:nvPr/>
        </p:nvSpPr>
        <p:spPr>
          <a:xfrm>
            <a:off x="5358155" y="5287518"/>
            <a:ext cx="384048" cy="146304"/>
          </a:xfrm>
          <a:prstGeom prst="rect">
            <a:avLst/>
          </a:prstGeom>
          <a:solidFill>
            <a:srgbClr val="19345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cpe|exhibit|label|49"/>
          <p:cNvSpPr txBox="1"/>
          <p:nvPr/>
        </p:nvSpPr>
        <p:spPr>
          <a:xfrm>
            <a:off x="5833643" y="5241798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4.6 → 7.4</a:t>
            </a:r>
          </a:p>
        </p:txBody>
      </p:sp>
      <p:cxnSp>
        <p:nvCxnSpPr>
          <p:cNvPr id="51" name="cpe|commentary|line|50"/>
          <p:cNvCxnSpPr/>
          <p:nvPr/>
        </p:nvCxnSpPr>
        <p:spPr>
          <a:xfrm>
            <a:off x="502920" y="5717286"/>
            <a:ext cx="11185855" cy="0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52" name="cpe|commentary|text|51"/>
          <p:cNvSpPr txBox="1"/>
          <p:nvPr/>
        </p:nvSpPr>
        <p:spPr>
          <a:xfrm>
            <a:off x="502920" y="5854446"/>
            <a:ext cx="5492344" cy="3451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Galicia and Asturias cost </a:t>
            </a:r>
            <a:r>
              <a:rPr sz="1400" b="1">
                <a:solidFill>
                  <a:srgbClr val="1C2530"/>
                </a:solidFill>
                <a:latin typeface="Arial"/>
              </a:rPr>
              <a:t>€7+ per drop</a:t>
            </a:r>
            <a:r>
              <a:rPr sz="1400" b="0">
                <a:solidFill>
                  <a:srgbClr val="1C2530"/>
                </a:solidFill>
                <a:latin typeface="Arial"/>
              </a:rPr>
              <a:t>, 55% above Madrid</a:t>
            </a:r>
          </a:p>
        </p:txBody>
      </p:sp>
      <p:sp>
        <p:nvSpPr>
          <p:cNvPr id="53" name="cpe|commentary|text|52"/>
          <p:cNvSpPr txBox="1"/>
          <p:nvPr/>
        </p:nvSpPr>
        <p:spPr>
          <a:xfrm>
            <a:off x="6196432" y="5854446"/>
            <a:ext cx="5492344" cy="3451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Consolidating three north-west depots saves €6M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Small customers are 38% of drops but only 12% of revenue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Billing data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10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Mix by customer size, 2025</a:t>
            </a:r>
            <a:r>
              <a:rPr sz="1100" b="0">
                <a:solidFill>
                  <a:srgbClr val="1C2530"/>
                </a:solidFill>
                <a:latin typeface="Arial"/>
              </a:rPr>
              <a:t>, % of total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739018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6613202" y="2986956"/>
            <a:ext cx="127989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Large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6613202" y="4744159"/>
            <a:ext cx="127989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Medium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6613202" y="5582823"/>
            <a:ext cx="127989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Small</a:t>
            </a:r>
          </a:p>
        </p:txBody>
      </p:sp>
      <p:cxnSp>
        <p:nvCxnSpPr>
          <p:cNvPr id="11" name="cpe|commentary|line|10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12" name="cpe|commentary|text|11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Minimum order values would remove 20% of drops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Large accounts subsidise the small ones today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Small customers are 38% of drops but only 12% of revenue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Billing data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10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Mix by customer size, 2025</a:t>
            </a:r>
            <a:r>
              <a:rPr sz="1100" b="0">
                <a:solidFill>
                  <a:srgbClr val="1C2530"/>
                </a:solidFill>
                <a:latin typeface="Arial"/>
              </a:rPr>
              <a:t>, % of total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739018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6613202" y="2986956"/>
            <a:ext cx="127989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Large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6613202" y="4744159"/>
            <a:ext cx="127989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Medium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6613202" y="5582823"/>
            <a:ext cx="127989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Small</a:t>
            </a:r>
          </a:p>
        </p:txBody>
      </p:sp>
      <p:cxnSp>
        <p:nvCxnSpPr>
          <p:cNvPr id="11" name="cpe|commentary|line|10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12" name="cpe|commentary|text|11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C2530"/>
                </a:solidFill>
                <a:latin typeface="Arial"/>
              </a:rPr>
              <a:t>Minimum order values would remove 20% of drops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C2530"/>
                </a:solidFill>
                <a:latin typeface="Arial"/>
              </a:rPr>
              <a:t>Large accounts subsidise the small ones today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Small customers are 38% of drops but only 12% of revenue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Billing data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10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Mix by customer size, 2025</a:t>
            </a:r>
            <a:r>
              <a:rPr sz="1100" b="0">
                <a:solidFill>
                  <a:srgbClr val="1C2530"/>
                </a:solidFill>
                <a:latin typeface="Arial"/>
              </a:rPr>
              <a:t>, % of total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11185855" cy="364388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10056591" y="2797355"/>
            <a:ext cx="163218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Large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10056591" y="4266888"/>
            <a:ext cx="163218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Medium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10056591" y="4968255"/>
            <a:ext cx="163218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Small</a:t>
            </a:r>
          </a:p>
        </p:txBody>
      </p:sp>
      <p:cxnSp>
        <p:nvCxnSpPr>
          <p:cNvPr id="11" name="cpe|commentary|line|10"/>
          <p:cNvCxnSpPr/>
          <p:nvPr/>
        </p:nvCxnSpPr>
        <p:spPr>
          <a:xfrm>
            <a:off x="502920" y="5747004"/>
            <a:ext cx="11185855" cy="0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12" name="cpe|commentary|text|11"/>
          <p:cNvSpPr txBox="1"/>
          <p:nvPr/>
        </p:nvSpPr>
        <p:spPr>
          <a:xfrm>
            <a:off x="502920" y="5884164"/>
            <a:ext cx="5492344" cy="3154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Minimum order values would remove 20% of drops</a:t>
            </a:r>
          </a:p>
        </p:txBody>
      </p:sp>
      <p:sp>
        <p:nvSpPr>
          <p:cNvPr id="13" name="cpe|commentary|text|12"/>
          <p:cNvSpPr txBox="1"/>
          <p:nvPr/>
        </p:nvSpPr>
        <p:spPr>
          <a:xfrm>
            <a:off x="6196432" y="5884164"/>
            <a:ext cx="5492344" cy="3154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Large accounts subsidise the small ones today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Small customers are 38% of drops but only 12% of revenue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Billing data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10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Mix by customer size, 2025</a:t>
            </a:r>
            <a:r>
              <a:rPr sz="1100" b="0">
                <a:solidFill>
                  <a:srgbClr val="1C2530"/>
                </a:solidFill>
                <a:latin typeface="Arial"/>
              </a:rPr>
              <a:t>, % of total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11185855" cy="361416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10056591" y="2788737"/>
            <a:ext cx="163218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Large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10056591" y="4245193"/>
            <a:ext cx="163218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Medium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10056591" y="4940320"/>
            <a:ext cx="163218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Small</a:t>
            </a:r>
          </a:p>
        </p:txBody>
      </p:sp>
      <p:cxnSp>
        <p:nvCxnSpPr>
          <p:cNvPr id="11" name="cpe|commentary|line|10"/>
          <p:cNvCxnSpPr/>
          <p:nvPr/>
        </p:nvCxnSpPr>
        <p:spPr>
          <a:xfrm>
            <a:off x="502920" y="5717286"/>
            <a:ext cx="11185855" cy="0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12" name="cpe|commentary|text|11"/>
          <p:cNvSpPr txBox="1"/>
          <p:nvPr/>
        </p:nvSpPr>
        <p:spPr>
          <a:xfrm>
            <a:off x="502920" y="5854446"/>
            <a:ext cx="5492344" cy="3451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Minimum order values would remove 20% of drops</a:t>
            </a:r>
          </a:p>
        </p:txBody>
      </p:sp>
      <p:sp>
        <p:nvSpPr>
          <p:cNvPr id="13" name="cpe|commentary|text|12"/>
          <p:cNvSpPr txBox="1"/>
          <p:nvPr/>
        </p:nvSpPr>
        <p:spPr>
          <a:xfrm>
            <a:off x="6196432" y="5854446"/>
            <a:ext cx="5492344" cy="3451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Large accounts subsidise the small ones today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Small customers are 38% of drops but only 12% of revenue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Billing data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10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Mix by customer size, 2025</a:t>
            </a:r>
            <a:r>
              <a:rPr sz="1100" b="0">
                <a:solidFill>
                  <a:srgbClr val="1C2530"/>
                </a:solidFill>
                <a:latin typeface="Arial"/>
              </a:rPr>
              <a:t>, % of total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739018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6613202" y="2986956"/>
            <a:ext cx="127989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Large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6613202" y="4744159"/>
            <a:ext cx="127989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Medium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6613202" y="5582823"/>
            <a:ext cx="127989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Small</a:t>
            </a:r>
          </a:p>
        </p:txBody>
      </p:sp>
      <p:cxnSp>
        <p:nvCxnSpPr>
          <p:cNvPr id="11" name="cpe|commentary|line|10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12" name="cpe|commentary|text|11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Minimum order values would remove 20% of drops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Large accounts subsidise the small ones today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Small customers are 38% of drops but only 12% of revenue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Billing data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10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Mix by customer size, 2025</a:t>
            </a:r>
            <a:r>
              <a:rPr sz="1100" b="0">
                <a:solidFill>
                  <a:srgbClr val="1C2530"/>
                </a:solidFill>
                <a:latin typeface="Arial"/>
              </a:rPr>
              <a:t>, % of total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739018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6613202" y="2986956"/>
            <a:ext cx="127989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Large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6613202" y="4744159"/>
            <a:ext cx="127989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Medium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6613202" y="5582823"/>
            <a:ext cx="127989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Small</a:t>
            </a:r>
          </a:p>
        </p:txBody>
      </p:sp>
      <p:cxnSp>
        <p:nvCxnSpPr>
          <p:cNvPr id="11" name="cpe|commentary|line|10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12" name="cpe|commentary|text|11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C2530"/>
                </a:solidFill>
                <a:latin typeface="Arial"/>
              </a:rPr>
              <a:t>Minimum order values would remove 20% of drops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C2530"/>
                </a:solidFill>
                <a:latin typeface="Arial"/>
              </a:rPr>
              <a:t>Large accounts subsidise the small ones today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Depots with fewer than 400 drops a day cost up to 40% more per drop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Depot P&amp;L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11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Depot volume vs cost per drop, 2025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11185855" cy="364388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1285930" y="5234940"/>
            <a:ext cx="10179128" cy="31089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Drops per day  →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502920" y="1883664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↑  Cost per drop (€)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10656791" y="4559601"/>
            <a:ext cx="4613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Madrid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8911798" y="4341132"/>
            <a:ext cx="64498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Barcelona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6076184" y="4122664"/>
            <a:ext cx="55087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Valencia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5639935" y="3904195"/>
            <a:ext cx="44726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Sevilla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4185774" y="3685727"/>
            <a:ext cx="42617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Bilbao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2793314" y="3540081"/>
            <a:ext cx="60962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Zaragoza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2222657" y="2447739"/>
            <a:ext cx="38342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C2530"/>
                </a:solidFill>
                <a:latin typeface="Arial"/>
              </a:rPr>
              <a:t>Lugo</a:t>
            </a:r>
          </a:p>
        </p:txBody>
      </p:sp>
      <p:sp>
        <p:nvSpPr>
          <p:cNvPr id="17" name="cpe|exhibit|label|16"/>
          <p:cNvSpPr txBox="1"/>
          <p:nvPr/>
        </p:nvSpPr>
        <p:spPr>
          <a:xfrm>
            <a:off x="2161103" y="2849088"/>
            <a:ext cx="503603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C2530"/>
                </a:solidFill>
                <a:latin typeface="Arial"/>
              </a:rPr>
              <a:t>Oviedo</a:t>
            </a:r>
          </a:p>
        </p:txBody>
      </p:sp>
      <p:cxnSp>
        <p:nvCxnSpPr>
          <p:cNvPr id="18" name="cpe|commentary|line|17"/>
          <p:cNvCxnSpPr/>
          <p:nvPr/>
        </p:nvCxnSpPr>
        <p:spPr>
          <a:xfrm>
            <a:off x="502920" y="5747004"/>
            <a:ext cx="11185855" cy="0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19" name="cpe|commentary|text|18"/>
          <p:cNvSpPr txBox="1"/>
          <p:nvPr/>
        </p:nvSpPr>
        <p:spPr>
          <a:xfrm>
            <a:off x="502920" y="5884164"/>
            <a:ext cx="5492344" cy="3154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Below </a:t>
            </a:r>
            <a:r>
              <a:rPr sz="1200" b="1">
                <a:solidFill>
                  <a:srgbClr val="1C2530"/>
                </a:solidFill>
                <a:latin typeface="Arial"/>
              </a:rPr>
              <a:t>400 drops a day</a:t>
            </a:r>
            <a:r>
              <a:rPr sz="1200" b="0">
                <a:solidFill>
                  <a:srgbClr val="1C2530"/>
                </a:solidFill>
                <a:latin typeface="Arial"/>
              </a:rPr>
              <a:t> fixed costs dominate</a:t>
            </a:r>
          </a:p>
        </p:txBody>
      </p:sp>
      <p:sp>
        <p:nvSpPr>
          <p:cNvPr id="20" name="cpe|commentary|text|19"/>
          <p:cNvSpPr txBox="1"/>
          <p:nvPr/>
        </p:nvSpPr>
        <p:spPr>
          <a:xfrm>
            <a:off x="6196432" y="5884164"/>
            <a:ext cx="5492344" cy="3154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Lugo and Oviedo are candidates for consolidation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Depots with fewer than 400 drops a day cost up to 40% more per drop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Depot P&amp;L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11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Depot volume vs cost per drop, 2025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11185855" cy="361416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1285930" y="5205222"/>
            <a:ext cx="10179128" cy="31089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Drops per day  →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502920" y="1883664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↑  Cost per drop (€)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10656791" y="4532736"/>
            <a:ext cx="4613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Madrid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8911798" y="4316407"/>
            <a:ext cx="64498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Barcelona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6076184" y="4100078"/>
            <a:ext cx="55087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Valencia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5639935" y="3883749"/>
            <a:ext cx="44726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Sevilla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4185774" y="3667421"/>
            <a:ext cx="42617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Bilbao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2793314" y="3523201"/>
            <a:ext cx="60962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Zaragoza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2222657" y="2441558"/>
            <a:ext cx="38342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C2530"/>
                </a:solidFill>
                <a:latin typeface="Arial"/>
              </a:rPr>
              <a:t>Lugo</a:t>
            </a:r>
          </a:p>
        </p:txBody>
      </p:sp>
      <p:sp>
        <p:nvSpPr>
          <p:cNvPr id="17" name="cpe|exhibit|label|16"/>
          <p:cNvSpPr txBox="1"/>
          <p:nvPr/>
        </p:nvSpPr>
        <p:spPr>
          <a:xfrm>
            <a:off x="2161103" y="2840766"/>
            <a:ext cx="503603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C2530"/>
                </a:solidFill>
                <a:latin typeface="Arial"/>
              </a:rPr>
              <a:t>Oviedo</a:t>
            </a:r>
          </a:p>
        </p:txBody>
      </p:sp>
      <p:cxnSp>
        <p:nvCxnSpPr>
          <p:cNvPr id="18" name="cpe|commentary|line|17"/>
          <p:cNvCxnSpPr/>
          <p:nvPr/>
        </p:nvCxnSpPr>
        <p:spPr>
          <a:xfrm>
            <a:off x="502920" y="5717286"/>
            <a:ext cx="11185855" cy="0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19" name="cpe|commentary|text|18"/>
          <p:cNvSpPr txBox="1"/>
          <p:nvPr/>
        </p:nvSpPr>
        <p:spPr>
          <a:xfrm>
            <a:off x="502920" y="5854446"/>
            <a:ext cx="5492344" cy="3451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Below </a:t>
            </a:r>
            <a:r>
              <a:rPr sz="1400" b="1">
                <a:solidFill>
                  <a:srgbClr val="1C2530"/>
                </a:solidFill>
                <a:latin typeface="Arial"/>
              </a:rPr>
              <a:t>400 drops a day</a:t>
            </a:r>
            <a:r>
              <a:rPr sz="1400" b="0">
                <a:solidFill>
                  <a:srgbClr val="1C2530"/>
                </a:solidFill>
                <a:latin typeface="Arial"/>
              </a:rPr>
              <a:t> fixed costs dominate</a:t>
            </a:r>
          </a:p>
        </p:txBody>
      </p:sp>
      <p:sp>
        <p:nvSpPr>
          <p:cNvPr id="20" name="cpe|commentary|text|19"/>
          <p:cNvSpPr txBox="1"/>
          <p:nvPr/>
        </p:nvSpPr>
        <p:spPr>
          <a:xfrm>
            <a:off x="6196432" y="5854446"/>
            <a:ext cx="5492344" cy="3451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Lugo and Oviedo are candidates for consolidation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Depots with fewer than 400 drops a day cost up to 40% more per drop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Depot P&amp;L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11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644126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Depot volume vs cost per drop, 2025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6441262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953808" y="5888736"/>
            <a:ext cx="5861549" cy="31089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Drops per day  →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502920" y="1883664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↑  Cost per drop (€)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6392588" y="5150632"/>
            <a:ext cx="4613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Madrid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5387751" y="4885091"/>
            <a:ext cx="64498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Barcelona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3754892" y="4619549"/>
            <a:ext cx="55087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Valencia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3503682" y="4354007"/>
            <a:ext cx="44726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Sevilla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2666318" y="4088465"/>
            <a:ext cx="42617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Bilbao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1520577" y="3911437"/>
            <a:ext cx="60962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Zaragoza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1535877" y="2583729"/>
            <a:ext cx="38342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C2530"/>
                </a:solidFill>
                <a:latin typeface="Arial"/>
              </a:rPr>
              <a:t>Lugo</a:t>
            </a:r>
          </a:p>
        </p:txBody>
      </p:sp>
      <p:sp>
        <p:nvSpPr>
          <p:cNvPr id="17" name="cpe|exhibit|label|16"/>
          <p:cNvSpPr txBox="1"/>
          <p:nvPr/>
        </p:nvSpPr>
        <p:spPr>
          <a:xfrm>
            <a:off x="1703350" y="2849270"/>
            <a:ext cx="503603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C2530"/>
                </a:solidFill>
                <a:latin typeface="Arial"/>
              </a:rPr>
              <a:t>Oviedo</a:t>
            </a:r>
          </a:p>
        </p:txBody>
      </p:sp>
      <p:cxnSp>
        <p:nvCxnSpPr>
          <p:cNvPr id="18" name="cpe|commentary|line|17"/>
          <p:cNvCxnSpPr/>
          <p:nvPr/>
        </p:nvCxnSpPr>
        <p:spPr>
          <a:xfrm>
            <a:off x="7145350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19" name="cpe|commentary|text|18"/>
          <p:cNvSpPr txBox="1"/>
          <p:nvPr/>
        </p:nvSpPr>
        <p:spPr>
          <a:xfrm>
            <a:off x="7373950" y="1481328"/>
            <a:ext cx="4314825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Below </a:t>
            </a:r>
            <a:r>
              <a:rPr sz="1200" b="1">
                <a:solidFill>
                  <a:srgbClr val="1C2530"/>
                </a:solidFill>
                <a:latin typeface="Arial"/>
              </a:rPr>
              <a:t>400 drops a day</a:t>
            </a:r>
            <a:r>
              <a:rPr sz="1200" b="0">
                <a:solidFill>
                  <a:srgbClr val="1C2530"/>
                </a:solidFill>
                <a:latin typeface="Arial"/>
              </a:rPr>
              <a:t> fixed costs dominate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Lugo and Oviedo are candidates for consolidation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Depots with fewer than 400 drops a day cost up to 40% more per drop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Depot P&amp;L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11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644126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Depot volume vs cost per drop, 2025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6441262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953808" y="5888736"/>
            <a:ext cx="5861549" cy="31089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Drops per day  →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502920" y="1883664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↑  Cost per drop (€)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6392588" y="5150632"/>
            <a:ext cx="4613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Madrid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5387751" y="4885091"/>
            <a:ext cx="64498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Barcelona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3754892" y="4619549"/>
            <a:ext cx="55087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Valencia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3503682" y="4354007"/>
            <a:ext cx="44726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Sevilla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2666318" y="4088465"/>
            <a:ext cx="42617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Bilbao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1520577" y="3911437"/>
            <a:ext cx="60962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Zaragoza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1535877" y="2583729"/>
            <a:ext cx="38342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C2530"/>
                </a:solidFill>
                <a:latin typeface="Arial"/>
              </a:rPr>
              <a:t>Lugo</a:t>
            </a:r>
          </a:p>
        </p:txBody>
      </p:sp>
      <p:sp>
        <p:nvSpPr>
          <p:cNvPr id="17" name="cpe|exhibit|label|16"/>
          <p:cNvSpPr txBox="1"/>
          <p:nvPr/>
        </p:nvSpPr>
        <p:spPr>
          <a:xfrm>
            <a:off x="1703350" y="2849270"/>
            <a:ext cx="503603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C2530"/>
                </a:solidFill>
                <a:latin typeface="Arial"/>
              </a:rPr>
              <a:t>Oviedo</a:t>
            </a:r>
          </a:p>
        </p:txBody>
      </p:sp>
      <p:cxnSp>
        <p:nvCxnSpPr>
          <p:cNvPr id="18" name="cpe|commentary|line|17"/>
          <p:cNvCxnSpPr/>
          <p:nvPr/>
        </p:nvCxnSpPr>
        <p:spPr>
          <a:xfrm>
            <a:off x="7145350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19" name="cpe|commentary|text|18"/>
          <p:cNvSpPr txBox="1"/>
          <p:nvPr/>
        </p:nvSpPr>
        <p:spPr>
          <a:xfrm>
            <a:off x="7373950" y="1481328"/>
            <a:ext cx="4314825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C2530"/>
                </a:solidFill>
                <a:latin typeface="Arial"/>
              </a:rPr>
              <a:t>Below </a:t>
            </a:r>
            <a:r>
              <a:rPr sz="1400" b="1">
                <a:solidFill>
                  <a:srgbClr val="1C2530"/>
                </a:solidFill>
                <a:latin typeface="Arial"/>
              </a:rPr>
              <a:t>400 drops a day</a:t>
            </a:r>
            <a:r>
              <a:rPr sz="1400" b="0">
                <a:solidFill>
                  <a:srgbClr val="1C2530"/>
                </a:solidFill>
                <a:latin typeface="Arial"/>
              </a:rPr>
              <a:t> fixed costs dominate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C2530"/>
                </a:solidFill>
                <a:latin typeface="Arial"/>
              </a:rPr>
              <a:t>Lugo and Oviedo are candidates for consolidation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Depots with fewer than 400 drops a day cost up to 40% more per drop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Depot P&amp;L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11</a:t>
            </a:r>
          </a:p>
        </p:txBody>
      </p:sp>
      <p:cxnSp>
        <p:nvCxnSpPr>
          <p:cNvPr id="6" name="cpe|commentary|line|5"/>
          <p:cNvCxnSpPr/>
          <p:nvPr/>
        </p:nvCxnSpPr>
        <p:spPr>
          <a:xfrm>
            <a:off x="4097426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7" name="cpe|commentary|text|6"/>
          <p:cNvSpPr txBox="1"/>
          <p:nvPr/>
        </p:nvSpPr>
        <p:spPr>
          <a:xfrm>
            <a:off x="502920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Below </a:t>
            </a:r>
            <a:r>
              <a:rPr sz="1200" b="1">
                <a:solidFill>
                  <a:srgbClr val="1C2530"/>
                </a:solidFill>
                <a:latin typeface="Arial"/>
              </a:rPr>
              <a:t>400 drops a day</a:t>
            </a:r>
            <a:r>
              <a:rPr sz="1200" b="0">
                <a:solidFill>
                  <a:srgbClr val="1C2530"/>
                </a:solidFill>
                <a:latin typeface="Arial"/>
              </a:rPr>
              <a:t> fixed costs dominate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Lugo and Oviedo are candidates for consolidation</a:t>
            </a:r>
          </a:p>
        </p:txBody>
      </p:sp>
      <p:sp>
        <p:nvSpPr>
          <p:cNvPr id="8" name="cpe|exhibit|text|7"/>
          <p:cNvSpPr txBox="1"/>
          <p:nvPr/>
        </p:nvSpPr>
        <p:spPr>
          <a:xfrm>
            <a:off x="4298594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Depot volume vs cost per drop, 2025</a:t>
            </a:r>
          </a:p>
        </p:txBody>
      </p:sp>
      <p:graphicFrame>
        <p:nvGraphicFramePr>
          <p:cNvPr id="9" name="cpe|exhibit|chart|8"/>
          <p:cNvGraphicFramePr>
            <a:graphicFrameLocks noGrp="1"/>
          </p:cNvGraphicFramePr>
          <p:nvPr/>
        </p:nvGraphicFramePr>
        <p:xfrm>
          <a:off x="4298594" y="1901952"/>
          <a:ext cx="739018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cpe|exhibit|label|9"/>
          <p:cNvSpPr txBox="1"/>
          <p:nvPr/>
        </p:nvSpPr>
        <p:spPr>
          <a:xfrm>
            <a:off x="4815907" y="5888736"/>
            <a:ext cx="6725065" cy="31089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Drops per day  →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4298594" y="1883664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↑  Cost per drop (€)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11041103" y="5150632"/>
            <a:ext cx="4613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Madrid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9888235" y="4885091"/>
            <a:ext cx="64498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Barcelona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8014824" y="4619549"/>
            <a:ext cx="55087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Valencia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7726607" y="4354007"/>
            <a:ext cx="44726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Sevilla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6765884" y="4088465"/>
            <a:ext cx="42617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Bilbao</a:t>
            </a:r>
          </a:p>
        </p:txBody>
      </p:sp>
      <p:sp>
        <p:nvSpPr>
          <p:cNvPr id="17" name="cpe|exhibit|label|16"/>
          <p:cNvSpPr txBox="1"/>
          <p:nvPr/>
        </p:nvSpPr>
        <p:spPr>
          <a:xfrm>
            <a:off x="5570799" y="3911437"/>
            <a:ext cx="60962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Zaragoza</a:t>
            </a:r>
          </a:p>
        </p:txBody>
      </p:sp>
      <p:sp>
        <p:nvSpPr>
          <p:cNvPr id="18" name="cpe|exhibit|label|17"/>
          <p:cNvSpPr txBox="1"/>
          <p:nvPr/>
        </p:nvSpPr>
        <p:spPr>
          <a:xfrm>
            <a:off x="5468907" y="2583729"/>
            <a:ext cx="38342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C2530"/>
                </a:solidFill>
                <a:latin typeface="Arial"/>
              </a:rPr>
              <a:t>Lugo</a:t>
            </a:r>
          </a:p>
        </p:txBody>
      </p:sp>
      <p:sp>
        <p:nvSpPr>
          <p:cNvPr id="19" name="cpe|exhibit|label|18"/>
          <p:cNvSpPr txBox="1"/>
          <p:nvPr/>
        </p:nvSpPr>
        <p:spPr>
          <a:xfrm>
            <a:off x="5661052" y="2849270"/>
            <a:ext cx="503603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C2530"/>
                </a:solidFill>
                <a:latin typeface="Arial"/>
              </a:rPr>
              <a:t>Oviedo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Depots with fewer than 400 drops a day cost up to 40% more per drop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Depot P&amp;L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11</a:t>
            </a:r>
          </a:p>
        </p:txBody>
      </p:sp>
      <p:cxnSp>
        <p:nvCxnSpPr>
          <p:cNvPr id="6" name="cpe|commentary|line|5"/>
          <p:cNvCxnSpPr/>
          <p:nvPr/>
        </p:nvCxnSpPr>
        <p:spPr>
          <a:xfrm>
            <a:off x="4097426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7" name="cpe|commentary|text|6"/>
          <p:cNvSpPr txBox="1"/>
          <p:nvPr/>
        </p:nvSpPr>
        <p:spPr>
          <a:xfrm>
            <a:off x="502920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C2530"/>
                </a:solidFill>
                <a:latin typeface="Arial"/>
              </a:rPr>
              <a:t>Below </a:t>
            </a:r>
            <a:r>
              <a:rPr sz="1400" b="1">
                <a:solidFill>
                  <a:srgbClr val="1C2530"/>
                </a:solidFill>
                <a:latin typeface="Arial"/>
              </a:rPr>
              <a:t>400 drops a day</a:t>
            </a:r>
            <a:r>
              <a:rPr sz="1400" b="0">
                <a:solidFill>
                  <a:srgbClr val="1C2530"/>
                </a:solidFill>
                <a:latin typeface="Arial"/>
              </a:rPr>
              <a:t> fixed costs dominate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C2530"/>
                </a:solidFill>
                <a:latin typeface="Arial"/>
              </a:rPr>
              <a:t>Lugo and Oviedo are candidates for consolidation</a:t>
            </a:r>
          </a:p>
        </p:txBody>
      </p:sp>
      <p:sp>
        <p:nvSpPr>
          <p:cNvPr id="8" name="cpe|exhibit|text|7"/>
          <p:cNvSpPr txBox="1"/>
          <p:nvPr/>
        </p:nvSpPr>
        <p:spPr>
          <a:xfrm>
            <a:off x="4298594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Depot volume vs cost per drop, 2025</a:t>
            </a:r>
          </a:p>
        </p:txBody>
      </p:sp>
      <p:graphicFrame>
        <p:nvGraphicFramePr>
          <p:cNvPr id="9" name="cpe|exhibit|chart|8"/>
          <p:cNvGraphicFramePr>
            <a:graphicFrameLocks noGrp="1"/>
          </p:cNvGraphicFramePr>
          <p:nvPr/>
        </p:nvGraphicFramePr>
        <p:xfrm>
          <a:off x="4298594" y="1901952"/>
          <a:ext cx="739018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cpe|exhibit|label|9"/>
          <p:cNvSpPr txBox="1"/>
          <p:nvPr/>
        </p:nvSpPr>
        <p:spPr>
          <a:xfrm>
            <a:off x="4815907" y="5888736"/>
            <a:ext cx="6725065" cy="31089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Drops per day  →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4298594" y="1883664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↑  Cost per drop (€)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11041103" y="5150632"/>
            <a:ext cx="4613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Madrid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9888235" y="4885091"/>
            <a:ext cx="64498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Barcelona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8014824" y="4619549"/>
            <a:ext cx="55087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Valencia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7726607" y="4354007"/>
            <a:ext cx="44726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Sevilla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6765884" y="4088465"/>
            <a:ext cx="42617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Bilbao</a:t>
            </a:r>
          </a:p>
        </p:txBody>
      </p:sp>
      <p:sp>
        <p:nvSpPr>
          <p:cNvPr id="17" name="cpe|exhibit|label|16"/>
          <p:cNvSpPr txBox="1"/>
          <p:nvPr/>
        </p:nvSpPr>
        <p:spPr>
          <a:xfrm>
            <a:off x="5570799" y="3911437"/>
            <a:ext cx="60962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Zaragoza</a:t>
            </a:r>
          </a:p>
        </p:txBody>
      </p:sp>
      <p:sp>
        <p:nvSpPr>
          <p:cNvPr id="18" name="cpe|exhibit|label|17"/>
          <p:cNvSpPr txBox="1"/>
          <p:nvPr/>
        </p:nvSpPr>
        <p:spPr>
          <a:xfrm>
            <a:off x="5468907" y="2583729"/>
            <a:ext cx="38342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C2530"/>
                </a:solidFill>
                <a:latin typeface="Arial"/>
              </a:rPr>
              <a:t>Lugo</a:t>
            </a:r>
          </a:p>
        </p:txBody>
      </p:sp>
      <p:sp>
        <p:nvSpPr>
          <p:cNvPr id="19" name="cpe|exhibit|label|18"/>
          <p:cNvSpPr txBox="1"/>
          <p:nvPr/>
        </p:nvSpPr>
        <p:spPr>
          <a:xfrm>
            <a:off x="5661052" y="2849270"/>
            <a:ext cx="503603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C2530"/>
                </a:solidFill>
                <a:latin typeface="Arial"/>
              </a:rPr>
              <a:t>Oviedo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PROGRAMME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Network redesign and hub automation offer the best value for effort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Initiative assessment workshop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13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Initiative assessment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5" cy="223456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0"/>
                <a:gridCol w="1615379"/>
                <a:gridCol w="1615379"/>
                <a:gridCol w="1615379"/>
                <a:gridCol w="1615379"/>
                <a:gridCol w="1615379"/>
              </a:tblGrid>
              <a:tr h="30060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Initiative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3294B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Feasibility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Risk (low = full)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Savings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Network redesign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Hub automation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Customer terms reset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Transport procurement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4300698" y="232543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4300698" y="2325434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5916077" y="232543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marker|10"/>
          <p:cNvSpPr/>
          <p:nvPr/>
        </p:nvSpPr>
        <p:spPr>
          <a:xfrm>
            <a:off x="5916077" y="2325434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marker|11"/>
          <p:cNvSpPr/>
          <p:nvPr/>
        </p:nvSpPr>
        <p:spPr>
          <a:xfrm>
            <a:off x="7531456" y="232543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cpe|exhibit|marker|12"/>
          <p:cNvSpPr/>
          <p:nvPr/>
        </p:nvSpPr>
        <p:spPr>
          <a:xfrm>
            <a:off x="7531456" y="2325434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cpe|exhibit|marker|13"/>
          <p:cNvSpPr/>
          <p:nvPr/>
        </p:nvSpPr>
        <p:spPr>
          <a:xfrm>
            <a:off x="9146835" y="232543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marker|14"/>
          <p:cNvSpPr/>
          <p:nvPr/>
        </p:nvSpPr>
        <p:spPr>
          <a:xfrm>
            <a:off x="9146835" y="2325434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marker|15"/>
          <p:cNvSpPr/>
          <p:nvPr/>
        </p:nvSpPr>
        <p:spPr>
          <a:xfrm>
            <a:off x="4300698" y="280892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marker|16"/>
          <p:cNvSpPr/>
          <p:nvPr/>
        </p:nvSpPr>
        <p:spPr>
          <a:xfrm>
            <a:off x="4300698" y="2808922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cpe|exhibit|marker|17"/>
          <p:cNvSpPr/>
          <p:nvPr/>
        </p:nvSpPr>
        <p:spPr>
          <a:xfrm>
            <a:off x="5916077" y="280892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cpe|exhibit|marker|18"/>
          <p:cNvSpPr/>
          <p:nvPr/>
        </p:nvSpPr>
        <p:spPr>
          <a:xfrm>
            <a:off x="5916077" y="2808922"/>
            <a:ext cx="237744" cy="237744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marker|19"/>
          <p:cNvSpPr/>
          <p:nvPr/>
        </p:nvSpPr>
        <p:spPr>
          <a:xfrm>
            <a:off x="7531456" y="280892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marker|20"/>
          <p:cNvSpPr/>
          <p:nvPr/>
        </p:nvSpPr>
        <p:spPr>
          <a:xfrm>
            <a:off x="7531456" y="2808922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marker|21"/>
          <p:cNvSpPr/>
          <p:nvPr/>
        </p:nvSpPr>
        <p:spPr>
          <a:xfrm>
            <a:off x="9146835" y="280892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marker|22"/>
          <p:cNvSpPr/>
          <p:nvPr/>
        </p:nvSpPr>
        <p:spPr>
          <a:xfrm>
            <a:off x="9146835" y="2808922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marker|23"/>
          <p:cNvSpPr/>
          <p:nvPr/>
        </p:nvSpPr>
        <p:spPr>
          <a:xfrm>
            <a:off x="4300698" y="329241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cpe|exhibit|marker|24"/>
          <p:cNvSpPr/>
          <p:nvPr/>
        </p:nvSpPr>
        <p:spPr>
          <a:xfrm>
            <a:off x="4300698" y="3292412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marker|25"/>
          <p:cNvSpPr/>
          <p:nvPr/>
        </p:nvSpPr>
        <p:spPr>
          <a:xfrm>
            <a:off x="5916077" y="329241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marker|26"/>
          <p:cNvSpPr/>
          <p:nvPr/>
        </p:nvSpPr>
        <p:spPr>
          <a:xfrm>
            <a:off x="5916077" y="3292412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marker|27"/>
          <p:cNvSpPr/>
          <p:nvPr/>
        </p:nvSpPr>
        <p:spPr>
          <a:xfrm>
            <a:off x="7531456" y="329241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marker|28"/>
          <p:cNvSpPr/>
          <p:nvPr/>
        </p:nvSpPr>
        <p:spPr>
          <a:xfrm>
            <a:off x="7531456" y="3292412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cpe|exhibit|marker|29"/>
          <p:cNvSpPr/>
          <p:nvPr/>
        </p:nvSpPr>
        <p:spPr>
          <a:xfrm>
            <a:off x="9146835" y="329241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marker|30"/>
          <p:cNvSpPr/>
          <p:nvPr/>
        </p:nvSpPr>
        <p:spPr>
          <a:xfrm>
            <a:off x="9146835" y="3292412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cpe|exhibit|marker|31"/>
          <p:cNvSpPr/>
          <p:nvPr/>
        </p:nvSpPr>
        <p:spPr>
          <a:xfrm>
            <a:off x="4300698" y="3775901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marker|32"/>
          <p:cNvSpPr/>
          <p:nvPr/>
        </p:nvSpPr>
        <p:spPr>
          <a:xfrm>
            <a:off x="4300698" y="3775901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cpe|exhibit|marker|33"/>
          <p:cNvSpPr/>
          <p:nvPr/>
        </p:nvSpPr>
        <p:spPr>
          <a:xfrm>
            <a:off x="5916077" y="3775901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marker|34"/>
          <p:cNvSpPr/>
          <p:nvPr/>
        </p:nvSpPr>
        <p:spPr>
          <a:xfrm>
            <a:off x="5916077" y="3775901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marker|35"/>
          <p:cNvSpPr/>
          <p:nvPr/>
        </p:nvSpPr>
        <p:spPr>
          <a:xfrm>
            <a:off x="7531456" y="3775901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cpe|exhibit|marker|36"/>
          <p:cNvSpPr/>
          <p:nvPr/>
        </p:nvSpPr>
        <p:spPr>
          <a:xfrm>
            <a:off x="7531456" y="3775901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cpe|exhibit|marker|37"/>
          <p:cNvSpPr/>
          <p:nvPr/>
        </p:nvSpPr>
        <p:spPr>
          <a:xfrm>
            <a:off x="9146835" y="3775901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cpe|exhibit|marker|38"/>
          <p:cNvSpPr/>
          <p:nvPr/>
        </p:nvSpPr>
        <p:spPr>
          <a:xfrm>
            <a:off x="9146835" y="3775901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cpe|exhibit|marker|39"/>
          <p:cNvSpPr/>
          <p:nvPr/>
        </p:nvSpPr>
        <p:spPr>
          <a:xfrm>
            <a:off x="502920" y="4264533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cpe|exhibit|label|40"/>
          <p:cNvSpPr txBox="1"/>
          <p:nvPr/>
        </p:nvSpPr>
        <p:spPr>
          <a:xfrm>
            <a:off x="722376" y="4227957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None</a:t>
            </a:r>
          </a:p>
        </p:txBody>
      </p:sp>
      <p:sp>
        <p:nvSpPr>
          <p:cNvPr id="42" name="cpe|exhibit|marker|41"/>
          <p:cNvSpPr/>
          <p:nvPr/>
        </p:nvSpPr>
        <p:spPr>
          <a:xfrm>
            <a:off x="1417320" y="4264533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cpe|exhibit|marker|42"/>
          <p:cNvSpPr/>
          <p:nvPr/>
        </p:nvSpPr>
        <p:spPr>
          <a:xfrm>
            <a:off x="1417320" y="4264533"/>
            <a:ext cx="164592" cy="164592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cpe|exhibit|label|43"/>
          <p:cNvSpPr txBox="1"/>
          <p:nvPr/>
        </p:nvSpPr>
        <p:spPr>
          <a:xfrm>
            <a:off x="1636776" y="4227957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Partial</a:t>
            </a:r>
          </a:p>
        </p:txBody>
      </p:sp>
      <p:sp>
        <p:nvSpPr>
          <p:cNvPr id="45" name="cpe|exhibit|marker|44"/>
          <p:cNvSpPr/>
          <p:nvPr/>
        </p:nvSpPr>
        <p:spPr>
          <a:xfrm>
            <a:off x="2331720" y="4264533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cpe|exhibit|marker|45"/>
          <p:cNvSpPr/>
          <p:nvPr/>
        </p:nvSpPr>
        <p:spPr>
          <a:xfrm>
            <a:off x="2331720" y="4264533"/>
            <a:ext cx="164592" cy="164592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cpe|exhibit|label|46"/>
          <p:cNvSpPr txBox="1"/>
          <p:nvPr/>
        </p:nvSpPr>
        <p:spPr>
          <a:xfrm>
            <a:off x="2551176" y="4227957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Full</a:t>
            </a:r>
          </a:p>
        </p:txBody>
      </p:sp>
      <p:sp>
        <p:nvSpPr>
          <p:cNvPr id="48" name="cpe|takeaway|fill|47"/>
          <p:cNvSpPr/>
          <p:nvPr/>
        </p:nvSpPr>
        <p:spPr>
          <a:xfrm>
            <a:off x="502920" y="5632704"/>
            <a:ext cx="11185855" cy="566928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cpe|takeaway|fill|48"/>
          <p:cNvSpPr/>
          <p:nvPr/>
        </p:nvSpPr>
        <p:spPr>
          <a:xfrm>
            <a:off x="502920" y="5632704"/>
            <a:ext cx="64008" cy="566928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cpe|takeaway|text|49"/>
          <p:cNvSpPr txBox="1"/>
          <p:nvPr/>
        </p:nvSpPr>
        <p:spPr>
          <a:xfrm>
            <a:off x="795528" y="5632704"/>
            <a:ext cx="1066464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3294B"/>
                </a:solidFill>
                <a:latin typeface="Arial"/>
              </a:rPr>
              <a:t>Launch terms and procurement first for speed; network and automation carry the value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PROGRAMME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Network redesign and hub automation offer the best value for effort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Initiative assessment workshop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13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Initiative assessment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5" cy="3136391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0"/>
                <a:gridCol w="1615379"/>
                <a:gridCol w="1615379"/>
                <a:gridCol w="1615379"/>
                <a:gridCol w="1615379"/>
                <a:gridCol w="1615379"/>
              </a:tblGrid>
              <a:tr h="330327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Initiative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3294B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Feasibility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Risk (low = full)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Savings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</a:tr>
              <a:tr h="70151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Network redesign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70151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Hub automation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70151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Customer terms reset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70151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Transport procurement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4300698" y="2464165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4300698" y="2464165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5916077" y="2464165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marker|10"/>
          <p:cNvSpPr/>
          <p:nvPr/>
        </p:nvSpPr>
        <p:spPr>
          <a:xfrm>
            <a:off x="5916077" y="2464165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marker|11"/>
          <p:cNvSpPr/>
          <p:nvPr/>
        </p:nvSpPr>
        <p:spPr>
          <a:xfrm>
            <a:off x="7531456" y="2464165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cpe|exhibit|marker|12"/>
          <p:cNvSpPr/>
          <p:nvPr/>
        </p:nvSpPr>
        <p:spPr>
          <a:xfrm>
            <a:off x="7531456" y="2464165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cpe|exhibit|marker|13"/>
          <p:cNvSpPr/>
          <p:nvPr/>
        </p:nvSpPr>
        <p:spPr>
          <a:xfrm>
            <a:off x="9146835" y="2464165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marker|14"/>
          <p:cNvSpPr/>
          <p:nvPr/>
        </p:nvSpPr>
        <p:spPr>
          <a:xfrm>
            <a:off x="9146835" y="2464165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marker|15"/>
          <p:cNvSpPr/>
          <p:nvPr/>
        </p:nvSpPr>
        <p:spPr>
          <a:xfrm>
            <a:off x="4300698" y="3165681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marker|16"/>
          <p:cNvSpPr/>
          <p:nvPr/>
        </p:nvSpPr>
        <p:spPr>
          <a:xfrm>
            <a:off x="4300698" y="3165681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cpe|exhibit|marker|17"/>
          <p:cNvSpPr/>
          <p:nvPr/>
        </p:nvSpPr>
        <p:spPr>
          <a:xfrm>
            <a:off x="5916077" y="3165681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cpe|exhibit|marker|18"/>
          <p:cNvSpPr/>
          <p:nvPr/>
        </p:nvSpPr>
        <p:spPr>
          <a:xfrm>
            <a:off x="5916077" y="3165681"/>
            <a:ext cx="237744" cy="237744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marker|19"/>
          <p:cNvSpPr/>
          <p:nvPr/>
        </p:nvSpPr>
        <p:spPr>
          <a:xfrm>
            <a:off x="7531456" y="3165681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marker|20"/>
          <p:cNvSpPr/>
          <p:nvPr/>
        </p:nvSpPr>
        <p:spPr>
          <a:xfrm>
            <a:off x="7531456" y="3165681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marker|21"/>
          <p:cNvSpPr/>
          <p:nvPr/>
        </p:nvSpPr>
        <p:spPr>
          <a:xfrm>
            <a:off x="9146835" y="3165681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marker|22"/>
          <p:cNvSpPr/>
          <p:nvPr/>
        </p:nvSpPr>
        <p:spPr>
          <a:xfrm>
            <a:off x="9146835" y="3165681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marker|23"/>
          <p:cNvSpPr/>
          <p:nvPr/>
        </p:nvSpPr>
        <p:spPr>
          <a:xfrm>
            <a:off x="4300698" y="3867198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cpe|exhibit|marker|24"/>
          <p:cNvSpPr/>
          <p:nvPr/>
        </p:nvSpPr>
        <p:spPr>
          <a:xfrm>
            <a:off x="4300698" y="3867198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marker|25"/>
          <p:cNvSpPr/>
          <p:nvPr/>
        </p:nvSpPr>
        <p:spPr>
          <a:xfrm>
            <a:off x="5916077" y="3867198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marker|26"/>
          <p:cNvSpPr/>
          <p:nvPr/>
        </p:nvSpPr>
        <p:spPr>
          <a:xfrm>
            <a:off x="5916077" y="3867198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marker|27"/>
          <p:cNvSpPr/>
          <p:nvPr/>
        </p:nvSpPr>
        <p:spPr>
          <a:xfrm>
            <a:off x="7531456" y="3867198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marker|28"/>
          <p:cNvSpPr/>
          <p:nvPr/>
        </p:nvSpPr>
        <p:spPr>
          <a:xfrm>
            <a:off x="7531456" y="3867198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cpe|exhibit|marker|29"/>
          <p:cNvSpPr/>
          <p:nvPr/>
        </p:nvSpPr>
        <p:spPr>
          <a:xfrm>
            <a:off x="9146835" y="3867198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marker|30"/>
          <p:cNvSpPr/>
          <p:nvPr/>
        </p:nvSpPr>
        <p:spPr>
          <a:xfrm>
            <a:off x="9146835" y="3867198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cpe|exhibit|marker|31"/>
          <p:cNvSpPr/>
          <p:nvPr/>
        </p:nvSpPr>
        <p:spPr>
          <a:xfrm>
            <a:off x="4300698" y="456871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marker|32"/>
          <p:cNvSpPr/>
          <p:nvPr/>
        </p:nvSpPr>
        <p:spPr>
          <a:xfrm>
            <a:off x="4300698" y="4568714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cpe|exhibit|marker|33"/>
          <p:cNvSpPr/>
          <p:nvPr/>
        </p:nvSpPr>
        <p:spPr>
          <a:xfrm>
            <a:off x="5916077" y="456871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marker|34"/>
          <p:cNvSpPr/>
          <p:nvPr/>
        </p:nvSpPr>
        <p:spPr>
          <a:xfrm>
            <a:off x="5916077" y="4568714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marker|35"/>
          <p:cNvSpPr/>
          <p:nvPr/>
        </p:nvSpPr>
        <p:spPr>
          <a:xfrm>
            <a:off x="7531456" y="456871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cpe|exhibit|marker|36"/>
          <p:cNvSpPr/>
          <p:nvPr/>
        </p:nvSpPr>
        <p:spPr>
          <a:xfrm>
            <a:off x="7531456" y="4568714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cpe|exhibit|marker|37"/>
          <p:cNvSpPr/>
          <p:nvPr/>
        </p:nvSpPr>
        <p:spPr>
          <a:xfrm>
            <a:off x="9146835" y="456871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cpe|exhibit|marker|38"/>
          <p:cNvSpPr/>
          <p:nvPr/>
        </p:nvSpPr>
        <p:spPr>
          <a:xfrm>
            <a:off x="9146835" y="4568714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cpe|exhibit|marker|39"/>
          <p:cNvSpPr/>
          <p:nvPr/>
        </p:nvSpPr>
        <p:spPr>
          <a:xfrm>
            <a:off x="502920" y="5166360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cpe|exhibit|label|40"/>
          <p:cNvSpPr txBox="1"/>
          <p:nvPr/>
        </p:nvSpPr>
        <p:spPr>
          <a:xfrm>
            <a:off x="722376" y="512978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None</a:t>
            </a:r>
          </a:p>
        </p:txBody>
      </p:sp>
      <p:sp>
        <p:nvSpPr>
          <p:cNvPr id="42" name="cpe|exhibit|marker|41"/>
          <p:cNvSpPr/>
          <p:nvPr/>
        </p:nvSpPr>
        <p:spPr>
          <a:xfrm>
            <a:off x="1417320" y="5166360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cpe|exhibit|marker|42"/>
          <p:cNvSpPr/>
          <p:nvPr/>
        </p:nvSpPr>
        <p:spPr>
          <a:xfrm>
            <a:off x="1417320" y="5166360"/>
            <a:ext cx="164592" cy="164592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cpe|exhibit|label|43"/>
          <p:cNvSpPr txBox="1"/>
          <p:nvPr/>
        </p:nvSpPr>
        <p:spPr>
          <a:xfrm>
            <a:off x="1636776" y="512978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Partial</a:t>
            </a:r>
          </a:p>
        </p:txBody>
      </p:sp>
      <p:sp>
        <p:nvSpPr>
          <p:cNvPr id="45" name="cpe|exhibit|marker|44"/>
          <p:cNvSpPr/>
          <p:nvPr/>
        </p:nvSpPr>
        <p:spPr>
          <a:xfrm>
            <a:off x="2331720" y="5166360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cpe|exhibit|marker|45"/>
          <p:cNvSpPr/>
          <p:nvPr/>
        </p:nvSpPr>
        <p:spPr>
          <a:xfrm>
            <a:off x="2331720" y="5166360"/>
            <a:ext cx="164592" cy="164592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cpe|exhibit|label|46"/>
          <p:cNvSpPr txBox="1"/>
          <p:nvPr/>
        </p:nvSpPr>
        <p:spPr>
          <a:xfrm>
            <a:off x="2551176" y="512978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Full</a:t>
            </a:r>
          </a:p>
        </p:txBody>
      </p:sp>
      <p:sp>
        <p:nvSpPr>
          <p:cNvPr id="48" name="cpe|takeaway|fill|47"/>
          <p:cNvSpPr/>
          <p:nvPr/>
        </p:nvSpPr>
        <p:spPr>
          <a:xfrm>
            <a:off x="502920" y="5632704"/>
            <a:ext cx="11185855" cy="566928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cpe|takeaway|fill|48"/>
          <p:cNvSpPr/>
          <p:nvPr/>
        </p:nvSpPr>
        <p:spPr>
          <a:xfrm>
            <a:off x="502920" y="5632704"/>
            <a:ext cx="64008" cy="566928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cpe|takeaway|text|49"/>
          <p:cNvSpPr txBox="1"/>
          <p:nvPr/>
        </p:nvSpPr>
        <p:spPr>
          <a:xfrm>
            <a:off x="795528" y="5632704"/>
            <a:ext cx="1066464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3294B"/>
                </a:solidFill>
                <a:latin typeface="Arial"/>
              </a:rPr>
              <a:t>Launch terms and procurement first for speed; network and automation carry the value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PROGRAMME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Network redesign and hub automation offer the best value for effort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Initiative assessment workshop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13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Initiative assessment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5" cy="3136393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0"/>
                <a:gridCol w="1615379"/>
                <a:gridCol w="1615379"/>
                <a:gridCol w="1615379"/>
                <a:gridCol w="1615379"/>
                <a:gridCol w="1615379"/>
              </a:tblGrid>
              <a:tr h="360045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Initiative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3294B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Feasibility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Risk (low = full)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Savings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</a:tr>
              <a:tr h="694087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Network redesign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694087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Hub automation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694087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Customer terms reset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694087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Transport procurement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4300698" y="2490168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4300698" y="2490168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5916077" y="2490168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marker|10"/>
          <p:cNvSpPr/>
          <p:nvPr/>
        </p:nvSpPr>
        <p:spPr>
          <a:xfrm>
            <a:off x="5916077" y="2490168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marker|11"/>
          <p:cNvSpPr/>
          <p:nvPr/>
        </p:nvSpPr>
        <p:spPr>
          <a:xfrm>
            <a:off x="7531456" y="2490168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cpe|exhibit|marker|12"/>
          <p:cNvSpPr/>
          <p:nvPr/>
        </p:nvSpPr>
        <p:spPr>
          <a:xfrm>
            <a:off x="7531456" y="2490168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cpe|exhibit|marker|13"/>
          <p:cNvSpPr/>
          <p:nvPr/>
        </p:nvSpPr>
        <p:spPr>
          <a:xfrm>
            <a:off x="9146835" y="2490168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marker|14"/>
          <p:cNvSpPr/>
          <p:nvPr/>
        </p:nvSpPr>
        <p:spPr>
          <a:xfrm>
            <a:off x="9146835" y="2490168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marker|15"/>
          <p:cNvSpPr/>
          <p:nvPr/>
        </p:nvSpPr>
        <p:spPr>
          <a:xfrm>
            <a:off x="4300698" y="3184255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marker|16"/>
          <p:cNvSpPr/>
          <p:nvPr/>
        </p:nvSpPr>
        <p:spPr>
          <a:xfrm>
            <a:off x="4300698" y="3184255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cpe|exhibit|marker|17"/>
          <p:cNvSpPr/>
          <p:nvPr/>
        </p:nvSpPr>
        <p:spPr>
          <a:xfrm>
            <a:off x="5916077" y="3184255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cpe|exhibit|marker|18"/>
          <p:cNvSpPr/>
          <p:nvPr/>
        </p:nvSpPr>
        <p:spPr>
          <a:xfrm>
            <a:off x="5916077" y="3184255"/>
            <a:ext cx="237744" cy="237744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marker|19"/>
          <p:cNvSpPr/>
          <p:nvPr/>
        </p:nvSpPr>
        <p:spPr>
          <a:xfrm>
            <a:off x="7531456" y="3184255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marker|20"/>
          <p:cNvSpPr/>
          <p:nvPr/>
        </p:nvSpPr>
        <p:spPr>
          <a:xfrm>
            <a:off x="7531456" y="3184255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marker|21"/>
          <p:cNvSpPr/>
          <p:nvPr/>
        </p:nvSpPr>
        <p:spPr>
          <a:xfrm>
            <a:off x="9146835" y="3184255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marker|22"/>
          <p:cNvSpPr/>
          <p:nvPr/>
        </p:nvSpPr>
        <p:spPr>
          <a:xfrm>
            <a:off x="9146835" y="3184255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marker|23"/>
          <p:cNvSpPr/>
          <p:nvPr/>
        </p:nvSpPr>
        <p:spPr>
          <a:xfrm>
            <a:off x="4300698" y="387834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cpe|exhibit|marker|24"/>
          <p:cNvSpPr/>
          <p:nvPr/>
        </p:nvSpPr>
        <p:spPr>
          <a:xfrm>
            <a:off x="4300698" y="3878342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marker|25"/>
          <p:cNvSpPr/>
          <p:nvPr/>
        </p:nvSpPr>
        <p:spPr>
          <a:xfrm>
            <a:off x="5916077" y="387834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marker|26"/>
          <p:cNvSpPr/>
          <p:nvPr/>
        </p:nvSpPr>
        <p:spPr>
          <a:xfrm>
            <a:off x="5916077" y="3878342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marker|27"/>
          <p:cNvSpPr/>
          <p:nvPr/>
        </p:nvSpPr>
        <p:spPr>
          <a:xfrm>
            <a:off x="7531456" y="387834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marker|28"/>
          <p:cNvSpPr/>
          <p:nvPr/>
        </p:nvSpPr>
        <p:spPr>
          <a:xfrm>
            <a:off x="7531456" y="3878342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cpe|exhibit|marker|29"/>
          <p:cNvSpPr/>
          <p:nvPr/>
        </p:nvSpPr>
        <p:spPr>
          <a:xfrm>
            <a:off x="9146835" y="387834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marker|30"/>
          <p:cNvSpPr/>
          <p:nvPr/>
        </p:nvSpPr>
        <p:spPr>
          <a:xfrm>
            <a:off x="9146835" y="3878342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cpe|exhibit|marker|31"/>
          <p:cNvSpPr/>
          <p:nvPr/>
        </p:nvSpPr>
        <p:spPr>
          <a:xfrm>
            <a:off x="4300698" y="4572429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marker|32"/>
          <p:cNvSpPr/>
          <p:nvPr/>
        </p:nvSpPr>
        <p:spPr>
          <a:xfrm>
            <a:off x="4300698" y="4572429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cpe|exhibit|marker|33"/>
          <p:cNvSpPr/>
          <p:nvPr/>
        </p:nvSpPr>
        <p:spPr>
          <a:xfrm>
            <a:off x="5916077" y="4572429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marker|34"/>
          <p:cNvSpPr/>
          <p:nvPr/>
        </p:nvSpPr>
        <p:spPr>
          <a:xfrm>
            <a:off x="5916077" y="4572429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marker|35"/>
          <p:cNvSpPr/>
          <p:nvPr/>
        </p:nvSpPr>
        <p:spPr>
          <a:xfrm>
            <a:off x="7531456" y="4572429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cpe|exhibit|marker|36"/>
          <p:cNvSpPr/>
          <p:nvPr/>
        </p:nvSpPr>
        <p:spPr>
          <a:xfrm>
            <a:off x="7531456" y="4572429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cpe|exhibit|marker|37"/>
          <p:cNvSpPr/>
          <p:nvPr/>
        </p:nvSpPr>
        <p:spPr>
          <a:xfrm>
            <a:off x="9146835" y="4572429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cpe|exhibit|marker|38"/>
          <p:cNvSpPr/>
          <p:nvPr/>
        </p:nvSpPr>
        <p:spPr>
          <a:xfrm>
            <a:off x="9146835" y="4572429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cpe|exhibit|marker|39"/>
          <p:cNvSpPr/>
          <p:nvPr/>
        </p:nvSpPr>
        <p:spPr>
          <a:xfrm>
            <a:off x="502920" y="5166360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cpe|exhibit|label|40"/>
          <p:cNvSpPr txBox="1"/>
          <p:nvPr/>
        </p:nvSpPr>
        <p:spPr>
          <a:xfrm>
            <a:off x="722376" y="512978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None</a:t>
            </a:r>
          </a:p>
        </p:txBody>
      </p:sp>
      <p:sp>
        <p:nvSpPr>
          <p:cNvPr id="42" name="cpe|exhibit|marker|41"/>
          <p:cNvSpPr/>
          <p:nvPr/>
        </p:nvSpPr>
        <p:spPr>
          <a:xfrm>
            <a:off x="1417320" y="5166360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cpe|exhibit|marker|42"/>
          <p:cNvSpPr/>
          <p:nvPr/>
        </p:nvSpPr>
        <p:spPr>
          <a:xfrm>
            <a:off x="1417320" y="5166360"/>
            <a:ext cx="164592" cy="164592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cpe|exhibit|label|43"/>
          <p:cNvSpPr txBox="1"/>
          <p:nvPr/>
        </p:nvSpPr>
        <p:spPr>
          <a:xfrm>
            <a:off x="1636776" y="512978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Partial</a:t>
            </a:r>
          </a:p>
        </p:txBody>
      </p:sp>
      <p:sp>
        <p:nvSpPr>
          <p:cNvPr id="45" name="cpe|exhibit|marker|44"/>
          <p:cNvSpPr/>
          <p:nvPr/>
        </p:nvSpPr>
        <p:spPr>
          <a:xfrm>
            <a:off x="2331720" y="5166360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cpe|exhibit|marker|45"/>
          <p:cNvSpPr/>
          <p:nvPr/>
        </p:nvSpPr>
        <p:spPr>
          <a:xfrm>
            <a:off x="2331720" y="5166360"/>
            <a:ext cx="164592" cy="164592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cpe|exhibit|label|46"/>
          <p:cNvSpPr txBox="1"/>
          <p:nvPr/>
        </p:nvSpPr>
        <p:spPr>
          <a:xfrm>
            <a:off x="2551176" y="512978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Full</a:t>
            </a:r>
          </a:p>
        </p:txBody>
      </p:sp>
      <p:sp>
        <p:nvSpPr>
          <p:cNvPr id="48" name="cpe|takeaway|fill|47"/>
          <p:cNvSpPr/>
          <p:nvPr/>
        </p:nvSpPr>
        <p:spPr>
          <a:xfrm>
            <a:off x="502920" y="5632704"/>
            <a:ext cx="11185855" cy="566928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cpe|takeaway|fill|48"/>
          <p:cNvSpPr/>
          <p:nvPr/>
        </p:nvSpPr>
        <p:spPr>
          <a:xfrm>
            <a:off x="502920" y="5632704"/>
            <a:ext cx="64008" cy="566928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cpe|takeaway|text|49"/>
          <p:cNvSpPr txBox="1"/>
          <p:nvPr/>
        </p:nvSpPr>
        <p:spPr>
          <a:xfrm>
            <a:off x="795528" y="5632704"/>
            <a:ext cx="1066464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3294B"/>
                </a:solidFill>
                <a:latin typeface="Arial"/>
              </a:rPr>
              <a:t>Launch terms and procurement first for speed; network and automation carry the value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PROGRAMME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Network redesign and hub automation offer the best value for effort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Initiative assessment workshop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13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Initiative assessment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5" cy="223456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0"/>
                <a:gridCol w="1615379"/>
                <a:gridCol w="1615379"/>
                <a:gridCol w="1615379"/>
                <a:gridCol w="1615379"/>
                <a:gridCol w="1615379"/>
              </a:tblGrid>
              <a:tr h="30060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Initiative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3294B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Feasibility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Risk (low = full)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Savings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Network redesign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Hub automation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Customer terms reset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Transport procurement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4300698" y="232543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4300698" y="2325434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5916077" y="232543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marker|10"/>
          <p:cNvSpPr/>
          <p:nvPr/>
        </p:nvSpPr>
        <p:spPr>
          <a:xfrm>
            <a:off x="5916077" y="2325434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marker|11"/>
          <p:cNvSpPr/>
          <p:nvPr/>
        </p:nvSpPr>
        <p:spPr>
          <a:xfrm>
            <a:off x="7531456" y="232543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cpe|exhibit|marker|12"/>
          <p:cNvSpPr/>
          <p:nvPr/>
        </p:nvSpPr>
        <p:spPr>
          <a:xfrm>
            <a:off x="7531456" y="2325434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cpe|exhibit|marker|13"/>
          <p:cNvSpPr/>
          <p:nvPr/>
        </p:nvSpPr>
        <p:spPr>
          <a:xfrm>
            <a:off x="9146835" y="232543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marker|14"/>
          <p:cNvSpPr/>
          <p:nvPr/>
        </p:nvSpPr>
        <p:spPr>
          <a:xfrm>
            <a:off x="9146835" y="2325434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marker|15"/>
          <p:cNvSpPr/>
          <p:nvPr/>
        </p:nvSpPr>
        <p:spPr>
          <a:xfrm>
            <a:off x="4300698" y="280892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marker|16"/>
          <p:cNvSpPr/>
          <p:nvPr/>
        </p:nvSpPr>
        <p:spPr>
          <a:xfrm>
            <a:off x="4300698" y="2808922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cpe|exhibit|marker|17"/>
          <p:cNvSpPr/>
          <p:nvPr/>
        </p:nvSpPr>
        <p:spPr>
          <a:xfrm>
            <a:off x="5916077" y="280892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cpe|exhibit|marker|18"/>
          <p:cNvSpPr/>
          <p:nvPr/>
        </p:nvSpPr>
        <p:spPr>
          <a:xfrm>
            <a:off x="5916077" y="2808922"/>
            <a:ext cx="237744" cy="237744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marker|19"/>
          <p:cNvSpPr/>
          <p:nvPr/>
        </p:nvSpPr>
        <p:spPr>
          <a:xfrm>
            <a:off x="7531456" y="280892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marker|20"/>
          <p:cNvSpPr/>
          <p:nvPr/>
        </p:nvSpPr>
        <p:spPr>
          <a:xfrm>
            <a:off x="7531456" y="2808922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marker|21"/>
          <p:cNvSpPr/>
          <p:nvPr/>
        </p:nvSpPr>
        <p:spPr>
          <a:xfrm>
            <a:off x="9146835" y="280892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marker|22"/>
          <p:cNvSpPr/>
          <p:nvPr/>
        </p:nvSpPr>
        <p:spPr>
          <a:xfrm>
            <a:off x="9146835" y="2808922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marker|23"/>
          <p:cNvSpPr/>
          <p:nvPr/>
        </p:nvSpPr>
        <p:spPr>
          <a:xfrm>
            <a:off x="4300698" y="329241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cpe|exhibit|marker|24"/>
          <p:cNvSpPr/>
          <p:nvPr/>
        </p:nvSpPr>
        <p:spPr>
          <a:xfrm>
            <a:off x="4300698" y="3292412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marker|25"/>
          <p:cNvSpPr/>
          <p:nvPr/>
        </p:nvSpPr>
        <p:spPr>
          <a:xfrm>
            <a:off x="5916077" y="329241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marker|26"/>
          <p:cNvSpPr/>
          <p:nvPr/>
        </p:nvSpPr>
        <p:spPr>
          <a:xfrm>
            <a:off x="5916077" y="3292412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marker|27"/>
          <p:cNvSpPr/>
          <p:nvPr/>
        </p:nvSpPr>
        <p:spPr>
          <a:xfrm>
            <a:off x="7531456" y="329241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marker|28"/>
          <p:cNvSpPr/>
          <p:nvPr/>
        </p:nvSpPr>
        <p:spPr>
          <a:xfrm>
            <a:off x="7531456" y="3292412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cpe|exhibit|marker|29"/>
          <p:cNvSpPr/>
          <p:nvPr/>
        </p:nvSpPr>
        <p:spPr>
          <a:xfrm>
            <a:off x="9146835" y="329241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marker|30"/>
          <p:cNvSpPr/>
          <p:nvPr/>
        </p:nvSpPr>
        <p:spPr>
          <a:xfrm>
            <a:off x="9146835" y="3292412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cpe|exhibit|marker|31"/>
          <p:cNvSpPr/>
          <p:nvPr/>
        </p:nvSpPr>
        <p:spPr>
          <a:xfrm>
            <a:off x="4300698" y="3775901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marker|32"/>
          <p:cNvSpPr/>
          <p:nvPr/>
        </p:nvSpPr>
        <p:spPr>
          <a:xfrm>
            <a:off x="4300698" y="3775901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cpe|exhibit|marker|33"/>
          <p:cNvSpPr/>
          <p:nvPr/>
        </p:nvSpPr>
        <p:spPr>
          <a:xfrm>
            <a:off x="5916077" y="3775901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marker|34"/>
          <p:cNvSpPr/>
          <p:nvPr/>
        </p:nvSpPr>
        <p:spPr>
          <a:xfrm>
            <a:off x="5916077" y="3775901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marker|35"/>
          <p:cNvSpPr/>
          <p:nvPr/>
        </p:nvSpPr>
        <p:spPr>
          <a:xfrm>
            <a:off x="7531456" y="3775901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cpe|exhibit|marker|36"/>
          <p:cNvSpPr/>
          <p:nvPr/>
        </p:nvSpPr>
        <p:spPr>
          <a:xfrm>
            <a:off x="7531456" y="3775901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cpe|exhibit|marker|37"/>
          <p:cNvSpPr/>
          <p:nvPr/>
        </p:nvSpPr>
        <p:spPr>
          <a:xfrm>
            <a:off x="9146835" y="3775901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cpe|exhibit|marker|38"/>
          <p:cNvSpPr/>
          <p:nvPr/>
        </p:nvSpPr>
        <p:spPr>
          <a:xfrm>
            <a:off x="9146835" y="3775901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cpe|exhibit|marker|39"/>
          <p:cNvSpPr/>
          <p:nvPr/>
        </p:nvSpPr>
        <p:spPr>
          <a:xfrm>
            <a:off x="502920" y="4264533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cpe|exhibit|label|40"/>
          <p:cNvSpPr txBox="1"/>
          <p:nvPr/>
        </p:nvSpPr>
        <p:spPr>
          <a:xfrm>
            <a:off x="722376" y="4227957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None</a:t>
            </a:r>
          </a:p>
        </p:txBody>
      </p:sp>
      <p:sp>
        <p:nvSpPr>
          <p:cNvPr id="42" name="cpe|exhibit|marker|41"/>
          <p:cNvSpPr/>
          <p:nvPr/>
        </p:nvSpPr>
        <p:spPr>
          <a:xfrm>
            <a:off x="1417320" y="4264533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cpe|exhibit|marker|42"/>
          <p:cNvSpPr/>
          <p:nvPr/>
        </p:nvSpPr>
        <p:spPr>
          <a:xfrm>
            <a:off x="1417320" y="4264533"/>
            <a:ext cx="164592" cy="164592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cpe|exhibit|label|43"/>
          <p:cNvSpPr txBox="1"/>
          <p:nvPr/>
        </p:nvSpPr>
        <p:spPr>
          <a:xfrm>
            <a:off x="1636776" y="4227957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Partial</a:t>
            </a:r>
          </a:p>
        </p:txBody>
      </p:sp>
      <p:sp>
        <p:nvSpPr>
          <p:cNvPr id="45" name="cpe|exhibit|marker|44"/>
          <p:cNvSpPr/>
          <p:nvPr/>
        </p:nvSpPr>
        <p:spPr>
          <a:xfrm>
            <a:off x="2331720" y="4264533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cpe|exhibit|marker|45"/>
          <p:cNvSpPr/>
          <p:nvPr/>
        </p:nvSpPr>
        <p:spPr>
          <a:xfrm>
            <a:off x="2331720" y="4264533"/>
            <a:ext cx="164592" cy="164592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cpe|exhibit|label|46"/>
          <p:cNvSpPr txBox="1"/>
          <p:nvPr/>
        </p:nvSpPr>
        <p:spPr>
          <a:xfrm>
            <a:off x="2551176" y="4227957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Full</a:t>
            </a:r>
          </a:p>
        </p:txBody>
      </p:sp>
      <p:sp>
        <p:nvSpPr>
          <p:cNvPr id="48" name="cpe|takeaway|fill|47"/>
          <p:cNvSpPr/>
          <p:nvPr/>
        </p:nvSpPr>
        <p:spPr>
          <a:xfrm>
            <a:off x="502920" y="5632704"/>
            <a:ext cx="11185855" cy="566928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cpe|takeaway|fill|48"/>
          <p:cNvSpPr/>
          <p:nvPr/>
        </p:nvSpPr>
        <p:spPr>
          <a:xfrm>
            <a:off x="502920" y="5632704"/>
            <a:ext cx="64008" cy="566928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cpe|takeaway|text|49"/>
          <p:cNvSpPr txBox="1"/>
          <p:nvPr/>
        </p:nvSpPr>
        <p:spPr>
          <a:xfrm>
            <a:off x="795528" y="5632704"/>
            <a:ext cx="1066464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3294B"/>
                </a:solidFill>
                <a:latin typeface="Arial"/>
              </a:rPr>
              <a:t>Launch terms and procurement first for speed; network and automation carry the value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PROGRAMME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Network redesign and hub automation offer the best value for effort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Initiative assessment workshop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13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Initiative assessment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5" cy="3136391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0"/>
                <a:gridCol w="1615379"/>
                <a:gridCol w="1615379"/>
                <a:gridCol w="1615379"/>
                <a:gridCol w="1615379"/>
                <a:gridCol w="1615379"/>
              </a:tblGrid>
              <a:tr h="330327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Initiative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3294B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Feasibility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Risk (low = full)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Savings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</a:tr>
              <a:tr h="70151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Network redesign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70151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Hub automation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70151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Customer terms reset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70151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Transport procurement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4300698" y="2464165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4300698" y="2464165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5916077" y="2464165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marker|10"/>
          <p:cNvSpPr/>
          <p:nvPr/>
        </p:nvSpPr>
        <p:spPr>
          <a:xfrm>
            <a:off x="5916077" y="2464165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marker|11"/>
          <p:cNvSpPr/>
          <p:nvPr/>
        </p:nvSpPr>
        <p:spPr>
          <a:xfrm>
            <a:off x="7531456" y="2464165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cpe|exhibit|marker|12"/>
          <p:cNvSpPr/>
          <p:nvPr/>
        </p:nvSpPr>
        <p:spPr>
          <a:xfrm>
            <a:off x="7531456" y="2464165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cpe|exhibit|marker|13"/>
          <p:cNvSpPr/>
          <p:nvPr/>
        </p:nvSpPr>
        <p:spPr>
          <a:xfrm>
            <a:off x="9146835" y="2464165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marker|14"/>
          <p:cNvSpPr/>
          <p:nvPr/>
        </p:nvSpPr>
        <p:spPr>
          <a:xfrm>
            <a:off x="9146835" y="2464165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marker|15"/>
          <p:cNvSpPr/>
          <p:nvPr/>
        </p:nvSpPr>
        <p:spPr>
          <a:xfrm>
            <a:off x="4300698" y="3165681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marker|16"/>
          <p:cNvSpPr/>
          <p:nvPr/>
        </p:nvSpPr>
        <p:spPr>
          <a:xfrm>
            <a:off x="4300698" y="3165681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cpe|exhibit|marker|17"/>
          <p:cNvSpPr/>
          <p:nvPr/>
        </p:nvSpPr>
        <p:spPr>
          <a:xfrm>
            <a:off x="5916077" y="3165681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cpe|exhibit|marker|18"/>
          <p:cNvSpPr/>
          <p:nvPr/>
        </p:nvSpPr>
        <p:spPr>
          <a:xfrm>
            <a:off x="5916077" y="3165681"/>
            <a:ext cx="237744" cy="237744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marker|19"/>
          <p:cNvSpPr/>
          <p:nvPr/>
        </p:nvSpPr>
        <p:spPr>
          <a:xfrm>
            <a:off x="7531456" y="3165681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marker|20"/>
          <p:cNvSpPr/>
          <p:nvPr/>
        </p:nvSpPr>
        <p:spPr>
          <a:xfrm>
            <a:off x="7531456" y="3165681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marker|21"/>
          <p:cNvSpPr/>
          <p:nvPr/>
        </p:nvSpPr>
        <p:spPr>
          <a:xfrm>
            <a:off x="9146835" y="3165681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marker|22"/>
          <p:cNvSpPr/>
          <p:nvPr/>
        </p:nvSpPr>
        <p:spPr>
          <a:xfrm>
            <a:off x="9146835" y="3165681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marker|23"/>
          <p:cNvSpPr/>
          <p:nvPr/>
        </p:nvSpPr>
        <p:spPr>
          <a:xfrm>
            <a:off x="4300698" y="3867198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cpe|exhibit|marker|24"/>
          <p:cNvSpPr/>
          <p:nvPr/>
        </p:nvSpPr>
        <p:spPr>
          <a:xfrm>
            <a:off x="4300698" y="3867198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marker|25"/>
          <p:cNvSpPr/>
          <p:nvPr/>
        </p:nvSpPr>
        <p:spPr>
          <a:xfrm>
            <a:off x="5916077" y="3867198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marker|26"/>
          <p:cNvSpPr/>
          <p:nvPr/>
        </p:nvSpPr>
        <p:spPr>
          <a:xfrm>
            <a:off x="5916077" y="3867198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marker|27"/>
          <p:cNvSpPr/>
          <p:nvPr/>
        </p:nvSpPr>
        <p:spPr>
          <a:xfrm>
            <a:off x="7531456" y="3867198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marker|28"/>
          <p:cNvSpPr/>
          <p:nvPr/>
        </p:nvSpPr>
        <p:spPr>
          <a:xfrm>
            <a:off x="7531456" y="3867198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cpe|exhibit|marker|29"/>
          <p:cNvSpPr/>
          <p:nvPr/>
        </p:nvSpPr>
        <p:spPr>
          <a:xfrm>
            <a:off x="9146835" y="3867198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marker|30"/>
          <p:cNvSpPr/>
          <p:nvPr/>
        </p:nvSpPr>
        <p:spPr>
          <a:xfrm>
            <a:off x="9146835" y="3867198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cpe|exhibit|marker|31"/>
          <p:cNvSpPr/>
          <p:nvPr/>
        </p:nvSpPr>
        <p:spPr>
          <a:xfrm>
            <a:off x="4300698" y="456871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marker|32"/>
          <p:cNvSpPr/>
          <p:nvPr/>
        </p:nvSpPr>
        <p:spPr>
          <a:xfrm>
            <a:off x="4300698" y="4568714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cpe|exhibit|marker|33"/>
          <p:cNvSpPr/>
          <p:nvPr/>
        </p:nvSpPr>
        <p:spPr>
          <a:xfrm>
            <a:off x="5916077" y="456871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marker|34"/>
          <p:cNvSpPr/>
          <p:nvPr/>
        </p:nvSpPr>
        <p:spPr>
          <a:xfrm>
            <a:off x="5916077" y="4568714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marker|35"/>
          <p:cNvSpPr/>
          <p:nvPr/>
        </p:nvSpPr>
        <p:spPr>
          <a:xfrm>
            <a:off x="7531456" y="456871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cpe|exhibit|marker|36"/>
          <p:cNvSpPr/>
          <p:nvPr/>
        </p:nvSpPr>
        <p:spPr>
          <a:xfrm>
            <a:off x="7531456" y="4568714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cpe|exhibit|marker|37"/>
          <p:cNvSpPr/>
          <p:nvPr/>
        </p:nvSpPr>
        <p:spPr>
          <a:xfrm>
            <a:off x="9146835" y="456871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cpe|exhibit|marker|38"/>
          <p:cNvSpPr/>
          <p:nvPr/>
        </p:nvSpPr>
        <p:spPr>
          <a:xfrm>
            <a:off x="9146835" y="4568714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cpe|exhibit|marker|39"/>
          <p:cNvSpPr/>
          <p:nvPr/>
        </p:nvSpPr>
        <p:spPr>
          <a:xfrm>
            <a:off x="502920" y="5166360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cpe|exhibit|label|40"/>
          <p:cNvSpPr txBox="1"/>
          <p:nvPr/>
        </p:nvSpPr>
        <p:spPr>
          <a:xfrm>
            <a:off x="722376" y="512978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None</a:t>
            </a:r>
          </a:p>
        </p:txBody>
      </p:sp>
      <p:sp>
        <p:nvSpPr>
          <p:cNvPr id="42" name="cpe|exhibit|marker|41"/>
          <p:cNvSpPr/>
          <p:nvPr/>
        </p:nvSpPr>
        <p:spPr>
          <a:xfrm>
            <a:off x="1417320" y="5166360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cpe|exhibit|marker|42"/>
          <p:cNvSpPr/>
          <p:nvPr/>
        </p:nvSpPr>
        <p:spPr>
          <a:xfrm>
            <a:off x="1417320" y="5166360"/>
            <a:ext cx="164592" cy="164592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cpe|exhibit|label|43"/>
          <p:cNvSpPr txBox="1"/>
          <p:nvPr/>
        </p:nvSpPr>
        <p:spPr>
          <a:xfrm>
            <a:off x="1636776" y="512978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Partial</a:t>
            </a:r>
          </a:p>
        </p:txBody>
      </p:sp>
      <p:sp>
        <p:nvSpPr>
          <p:cNvPr id="45" name="cpe|exhibit|marker|44"/>
          <p:cNvSpPr/>
          <p:nvPr/>
        </p:nvSpPr>
        <p:spPr>
          <a:xfrm>
            <a:off x="2331720" y="5166360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cpe|exhibit|marker|45"/>
          <p:cNvSpPr/>
          <p:nvPr/>
        </p:nvSpPr>
        <p:spPr>
          <a:xfrm>
            <a:off x="2331720" y="5166360"/>
            <a:ext cx="164592" cy="164592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cpe|exhibit|label|46"/>
          <p:cNvSpPr txBox="1"/>
          <p:nvPr/>
        </p:nvSpPr>
        <p:spPr>
          <a:xfrm>
            <a:off x="2551176" y="512978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Full</a:t>
            </a:r>
          </a:p>
        </p:txBody>
      </p:sp>
      <p:sp>
        <p:nvSpPr>
          <p:cNvPr id="48" name="cpe|takeaway|fill|47"/>
          <p:cNvSpPr/>
          <p:nvPr/>
        </p:nvSpPr>
        <p:spPr>
          <a:xfrm>
            <a:off x="502920" y="5632704"/>
            <a:ext cx="11185855" cy="566928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cpe|takeaway|fill|48"/>
          <p:cNvSpPr/>
          <p:nvPr/>
        </p:nvSpPr>
        <p:spPr>
          <a:xfrm>
            <a:off x="502920" y="5632704"/>
            <a:ext cx="64008" cy="566928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cpe|takeaway|text|49"/>
          <p:cNvSpPr txBox="1"/>
          <p:nvPr/>
        </p:nvSpPr>
        <p:spPr>
          <a:xfrm>
            <a:off x="795528" y="5632704"/>
            <a:ext cx="1066464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3294B"/>
                </a:solidFill>
                <a:latin typeface="Arial"/>
              </a:rPr>
              <a:t>Launch terms and procurement first for speed; network and automation carry the value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PROGRAMME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Network redesign and hub automation offer the best value for effort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Initiative assessment workshop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13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Initiative assessment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5" cy="3136393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0"/>
                <a:gridCol w="1615379"/>
                <a:gridCol w="1615379"/>
                <a:gridCol w="1615379"/>
                <a:gridCol w="1615379"/>
                <a:gridCol w="1615379"/>
              </a:tblGrid>
              <a:tr h="360045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Initiative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3294B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Feasibility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Risk (low = full)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Savings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</a:tr>
              <a:tr h="694087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Network redesign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694087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Hub automation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694087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Customer terms reset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694087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Transport procurement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4300698" y="2490168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4300698" y="2490168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5916077" y="2490168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marker|10"/>
          <p:cNvSpPr/>
          <p:nvPr/>
        </p:nvSpPr>
        <p:spPr>
          <a:xfrm>
            <a:off x="5916077" y="2490168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marker|11"/>
          <p:cNvSpPr/>
          <p:nvPr/>
        </p:nvSpPr>
        <p:spPr>
          <a:xfrm>
            <a:off x="7531456" y="2490168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cpe|exhibit|marker|12"/>
          <p:cNvSpPr/>
          <p:nvPr/>
        </p:nvSpPr>
        <p:spPr>
          <a:xfrm>
            <a:off x="7531456" y="2490168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cpe|exhibit|marker|13"/>
          <p:cNvSpPr/>
          <p:nvPr/>
        </p:nvSpPr>
        <p:spPr>
          <a:xfrm>
            <a:off x="9146835" y="2490168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marker|14"/>
          <p:cNvSpPr/>
          <p:nvPr/>
        </p:nvSpPr>
        <p:spPr>
          <a:xfrm>
            <a:off x="9146835" y="2490168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marker|15"/>
          <p:cNvSpPr/>
          <p:nvPr/>
        </p:nvSpPr>
        <p:spPr>
          <a:xfrm>
            <a:off x="4300698" y="3184255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marker|16"/>
          <p:cNvSpPr/>
          <p:nvPr/>
        </p:nvSpPr>
        <p:spPr>
          <a:xfrm>
            <a:off x="4300698" y="3184255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cpe|exhibit|marker|17"/>
          <p:cNvSpPr/>
          <p:nvPr/>
        </p:nvSpPr>
        <p:spPr>
          <a:xfrm>
            <a:off x="5916077" y="3184255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cpe|exhibit|marker|18"/>
          <p:cNvSpPr/>
          <p:nvPr/>
        </p:nvSpPr>
        <p:spPr>
          <a:xfrm>
            <a:off x="5916077" y="3184255"/>
            <a:ext cx="237744" cy="237744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marker|19"/>
          <p:cNvSpPr/>
          <p:nvPr/>
        </p:nvSpPr>
        <p:spPr>
          <a:xfrm>
            <a:off x="7531456" y="3184255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marker|20"/>
          <p:cNvSpPr/>
          <p:nvPr/>
        </p:nvSpPr>
        <p:spPr>
          <a:xfrm>
            <a:off x="7531456" y="3184255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marker|21"/>
          <p:cNvSpPr/>
          <p:nvPr/>
        </p:nvSpPr>
        <p:spPr>
          <a:xfrm>
            <a:off x="9146835" y="3184255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marker|22"/>
          <p:cNvSpPr/>
          <p:nvPr/>
        </p:nvSpPr>
        <p:spPr>
          <a:xfrm>
            <a:off x="9146835" y="3184255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marker|23"/>
          <p:cNvSpPr/>
          <p:nvPr/>
        </p:nvSpPr>
        <p:spPr>
          <a:xfrm>
            <a:off x="4300698" y="387834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cpe|exhibit|marker|24"/>
          <p:cNvSpPr/>
          <p:nvPr/>
        </p:nvSpPr>
        <p:spPr>
          <a:xfrm>
            <a:off x="4300698" y="3878342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marker|25"/>
          <p:cNvSpPr/>
          <p:nvPr/>
        </p:nvSpPr>
        <p:spPr>
          <a:xfrm>
            <a:off x="5916077" y="387834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marker|26"/>
          <p:cNvSpPr/>
          <p:nvPr/>
        </p:nvSpPr>
        <p:spPr>
          <a:xfrm>
            <a:off x="5916077" y="3878342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marker|27"/>
          <p:cNvSpPr/>
          <p:nvPr/>
        </p:nvSpPr>
        <p:spPr>
          <a:xfrm>
            <a:off x="7531456" y="387834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marker|28"/>
          <p:cNvSpPr/>
          <p:nvPr/>
        </p:nvSpPr>
        <p:spPr>
          <a:xfrm>
            <a:off x="7531456" y="3878342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cpe|exhibit|marker|29"/>
          <p:cNvSpPr/>
          <p:nvPr/>
        </p:nvSpPr>
        <p:spPr>
          <a:xfrm>
            <a:off x="9146835" y="387834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marker|30"/>
          <p:cNvSpPr/>
          <p:nvPr/>
        </p:nvSpPr>
        <p:spPr>
          <a:xfrm>
            <a:off x="9146835" y="3878342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cpe|exhibit|marker|31"/>
          <p:cNvSpPr/>
          <p:nvPr/>
        </p:nvSpPr>
        <p:spPr>
          <a:xfrm>
            <a:off x="4300698" y="4572429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marker|32"/>
          <p:cNvSpPr/>
          <p:nvPr/>
        </p:nvSpPr>
        <p:spPr>
          <a:xfrm>
            <a:off x="4300698" y="4572429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cpe|exhibit|marker|33"/>
          <p:cNvSpPr/>
          <p:nvPr/>
        </p:nvSpPr>
        <p:spPr>
          <a:xfrm>
            <a:off x="5916077" y="4572429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marker|34"/>
          <p:cNvSpPr/>
          <p:nvPr/>
        </p:nvSpPr>
        <p:spPr>
          <a:xfrm>
            <a:off x="5916077" y="4572429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marker|35"/>
          <p:cNvSpPr/>
          <p:nvPr/>
        </p:nvSpPr>
        <p:spPr>
          <a:xfrm>
            <a:off x="7531456" y="4572429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cpe|exhibit|marker|36"/>
          <p:cNvSpPr/>
          <p:nvPr/>
        </p:nvSpPr>
        <p:spPr>
          <a:xfrm>
            <a:off x="7531456" y="4572429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cpe|exhibit|marker|37"/>
          <p:cNvSpPr/>
          <p:nvPr/>
        </p:nvSpPr>
        <p:spPr>
          <a:xfrm>
            <a:off x="9146835" y="4572429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cpe|exhibit|marker|38"/>
          <p:cNvSpPr/>
          <p:nvPr/>
        </p:nvSpPr>
        <p:spPr>
          <a:xfrm>
            <a:off x="9146835" y="4572429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cpe|exhibit|marker|39"/>
          <p:cNvSpPr/>
          <p:nvPr/>
        </p:nvSpPr>
        <p:spPr>
          <a:xfrm>
            <a:off x="502920" y="5166360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cpe|exhibit|label|40"/>
          <p:cNvSpPr txBox="1"/>
          <p:nvPr/>
        </p:nvSpPr>
        <p:spPr>
          <a:xfrm>
            <a:off x="722376" y="512978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None</a:t>
            </a:r>
          </a:p>
        </p:txBody>
      </p:sp>
      <p:sp>
        <p:nvSpPr>
          <p:cNvPr id="42" name="cpe|exhibit|marker|41"/>
          <p:cNvSpPr/>
          <p:nvPr/>
        </p:nvSpPr>
        <p:spPr>
          <a:xfrm>
            <a:off x="1417320" y="5166360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cpe|exhibit|marker|42"/>
          <p:cNvSpPr/>
          <p:nvPr/>
        </p:nvSpPr>
        <p:spPr>
          <a:xfrm>
            <a:off x="1417320" y="5166360"/>
            <a:ext cx="164592" cy="164592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cpe|exhibit|label|43"/>
          <p:cNvSpPr txBox="1"/>
          <p:nvPr/>
        </p:nvSpPr>
        <p:spPr>
          <a:xfrm>
            <a:off x="1636776" y="512978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Partial</a:t>
            </a:r>
          </a:p>
        </p:txBody>
      </p:sp>
      <p:sp>
        <p:nvSpPr>
          <p:cNvPr id="45" name="cpe|exhibit|marker|44"/>
          <p:cNvSpPr/>
          <p:nvPr/>
        </p:nvSpPr>
        <p:spPr>
          <a:xfrm>
            <a:off x="2331720" y="5166360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cpe|exhibit|marker|45"/>
          <p:cNvSpPr/>
          <p:nvPr/>
        </p:nvSpPr>
        <p:spPr>
          <a:xfrm>
            <a:off x="2331720" y="5166360"/>
            <a:ext cx="164592" cy="164592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cpe|exhibit|label|46"/>
          <p:cNvSpPr txBox="1"/>
          <p:nvPr/>
        </p:nvSpPr>
        <p:spPr>
          <a:xfrm>
            <a:off x="2551176" y="512978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Full</a:t>
            </a:r>
          </a:p>
        </p:txBody>
      </p:sp>
      <p:sp>
        <p:nvSpPr>
          <p:cNvPr id="48" name="cpe|takeaway|fill|47"/>
          <p:cNvSpPr/>
          <p:nvPr/>
        </p:nvSpPr>
        <p:spPr>
          <a:xfrm>
            <a:off x="502920" y="5632704"/>
            <a:ext cx="11185855" cy="566928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cpe|takeaway|fill|48"/>
          <p:cNvSpPr/>
          <p:nvPr/>
        </p:nvSpPr>
        <p:spPr>
          <a:xfrm>
            <a:off x="502920" y="5632704"/>
            <a:ext cx="64008" cy="566928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cpe|takeaway|text|49"/>
          <p:cNvSpPr txBox="1"/>
          <p:nvPr/>
        </p:nvSpPr>
        <p:spPr>
          <a:xfrm>
            <a:off x="795528" y="5632704"/>
            <a:ext cx="1066464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3294B"/>
                </a:solidFill>
                <a:latin typeface="Arial"/>
              </a:rPr>
              <a:t>Launch terms and procurement first for speed; network and automation carry the value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PROGRAMME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Network redesign and hub automation offer the best value for effort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Initiative assessment workshop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13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Initiative assessment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5" cy="223456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0"/>
                <a:gridCol w="1615379"/>
                <a:gridCol w="1615379"/>
                <a:gridCol w="1615379"/>
                <a:gridCol w="1615379"/>
                <a:gridCol w="1615379"/>
              </a:tblGrid>
              <a:tr h="30060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Initiative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3294B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Feasibility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Risk (low = full)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Savings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Network redesign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Hub automation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Customer terms reset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Transport procurement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4300698" y="232543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4300698" y="2325434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5916077" y="232543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marker|10"/>
          <p:cNvSpPr/>
          <p:nvPr/>
        </p:nvSpPr>
        <p:spPr>
          <a:xfrm>
            <a:off x="5916077" y="2325434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marker|11"/>
          <p:cNvSpPr/>
          <p:nvPr/>
        </p:nvSpPr>
        <p:spPr>
          <a:xfrm>
            <a:off x="7531456" y="232543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cpe|exhibit|marker|12"/>
          <p:cNvSpPr/>
          <p:nvPr/>
        </p:nvSpPr>
        <p:spPr>
          <a:xfrm>
            <a:off x="7531456" y="2325434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cpe|exhibit|marker|13"/>
          <p:cNvSpPr/>
          <p:nvPr/>
        </p:nvSpPr>
        <p:spPr>
          <a:xfrm>
            <a:off x="9146835" y="232543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marker|14"/>
          <p:cNvSpPr/>
          <p:nvPr/>
        </p:nvSpPr>
        <p:spPr>
          <a:xfrm>
            <a:off x="9146835" y="2325434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marker|15"/>
          <p:cNvSpPr/>
          <p:nvPr/>
        </p:nvSpPr>
        <p:spPr>
          <a:xfrm>
            <a:off x="4300698" y="280892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marker|16"/>
          <p:cNvSpPr/>
          <p:nvPr/>
        </p:nvSpPr>
        <p:spPr>
          <a:xfrm>
            <a:off x="4300698" y="2808922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cpe|exhibit|marker|17"/>
          <p:cNvSpPr/>
          <p:nvPr/>
        </p:nvSpPr>
        <p:spPr>
          <a:xfrm>
            <a:off x="5916077" y="280892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cpe|exhibit|marker|18"/>
          <p:cNvSpPr/>
          <p:nvPr/>
        </p:nvSpPr>
        <p:spPr>
          <a:xfrm>
            <a:off x="5916077" y="2808922"/>
            <a:ext cx="237744" cy="237744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marker|19"/>
          <p:cNvSpPr/>
          <p:nvPr/>
        </p:nvSpPr>
        <p:spPr>
          <a:xfrm>
            <a:off x="7531456" y="280892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marker|20"/>
          <p:cNvSpPr/>
          <p:nvPr/>
        </p:nvSpPr>
        <p:spPr>
          <a:xfrm>
            <a:off x="7531456" y="2808922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marker|21"/>
          <p:cNvSpPr/>
          <p:nvPr/>
        </p:nvSpPr>
        <p:spPr>
          <a:xfrm>
            <a:off x="9146835" y="280892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marker|22"/>
          <p:cNvSpPr/>
          <p:nvPr/>
        </p:nvSpPr>
        <p:spPr>
          <a:xfrm>
            <a:off x="9146835" y="2808922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marker|23"/>
          <p:cNvSpPr/>
          <p:nvPr/>
        </p:nvSpPr>
        <p:spPr>
          <a:xfrm>
            <a:off x="4300698" y="329241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cpe|exhibit|marker|24"/>
          <p:cNvSpPr/>
          <p:nvPr/>
        </p:nvSpPr>
        <p:spPr>
          <a:xfrm>
            <a:off x="4300698" y="3292412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marker|25"/>
          <p:cNvSpPr/>
          <p:nvPr/>
        </p:nvSpPr>
        <p:spPr>
          <a:xfrm>
            <a:off x="5916077" y="329241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marker|26"/>
          <p:cNvSpPr/>
          <p:nvPr/>
        </p:nvSpPr>
        <p:spPr>
          <a:xfrm>
            <a:off x="5916077" y="3292412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marker|27"/>
          <p:cNvSpPr/>
          <p:nvPr/>
        </p:nvSpPr>
        <p:spPr>
          <a:xfrm>
            <a:off x="7531456" y="329241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marker|28"/>
          <p:cNvSpPr/>
          <p:nvPr/>
        </p:nvSpPr>
        <p:spPr>
          <a:xfrm>
            <a:off x="7531456" y="3292412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cpe|exhibit|marker|29"/>
          <p:cNvSpPr/>
          <p:nvPr/>
        </p:nvSpPr>
        <p:spPr>
          <a:xfrm>
            <a:off x="9146835" y="329241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marker|30"/>
          <p:cNvSpPr/>
          <p:nvPr/>
        </p:nvSpPr>
        <p:spPr>
          <a:xfrm>
            <a:off x="9146835" y="3292412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cpe|exhibit|marker|31"/>
          <p:cNvSpPr/>
          <p:nvPr/>
        </p:nvSpPr>
        <p:spPr>
          <a:xfrm>
            <a:off x="4300698" y="3775901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marker|32"/>
          <p:cNvSpPr/>
          <p:nvPr/>
        </p:nvSpPr>
        <p:spPr>
          <a:xfrm>
            <a:off x="4300698" y="3775901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cpe|exhibit|marker|33"/>
          <p:cNvSpPr/>
          <p:nvPr/>
        </p:nvSpPr>
        <p:spPr>
          <a:xfrm>
            <a:off x="5916077" y="3775901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marker|34"/>
          <p:cNvSpPr/>
          <p:nvPr/>
        </p:nvSpPr>
        <p:spPr>
          <a:xfrm>
            <a:off x="5916077" y="3775901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marker|35"/>
          <p:cNvSpPr/>
          <p:nvPr/>
        </p:nvSpPr>
        <p:spPr>
          <a:xfrm>
            <a:off x="7531456" y="3775901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cpe|exhibit|marker|36"/>
          <p:cNvSpPr/>
          <p:nvPr/>
        </p:nvSpPr>
        <p:spPr>
          <a:xfrm>
            <a:off x="7531456" y="3775901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cpe|exhibit|marker|37"/>
          <p:cNvSpPr/>
          <p:nvPr/>
        </p:nvSpPr>
        <p:spPr>
          <a:xfrm>
            <a:off x="9146835" y="3775901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cpe|exhibit|marker|38"/>
          <p:cNvSpPr/>
          <p:nvPr/>
        </p:nvSpPr>
        <p:spPr>
          <a:xfrm>
            <a:off x="9146835" y="3775901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cpe|exhibit|marker|39"/>
          <p:cNvSpPr/>
          <p:nvPr/>
        </p:nvSpPr>
        <p:spPr>
          <a:xfrm>
            <a:off x="502920" y="4264533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cpe|exhibit|label|40"/>
          <p:cNvSpPr txBox="1"/>
          <p:nvPr/>
        </p:nvSpPr>
        <p:spPr>
          <a:xfrm>
            <a:off x="722376" y="4227957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None</a:t>
            </a:r>
          </a:p>
        </p:txBody>
      </p:sp>
      <p:sp>
        <p:nvSpPr>
          <p:cNvPr id="42" name="cpe|exhibit|marker|41"/>
          <p:cNvSpPr/>
          <p:nvPr/>
        </p:nvSpPr>
        <p:spPr>
          <a:xfrm>
            <a:off x="1417320" y="4264533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cpe|exhibit|marker|42"/>
          <p:cNvSpPr/>
          <p:nvPr/>
        </p:nvSpPr>
        <p:spPr>
          <a:xfrm>
            <a:off x="1417320" y="4264533"/>
            <a:ext cx="164592" cy="164592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cpe|exhibit|label|43"/>
          <p:cNvSpPr txBox="1"/>
          <p:nvPr/>
        </p:nvSpPr>
        <p:spPr>
          <a:xfrm>
            <a:off x="1636776" y="4227957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Partial</a:t>
            </a:r>
          </a:p>
        </p:txBody>
      </p:sp>
      <p:sp>
        <p:nvSpPr>
          <p:cNvPr id="45" name="cpe|exhibit|marker|44"/>
          <p:cNvSpPr/>
          <p:nvPr/>
        </p:nvSpPr>
        <p:spPr>
          <a:xfrm>
            <a:off x="2331720" y="4264533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cpe|exhibit|marker|45"/>
          <p:cNvSpPr/>
          <p:nvPr/>
        </p:nvSpPr>
        <p:spPr>
          <a:xfrm>
            <a:off x="2331720" y="4264533"/>
            <a:ext cx="164592" cy="164592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cpe|exhibit|label|46"/>
          <p:cNvSpPr txBox="1"/>
          <p:nvPr/>
        </p:nvSpPr>
        <p:spPr>
          <a:xfrm>
            <a:off x="2551176" y="4227957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Full</a:t>
            </a:r>
          </a:p>
        </p:txBody>
      </p:sp>
      <p:sp>
        <p:nvSpPr>
          <p:cNvPr id="48" name="cpe|takeaway|fill|47"/>
          <p:cNvSpPr/>
          <p:nvPr/>
        </p:nvSpPr>
        <p:spPr>
          <a:xfrm>
            <a:off x="502920" y="5632704"/>
            <a:ext cx="11185855" cy="566928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cpe|takeaway|fill|48"/>
          <p:cNvSpPr/>
          <p:nvPr/>
        </p:nvSpPr>
        <p:spPr>
          <a:xfrm>
            <a:off x="502920" y="5632704"/>
            <a:ext cx="64008" cy="566928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cpe|takeaway|text|49"/>
          <p:cNvSpPr txBox="1"/>
          <p:nvPr/>
        </p:nvSpPr>
        <p:spPr>
          <a:xfrm>
            <a:off x="795528" y="5632704"/>
            <a:ext cx="1066464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3294B"/>
                </a:solidFill>
                <a:latin typeface="Arial"/>
              </a:rPr>
              <a:t>Launch terms and procurement first for speed; network and automation carry the value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PROGRAMME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Network redesign and hub automation offer the best value for effort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Initiative assessment workshop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13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Initiative assessment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5" cy="3136391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0"/>
                <a:gridCol w="1615379"/>
                <a:gridCol w="1615379"/>
                <a:gridCol w="1615379"/>
                <a:gridCol w="1615379"/>
                <a:gridCol w="1615379"/>
              </a:tblGrid>
              <a:tr h="330327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Initiative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3294B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Feasibility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Risk (low = full)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Savings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</a:tr>
              <a:tr h="70151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Network redesign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70151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Hub automation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70151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Customer terms reset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70151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Transport procurement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4300698" y="2464165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4300698" y="2464165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5916077" y="2464165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marker|10"/>
          <p:cNvSpPr/>
          <p:nvPr/>
        </p:nvSpPr>
        <p:spPr>
          <a:xfrm>
            <a:off x="5916077" y="2464165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marker|11"/>
          <p:cNvSpPr/>
          <p:nvPr/>
        </p:nvSpPr>
        <p:spPr>
          <a:xfrm>
            <a:off x="7531456" y="2464165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cpe|exhibit|marker|12"/>
          <p:cNvSpPr/>
          <p:nvPr/>
        </p:nvSpPr>
        <p:spPr>
          <a:xfrm>
            <a:off x="7531456" y="2464165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cpe|exhibit|marker|13"/>
          <p:cNvSpPr/>
          <p:nvPr/>
        </p:nvSpPr>
        <p:spPr>
          <a:xfrm>
            <a:off x="9146835" y="2464165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marker|14"/>
          <p:cNvSpPr/>
          <p:nvPr/>
        </p:nvSpPr>
        <p:spPr>
          <a:xfrm>
            <a:off x="9146835" y="2464165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marker|15"/>
          <p:cNvSpPr/>
          <p:nvPr/>
        </p:nvSpPr>
        <p:spPr>
          <a:xfrm>
            <a:off x="4300698" y="3165681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marker|16"/>
          <p:cNvSpPr/>
          <p:nvPr/>
        </p:nvSpPr>
        <p:spPr>
          <a:xfrm>
            <a:off x="4300698" y="3165681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cpe|exhibit|marker|17"/>
          <p:cNvSpPr/>
          <p:nvPr/>
        </p:nvSpPr>
        <p:spPr>
          <a:xfrm>
            <a:off x="5916077" y="3165681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cpe|exhibit|marker|18"/>
          <p:cNvSpPr/>
          <p:nvPr/>
        </p:nvSpPr>
        <p:spPr>
          <a:xfrm>
            <a:off x="5916077" y="3165681"/>
            <a:ext cx="237744" cy="237744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marker|19"/>
          <p:cNvSpPr/>
          <p:nvPr/>
        </p:nvSpPr>
        <p:spPr>
          <a:xfrm>
            <a:off x="7531456" y="3165681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marker|20"/>
          <p:cNvSpPr/>
          <p:nvPr/>
        </p:nvSpPr>
        <p:spPr>
          <a:xfrm>
            <a:off x="7531456" y="3165681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marker|21"/>
          <p:cNvSpPr/>
          <p:nvPr/>
        </p:nvSpPr>
        <p:spPr>
          <a:xfrm>
            <a:off x="9146835" y="3165681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marker|22"/>
          <p:cNvSpPr/>
          <p:nvPr/>
        </p:nvSpPr>
        <p:spPr>
          <a:xfrm>
            <a:off x="9146835" y="3165681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marker|23"/>
          <p:cNvSpPr/>
          <p:nvPr/>
        </p:nvSpPr>
        <p:spPr>
          <a:xfrm>
            <a:off x="4300698" y="3867198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cpe|exhibit|marker|24"/>
          <p:cNvSpPr/>
          <p:nvPr/>
        </p:nvSpPr>
        <p:spPr>
          <a:xfrm>
            <a:off x="4300698" y="3867198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marker|25"/>
          <p:cNvSpPr/>
          <p:nvPr/>
        </p:nvSpPr>
        <p:spPr>
          <a:xfrm>
            <a:off x="5916077" y="3867198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marker|26"/>
          <p:cNvSpPr/>
          <p:nvPr/>
        </p:nvSpPr>
        <p:spPr>
          <a:xfrm>
            <a:off x="5916077" y="3867198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marker|27"/>
          <p:cNvSpPr/>
          <p:nvPr/>
        </p:nvSpPr>
        <p:spPr>
          <a:xfrm>
            <a:off x="7531456" y="3867198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marker|28"/>
          <p:cNvSpPr/>
          <p:nvPr/>
        </p:nvSpPr>
        <p:spPr>
          <a:xfrm>
            <a:off x="7531456" y="3867198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cpe|exhibit|marker|29"/>
          <p:cNvSpPr/>
          <p:nvPr/>
        </p:nvSpPr>
        <p:spPr>
          <a:xfrm>
            <a:off x="9146835" y="3867198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marker|30"/>
          <p:cNvSpPr/>
          <p:nvPr/>
        </p:nvSpPr>
        <p:spPr>
          <a:xfrm>
            <a:off x="9146835" y="3867198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cpe|exhibit|marker|31"/>
          <p:cNvSpPr/>
          <p:nvPr/>
        </p:nvSpPr>
        <p:spPr>
          <a:xfrm>
            <a:off x="4300698" y="456871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marker|32"/>
          <p:cNvSpPr/>
          <p:nvPr/>
        </p:nvSpPr>
        <p:spPr>
          <a:xfrm>
            <a:off x="4300698" y="4568714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cpe|exhibit|marker|33"/>
          <p:cNvSpPr/>
          <p:nvPr/>
        </p:nvSpPr>
        <p:spPr>
          <a:xfrm>
            <a:off x="5916077" y="456871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marker|34"/>
          <p:cNvSpPr/>
          <p:nvPr/>
        </p:nvSpPr>
        <p:spPr>
          <a:xfrm>
            <a:off x="5916077" y="4568714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marker|35"/>
          <p:cNvSpPr/>
          <p:nvPr/>
        </p:nvSpPr>
        <p:spPr>
          <a:xfrm>
            <a:off x="7531456" y="456871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cpe|exhibit|marker|36"/>
          <p:cNvSpPr/>
          <p:nvPr/>
        </p:nvSpPr>
        <p:spPr>
          <a:xfrm>
            <a:off x="7531456" y="4568714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cpe|exhibit|marker|37"/>
          <p:cNvSpPr/>
          <p:nvPr/>
        </p:nvSpPr>
        <p:spPr>
          <a:xfrm>
            <a:off x="9146835" y="456871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cpe|exhibit|marker|38"/>
          <p:cNvSpPr/>
          <p:nvPr/>
        </p:nvSpPr>
        <p:spPr>
          <a:xfrm>
            <a:off x="9146835" y="4568714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cpe|exhibit|marker|39"/>
          <p:cNvSpPr/>
          <p:nvPr/>
        </p:nvSpPr>
        <p:spPr>
          <a:xfrm>
            <a:off x="502920" y="5166360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cpe|exhibit|label|40"/>
          <p:cNvSpPr txBox="1"/>
          <p:nvPr/>
        </p:nvSpPr>
        <p:spPr>
          <a:xfrm>
            <a:off x="722376" y="512978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None</a:t>
            </a:r>
          </a:p>
        </p:txBody>
      </p:sp>
      <p:sp>
        <p:nvSpPr>
          <p:cNvPr id="42" name="cpe|exhibit|marker|41"/>
          <p:cNvSpPr/>
          <p:nvPr/>
        </p:nvSpPr>
        <p:spPr>
          <a:xfrm>
            <a:off x="1417320" y="5166360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cpe|exhibit|marker|42"/>
          <p:cNvSpPr/>
          <p:nvPr/>
        </p:nvSpPr>
        <p:spPr>
          <a:xfrm>
            <a:off x="1417320" y="5166360"/>
            <a:ext cx="164592" cy="164592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cpe|exhibit|label|43"/>
          <p:cNvSpPr txBox="1"/>
          <p:nvPr/>
        </p:nvSpPr>
        <p:spPr>
          <a:xfrm>
            <a:off x="1636776" y="512978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Partial</a:t>
            </a:r>
          </a:p>
        </p:txBody>
      </p:sp>
      <p:sp>
        <p:nvSpPr>
          <p:cNvPr id="45" name="cpe|exhibit|marker|44"/>
          <p:cNvSpPr/>
          <p:nvPr/>
        </p:nvSpPr>
        <p:spPr>
          <a:xfrm>
            <a:off x="2331720" y="5166360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cpe|exhibit|marker|45"/>
          <p:cNvSpPr/>
          <p:nvPr/>
        </p:nvSpPr>
        <p:spPr>
          <a:xfrm>
            <a:off x="2331720" y="5166360"/>
            <a:ext cx="164592" cy="164592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cpe|exhibit|label|46"/>
          <p:cNvSpPr txBox="1"/>
          <p:nvPr/>
        </p:nvSpPr>
        <p:spPr>
          <a:xfrm>
            <a:off x="2551176" y="512978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Full</a:t>
            </a:r>
          </a:p>
        </p:txBody>
      </p:sp>
      <p:sp>
        <p:nvSpPr>
          <p:cNvPr id="48" name="cpe|takeaway|fill|47"/>
          <p:cNvSpPr/>
          <p:nvPr/>
        </p:nvSpPr>
        <p:spPr>
          <a:xfrm>
            <a:off x="502920" y="5632704"/>
            <a:ext cx="11185855" cy="566928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cpe|takeaway|fill|48"/>
          <p:cNvSpPr/>
          <p:nvPr/>
        </p:nvSpPr>
        <p:spPr>
          <a:xfrm>
            <a:off x="502920" y="5632704"/>
            <a:ext cx="64008" cy="566928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cpe|takeaway|text|49"/>
          <p:cNvSpPr txBox="1"/>
          <p:nvPr/>
        </p:nvSpPr>
        <p:spPr>
          <a:xfrm>
            <a:off x="795528" y="5632704"/>
            <a:ext cx="1066464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3294B"/>
                </a:solidFill>
                <a:latin typeface="Arial"/>
              </a:rPr>
              <a:t>Launch terms and procurement first for speed; network and automation carry the value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PROGRAMME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Network redesign and hub automation offer the best value for effort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Initiative assessment workshop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13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Initiative assessment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5" cy="3136393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0"/>
                <a:gridCol w="1615379"/>
                <a:gridCol w="1615379"/>
                <a:gridCol w="1615379"/>
                <a:gridCol w="1615379"/>
                <a:gridCol w="1615379"/>
              </a:tblGrid>
              <a:tr h="360045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Initiative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3294B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Feasibility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Risk (low = full)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Savings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</a:tr>
              <a:tr h="694087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Network redesign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694087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Hub automation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694087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Customer terms reset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694087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Transport procurement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4300698" y="2490168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4300698" y="2490168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5916077" y="2490168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marker|10"/>
          <p:cNvSpPr/>
          <p:nvPr/>
        </p:nvSpPr>
        <p:spPr>
          <a:xfrm>
            <a:off x="5916077" y="2490168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marker|11"/>
          <p:cNvSpPr/>
          <p:nvPr/>
        </p:nvSpPr>
        <p:spPr>
          <a:xfrm>
            <a:off x="7531456" y="2490168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cpe|exhibit|marker|12"/>
          <p:cNvSpPr/>
          <p:nvPr/>
        </p:nvSpPr>
        <p:spPr>
          <a:xfrm>
            <a:off x="7531456" y="2490168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cpe|exhibit|marker|13"/>
          <p:cNvSpPr/>
          <p:nvPr/>
        </p:nvSpPr>
        <p:spPr>
          <a:xfrm>
            <a:off x="9146835" y="2490168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marker|14"/>
          <p:cNvSpPr/>
          <p:nvPr/>
        </p:nvSpPr>
        <p:spPr>
          <a:xfrm>
            <a:off x="9146835" y="2490168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marker|15"/>
          <p:cNvSpPr/>
          <p:nvPr/>
        </p:nvSpPr>
        <p:spPr>
          <a:xfrm>
            <a:off x="4300698" y="3184255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marker|16"/>
          <p:cNvSpPr/>
          <p:nvPr/>
        </p:nvSpPr>
        <p:spPr>
          <a:xfrm>
            <a:off x="4300698" y="3184255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cpe|exhibit|marker|17"/>
          <p:cNvSpPr/>
          <p:nvPr/>
        </p:nvSpPr>
        <p:spPr>
          <a:xfrm>
            <a:off x="5916077" y="3184255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cpe|exhibit|marker|18"/>
          <p:cNvSpPr/>
          <p:nvPr/>
        </p:nvSpPr>
        <p:spPr>
          <a:xfrm>
            <a:off x="5916077" y="3184255"/>
            <a:ext cx="237744" cy="237744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marker|19"/>
          <p:cNvSpPr/>
          <p:nvPr/>
        </p:nvSpPr>
        <p:spPr>
          <a:xfrm>
            <a:off x="7531456" y="3184255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marker|20"/>
          <p:cNvSpPr/>
          <p:nvPr/>
        </p:nvSpPr>
        <p:spPr>
          <a:xfrm>
            <a:off x="7531456" y="3184255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marker|21"/>
          <p:cNvSpPr/>
          <p:nvPr/>
        </p:nvSpPr>
        <p:spPr>
          <a:xfrm>
            <a:off x="9146835" y="3184255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marker|22"/>
          <p:cNvSpPr/>
          <p:nvPr/>
        </p:nvSpPr>
        <p:spPr>
          <a:xfrm>
            <a:off x="9146835" y="3184255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marker|23"/>
          <p:cNvSpPr/>
          <p:nvPr/>
        </p:nvSpPr>
        <p:spPr>
          <a:xfrm>
            <a:off x="4300698" y="387834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cpe|exhibit|marker|24"/>
          <p:cNvSpPr/>
          <p:nvPr/>
        </p:nvSpPr>
        <p:spPr>
          <a:xfrm>
            <a:off x="4300698" y="3878342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marker|25"/>
          <p:cNvSpPr/>
          <p:nvPr/>
        </p:nvSpPr>
        <p:spPr>
          <a:xfrm>
            <a:off x="5916077" y="387834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marker|26"/>
          <p:cNvSpPr/>
          <p:nvPr/>
        </p:nvSpPr>
        <p:spPr>
          <a:xfrm>
            <a:off x="5916077" y="3878342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marker|27"/>
          <p:cNvSpPr/>
          <p:nvPr/>
        </p:nvSpPr>
        <p:spPr>
          <a:xfrm>
            <a:off x="7531456" y="387834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marker|28"/>
          <p:cNvSpPr/>
          <p:nvPr/>
        </p:nvSpPr>
        <p:spPr>
          <a:xfrm>
            <a:off x="7531456" y="3878342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cpe|exhibit|marker|29"/>
          <p:cNvSpPr/>
          <p:nvPr/>
        </p:nvSpPr>
        <p:spPr>
          <a:xfrm>
            <a:off x="9146835" y="387834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marker|30"/>
          <p:cNvSpPr/>
          <p:nvPr/>
        </p:nvSpPr>
        <p:spPr>
          <a:xfrm>
            <a:off x="9146835" y="3878342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cpe|exhibit|marker|31"/>
          <p:cNvSpPr/>
          <p:nvPr/>
        </p:nvSpPr>
        <p:spPr>
          <a:xfrm>
            <a:off x="4300698" y="4572429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marker|32"/>
          <p:cNvSpPr/>
          <p:nvPr/>
        </p:nvSpPr>
        <p:spPr>
          <a:xfrm>
            <a:off x="4300698" y="4572429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cpe|exhibit|marker|33"/>
          <p:cNvSpPr/>
          <p:nvPr/>
        </p:nvSpPr>
        <p:spPr>
          <a:xfrm>
            <a:off x="5916077" y="4572429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marker|34"/>
          <p:cNvSpPr/>
          <p:nvPr/>
        </p:nvSpPr>
        <p:spPr>
          <a:xfrm>
            <a:off x="5916077" y="4572429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marker|35"/>
          <p:cNvSpPr/>
          <p:nvPr/>
        </p:nvSpPr>
        <p:spPr>
          <a:xfrm>
            <a:off x="7531456" y="4572429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cpe|exhibit|marker|36"/>
          <p:cNvSpPr/>
          <p:nvPr/>
        </p:nvSpPr>
        <p:spPr>
          <a:xfrm>
            <a:off x="7531456" y="4572429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cpe|exhibit|marker|37"/>
          <p:cNvSpPr/>
          <p:nvPr/>
        </p:nvSpPr>
        <p:spPr>
          <a:xfrm>
            <a:off x="9146835" y="4572429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cpe|exhibit|marker|38"/>
          <p:cNvSpPr/>
          <p:nvPr/>
        </p:nvSpPr>
        <p:spPr>
          <a:xfrm>
            <a:off x="9146835" y="4572429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cpe|exhibit|marker|39"/>
          <p:cNvSpPr/>
          <p:nvPr/>
        </p:nvSpPr>
        <p:spPr>
          <a:xfrm>
            <a:off x="502920" y="5166360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cpe|exhibit|label|40"/>
          <p:cNvSpPr txBox="1"/>
          <p:nvPr/>
        </p:nvSpPr>
        <p:spPr>
          <a:xfrm>
            <a:off x="722376" y="512978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None</a:t>
            </a:r>
          </a:p>
        </p:txBody>
      </p:sp>
      <p:sp>
        <p:nvSpPr>
          <p:cNvPr id="42" name="cpe|exhibit|marker|41"/>
          <p:cNvSpPr/>
          <p:nvPr/>
        </p:nvSpPr>
        <p:spPr>
          <a:xfrm>
            <a:off x="1417320" y="5166360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cpe|exhibit|marker|42"/>
          <p:cNvSpPr/>
          <p:nvPr/>
        </p:nvSpPr>
        <p:spPr>
          <a:xfrm>
            <a:off x="1417320" y="5166360"/>
            <a:ext cx="164592" cy="164592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cpe|exhibit|label|43"/>
          <p:cNvSpPr txBox="1"/>
          <p:nvPr/>
        </p:nvSpPr>
        <p:spPr>
          <a:xfrm>
            <a:off x="1636776" y="512978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Partial</a:t>
            </a:r>
          </a:p>
        </p:txBody>
      </p:sp>
      <p:sp>
        <p:nvSpPr>
          <p:cNvPr id="45" name="cpe|exhibit|marker|44"/>
          <p:cNvSpPr/>
          <p:nvPr/>
        </p:nvSpPr>
        <p:spPr>
          <a:xfrm>
            <a:off x="2331720" y="5166360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cpe|exhibit|marker|45"/>
          <p:cNvSpPr/>
          <p:nvPr/>
        </p:nvSpPr>
        <p:spPr>
          <a:xfrm>
            <a:off x="2331720" y="5166360"/>
            <a:ext cx="164592" cy="164592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cpe|exhibit|label|46"/>
          <p:cNvSpPr txBox="1"/>
          <p:nvPr/>
        </p:nvSpPr>
        <p:spPr>
          <a:xfrm>
            <a:off x="2551176" y="512978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Full</a:t>
            </a:r>
          </a:p>
        </p:txBody>
      </p:sp>
      <p:sp>
        <p:nvSpPr>
          <p:cNvPr id="48" name="cpe|takeaway|fill|47"/>
          <p:cNvSpPr/>
          <p:nvPr/>
        </p:nvSpPr>
        <p:spPr>
          <a:xfrm>
            <a:off x="502920" y="5632704"/>
            <a:ext cx="11185855" cy="566928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cpe|takeaway|fill|48"/>
          <p:cNvSpPr/>
          <p:nvPr/>
        </p:nvSpPr>
        <p:spPr>
          <a:xfrm>
            <a:off x="502920" y="5632704"/>
            <a:ext cx="64008" cy="566928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cpe|takeaway|text|49"/>
          <p:cNvSpPr txBox="1"/>
          <p:nvPr/>
        </p:nvSpPr>
        <p:spPr>
          <a:xfrm>
            <a:off x="795528" y="5632704"/>
            <a:ext cx="1066464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3294B"/>
                </a:solidFill>
                <a:latin typeface="Arial"/>
              </a:rPr>
              <a:t>Launch terms and procurement first for speed; network and automation carry the value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PROGRAMME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638252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The new order-to-delivery process removes two hand-offs and the manual picking step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Process design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14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502920" y="1481328"/>
            <a:ext cx="2076237" cy="65836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640080" y="1481328"/>
            <a:ext cx="1801917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1  Order capture</a:t>
            </a:r>
          </a:p>
        </p:txBody>
      </p:sp>
      <p:cxnSp>
        <p:nvCxnSpPr>
          <p:cNvPr id="8" name="cpe|exhibit|connector|7"/>
          <p:cNvCxnSpPr/>
          <p:nvPr/>
        </p:nvCxnSpPr>
        <p:spPr>
          <a:xfrm>
            <a:off x="2597445" y="1810512"/>
            <a:ext cx="164592" cy="0"/>
          </a:xfrm>
          <a:prstGeom prst="line">
            <a:avLst/>
          </a:prstGeom>
          <a:ln w="19050">
            <a:solidFill>
              <a:srgbClr val="8A95A1"/>
            </a:solidFill>
            <a:tailEnd type="triangle" w="med" len="med"/>
          </a:ln>
        </p:spPr>
      </p:cxnSp>
      <p:sp>
        <p:nvSpPr>
          <p:cNvPr id="9" name="cpe|exhibit|text|8"/>
          <p:cNvSpPr txBox="1"/>
          <p:nvPr/>
        </p:nvSpPr>
        <p:spPr>
          <a:xfrm>
            <a:off x="502920" y="2368296"/>
            <a:ext cx="207623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Sales ops · &lt;1h</a:t>
            </a:r>
          </a:p>
        </p:txBody>
      </p:sp>
      <p:sp>
        <p:nvSpPr>
          <p:cNvPr id="10" name="cpe|exhibit|text|9"/>
          <p:cNvSpPr txBox="1"/>
          <p:nvPr/>
        </p:nvSpPr>
        <p:spPr>
          <a:xfrm>
            <a:off x="502920" y="2679192"/>
            <a:ext cx="2076237" cy="3520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5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1C2530"/>
                </a:solidFill>
                <a:latin typeface="Arial"/>
              </a:rPr>
              <a:t>EDI for top 200 customers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1C2530"/>
                </a:solidFill>
                <a:latin typeface="Arial"/>
              </a:rPr>
              <a:t>Minimum order value</a:t>
            </a:r>
          </a:p>
        </p:txBody>
      </p:sp>
      <p:sp>
        <p:nvSpPr>
          <p:cNvPr id="11" name="cpe|exhibit|fill|10"/>
          <p:cNvSpPr/>
          <p:nvPr/>
        </p:nvSpPr>
        <p:spPr>
          <a:xfrm>
            <a:off x="2780325" y="1481328"/>
            <a:ext cx="2076237" cy="65836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text|11"/>
          <p:cNvSpPr txBox="1"/>
          <p:nvPr/>
        </p:nvSpPr>
        <p:spPr>
          <a:xfrm>
            <a:off x="2917485" y="1481328"/>
            <a:ext cx="1801917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2  Allocation</a:t>
            </a:r>
          </a:p>
        </p:txBody>
      </p:sp>
      <p:cxnSp>
        <p:nvCxnSpPr>
          <p:cNvPr id="13" name="cpe|exhibit|connector|12"/>
          <p:cNvCxnSpPr/>
          <p:nvPr/>
        </p:nvCxnSpPr>
        <p:spPr>
          <a:xfrm>
            <a:off x="4874849" y="1810512"/>
            <a:ext cx="164592" cy="0"/>
          </a:xfrm>
          <a:prstGeom prst="line">
            <a:avLst/>
          </a:prstGeom>
          <a:ln w="19050">
            <a:solidFill>
              <a:srgbClr val="8A95A1"/>
            </a:solidFill>
            <a:tailEnd type="triangle" w="med" len="med"/>
          </a:ln>
        </p:spPr>
      </p:cxnSp>
      <p:sp>
        <p:nvSpPr>
          <p:cNvPr id="14" name="cpe|exhibit|text|13"/>
          <p:cNvSpPr txBox="1"/>
          <p:nvPr/>
        </p:nvSpPr>
        <p:spPr>
          <a:xfrm>
            <a:off x="2780325" y="2368296"/>
            <a:ext cx="207623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Planning · 2h</a:t>
            </a:r>
          </a:p>
        </p:txBody>
      </p:sp>
      <p:sp>
        <p:nvSpPr>
          <p:cNvPr id="15" name="cpe|exhibit|text|14"/>
          <p:cNvSpPr txBox="1"/>
          <p:nvPr/>
        </p:nvSpPr>
        <p:spPr>
          <a:xfrm>
            <a:off x="2780325" y="2679192"/>
            <a:ext cx="2076237" cy="3520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5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1C2530"/>
                </a:solidFill>
                <a:latin typeface="Arial"/>
              </a:rPr>
              <a:t>Automated slotting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1C2530"/>
                </a:solidFill>
                <a:latin typeface="Arial"/>
              </a:rPr>
              <a:t>Daily wave plan</a:t>
            </a:r>
          </a:p>
        </p:txBody>
      </p:sp>
      <p:sp>
        <p:nvSpPr>
          <p:cNvPr id="16" name="cpe|exhibit|fill|15"/>
          <p:cNvSpPr/>
          <p:nvPr/>
        </p:nvSpPr>
        <p:spPr>
          <a:xfrm>
            <a:off x="5057729" y="1481328"/>
            <a:ext cx="2076237" cy="658368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text|16"/>
          <p:cNvSpPr txBox="1"/>
          <p:nvPr/>
        </p:nvSpPr>
        <p:spPr>
          <a:xfrm>
            <a:off x="5194889" y="1481328"/>
            <a:ext cx="1801917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3  Automated picking</a:t>
            </a:r>
          </a:p>
        </p:txBody>
      </p:sp>
      <p:cxnSp>
        <p:nvCxnSpPr>
          <p:cNvPr id="18" name="cpe|exhibit|connector|17"/>
          <p:cNvCxnSpPr/>
          <p:nvPr/>
        </p:nvCxnSpPr>
        <p:spPr>
          <a:xfrm>
            <a:off x="7152254" y="1810512"/>
            <a:ext cx="164592" cy="0"/>
          </a:xfrm>
          <a:prstGeom prst="line">
            <a:avLst/>
          </a:prstGeom>
          <a:ln w="19050">
            <a:solidFill>
              <a:srgbClr val="8A95A1"/>
            </a:solidFill>
            <a:tailEnd type="triangle" w="med" len="med"/>
          </a:ln>
        </p:spPr>
      </p:cxnSp>
      <p:sp>
        <p:nvSpPr>
          <p:cNvPr id="19" name="cpe|exhibit|text|18"/>
          <p:cNvSpPr txBox="1"/>
          <p:nvPr/>
        </p:nvSpPr>
        <p:spPr>
          <a:xfrm>
            <a:off x="5057729" y="2368296"/>
            <a:ext cx="207623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Hub ops · 4h</a:t>
            </a:r>
          </a:p>
        </p:txBody>
      </p:sp>
      <p:sp>
        <p:nvSpPr>
          <p:cNvPr id="20" name="cpe|exhibit|text|19"/>
          <p:cNvSpPr txBox="1"/>
          <p:nvPr/>
        </p:nvSpPr>
        <p:spPr>
          <a:xfrm>
            <a:off x="5057729" y="2679192"/>
            <a:ext cx="2076237" cy="3520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5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1C2530"/>
                </a:solidFill>
                <a:latin typeface="Arial"/>
              </a:rPr>
              <a:t>Goods-to-person in 2 hubs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1C2530"/>
                </a:solidFill>
                <a:latin typeface="Arial"/>
              </a:rPr>
              <a:t>Error rate &lt; 0.3%</a:t>
            </a:r>
          </a:p>
        </p:txBody>
      </p:sp>
      <p:sp>
        <p:nvSpPr>
          <p:cNvPr id="21" name="cpe|exhibit|fill|20"/>
          <p:cNvSpPr/>
          <p:nvPr/>
        </p:nvSpPr>
        <p:spPr>
          <a:xfrm>
            <a:off x="7335134" y="1481328"/>
            <a:ext cx="2076237" cy="65836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text|21"/>
          <p:cNvSpPr txBox="1"/>
          <p:nvPr/>
        </p:nvSpPr>
        <p:spPr>
          <a:xfrm>
            <a:off x="7472294" y="1481328"/>
            <a:ext cx="1801917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4  Dispatch</a:t>
            </a:r>
          </a:p>
        </p:txBody>
      </p:sp>
      <p:cxnSp>
        <p:nvCxnSpPr>
          <p:cNvPr id="23" name="cpe|exhibit|connector|22"/>
          <p:cNvCxnSpPr/>
          <p:nvPr/>
        </p:nvCxnSpPr>
        <p:spPr>
          <a:xfrm>
            <a:off x="9429659" y="1810512"/>
            <a:ext cx="164592" cy="0"/>
          </a:xfrm>
          <a:prstGeom prst="line">
            <a:avLst/>
          </a:prstGeom>
          <a:ln w="19050">
            <a:solidFill>
              <a:srgbClr val="8A95A1"/>
            </a:solidFill>
            <a:tailEnd type="triangle" w="med" len="med"/>
          </a:ln>
        </p:spPr>
      </p:cxnSp>
      <p:sp>
        <p:nvSpPr>
          <p:cNvPr id="24" name="cpe|exhibit|text|23"/>
          <p:cNvSpPr txBox="1"/>
          <p:nvPr/>
        </p:nvSpPr>
        <p:spPr>
          <a:xfrm>
            <a:off x="7335134" y="2368296"/>
            <a:ext cx="207623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Transport · 1h</a:t>
            </a:r>
          </a:p>
        </p:txBody>
      </p:sp>
      <p:sp>
        <p:nvSpPr>
          <p:cNvPr id="25" name="cpe|exhibit|text|24"/>
          <p:cNvSpPr txBox="1"/>
          <p:nvPr/>
        </p:nvSpPr>
        <p:spPr>
          <a:xfrm>
            <a:off x="7335134" y="2679192"/>
            <a:ext cx="2076237" cy="3520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5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1C2530"/>
                </a:solidFill>
                <a:latin typeface="Arial"/>
              </a:rPr>
              <a:t>Dynamic routing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1C2530"/>
                </a:solidFill>
                <a:latin typeface="Arial"/>
              </a:rPr>
              <a:t>Fill ≥ 85%</a:t>
            </a:r>
          </a:p>
        </p:txBody>
      </p:sp>
      <p:sp>
        <p:nvSpPr>
          <p:cNvPr id="26" name="cpe|exhibit|fill|25"/>
          <p:cNvSpPr/>
          <p:nvPr/>
        </p:nvSpPr>
        <p:spPr>
          <a:xfrm>
            <a:off x="9612539" y="1481328"/>
            <a:ext cx="2076237" cy="65836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text|26"/>
          <p:cNvSpPr txBox="1"/>
          <p:nvPr/>
        </p:nvSpPr>
        <p:spPr>
          <a:xfrm>
            <a:off x="9749699" y="1481328"/>
            <a:ext cx="1801917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5  Delivery</a:t>
            </a:r>
          </a:p>
        </p:txBody>
      </p:sp>
      <p:sp>
        <p:nvSpPr>
          <p:cNvPr id="28" name="cpe|exhibit|text|27"/>
          <p:cNvSpPr txBox="1"/>
          <p:nvPr/>
        </p:nvSpPr>
        <p:spPr>
          <a:xfrm>
            <a:off x="9612539" y="2368296"/>
            <a:ext cx="207623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Carriers · 24h</a:t>
            </a:r>
          </a:p>
        </p:txBody>
      </p:sp>
      <p:sp>
        <p:nvSpPr>
          <p:cNvPr id="29" name="cpe|exhibit|text|28"/>
          <p:cNvSpPr txBox="1"/>
          <p:nvPr/>
        </p:nvSpPr>
        <p:spPr>
          <a:xfrm>
            <a:off x="9612539" y="2679192"/>
            <a:ext cx="2076237" cy="3520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5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1C2530"/>
                </a:solidFill>
                <a:latin typeface="Arial"/>
              </a:rPr>
              <a:t>Proof of delivery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1C2530"/>
                </a:solidFill>
                <a:latin typeface="Arial"/>
              </a:rPr>
              <a:t>Returns in 48h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PROGRAMME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638252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The new order-to-delivery process removes two hand-offs and the manual picking step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Process design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14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502920" y="1481328"/>
            <a:ext cx="2076237" cy="65836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640080" y="1481328"/>
            <a:ext cx="1801917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1  Order capture</a:t>
            </a:r>
          </a:p>
        </p:txBody>
      </p:sp>
      <p:cxnSp>
        <p:nvCxnSpPr>
          <p:cNvPr id="8" name="cpe|exhibit|connector|7"/>
          <p:cNvCxnSpPr/>
          <p:nvPr/>
        </p:nvCxnSpPr>
        <p:spPr>
          <a:xfrm>
            <a:off x="2597445" y="1810512"/>
            <a:ext cx="164592" cy="0"/>
          </a:xfrm>
          <a:prstGeom prst="line">
            <a:avLst/>
          </a:prstGeom>
          <a:ln w="19050">
            <a:solidFill>
              <a:srgbClr val="8A95A1"/>
            </a:solidFill>
            <a:tailEnd type="triangle" w="med" len="med"/>
          </a:ln>
        </p:spPr>
      </p:cxnSp>
      <p:sp>
        <p:nvSpPr>
          <p:cNvPr id="9" name="cpe|exhibit|text|8"/>
          <p:cNvSpPr txBox="1"/>
          <p:nvPr/>
        </p:nvSpPr>
        <p:spPr>
          <a:xfrm>
            <a:off x="502920" y="2368296"/>
            <a:ext cx="207623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Sales ops · &lt;1h</a:t>
            </a:r>
          </a:p>
        </p:txBody>
      </p:sp>
      <p:sp>
        <p:nvSpPr>
          <p:cNvPr id="10" name="cpe|exhibit|text|9"/>
          <p:cNvSpPr txBox="1"/>
          <p:nvPr/>
        </p:nvSpPr>
        <p:spPr>
          <a:xfrm>
            <a:off x="502920" y="2679192"/>
            <a:ext cx="2076237" cy="3520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5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1C2530"/>
                </a:solidFill>
                <a:latin typeface="Arial"/>
              </a:rPr>
              <a:t>EDI for top 200 customers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1C2530"/>
                </a:solidFill>
                <a:latin typeface="Arial"/>
              </a:rPr>
              <a:t>Minimum order value</a:t>
            </a:r>
          </a:p>
        </p:txBody>
      </p:sp>
      <p:sp>
        <p:nvSpPr>
          <p:cNvPr id="11" name="cpe|exhibit|fill|10"/>
          <p:cNvSpPr/>
          <p:nvPr/>
        </p:nvSpPr>
        <p:spPr>
          <a:xfrm>
            <a:off x="2780325" y="1481328"/>
            <a:ext cx="2076237" cy="65836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text|11"/>
          <p:cNvSpPr txBox="1"/>
          <p:nvPr/>
        </p:nvSpPr>
        <p:spPr>
          <a:xfrm>
            <a:off x="2917485" y="1481328"/>
            <a:ext cx="1801917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2  Allocation</a:t>
            </a:r>
          </a:p>
        </p:txBody>
      </p:sp>
      <p:cxnSp>
        <p:nvCxnSpPr>
          <p:cNvPr id="13" name="cpe|exhibit|connector|12"/>
          <p:cNvCxnSpPr/>
          <p:nvPr/>
        </p:nvCxnSpPr>
        <p:spPr>
          <a:xfrm>
            <a:off x="4874849" y="1810512"/>
            <a:ext cx="164592" cy="0"/>
          </a:xfrm>
          <a:prstGeom prst="line">
            <a:avLst/>
          </a:prstGeom>
          <a:ln w="19050">
            <a:solidFill>
              <a:srgbClr val="8A95A1"/>
            </a:solidFill>
            <a:tailEnd type="triangle" w="med" len="med"/>
          </a:ln>
        </p:spPr>
      </p:cxnSp>
      <p:sp>
        <p:nvSpPr>
          <p:cNvPr id="14" name="cpe|exhibit|text|13"/>
          <p:cNvSpPr txBox="1"/>
          <p:nvPr/>
        </p:nvSpPr>
        <p:spPr>
          <a:xfrm>
            <a:off x="2780325" y="2368296"/>
            <a:ext cx="207623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Planning · 2h</a:t>
            </a:r>
          </a:p>
        </p:txBody>
      </p:sp>
      <p:sp>
        <p:nvSpPr>
          <p:cNvPr id="15" name="cpe|exhibit|text|14"/>
          <p:cNvSpPr txBox="1"/>
          <p:nvPr/>
        </p:nvSpPr>
        <p:spPr>
          <a:xfrm>
            <a:off x="2780325" y="2679192"/>
            <a:ext cx="2076237" cy="3520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5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1C2530"/>
                </a:solidFill>
                <a:latin typeface="Arial"/>
              </a:rPr>
              <a:t>Automated slotting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1C2530"/>
                </a:solidFill>
                <a:latin typeface="Arial"/>
              </a:rPr>
              <a:t>Daily wave plan</a:t>
            </a:r>
          </a:p>
        </p:txBody>
      </p:sp>
      <p:sp>
        <p:nvSpPr>
          <p:cNvPr id="16" name="cpe|exhibit|fill|15"/>
          <p:cNvSpPr/>
          <p:nvPr/>
        </p:nvSpPr>
        <p:spPr>
          <a:xfrm>
            <a:off x="5057729" y="1481328"/>
            <a:ext cx="2076237" cy="658368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text|16"/>
          <p:cNvSpPr txBox="1"/>
          <p:nvPr/>
        </p:nvSpPr>
        <p:spPr>
          <a:xfrm>
            <a:off x="5194889" y="1481328"/>
            <a:ext cx="1801917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3  Automated picking</a:t>
            </a:r>
          </a:p>
        </p:txBody>
      </p:sp>
      <p:cxnSp>
        <p:nvCxnSpPr>
          <p:cNvPr id="18" name="cpe|exhibit|connector|17"/>
          <p:cNvCxnSpPr/>
          <p:nvPr/>
        </p:nvCxnSpPr>
        <p:spPr>
          <a:xfrm>
            <a:off x="7152254" y="1810512"/>
            <a:ext cx="164592" cy="0"/>
          </a:xfrm>
          <a:prstGeom prst="line">
            <a:avLst/>
          </a:prstGeom>
          <a:ln w="19050">
            <a:solidFill>
              <a:srgbClr val="8A95A1"/>
            </a:solidFill>
            <a:tailEnd type="triangle" w="med" len="med"/>
          </a:ln>
        </p:spPr>
      </p:cxnSp>
      <p:sp>
        <p:nvSpPr>
          <p:cNvPr id="19" name="cpe|exhibit|text|18"/>
          <p:cNvSpPr txBox="1"/>
          <p:nvPr/>
        </p:nvSpPr>
        <p:spPr>
          <a:xfrm>
            <a:off x="5057729" y="2368296"/>
            <a:ext cx="207623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Hub ops · 4h</a:t>
            </a:r>
          </a:p>
        </p:txBody>
      </p:sp>
      <p:sp>
        <p:nvSpPr>
          <p:cNvPr id="20" name="cpe|exhibit|text|19"/>
          <p:cNvSpPr txBox="1"/>
          <p:nvPr/>
        </p:nvSpPr>
        <p:spPr>
          <a:xfrm>
            <a:off x="5057729" y="2679192"/>
            <a:ext cx="2076237" cy="3520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5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1C2530"/>
                </a:solidFill>
                <a:latin typeface="Arial"/>
              </a:rPr>
              <a:t>Goods-to-person in 2 hubs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1C2530"/>
                </a:solidFill>
                <a:latin typeface="Arial"/>
              </a:rPr>
              <a:t>Error rate &lt; 0.3%</a:t>
            </a:r>
          </a:p>
        </p:txBody>
      </p:sp>
      <p:sp>
        <p:nvSpPr>
          <p:cNvPr id="21" name="cpe|exhibit|fill|20"/>
          <p:cNvSpPr/>
          <p:nvPr/>
        </p:nvSpPr>
        <p:spPr>
          <a:xfrm>
            <a:off x="7335134" y="1481328"/>
            <a:ext cx="2076237" cy="65836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text|21"/>
          <p:cNvSpPr txBox="1"/>
          <p:nvPr/>
        </p:nvSpPr>
        <p:spPr>
          <a:xfrm>
            <a:off x="7472294" y="1481328"/>
            <a:ext cx="1801917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4  Dispatch</a:t>
            </a:r>
          </a:p>
        </p:txBody>
      </p:sp>
      <p:cxnSp>
        <p:nvCxnSpPr>
          <p:cNvPr id="23" name="cpe|exhibit|connector|22"/>
          <p:cNvCxnSpPr/>
          <p:nvPr/>
        </p:nvCxnSpPr>
        <p:spPr>
          <a:xfrm>
            <a:off x="9429659" y="1810512"/>
            <a:ext cx="164592" cy="0"/>
          </a:xfrm>
          <a:prstGeom prst="line">
            <a:avLst/>
          </a:prstGeom>
          <a:ln w="19050">
            <a:solidFill>
              <a:srgbClr val="8A95A1"/>
            </a:solidFill>
            <a:tailEnd type="triangle" w="med" len="med"/>
          </a:ln>
        </p:spPr>
      </p:cxnSp>
      <p:sp>
        <p:nvSpPr>
          <p:cNvPr id="24" name="cpe|exhibit|text|23"/>
          <p:cNvSpPr txBox="1"/>
          <p:nvPr/>
        </p:nvSpPr>
        <p:spPr>
          <a:xfrm>
            <a:off x="7335134" y="2368296"/>
            <a:ext cx="207623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Transport · 1h</a:t>
            </a:r>
          </a:p>
        </p:txBody>
      </p:sp>
      <p:sp>
        <p:nvSpPr>
          <p:cNvPr id="25" name="cpe|exhibit|text|24"/>
          <p:cNvSpPr txBox="1"/>
          <p:nvPr/>
        </p:nvSpPr>
        <p:spPr>
          <a:xfrm>
            <a:off x="7335134" y="2679192"/>
            <a:ext cx="2076237" cy="3520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5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1C2530"/>
                </a:solidFill>
                <a:latin typeface="Arial"/>
              </a:rPr>
              <a:t>Dynamic routing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1C2530"/>
                </a:solidFill>
                <a:latin typeface="Arial"/>
              </a:rPr>
              <a:t>Fill ≥ 85%</a:t>
            </a:r>
          </a:p>
        </p:txBody>
      </p:sp>
      <p:sp>
        <p:nvSpPr>
          <p:cNvPr id="26" name="cpe|exhibit|fill|25"/>
          <p:cNvSpPr/>
          <p:nvPr/>
        </p:nvSpPr>
        <p:spPr>
          <a:xfrm>
            <a:off x="9612539" y="1481328"/>
            <a:ext cx="2076237" cy="65836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text|26"/>
          <p:cNvSpPr txBox="1"/>
          <p:nvPr/>
        </p:nvSpPr>
        <p:spPr>
          <a:xfrm>
            <a:off x="9749699" y="1481328"/>
            <a:ext cx="1801917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5  Delivery</a:t>
            </a:r>
          </a:p>
        </p:txBody>
      </p:sp>
      <p:sp>
        <p:nvSpPr>
          <p:cNvPr id="28" name="cpe|exhibit|text|27"/>
          <p:cNvSpPr txBox="1"/>
          <p:nvPr/>
        </p:nvSpPr>
        <p:spPr>
          <a:xfrm>
            <a:off x="9612539" y="2368296"/>
            <a:ext cx="207623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Carriers · 24h</a:t>
            </a:r>
          </a:p>
        </p:txBody>
      </p:sp>
      <p:sp>
        <p:nvSpPr>
          <p:cNvPr id="29" name="cpe|exhibit|text|28"/>
          <p:cNvSpPr txBox="1"/>
          <p:nvPr/>
        </p:nvSpPr>
        <p:spPr>
          <a:xfrm>
            <a:off x="9612539" y="2679192"/>
            <a:ext cx="2076237" cy="3520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5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1C2530"/>
                </a:solidFill>
                <a:latin typeface="Arial"/>
              </a:rPr>
              <a:t>Proof of delivery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1C2530"/>
                </a:solidFill>
                <a:latin typeface="Arial"/>
              </a:rPr>
              <a:t>Returns in 48h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PROGRAMME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Customers lose most time at order confirmation and delivery booking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Customer interviews, n=40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15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2331720" y="1481328"/>
            <a:ext cx="1922617" cy="457200"/>
          </a:xfrm>
          <a:prstGeom prst="homePlate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2560320" y="1481328"/>
            <a:ext cx="1465417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Order</a:t>
            </a:r>
          </a:p>
        </p:txBody>
      </p:sp>
      <p:sp>
        <p:nvSpPr>
          <p:cNvPr id="8" name="cpe|exhibit|fill|7"/>
          <p:cNvSpPr/>
          <p:nvPr/>
        </p:nvSpPr>
        <p:spPr>
          <a:xfrm>
            <a:off x="4217761" y="1481328"/>
            <a:ext cx="1922617" cy="45720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text|8"/>
          <p:cNvSpPr txBox="1"/>
          <p:nvPr/>
        </p:nvSpPr>
        <p:spPr>
          <a:xfrm>
            <a:off x="4446361" y="1481328"/>
            <a:ext cx="1465417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Confirmation</a:t>
            </a:r>
          </a:p>
        </p:txBody>
      </p:sp>
      <p:sp>
        <p:nvSpPr>
          <p:cNvPr id="10" name="cpe|exhibit|fill|9"/>
          <p:cNvSpPr/>
          <p:nvPr/>
        </p:nvSpPr>
        <p:spPr>
          <a:xfrm>
            <a:off x="6103803" y="1481328"/>
            <a:ext cx="1922617" cy="45720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6332403" y="1481328"/>
            <a:ext cx="1465417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Booking</a:t>
            </a:r>
          </a:p>
        </p:txBody>
      </p:sp>
      <p:sp>
        <p:nvSpPr>
          <p:cNvPr id="12" name="cpe|exhibit|fill|11"/>
          <p:cNvSpPr/>
          <p:nvPr/>
        </p:nvSpPr>
        <p:spPr>
          <a:xfrm>
            <a:off x="7989844" y="1481328"/>
            <a:ext cx="1922617" cy="457200"/>
          </a:xfrm>
          <a:prstGeom prst="chevron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cpe|exhibit|text|12"/>
          <p:cNvSpPr txBox="1"/>
          <p:nvPr/>
        </p:nvSpPr>
        <p:spPr>
          <a:xfrm>
            <a:off x="8218444" y="1481328"/>
            <a:ext cx="1465417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Delivery</a:t>
            </a:r>
          </a:p>
        </p:txBody>
      </p:sp>
      <p:sp>
        <p:nvSpPr>
          <p:cNvPr id="14" name="cpe|exhibit|fill|13"/>
          <p:cNvSpPr/>
          <p:nvPr/>
        </p:nvSpPr>
        <p:spPr>
          <a:xfrm>
            <a:off x="9875886" y="1481328"/>
            <a:ext cx="1812889" cy="457200"/>
          </a:xfrm>
          <a:prstGeom prst="chevron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text|14"/>
          <p:cNvSpPr txBox="1"/>
          <p:nvPr/>
        </p:nvSpPr>
        <p:spPr>
          <a:xfrm>
            <a:off x="10104486" y="1481328"/>
            <a:ext cx="135568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Invoice</a:t>
            </a:r>
          </a:p>
        </p:txBody>
      </p:sp>
      <p:sp>
        <p:nvSpPr>
          <p:cNvPr id="16" name="cpe|exhibit|text|15"/>
          <p:cNvSpPr txBox="1"/>
          <p:nvPr/>
        </p:nvSpPr>
        <p:spPr>
          <a:xfrm>
            <a:off x="502920" y="2048256"/>
            <a:ext cx="1737360" cy="13350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C2530"/>
                </a:solidFill>
                <a:latin typeface="Arial"/>
              </a:rPr>
              <a:t>Customer action</a:t>
            </a:r>
          </a:p>
        </p:txBody>
      </p:sp>
      <p:cxnSp>
        <p:nvCxnSpPr>
          <p:cNvPr id="17" name="cpe|exhibit|line|16"/>
          <p:cNvCxnSpPr/>
          <p:nvPr/>
        </p:nvCxnSpPr>
        <p:spPr>
          <a:xfrm>
            <a:off x="502920" y="3419856"/>
            <a:ext cx="11185855" cy="0"/>
          </a:xfrm>
          <a:prstGeom prst="line">
            <a:avLst/>
          </a:prstGeom>
          <a:ln w="6350">
            <a:solidFill>
              <a:srgbClr val="E3E8ED"/>
            </a:solidFill>
          </a:ln>
        </p:spPr>
      </p:cxnSp>
      <p:sp>
        <p:nvSpPr>
          <p:cNvPr id="18" name="cpe|exhibit|text|17"/>
          <p:cNvSpPr txBox="1"/>
          <p:nvPr/>
        </p:nvSpPr>
        <p:spPr>
          <a:xfrm>
            <a:off x="2377440" y="2084832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Places order by EDI or phone</a:t>
            </a:r>
          </a:p>
        </p:txBody>
      </p:sp>
      <p:sp>
        <p:nvSpPr>
          <p:cNvPr id="19" name="cpe|exhibit|text|18"/>
          <p:cNvSpPr txBox="1"/>
          <p:nvPr/>
        </p:nvSpPr>
        <p:spPr>
          <a:xfrm>
            <a:off x="4263481" y="2084832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Waits for confirmation</a:t>
            </a:r>
          </a:p>
        </p:txBody>
      </p:sp>
      <p:sp>
        <p:nvSpPr>
          <p:cNvPr id="20" name="cpe|exhibit|text|19"/>
          <p:cNvSpPr txBox="1"/>
          <p:nvPr/>
        </p:nvSpPr>
        <p:spPr>
          <a:xfrm>
            <a:off x="6149523" y="2084832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Calls to book a slot</a:t>
            </a:r>
          </a:p>
        </p:txBody>
      </p:sp>
      <p:sp>
        <p:nvSpPr>
          <p:cNvPr id="21" name="cpe|exhibit|text|20"/>
          <p:cNvSpPr txBox="1"/>
          <p:nvPr/>
        </p:nvSpPr>
        <p:spPr>
          <a:xfrm>
            <a:off x="8035564" y="2084832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Receives goods</a:t>
            </a:r>
          </a:p>
        </p:txBody>
      </p:sp>
      <p:sp>
        <p:nvSpPr>
          <p:cNvPr id="22" name="cpe|exhibit|text|21"/>
          <p:cNvSpPr txBox="1"/>
          <p:nvPr/>
        </p:nvSpPr>
        <p:spPr>
          <a:xfrm>
            <a:off x="9921606" y="2084832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Checks invoice</a:t>
            </a:r>
          </a:p>
        </p:txBody>
      </p:sp>
      <p:sp>
        <p:nvSpPr>
          <p:cNvPr id="23" name="cpe|exhibit|text|22"/>
          <p:cNvSpPr txBox="1"/>
          <p:nvPr/>
        </p:nvSpPr>
        <p:spPr>
          <a:xfrm>
            <a:off x="502920" y="3456432"/>
            <a:ext cx="1737360" cy="13350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C2530"/>
                </a:solidFill>
                <a:latin typeface="Arial"/>
              </a:rPr>
              <a:t>Pain points</a:t>
            </a:r>
          </a:p>
        </p:txBody>
      </p:sp>
      <p:cxnSp>
        <p:nvCxnSpPr>
          <p:cNvPr id="24" name="cpe|exhibit|line|23"/>
          <p:cNvCxnSpPr/>
          <p:nvPr/>
        </p:nvCxnSpPr>
        <p:spPr>
          <a:xfrm>
            <a:off x="502920" y="4828032"/>
            <a:ext cx="11185855" cy="0"/>
          </a:xfrm>
          <a:prstGeom prst="line">
            <a:avLst/>
          </a:prstGeom>
          <a:ln w="6350">
            <a:solidFill>
              <a:srgbClr val="E3E8ED"/>
            </a:solidFill>
          </a:ln>
        </p:spPr>
      </p:cxnSp>
      <p:sp>
        <p:nvSpPr>
          <p:cNvPr id="25" name="cpe|exhibit|text|24"/>
          <p:cNvSpPr txBox="1"/>
          <p:nvPr/>
        </p:nvSpPr>
        <p:spPr>
          <a:xfrm>
            <a:off x="2377440" y="3493008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Phone orders error-prone</a:t>
            </a:r>
          </a:p>
        </p:txBody>
      </p:sp>
      <p:sp>
        <p:nvSpPr>
          <p:cNvPr id="26" name="cpe|exhibit|fill|25"/>
          <p:cNvSpPr/>
          <p:nvPr/>
        </p:nvSpPr>
        <p:spPr>
          <a:xfrm>
            <a:off x="4217761" y="3456432"/>
            <a:ext cx="1812889" cy="133502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text|26"/>
          <p:cNvSpPr txBox="1"/>
          <p:nvPr/>
        </p:nvSpPr>
        <p:spPr>
          <a:xfrm>
            <a:off x="4263481" y="3493008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Up to 24h wait</a:t>
            </a:r>
          </a:p>
        </p:txBody>
      </p:sp>
      <p:sp>
        <p:nvSpPr>
          <p:cNvPr id="28" name="cpe|exhibit|fill|27"/>
          <p:cNvSpPr/>
          <p:nvPr/>
        </p:nvSpPr>
        <p:spPr>
          <a:xfrm>
            <a:off x="6103803" y="3456432"/>
            <a:ext cx="1812889" cy="133502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text|28"/>
          <p:cNvSpPr txBox="1"/>
          <p:nvPr/>
        </p:nvSpPr>
        <p:spPr>
          <a:xfrm>
            <a:off x="6149523" y="3493008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3 calls on average</a:t>
            </a:r>
          </a:p>
        </p:txBody>
      </p:sp>
      <p:sp>
        <p:nvSpPr>
          <p:cNvPr id="30" name="cpe|exhibit|text|29"/>
          <p:cNvSpPr txBox="1"/>
          <p:nvPr/>
        </p:nvSpPr>
        <p:spPr>
          <a:xfrm>
            <a:off x="8035564" y="3493008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Partial deliveries</a:t>
            </a:r>
          </a:p>
        </p:txBody>
      </p:sp>
      <p:sp>
        <p:nvSpPr>
          <p:cNvPr id="31" name="cpe|exhibit|text|30"/>
          <p:cNvSpPr txBox="1"/>
          <p:nvPr/>
        </p:nvSpPr>
        <p:spPr>
          <a:xfrm>
            <a:off x="9921606" y="3493008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Disputes on 6%</a:t>
            </a:r>
          </a:p>
        </p:txBody>
      </p:sp>
      <p:sp>
        <p:nvSpPr>
          <p:cNvPr id="32" name="cpe|exhibit|text|31"/>
          <p:cNvSpPr txBox="1"/>
          <p:nvPr/>
        </p:nvSpPr>
        <p:spPr>
          <a:xfrm>
            <a:off x="502920" y="4864608"/>
            <a:ext cx="1737360" cy="13350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C2530"/>
                </a:solidFill>
                <a:latin typeface="Arial"/>
              </a:rPr>
              <a:t>Fix</a:t>
            </a:r>
          </a:p>
        </p:txBody>
      </p:sp>
      <p:cxnSp>
        <p:nvCxnSpPr>
          <p:cNvPr id="33" name="cpe|exhibit|line|32"/>
          <p:cNvCxnSpPr/>
          <p:nvPr/>
        </p:nvCxnSpPr>
        <p:spPr>
          <a:xfrm>
            <a:off x="502920" y="6236208"/>
            <a:ext cx="11185855" cy="0"/>
          </a:xfrm>
          <a:prstGeom prst="line">
            <a:avLst/>
          </a:prstGeom>
          <a:ln w="6350">
            <a:solidFill>
              <a:srgbClr val="E3E8ED"/>
            </a:solidFill>
          </a:ln>
        </p:spPr>
      </p:cxnSp>
      <p:sp>
        <p:nvSpPr>
          <p:cNvPr id="34" name="cpe|exhibit|text|33"/>
          <p:cNvSpPr txBox="1"/>
          <p:nvPr/>
        </p:nvSpPr>
        <p:spPr>
          <a:xfrm>
            <a:off x="2377440" y="4901184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EDI + portal</a:t>
            </a:r>
          </a:p>
        </p:txBody>
      </p:sp>
      <p:sp>
        <p:nvSpPr>
          <p:cNvPr id="35" name="cpe|exhibit|text|34"/>
          <p:cNvSpPr txBox="1"/>
          <p:nvPr/>
        </p:nvSpPr>
        <p:spPr>
          <a:xfrm>
            <a:off x="4263481" y="4901184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Instant confirmation</a:t>
            </a:r>
          </a:p>
        </p:txBody>
      </p:sp>
      <p:sp>
        <p:nvSpPr>
          <p:cNvPr id="36" name="cpe|exhibit|text|35"/>
          <p:cNvSpPr txBox="1"/>
          <p:nvPr/>
        </p:nvSpPr>
        <p:spPr>
          <a:xfrm>
            <a:off x="6149523" y="4901184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Self-service slots</a:t>
            </a:r>
          </a:p>
        </p:txBody>
      </p:sp>
      <p:sp>
        <p:nvSpPr>
          <p:cNvPr id="37" name="cpe|exhibit|text|36"/>
          <p:cNvSpPr txBox="1"/>
          <p:nvPr/>
        </p:nvSpPr>
        <p:spPr>
          <a:xfrm>
            <a:off x="8035564" y="4901184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Pick accuracy</a:t>
            </a:r>
          </a:p>
        </p:txBody>
      </p:sp>
      <p:sp>
        <p:nvSpPr>
          <p:cNvPr id="38" name="cpe|exhibit|text|37"/>
          <p:cNvSpPr txBox="1"/>
          <p:nvPr/>
        </p:nvSpPr>
        <p:spPr>
          <a:xfrm>
            <a:off x="9921606" y="4901184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E-invoice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PROGRAMME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Customers lose most time at order confirmation and delivery booking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Customer interviews, n=40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15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2331720" y="1481328"/>
            <a:ext cx="1922617" cy="457200"/>
          </a:xfrm>
          <a:prstGeom prst="homePlate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2560320" y="1481328"/>
            <a:ext cx="1465417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Order</a:t>
            </a:r>
          </a:p>
        </p:txBody>
      </p:sp>
      <p:sp>
        <p:nvSpPr>
          <p:cNvPr id="8" name="cpe|exhibit|fill|7"/>
          <p:cNvSpPr/>
          <p:nvPr/>
        </p:nvSpPr>
        <p:spPr>
          <a:xfrm>
            <a:off x="4217761" y="1481328"/>
            <a:ext cx="1922617" cy="45720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text|8"/>
          <p:cNvSpPr txBox="1"/>
          <p:nvPr/>
        </p:nvSpPr>
        <p:spPr>
          <a:xfrm>
            <a:off x="4446361" y="1481328"/>
            <a:ext cx="1465417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Confirmation</a:t>
            </a:r>
          </a:p>
        </p:txBody>
      </p:sp>
      <p:sp>
        <p:nvSpPr>
          <p:cNvPr id="10" name="cpe|exhibit|fill|9"/>
          <p:cNvSpPr/>
          <p:nvPr/>
        </p:nvSpPr>
        <p:spPr>
          <a:xfrm>
            <a:off x="6103803" y="1481328"/>
            <a:ext cx="1922617" cy="45720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6332403" y="1481328"/>
            <a:ext cx="1465417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Booking</a:t>
            </a:r>
          </a:p>
        </p:txBody>
      </p:sp>
      <p:sp>
        <p:nvSpPr>
          <p:cNvPr id="12" name="cpe|exhibit|fill|11"/>
          <p:cNvSpPr/>
          <p:nvPr/>
        </p:nvSpPr>
        <p:spPr>
          <a:xfrm>
            <a:off x="7989844" y="1481328"/>
            <a:ext cx="1922617" cy="457200"/>
          </a:xfrm>
          <a:prstGeom prst="chevron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cpe|exhibit|text|12"/>
          <p:cNvSpPr txBox="1"/>
          <p:nvPr/>
        </p:nvSpPr>
        <p:spPr>
          <a:xfrm>
            <a:off x="8218444" y="1481328"/>
            <a:ext cx="1465417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Delivery</a:t>
            </a:r>
          </a:p>
        </p:txBody>
      </p:sp>
      <p:sp>
        <p:nvSpPr>
          <p:cNvPr id="14" name="cpe|exhibit|fill|13"/>
          <p:cNvSpPr/>
          <p:nvPr/>
        </p:nvSpPr>
        <p:spPr>
          <a:xfrm>
            <a:off x="9875886" y="1481328"/>
            <a:ext cx="1812889" cy="457200"/>
          </a:xfrm>
          <a:prstGeom prst="chevron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text|14"/>
          <p:cNvSpPr txBox="1"/>
          <p:nvPr/>
        </p:nvSpPr>
        <p:spPr>
          <a:xfrm>
            <a:off x="10104486" y="1481328"/>
            <a:ext cx="135568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Invoice</a:t>
            </a:r>
          </a:p>
        </p:txBody>
      </p:sp>
      <p:sp>
        <p:nvSpPr>
          <p:cNvPr id="16" name="cpe|exhibit|text|15"/>
          <p:cNvSpPr txBox="1"/>
          <p:nvPr/>
        </p:nvSpPr>
        <p:spPr>
          <a:xfrm>
            <a:off x="502920" y="2048256"/>
            <a:ext cx="1737360" cy="13350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C2530"/>
                </a:solidFill>
                <a:latin typeface="Arial"/>
              </a:rPr>
              <a:t>Customer action</a:t>
            </a:r>
          </a:p>
        </p:txBody>
      </p:sp>
      <p:cxnSp>
        <p:nvCxnSpPr>
          <p:cNvPr id="17" name="cpe|exhibit|line|16"/>
          <p:cNvCxnSpPr/>
          <p:nvPr/>
        </p:nvCxnSpPr>
        <p:spPr>
          <a:xfrm>
            <a:off x="502920" y="3419856"/>
            <a:ext cx="11185855" cy="0"/>
          </a:xfrm>
          <a:prstGeom prst="line">
            <a:avLst/>
          </a:prstGeom>
          <a:ln w="6350">
            <a:solidFill>
              <a:srgbClr val="E3E8ED"/>
            </a:solidFill>
          </a:ln>
        </p:spPr>
      </p:cxnSp>
      <p:sp>
        <p:nvSpPr>
          <p:cNvPr id="18" name="cpe|exhibit|text|17"/>
          <p:cNvSpPr txBox="1"/>
          <p:nvPr/>
        </p:nvSpPr>
        <p:spPr>
          <a:xfrm>
            <a:off x="2377440" y="2084832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Places order by EDI or phone</a:t>
            </a:r>
          </a:p>
        </p:txBody>
      </p:sp>
      <p:sp>
        <p:nvSpPr>
          <p:cNvPr id="19" name="cpe|exhibit|text|18"/>
          <p:cNvSpPr txBox="1"/>
          <p:nvPr/>
        </p:nvSpPr>
        <p:spPr>
          <a:xfrm>
            <a:off x="4263481" y="2084832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Waits for confirmation</a:t>
            </a:r>
          </a:p>
        </p:txBody>
      </p:sp>
      <p:sp>
        <p:nvSpPr>
          <p:cNvPr id="20" name="cpe|exhibit|text|19"/>
          <p:cNvSpPr txBox="1"/>
          <p:nvPr/>
        </p:nvSpPr>
        <p:spPr>
          <a:xfrm>
            <a:off x="6149523" y="2084832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Calls to book a slot</a:t>
            </a:r>
          </a:p>
        </p:txBody>
      </p:sp>
      <p:sp>
        <p:nvSpPr>
          <p:cNvPr id="21" name="cpe|exhibit|text|20"/>
          <p:cNvSpPr txBox="1"/>
          <p:nvPr/>
        </p:nvSpPr>
        <p:spPr>
          <a:xfrm>
            <a:off x="8035564" y="2084832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Receives goods</a:t>
            </a:r>
          </a:p>
        </p:txBody>
      </p:sp>
      <p:sp>
        <p:nvSpPr>
          <p:cNvPr id="22" name="cpe|exhibit|text|21"/>
          <p:cNvSpPr txBox="1"/>
          <p:nvPr/>
        </p:nvSpPr>
        <p:spPr>
          <a:xfrm>
            <a:off x="9921606" y="2084832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Checks invoice</a:t>
            </a:r>
          </a:p>
        </p:txBody>
      </p:sp>
      <p:sp>
        <p:nvSpPr>
          <p:cNvPr id="23" name="cpe|exhibit|text|22"/>
          <p:cNvSpPr txBox="1"/>
          <p:nvPr/>
        </p:nvSpPr>
        <p:spPr>
          <a:xfrm>
            <a:off x="502920" y="3456432"/>
            <a:ext cx="1737360" cy="13350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C2530"/>
                </a:solidFill>
                <a:latin typeface="Arial"/>
              </a:rPr>
              <a:t>Pain points</a:t>
            </a:r>
          </a:p>
        </p:txBody>
      </p:sp>
      <p:cxnSp>
        <p:nvCxnSpPr>
          <p:cNvPr id="24" name="cpe|exhibit|line|23"/>
          <p:cNvCxnSpPr/>
          <p:nvPr/>
        </p:nvCxnSpPr>
        <p:spPr>
          <a:xfrm>
            <a:off x="502920" y="4828032"/>
            <a:ext cx="11185855" cy="0"/>
          </a:xfrm>
          <a:prstGeom prst="line">
            <a:avLst/>
          </a:prstGeom>
          <a:ln w="6350">
            <a:solidFill>
              <a:srgbClr val="E3E8ED"/>
            </a:solidFill>
          </a:ln>
        </p:spPr>
      </p:cxnSp>
      <p:sp>
        <p:nvSpPr>
          <p:cNvPr id="25" name="cpe|exhibit|text|24"/>
          <p:cNvSpPr txBox="1"/>
          <p:nvPr/>
        </p:nvSpPr>
        <p:spPr>
          <a:xfrm>
            <a:off x="2377440" y="3493008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Phone orders error-prone</a:t>
            </a:r>
          </a:p>
        </p:txBody>
      </p:sp>
      <p:sp>
        <p:nvSpPr>
          <p:cNvPr id="26" name="cpe|exhibit|fill|25"/>
          <p:cNvSpPr/>
          <p:nvPr/>
        </p:nvSpPr>
        <p:spPr>
          <a:xfrm>
            <a:off x="4217761" y="3456432"/>
            <a:ext cx="1812889" cy="133502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text|26"/>
          <p:cNvSpPr txBox="1"/>
          <p:nvPr/>
        </p:nvSpPr>
        <p:spPr>
          <a:xfrm>
            <a:off x="4263481" y="3493008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Up to 24h wait</a:t>
            </a:r>
          </a:p>
        </p:txBody>
      </p:sp>
      <p:sp>
        <p:nvSpPr>
          <p:cNvPr id="28" name="cpe|exhibit|fill|27"/>
          <p:cNvSpPr/>
          <p:nvPr/>
        </p:nvSpPr>
        <p:spPr>
          <a:xfrm>
            <a:off x="6103803" y="3456432"/>
            <a:ext cx="1812889" cy="133502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text|28"/>
          <p:cNvSpPr txBox="1"/>
          <p:nvPr/>
        </p:nvSpPr>
        <p:spPr>
          <a:xfrm>
            <a:off x="6149523" y="3493008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3 calls on average</a:t>
            </a:r>
          </a:p>
        </p:txBody>
      </p:sp>
      <p:sp>
        <p:nvSpPr>
          <p:cNvPr id="30" name="cpe|exhibit|text|29"/>
          <p:cNvSpPr txBox="1"/>
          <p:nvPr/>
        </p:nvSpPr>
        <p:spPr>
          <a:xfrm>
            <a:off x="8035564" y="3493008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Partial deliveries</a:t>
            </a:r>
          </a:p>
        </p:txBody>
      </p:sp>
      <p:sp>
        <p:nvSpPr>
          <p:cNvPr id="31" name="cpe|exhibit|text|30"/>
          <p:cNvSpPr txBox="1"/>
          <p:nvPr/>
        </p:nvSpPr>
        <p:spPr>
          <a:xfrm>
            <a:off x="9921606" y="3493008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Disputes on 6%</a:t>
            </a:r>
          </a:p>
        </p:txBody>
      </p:sp>
      <p:sp>
        <p:nvSpPr>
          <p:cNvPr id="32" name="cpe|exhibit|text|31"/>
          <p:cNvSpPr txBox="1"/>
          <p:nvPr/>
        </p:nvSpPr>
        <p:spPr>
          <a:xfrm>
            <a:off x="502920" y="4864608"/>
            <a:ext cx="1737360" cy="13350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C2530"/>
                </a:solidFill>
                <a:latin typeface="Arial"/>
              </a:rPr>
              <a:t>Fix</a:t>
            </a:r>
          </a:p>
        </p:txBody>
      </p:sp>
      <p:cxnSp>
        <p:nvCxnSpPr>
          <p:cNvPr id="33" name="cpe|exhibit|line|32"/>
          <p:cNvCxnSpPr/>
          <p:nvPr/>
        </p:nvCxnSpPr>
        <p:spPr>
          <a:xfrm>
            <a:off x="502920" y="6236208"/>
            <a:ext cx="11185855" cy="0"/>
          </a:xfrm>
          <a:prstGeom prst="line">
            <a:avLst/>
          </a:prstGeom>
          <a:ln w="6350">
            <a:solidFill>
              <a:srgbClr val="E3E8ED"/>
            </a:solidFill>
          </a:ln>
        </p:spPr>
      </p:cxnSp>
      <p:sp>
        <p:nvSpPr>
          <p:cNvPr id="34" name="cpe|exhibit|text|33"/>
          <p:cNvSpPr txBox="1"/>
          <p:nvPr/>
        </p:nvSpPr>
        <p:spPr>
          <a:xfrm>
            <a:off x="2377440" y="4901184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EDI + portal</a:t>
            </a:r>
          </a:p>
        </p:txBody>
      </p:sp>
      <p:sp>
        <p:nvSpPr>
          <p:cNvPr id="35" name="cpe|exhibit|text|34"/>
          <p:cNvSpPr txBox="1"/>
          <p:nvPr/>
        </p:nvSpPr>
        <p:spPr>
          <a:xfrm>
            <a:off x="4263481" y="4901184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Instant confirmation</a:t>
            </a:r>
          </a:p>
        </p:txBody>
      </p:sp>
      <p:sp>
        <p:nvSpPr>
          <p:cNvPr id="36" name="cpe|exhibit|text|35"/>
          <p:cNvSpPr txBox="1"/>
          <p:nvPr/>
        </p:nvSpPr>
        <p:spPr>
          <a:xfrm>
            <a:off x="6149523" y="4901184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Self-service slots</a:t>
            </a:r>
          </a:p>
        </p:txBody>
      </p:sp>
      <p:sp>
        <p:nvSpPr>
          <p:cNvPr id="37" name="cpe|exhibit|text|36"/>
          <p:cNvSpPr txBox="1"/>
          <p:nvPr/>
        </p:nvSpPr>
        <p:spPr>
          <a:xfrm>
            <a:off x="8035564" y="4901184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Pick accuracy</a:t>
            </a:r>
          </a:p>
        </p:txBody>
      </p:sp>
      <p:sp>
        <p:nvSpPr>
          <p:cNvPr id="38" name="cpe|exhibit|text|37"/>
          <p:cNvSpPr txBox="1"/>
          <p:nvPr/>
        </p:nvSpPr>
        <p:spPr>
          <a:xfrm>
            <a:off x="9921606" y="4901184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E-invoice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PROGRAMME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A lean transformation office with four initiative owners runs the programme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Governance charter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16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4998568" y="1481328"/>
            <a:ext cx="2194560" cy="86868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5053432" y="1481328"/>
            <a:ext cx="2084832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Steering committee</a:t>
            </a:r>
          </a:p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CEO (chair), CFO, COO</a:t>
            </a:r>
          </a:p>
        </p:txBody>
      </p:sp>
      <p:cxnSp>
        <p:nvCxnSpPr>
          <p:cNvPr id="8" name="cpe|exhibit|connector|7"/>
          <p:cNvCxnSpPr/>
          <p:nvPr/>
        </p:nvCxnSpPr>
        <p:spPr>
          <a:xfrm>
            <a:off x="6095848" y="2350008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9" name="cpe|exhibit|connector|8"/>
          <p:cNvCxnSpPr/>
          <p:nvPr/>
        </p:nvCxnSpPr>
        <p:spPr>
          <a:xfrm>
            <a:off x="6095848" y="2542032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10" name="cpe|exhibit|fill|9"/>
          <p:cNvSpPr/>
          <p:nvPr/>
        </p:nvSpPr>
        <p:spPr>
          <a:xfrm>
            <a:off x="4998568" y="2734056"/>
            <a:ext cx="2194560" cy="868680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5053432" y="2734056"/>
            <a:ext cx="2084832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100"/>
              </a:spcAft>
            </a:pPr>
            <a:r>
              <a:rPr sz="1200" b="1">
                <a:solidFill>
                  <a:srgbClr val="1C2530"/>
                </a:solidFill>
                <a:latin typeface="Arial"/>
              </a:rPr>
              <a:t>Transformation office</a:t>
            </a:r>
          </a:p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Programme director + 3 FTE</a:t>
            </a:r>
          </a:p>
        </p:txBody>
      </p:sp>
      <p:cxnSp>
        <p:nvCxnSpPr>
          <p:cNvPr id="12" name="cpe|exhibit|connector|11"/>
          <p:cNvCxnSpPr/>
          <p:nvPr/>
        </p:nvCxnSpPr>
        <p:spPr>
          <a:xfrm>
            <a:off x="6095848" y="3602736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3" name="cpe|exhibit|connector|12"/>
          <p:cNvCxnSpPr/>
          <p:nvPr/>
        </p:nvCxnSpPr>
        <p:spPr>
          <a:xfrm>
            <a:off x="1901152" y="3794760"/>
            <a:ext cx="4194696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4" name="cpe|exhibit|connector|13"/>
          <p:cNvCxnSpPr/>
          <p:nvPr/>
        </p:nvCxnSpPr>
        <p:spPr>
          <a:xfrm>
            <a:off x="1901152" y="3794760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15" name="cpe|exhibit|fill|14"/>
          <p:cNvSpPr/>
          <p:nvPr/>
        </p:nvSpPr>
        <p:spPr>
          <a:xfrm>
            <a:off x="803872" y="3986784"/>
            <a:ext cx="2194560" cy="8686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text|15"/>
          <p:cNvSpPr txBox="1"/>
          <p:nvPr/>
        </p:nvSpPr>
        <p:spPr>
          <a:xfrm>
            <a:off x="858736" y="3986784"/>
            <a:ext cx="2084832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100"/>
              </a:spcAft>
            </a:pPr>
            <a:r>
              <a:rPr sz="1200" b="1">
                <a:solidFill>
                  <a:srgbClr val="1C2530"/>
                </a:solidFill>
                <a:latin typeface="Arial"/>
              </a:rPr>
              <a:t>Network</a:t>
            </a:r>
          </a:p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Head of logistics</a:t>
            </a:r>
          </a:p>
        </p:txBody>
      </p:sp>
      <p:cxnSp>
        <p:nvCxnSpPr>
          <p:cNvPr id="17" name="cpe|exhibit|connector|16"/>
          <p:cNvCxnSpPr/>
          <p:nvPr/>
        </p:nvCxnSpPr>
        <p:spPr>
          <a:xfrm>
            <a:off x="6095848" y="3602736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8" name="cpe|exhibit|connector|17"/>
          <p:cNvCxnSpPr/>
          <p:nvPr/>
        </p:nvCxnSpPr>
        <p:spPr>
          <a:xfrm>
            <a:off x="4697616" y="3794760"/>
            <a:ext cx="1398232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9" name="cpe|exhibit|connector|18"/>
          <p:cNvCxnSpPr/>
          <p:nvPr/>
        </p:nvCxnSpPr>
        <p:spPr>
          <a:xfrm>
            <a:off x="4697616" y="3794760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20" name="cpe|exhibit|fill|19"/>
          <p:cNvSpPr/>
          <p:nvPr/>
        </p:nvSpPr>
        <p:spPr>
          <a:xfrm>
            <a:off x="3600336" y="3986784"/>
            <a:ext cx="2194560" cy="8686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text|20"/>
          <p:cNvSpPr txBox="1"/>
          <p:nvPr/>
        </p:nvSpPr>
        <p:spPr>
          <a:xfrm>
            <a:off x="3655200" y="3986784"/>
            <a:ext cx="2084832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100"/>
              </a:spcAft>
            </a:pPr>
            <a:r>
              <a:rPr sz="1200" b="1">
                <a:solidFill>
                  <a:srgbClr val="1C2530"/>
                </a:solidFill>
                <a:latin typeface="Arial"/>
              </a:rPr>
              <a:t>Automation</a:t>
            </a:r>
          </a:p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Head of hubs</a:t>
            </a:r>
          </a:p>
        </p:txBody>
      </p:sp>
      <p:cxnSp>
        <p:nvCxnSpPr>
          <p:cNvPr id="22" name="cpe|exhibit|connector|21"/>
          <p:cNvCxnSpPr/>
          <p:nvPr/>
        </p:nvCxnSpPr>
        <p:spPr>
          <a:xfrm>
            <a:off x="6095848" y="3602736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3" name="cpe|exhibit|connector|22"/>
          <p:cNvCxnSpPr/>
          <p:nvPr/>
        </p:nvCxnSpPr>
        <p:spPr>
          <a:xfrm>
            <a:off x="6095848" y="3794760"/>
            <a:ext cx="1398232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4" name="cpe|exhibit|connector|23"/>
          <p:cNvCxnSpPr/>
          <p:nvPr/>
        </p:nvCxnSpPr>
        <p:spPr>
          <a:xfrm>
            <a:off x="7494080" y="3794760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25" name="cpe|exhibit|fill|24"/>
          <p:cNvSpPr/>
          <p:nvPr/>
        </p:nvSpPr>
        <p:spPr>
          <a:xfrm>
            <a:off x="6396800" y="3986784"/>
            <a:ext cx="2194560" cy="8686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text|25"/>
          <p:cNvSpPr txBox="1"/>
          <p:nvPr/>
        </p:nvSpPr>
        <p:spPr>
          <a:xfrm>
            <a:off x="6451663" y="3986784"/>
            <a:ext cx="2084832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100"/>
              </a:spcAft>
            </a:pPr>
            <a:r>
              <a:rPr sz="1200" b="1">
                <a:solidFill>
                  <a:srgbClr val="1C2530"/>
                </a:solidFill>
                <a:latin typeface="Arial"/>
              </a:rPr>
              <a:t>Customer terms</a:t>
            </a:r>
          </a:p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Sales director</a:t>
            </a:r>
          </a:p>
        </p:txBody>
      </p:sp>
      <p:cxnSp>
        <p:nvCxnSpPr>
          <p:cNvPr id="27" name="cpe|exhibit|connector|26"/>
          <p:cNvCxnSpPr/>
          <p:nvPr/>
        </p:nvCxnSpPr>
        <p:spPr>
          <a:xfrm>
            <a:off x="6095848" y="3602736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8" name="cpe|exhibit|connector|27"/>
          <p:cNvCxnSpPr/>
          <p:nvPr/>
        </p:nvCxnSpPr>
        <p:spPr>
          <a:xfrm>
            <a:off x="6095848" y="3794760"/>
            <a:ext cx="4194695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9" name="cpe|exhibit|connector|28"/>
          <p:cNvCxnSpPr/>
          <p:nvPr/>
        </p:nvCxnSpPr>
        <p:spPr>
          <a:xfrm>
            <a:off x="10290543" y="3794760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30" name="cpe|exhibit|fill|29"/>
          <p:cNvSpPr/>
          <p:nvPr/>
        </p:nvSpPr>
        <p:spPr>
          <a:xfrm>
            <a:off x="9193263" y="3986784"/>
            <a:ext cx="2194560" cy="8686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text|30"/>
          <p:cNvSpPr txBox="1"/>
          <p:nvPr/>
        </p:nvSpPr>
        <p:spPr>
          <a:xfrm>
            <a:off x="9248127" y="3986784"/>
            <a:ext cx="2084832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100"/>
              </a:spcAft>
            </a:pPr>
            <a:r>
              <a:rPr sz="1200" b="1">
                <a:solidFill>
                  <a:srgbClr val="1C2530"/>
                </a:solidFill>
                <a:latin typeface="Arial"/>
              </a:rPr>
              <a:t>Procurement</a:t>
            </a:r>
          </a:p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CPO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PROGRAMME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A lean transformation office with four initiative owners runs the programme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Governance charter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16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4998568" y="1481328"/>
            <a:ext cx="2194560" cy="86868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5053432" y="1481328"/>
            <a:ext cx="2084832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Steering committee</a:t>
            </a:r>
          </a:p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CEO (chair), CFO, COO</a:t>
            </a:r>
          </a:p>
        </p:txBody>
      </p:sp>
      <p:cxnSp>
        <p:nvCxnSpPr>
          <p:cNvPr id="8" name="cpe|exhibit|connector|7"/>
          <p:cNvCxnSpPr/>
          <p:nvPr/>
        </p:nvCxnSpPr>
        <p:spPr>
          <a:xfrm>
            <a:off x="6095848" y="2350008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9" name="cpe|exhibit|connector|8"/>
          <p:cNvCxnSpPr/>
          <p:nvPr/>
        </p:nvCxnSpPr>
        <p:spPr>
          <a:xfrm>
            <a:off x="6095848" y="2542032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10" name="cpe|exhibit|fill|9"/>
          <p:cNvSpPr/>
          <p:nvPr/>
        </p:nvSpPr>
        <p:spPr>
          <a:xfrm>
            <a:off x="4998568" y="2734056"/>
            <a:ext cx="2194560" cy="868680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5053432" y="2734056"/>
            <a:ext cx="2084832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100"/>
              </a:spcAft>
            </a:pPr>
            <a:r>
              <a:rPr sz="1200" b="1">
                <a:solidFill>
                  <a:srgbClr val="1C2530"/>
                </a:solidFill>
                <a:latin typeface="Arial"/>
              </a:rPr>
              <a:t>Transformation office</a:t>
            </a:r>
          </a:p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Programme director + 3 FTE</a:t>
            </a:r>
          </a:p>
        </p:txBody>
      </p:sp>
      <p:cxnSp>
        <p:nvCxnSpPr>
          <p:cNvPr id="12" name="cpe|exhibit|connector|11"/>
          <p:cNvCxnSpPr/>
          <p:nvPr/>
        </p:nvCxnSpPr>
        <p:spPr>
          <a:xfrm>
            <a:off x="6095848" y="3602736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3" name="cpe|exhibit|connector|12"/>
          <p:cNvCxnSpPr/>
          <p:nvPr/>
        </p:nvCxnSpPr>
        <p:spPr>
          <a:xfrm>
            <a:off x="1901152" y="3794760"/>
            <a:ext cx="4194696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4" name="cpe|exhibit|connector|13"/>
          <p:cNvCxnSpPr/>
          <p:nvPr/>
        </p:nvCxnSpPr>
        <p:spPr>
          <a:xfrm>
            <a:off x="1901152" y="3794760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15" name="cpe|exhibit|fill|14"/>
          <p:cNvSpPr/>
          <p:nvPr/>
        </p:nvSpPr>
        <p:spPr>
          <a:xfrm>
            <a:off x="803872" y="3986784"/>
            <a:ext cx="2194560" cy="8686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text|15"/>
          <p:cNvSpPr txBox="1"/>
          <p:nvPr/>
        </p:nvSpPr>
        <p:spPr>
          <a:xfrm>
            <a:off x="858736" y="3986784"/>
            <a:ext cx="2084832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100"/>
              </a:spcAft>
            </a:pPr>
            <a:r>
              <a:rPr sz="1200" b="1">
                <a:solidFill>
                  <a:srgbClr val="1C2530"/>
                </a:solidFill>
                <a:latin typeface="Arial"/>
              </a:rPr>
              <a:t>Network</a:t>
            </a:r>
          </a:p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Head of logistics</a:t>
            </a:r>
          </a:p>
        </p:txBody>
      </p:sp>
      <p:cxnSp>
        <p:nvCxnSpPr>
          <p:cNvPr id="17" name="cpe|exhibit|connector|16"/>
          <p:cNvCxnSpPr/>
          <p:nvPr/>
        </p:nvCxnSpPr>
        <p:spPr>
          <a:xfrm>
            <a:off x="6095848" y="3602736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8" name="cpe|exhibit|connector|17"/>
          <p:cNvCxnSpPr/>
          <p:nvPr/>
        </p:nvCxnSpPr>
        <p:spPr>
          <a:xfrm>
            <a:off x="4697616" y="3794760"/>
            <a:ext cx="1398232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9" name="cpe|exhibit|connector|18"/>
          <p:cNvCxnSpPr/>
          <p:nvPr/>
        </p:nvCxnSpPr>
        <p:spPr>
          <a:xfrm>
            <a:off x="4697616" y="3794760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20" name="cpe|exhibit|fill|19"/>
          <p:cNvSpPr/>
          <p:nvPr/>
        </p:nvSpPr>
        <p:spPr>
          <a:xfrm>
            <a:off x="3600336" y="3986784"/>
            <a:ext cx="2194560" cy="8686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text|20"/>
          <p:cNvSpPr txBox="1"/>
          <p:nvPr/>
        </p:nvSpPr>
        <p:spPr>
          <a:xfrm>
            <a:off x="3655200" y="3986784"/>
            <a:ext cx="2084832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100"/>
              </a:spcAft>
            </a:pPr>
            <a:r>
              <a:rPr sz="1200" b="1">
                <a:solidFill>
                  <a:srgbClr val="1C2530"/>
                </a:solidFill>
                <a:latin typeface="Arial"/>
              </a:rPr>
              <a:t>Automation</a:t>
            </a:r>
          </a:p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Head of hubs</a:t>
            </a:r>
          </a:p>
        </p:txBody>
      </p:sp>
      <p:cxnSp>
        <p:nvCxnSpPr>
          <p:cNvPr id="22" name="cpe|exhibit|connector|21"/>
          <p:cNvCxnSpPr/>
          <p:nvPr/>
        </p:nvCxnSpPr>
        <p:spPr>
          <a:xfrm>
            <a:off x="6095848" y="3602736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3" name="cpe|exhibit|connector|22"/>
          <p:cNvCxnSpPr/>
          <p:nvPr/>
        </p:nvCxnSpPr>
        <p:spPr>
          <a:xfrm>
            <a:off x="6095848" y="3794760"/>
            <a:ext cx="1398232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4" name="cpe|exhibit|connector|23"/>
          <p:cNvCxnSpPr/>
          <p:nvPr/>
        </p:nvCxnSpPr>
        <p:spPr>
          <a:xfrm>
            <a:off x="7494080" y="3794760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25" name="cpe|exhibit|fill|24"/>
          <p:cNvSpPr/>
          <p:nvPr/>
        </p:nvSpPr>
        <p:spPr>
          <a:xfrm>
            <a:off x="6396800" y="3986784"/>
            <a:ext cx="2194560" cy="8686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text|25"/>
          <p:cNvSpPr txBox="1"/>
          <p:nvPr/>
        </p:nvSpPr>
        <p:spPr>
          <a:xfrm>
            <a:off x="6451663" y="3986784"/>
            <a:ext cx="2084832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100"/>
              </a:spcAft>
            </a:pPr>
            <a:r>
              <a:rPr sz="1200" b="1">
                <a:solidFill>
                  <a:srgbClr val="1C2530"/>
                </a:solidFill>
                <a:latin typeface="Arial"/>
              </a:rPr>
              <a:t>Customer terms</a:t>
            </a:r>
          </a:p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Sales director</a:t>
            </a:r>
          </a:p>
        </p:txBody>
      </p:sp>
      <p:cxnSp>
        <p:nvCxnSpPr>
          <p:cNvPr id="27" name="cpe|exhibit|connector|26"/>
          <p:cNvCxnSpPr/>
          <p:nvPr/>
        </p:nvCxnSpPr>
        <p:spPr>
          <a:xfrm>
            <a:off x="6095848" y="3602736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8" name="cpe|exhibit|connector|27"/>
          <p:cNvCxnSpPr/>
          <p:nvPr/>
        </p:nvCxnSpPr>
        <p:spPr>
          <a:xfrm>
            <a:off x="6095848" y="3794760"/>
            <a:ext cx="4194695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9" name="cpe|exhibit|connector|28"/>
          <p:cNvCxnSpPr/>
          <p:nvPr/>
        </p:nvCxnSpPr>
        <p:spPr>
          <a:xfrm>
            <a:off x="10290543" y="3794760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30" name="cpe|exhibit|fill|29"/>
          <p:cNvSpPr/>
          <p:nvPr/>
        </p:nvSpPr>
        <p:spPr>
          <a:xfrm>
            <a:off x="9193263" y="3986784"/>
            <a:ext cx="2194560" cy="8686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text|30"/>
          <p:cNvSpPr txBox="1"/>
          <p:nvPr/>
        </p:nvSpPr>
        <p:spPr>
          <a:xfrm>
            <a:off x="9248127" y="3986784"/>
            <a:ext cx="2084832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100"/>
              </a:spcAft>
            </a:pPr>
            <a:r>
              <a:rPr sz="1200" b="1">
                <a:solidFill>
                  <a:srgbClr val="1C2530"/>
                </a:solidFill>
                <a:latin typeface="Arial"/>
              </a:rPr>
              <a:t>Procurement</a:t>
            </a:r>
          </a:p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CPO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PROGRAMME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A lean transformation office with four initiative owners runs the programme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Governance charter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16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4998568" y="1481328"/>
            <a:ext cx="2194560" cy="86868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5053432" y="1481328"/>
            <a:ext cx="2084832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Steering committee</a:t>
            </a:r>
          </a:p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CEO (chair), CFO, COO</a:t>
            </a:r>
          </a:p>
        </p:txBody>
      </p:sp>
      <p:cxnSp>
        <p:nvCxnSpPr>
          <p:cNvPr id="8" name="cpe|exhibit|connector|7"/>
          <p:cNvCxnSpPr/>
          <p:nvPr/>
        </p:nvCxnSpPr>
        <p:spPr>
          <a:xfrm>
            <a:off x="6095848" y="2350008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9" name="cpe|exhibit|connector|8"/>
          <p:cNvCxnSpPr/>
          <p:nvPr/>
        </p:nvCxnSpPr>
        <p:spPr>
          <a:xfrm>
            <a:off x="6095848" y="2542032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10" name="cpe|exhibit|fill|9"/>
          <p:cNvSpPr/>
          <p:nvPr/>
        </p:nvSpPr>
        <p:spPr>
          <a:xfrm>
            <a:off x="4998568" y="2734056"/>
            <a:ext cx="2194560" cy="868680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5053432" y="2734056"/>
            <a:ext cx="2084832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100"/>
              </a:spcAft>
            </a:pPr>
            <a:r>
              <a:rPr sz="1200" b="1">
                <a:solidFill>
                  <a:srgbClr val="1C2530"/>
                </a:solidFill>
                <a:latin typeface="Arial"/>
              </a:rPr>
              <a:t>Transformation office</a:t>
            </a:r>
          </a:p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Programme director + 3 FTE</a:t>
            </a:r>
          </a:p>
        </p:txBody>
      </p:sp>
      <p:cxnSp>
        <p:nvCxnSpPr>
          <p:cNvPr id="12" name="cpe|exhibit|connector|11"/>
          <p:cNvCxnSpPr/>
          <p:nvPr/>
        </p:nvCxnSpPr>
        <p:spPr>
          <a:xfrm>
            <a:off x="6095848" y="3602736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3" name="cpe|exhibit|connector|12"/>
          <p:cNvCxnSpPr/>
          <p:nvPr/>
        </p:nvCxnSpPr>
        <p:spPr>
          <a:xfrm>
            <a:off x="1901152" y="3794760"/>
            <a:ext cx="4194696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4" name="cpe|exhibit|connector|13"/>
          <p:cNvCxnSpPr/>
          <p:nvPr/>
        </p:nvCxnSpPr>
        <p:spPr>
          <a:xfrm>
            <a:off x="1901152" y="3794760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15" name="cpe|exhibit|fill|14"/>
          <p:cNvSpPr/>
          <p:nvPr/>
        </p:nvSpPr>
        <p:spPr>
          <a:xfrm>
            <a:off x="803872" y="3986784"/>
            <a:ext cx="2194560" cy="8686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text|15"/>
          <p:cNvSpPr txBox="1"/>
          <p:nvPr/>
        </p:nvSpPr>
        <p:spPr>
          <a:xfrm>
            <a:off x="858736" y="3986784"/>
            <a:ext cx="2084832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100"/>
              </a:spcAft>
            </a:pPr>
            <a:r>
              <a:rPr sz="1200" b="1">
                <a:solidFill>
                  <a:srgbClr val="1C2530"/>
                </a:solidFill>
                <a:latin typeface="Arial"/>
              </a:rPr>
              <a:t>Network</a:t>
            </a:r>
          </a:p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Head of logistics</a:t>
            </a:r>
          </a:p>
        </p:txBody>
      </p:sp>
      <p:cxnSp>
        <p:nvCxnSpPr>
          <p:cNvPr id="17" name="cpe|exhibit|connector|16"/>
          <p:cNvCxnSpPr/>
          <p:nvPr/>
        </p:nvCxnSpPr>
        <p:spPr>
          <a:xfrm>
            <a:off x="6095848" y="3602736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8" name="cpe|exhibit|connector|17"/>
          <p:cNvCxnSpPr/>
          <p:nvPr/>
        </p:nvCxnSpPr>
        <p:spPr>
          <a:xfrm>
            <a:off x="4697616" y="3794760"/>
            <a:ext cx="1398232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9" name="cpe|exhibit|connector|18"/>
          <p:cNvCxnSpPr/>
          <p:nvPr/>
        </p:nvCxnSpPr>
        <p:spPr>
          <a:xfrm>
            <a:off x="4697616" y="3794760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20" name="cpe|exhibit|fill|19"/>
          <p:cNvSpPr/>
          <p:nvPr/>
        </p:nvSpPr>
        <p:spPr>
          <a:xfrm>
            <a:off x="3600336" y="3986784"/>
            <a:ext cx="2194560" cy="8686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text|20"/>
          <p:cNvSpPr txBox="1"/>
          <p:nvPr/>
        </p:nvSpPr>
        <p:spPr>
          <a:xfrm>
            <a:off x="3655200" y="3986784"/>
            <a:ext cx="2084832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100"/>
              </a:spcAft>
            </a:pPr>
            <a:r>
              <a:rPr sz="1200" b="1">
                <a:solidFill>
                  <a:srgbClr val="1C2530"/>
                </a:solidFill>
                <a:latin typeface="Arial"/>
              </a:rPr>
              <a:t>Automation</a:t>
            </a:r>
          </a:p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Head of hubs</a:t>
            </a:r>
          </a:p>
        </p:txBody>
      </p:sp>
      <p:cxnSp>
        <p:nvCxnSpPr>
          <p:cNvPr id="22" name="cpe|exhibit|connector|21"/>
          <p:cNvCxnSpPr/>
          <p:nvPr/>
        </p:nvCxnSpPr>
        <p:spPr>
          <a:xfrm>
            <a:off x="6095848" y="3602736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3" name="cpe|exhibit|connector|22"/>
          <p:cNvCxnSpPr/>
          <p:nvPr/>
        </p:nvCxnSpPr>
        <p:spPr>
          <a:xfrm>
            <a:off x="6095848" y="3794760"/>
            <a:ext cx="1398232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4" name="cpe|exhibit|connector|23"/>
          <p:cNvCxnSpPr/>
          <p:nvPr/>
        </p:nvCxnSpPr>
        <p:spPr>
          <a:xfrm>
            <a:off x="7494080" y="3794760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25" name="cpe|exhibit|fill|24"/>
          <p:cNvSpPr/>
          <p:nvPr/>
        </p:nvSpPr>
        <p:spPr>
          <a:xfrm>
            <a:off x="6396800" y="3986784"/>
            <a:ext cx="2194560" cy="8686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text|25"/>
          <p:cNvSpPr txBox="1"/>
          <p:nvPr/>
        </p:nvSpPr>
        <p:spPr>
          <a:xfrm>
            <a:off x="6451663" y="3986784"/>
            <a:ext cx="2084832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100"/>
              </a:spcAft>
            </a:pPr>
            <a:r>
              <a:rPr sz="1200" b="1">
                <a:solidFill>
                  <a:srgbClr val="1C2530"/>
                </a:solidFill>
                <a:latin typeface="Arial"/>
              </a:rPr>
              <a:t>Customer terms</a:t>
            </a:r>
          </a:p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Sales director</a:t>
            </a:r>
          </a:p>
        </p:txBody>
      </p:sp>
      <p:cxnSp>
        <p:nvCxnSpPr>
          <p:cNvPr id="27" name="cpe|exhibit|connector|26"/>
          <p:cNvCxnSpPr/>
          <p:nvPr/>
        </p:nvCxnSpPr>
        <p:spPr>
          <a:xfrm>
            <a:off x="6095848" y="3602736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8" name="cpe|exhibit|connector|27"/>
          <p:cNvCxnSpPr/>
          <p:nvPr/>
        </p:nvCxnSpPr>
        <p:spPr>
          <a:xfrm>
            <a:off x="6095848" y="3794760"/>
            <a:ext cx="4194695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9" name="cpe|exhibit|connector|28"/>
          <p:cNvCxnSpPr/>
          <p:nvPr/>
        </p:nvCxnSpPr>
        <p:spPr>
          <a:xfrm>
            <a:off x="10290543" y="3794760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30" name="cpe|exhibit|fill|29"/>
          <p:cNvSpPr/>
          <p:nvPr/>
        </p:nvSpPr>
        <p:spPr>
          <a:xfrm>
            <a:off x="9193263" y="3986784"/>
            <a:ext cx="2194560" cy="8686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text|30"/>
          <p:cNvSpPr txBox="1"/>
          <p:nvPr/>
        </p:nvSpPr>
        <p:spPr>
          <a:xfrm>
            <a:off x="9248127" y="3986784"/>
            <a:ext cx="2084832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100"/>
              </a:spcAft>
            </a:pPr>
            <a:r>
              <a:rPr sz="1200" b="1">
                <a:solidFill>
                  <a:srgbClr val="1C2530"/>
                </a:solidFill>
                <a:latin typeface="Arial"/>
              </a:rPr>
              <a:t>Procurement</a:t>
            </a:r>
          </a:p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CPO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PROGRAMME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The target architecture adds a WMS and a routing engine on a common data layer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IT design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17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502920" y="1481328"/>
            <a:ext cx="2103120" cy="1110996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594360" y="1481328"/>
            <a:ext cx="1920240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Channels</a:t>
            </a:r>
          </a:p>
        </p:txBody>
      </p:sp>
      <p:sp>
        <p:nvSpPr>
          <p:cNvPr id="8" name="cpe|exhibit|fill|7"/>
          <p:cNvSpPr/>
          <p:nvPr/>
        </p:nvSpPr>
        <p:spPr>
          <a:xfrm>
            <a:off x="2697480" y="1481328"/>
            <a:ext cx="2734970" cy="1110996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text|8"/>
          <p:cNvSpPr txBox="1"/>
          <p:nvPr/>
        </p:nvSpPr>
        <p:spPr>
          <a:xfrm>
            <a:off x="2752344" y="1481328"/>
            <a:ext cx="2625242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EDI</a:t>
            </a:r>
          </a:p>
        </p:txBody>
      </p:sp>
      <p:sp>
        <p:nvSpPr>
          <p:cNvPr id="10" name="cpe|exhibit|fill|9"/>
          <p:cNvSpPr/>
          <p:nvPr/>
        </p:nvSpPr>
        <p:spPr>
          <a:xfrm>
            <a:off x="5505602" y="1481328"/>
            <a:ext cx="2734970" cy="1110996"/>
          </a:xfrm>
          <a:prstGeom prst="rect">
            <a:avLst/>
          </a:prstGeom>
          <a:solidFill>
            <a:srgbClr val="EEF2F6"/>
          </a:solidFill>
          <a:ln w="19050">
            <a:solidFill>
              <a:srgbClr val="E08A0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5560466" y="1481328"/>
            <a:ext cx="2625242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Customer portal</a:t>
            </a:r>
          </a:p>
        </p:txBody>
      </p:sp>
      <p:sp>
        <p:nvSpPr>
          <p:cNvPr id="12" name="cpe|exhibit|fill|11"/>
          <p:cNvSpPr/>
          <p:nvPr/>
        </p:nvSpPr>
        <p:spPr>
          <a:xfrm>
            <a:off x="8313725" y="1481328"/>
            <a:ext cx="2734970" cy="1110996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cpe|exhibit|text|12"/>
          <p:cNvSpPr txBox="1"/>
          <p:nvPr/>
        </p:nvSpPr>
        <p:spPr>
          <a:xfrm>
            <a:off x="8368589" y="1481328"/>
            <a:ext cx="2625242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Call centre</a:t>
            </a:r>
          </a:p>
        </p:txBody>
      </p:sp>
      <p:sp>
        <p:nvSpPr>
          <p:cNvPr id="14" name="cpe|exhibit|fill|13"/>
          <p:cNvSpPr/>
          <p:nvPr/>
        </p:nvSpPr>
        <p:spPr>
          <a:xfrm>
            <a:off x="502920" y="2683764"/>
            <a:ext cx="2103120" cy="1110996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text|14"/>
          <p:cNvSpPr txBox="1"/>
          <p:nvPr/>
        </p:nvSpPr>
        <p:spPr>
          <a:xfrm>
            <a:off x="594360" y="2683764"/>
            <a:ext cx="1920240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Applications</a:t>
            </a:r>
          </a:p>
        </p:txBody>
      </p:sp>
      <p:sp>
        <p:nvSpPr>
          <p:cNvPr id="16" name="cpe|exhibit|fill|15"/>
          <p:cNvSpPr/>
          <p:nvPr/>
        </p:nvSpPr>
        <p:spPr>
          <a:xfrm>
            <a:off x="2697480" y="2683764"/>
            <a:ext cx="2032940" cy="1110996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text|16"/>
          <p:cNvSpPr txBox="1"/>
          <p:nvPr/>
        </p:nvSpPr>
        <p:spPr>
          <a:xfrm>
            <a:off x="2752344" y="2683764"/>
            <a:ext cx="1923212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ERP</a:t>
            </a:r>
          </a:p>
        </p:txBody>
      </p:sp>
      <p:sp>
        <p:nvSpPr>
          <p:cNvPr id="18" name="cpe|exhibit|fill|17"/>
          <p:cNvSpPr/>
          <p:nvPr/>
        </p:nvSpPr>
        <p:spPr>
          <a:xfrm>
            <a:off x="4803572" y="2683764"/>
            <a:ext cx="2032940" cy="1110996"/>
          </a:xfrm>
          <a:prstGeom prst="rect">
            <a:avLst/>
          </a:prstGeom>
          <a:solidFill>
            <a:srgbClr val="E08A00"/>
          </a:solidFill>
          <a:ln w="19050">
            <a:solidFill>
              <a:srgbClr val="E08A0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cpe|exhibit|text|18"/>
          <p:cNvSpPr txBox="1"/>
          <p:nvPr/>
        </p:nvSpPr>
        <p:spPr>
          <a:xfrm>
            <a:off x="4858436" y="2683764"/>
            <a:ext cx="1923212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WMS</a:t>
            </a:r>
          </a:p>
        </p:txBody>
      </p:sp>
      <p:sp>
        <p:nvSpPr>
          <p:cNvPr id="20" name="cpe|exhibit|fill|19"/>
          <p:cNvSpPr/>
          <p:nvPr/>
        </p:nvSpPr>
        <p:spPr>
          <a:xfrm>
            <a:off x="6909664" y="2683764"/>
            <a:ext cx="2032940" cy="1110996"/>
          </a:xfrm>
          <a:prstGeom prst="rect">
            <a:avLst/>
          </a:prstGeom>
          <a:solidFill>
            <a:srgbClr val="EEF2F6"/>
          </a:solidFill>
          <a:ln w="19050">
            <a:solidFill>
              <a:srgbClr val="E08A0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text|20"/>
          <p:cNvSpPr txBox="1"/>
          <p:nvPr/>
        </p:nvSpPr>
        <p:spPr>
          <a:xfrm>
            <a:off x="6964528" y="2683764"/>
            <a:ext cx="1923212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Routing engine</a:t>
            </a:r>
          </a:p>
        </p:txBody>
      </p:sp>
      <p:sp>
        <p:nvSpPr>
          <p:cNvPr id="22" name="cpe|exhibit|fill|21"/>
          <p:cNvSpPr/>
          <p:nvPr/>
        </p:nvSpPr>
        <p:spPr>
          <a:xfrm>
            <a:off x="9015755" y="2683764"/>
            <a:ext cx="2032940" cy="1110996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text|22"/>
          <p:cNvSpPr txBox="1"/>
          <p:nvPr/>
        </p:nvSpPr>
        <p:spPr>
          <a:xfrm>
            <a:off x="9070619" y="2683764"/>
            <a:ext cx="1923212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TMS</a:t>
            </a:r>
          </a:p>
        </p:txBody>
      </p:sp>
      <p:sp>
        <p:nvSpPr>
          <p:cNvPr id="24" name="cpe|exhibit|fill|23"/>
          <p:cNvSpPr/>
          <p:nvPr/>
        </p:nvSpPr>
        <p:spPr>
          <a:xfrm>
            <a:off x="502920" y="3886200"/>
            <a:ext cx="2103120" cy="1110996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cpe|exhibit|text|24"/>
          <p:cNvSpPr txBox="1"/>
          <p:nvPr/>
        </p:nvSpPr>
        <p:spPr>
          <a:xfrm>
            <a:off x="594360" y="3886200"/>
            <a:ext cx="1920240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Data</a:t>
            </a:r>
          </a:p>
        </p:txBody>
      </p:sp>
      <p:sp>
        <p:nvSpPr>
          <p:cNvPr id="26" name="cpe|exhibit|fill|25"/>
          <p:cNvSpPr/>
          <p:nvPr/>
        </p:nvSpPr>
        <p:spPr>
          <a:xfrm>
            <a:off x="2697480" y="3886200"/>
            <a:ext cx="4139032" cy="1110996"/>
          </a:xfrm>
          <a:prstGeom prst="rect">
            <a:avLst/>
          </a:prstGeom>
          <a:solidFill>
            <a:srgbClr val="EEF2F6"/>
          </a:solidFill>
          <a:ln w="19050">
            <a:solidFill>
              <a:srgbClr val="E08A00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text|26"/>
          <p:cNvSpPr txBox="1"/>
          <p:nvPr/>
        </p:nvSpPr>
        <p:spPr>
          <a:xfrm>
            <a:off x="2752344" y="3886200"/>
            <a:ext cx="4029304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Common data layer</a:t>
            </a:r>
          </a:p>
        </p:txBody>
      </p:sp>
      <p:sp>
        <p:nvSpPr>
          <p:cNvPr id="28" name="cpe|exhibit|fill|27"/>
          <p:cNvSpPr/>
          <p:nvPr/>
        </p:nvSpPr>
        <p:spPr>
          <a:xfrm>
            <a:off x="6909664" y="3886200"/>
            <a:ext cx="4139032" cy="1110996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text|28"/>
          <p:cNvSpPr txBox="1"/>
          <p:nvPr/>
        </p:nvSpPr>
        <p:spPr>
          <a:xfrm>
            <a:off x="6964528" y="3886200"/>
            <a:ext cx="4029304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Reporting</a:t>
            </a:r>
          </a:p>
        </p:txBody>
      </p:sp>
      <p:sp>
        <p:nvSpPr>
          <p:cNvPr id="30" name="cpe|exhibit|fill|29"/>
          <p:cNvSpPr/>
          <p:nvPr/>
        </p:nvSpPr>
        <p:spPr>
          <a:xfrm>
            <a:off x="502920" y="5088636"/>
            <a:ext cx="2103120" cy="1110996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text|30"/>
          <p:cNvSpPr txBox="1"/>
          <p:nvPr/>
        </p:nvSpPr>
        <p:spPr>
          <a:xfrm>
            <a:off x="594360" y="5088636"/>
            <a:ext cx="1920240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Infrastructure</a:t>
            </a:r>
          </a:p>
        </p:txBody>
      </p:sp>
      <p:sp>
        <p:nvSpPr>
          <p:cNvPr id="32" name="cpe|exhibit|fill|31"/>
          <p:cNvSpPr/>
          <p:nvPr/>
        </p:nvSpPr>
        <p:spPr>
          <a:xfrm>
            <a:off x="2697480" y="5088636"/>
            <a:ext cx="4139032" cy="1110996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text|32"/>
          <p:cNvSpPr txBox="1"/>
          <p:nvPr/>
        </p:nvSpPr>
        <p:spPr>
          <a:xfrm>
            <a:off x="2752344" y="5088636"/>
            <a:ext cx="4029304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Cloud</a:t>
            </a:r>
          </a:p>
        </p:txBody>
      </p:sp>
      <p:sp>
        <p:nvSpPr>
          <p:cNvPr id="34" name="cpe|exhibit|fill|33"/>
          <p:cNvSpPr/>
          <p:nvPr/>
        </p:nvSpPr>
        <p:spPr>
          <a:xfrm>
            <a:off x="6909664" y="5088636"/>
            <a:ext cx="4139032" cy="1110996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text|34"/>
          <p:cNvSpPr txBox="1"/>
          <p:nvPr/>
        </p:nvSpPr>
        <p:spPr>
          <a:xfrm>
            <a:off x="6964528" y="5088636"/>
            <a:ext cx="4029304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Hub automation controls</a:t>
            </a:r>
          </a:p>
        </p:txBody>
      </p:sp>
      <p:sp>
        <p:nvSpPr>
          <p:cNvPr id="36" name="cpe|exhibit|fill|35"/>
          <p:cNvSpPr/>
          <p:nvPr/>
        </p:nvSpPr>
        <p:spPr>
          <a:xfrm>
            <a:off x="11121847" y="1481328"/>
            <a:ext cx="566928" cy="4718304"/>
          </a:xfrm>
          <a:prstGeom prst="rect">
            <a:avLst/>
          </a:prstGeom>
          <a:solidFill>
            <a:srgbClr val="F4F6F9"/>
          </a:solidFill>
          <a:ln w="6350">
            <a:solidFill>
              <a:srgbClr val="B6C0C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cpe|exhibit|vtext|36"/>
          <p:cNvSpPr txBox="1"/>
          <p:nvPr/>
        </p:nvSpPr>
        <p:spPr>
          <a:xfrm>
            <a:off x="11121847" y="1572768"/>
            <a:ext cx="566928" cy="4535424"/>
          </a:xfrm>
          <a:prstGeom prst="rect">
            <a:avLst/>
          </a:prstGeom>
          <a:noFill/>
        </p:spPr>
        <p:txBody>
          <a:bodyPr wrap="square" lIns="0" rIns="0" tIns="0" bIns="0" anchor="ctr" vert="vert27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C2530"/>
                </a:solidFill>
                <a:latin typeface="Arial"/>
              </a:rPr>
              <a:t>Security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PROGRAMME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The target architecture adds a WMS and a routing engine on a common data layer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IT design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17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502920" y="1481328"/>
            <a:ext cx="2103120" cy="1110996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594360" y="1481328"/>
            <a:ext cx="1920240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Channels</a:t>
            </a:r>
          </a:p>
        </p:txBody>
      </p:sp>
      <p:sp>
        <p:nvSpPr>
          <p:cNvPr id="8" name="cpe|exhibit|fill|7"/>
          <p:cNvSpPr/>
          <p:nvPr/>
        </p:nvSpPr>
        <p:spPr>
          <a:xfrm>
            <a:off x="2697480" y="1481328"/>
            <a:ext cx="2734970" cy="1110996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text|8"/>
          <p:cNvSpPr txBox="1"/>
          <p:nvPr/>
        </p:nvSpPr>
        <p:spPr>
          <a:xfrm>
            <a:off x="2752344" y="1481328"/>
            <a:ext cx="2625242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EDI</a:t>
            </a:r>
          </a:p>
        </p:txBody>
      </p:sp>
      <p:sp>
        <p:nvSpPr>
          <p:cNvPr id="10" name="cpe|exhibit|fill|9"/>
          <p:cNvSpPr/>
          <p:nvPr/>
        </p:nvSpPr>
        <p:spPr>
          <a:xfrm>
            <a:off x="5505602" y="1481328"/>
            <a:ext cx="2734970" cy="1110996"/>
          </a:xfrm>
          <a:prstGeom prst="rect">
            <a:avLst/>
          </a:prstGeom>
          <a:solidFill>
            <a:srgbClr val="EEF2F6"/>
          </a:solidFill>
          <a:ln w="19050">
            <a:solidFill>
              <a:srgbClr val="E08A0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5560466" y="1481328"/>
            <a:ext cx="2625242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Customer portal</a:t>
            </a:r>
          </a:p>
        </p:txBody>
      </p:sp>
      <p:sp>
        <p:nvSpPr>
          <p:cNvPr id="12" name="cpe|exhibit|fill|11"/>
          <p:cNvSpPr/>
          <p:nvPr/>
        </p:nvSpPr>
        <p:spPr>
          <a:xfrm>
            <a:off x="8313725" y="1481328"/>
            <a:ext cx="2734970" cy="1110996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cpe|exhibit|text|12"/>
          <p:cNvSpPr txBox="1"/>
          <p:nvPr/>
        </p:nvSpPr>
        <p:spPr>
          <a:xfrm>
            <a:off x="8368589" y="1481328"/>
            <a:ext cx="2625242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Call centre</a:t>
            </a:r>
          </a:p>
        </p:txBody>
      </p:sp>
      <p:sp>
        <p:nvSpPr>
          <p:cNvPr id="14" name="cpe|exhibit|fill|13"/>
          <p:cNvSpPr/>
          <p:nvPr/>
        </p:nvSpPr>
        <p:spPr>
          <a:xfrm>
            <a:off x="502920" y="2683764"/>
            <a:ext cx="2103120" cy="1110996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text|14"/>
          <p:cNvSpPr txBox="1"/>
          <p:nvPr/>
        </p:nvSpPr>
        <p:spPr>
          <a:xfrm>
            <a:off x="594360" y="2683764"/>
            <a:ext cx="1920240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Applications</a:t>
            </a:r>
          </a:p>
        </p:txBody>
      </p:sp>
      <p:sp>
        <p:nvSpPr>
          <p:cNvPr id="16" name="cpe|exhibit|fill|15"/>
          <p:cNvSpPr/>
          <p:nvPr/>
        </p:nvSpPr>
        <p:spPr>
          <a:xfrm>
            <a:off x="2697480" y="2683764"/>
            <a:ext cx="2032940" cy="1110996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text|16"/>
          <p:cNvSpPr txBox="1"/>
          <p:nvPr/>
        </p:nvSpPr>
        <p:spPr>
          <a:xfrm>
            <a:off x="2752344" y="2683764"/>
            <a:ext cx="1923212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ERP</a:t>
            </a:r>
          </a:p>
        </p:txBody>
      </p:sp>
      <p:sp>
        <p:nvSpPr>
          <p:cNvPr id="18" name="cpe|exhibit|fill|17"/>
          <p:cNvSpPr/>
          <p:nvPr/>
        </p:nvSpPr>
        <p:spPr>
          <a:xfrm>
            <a:off x="4803572" y="2683764"/>
            <a:ext cx="2032940" cy="1110996"/>
          </a:xfrm>
          <a:prstGeom prst="rect">
            <a:avLst/>
          </a:prstGeom>
          <a:solidFill>
            <a:srgbClr val="E08A00"/>
          </a:solidFill>
          <a:ln w="19050">
            <a:solidFill>
              <a:srgbClr val="E08A0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cpe|exhibit|text|18"/>
          <p:cNvSpPr txBox="1"/>
          <p:nvPr/>
        </p:nvSpPr>
        <p:spPr>
          <a:xfrm>
            <a:off x="4858436" y="2683764"/>
            <a:ext cx="1923212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WMS</a:t>
            </a:r>
          </a:p>
        </p:txBody>
      </p:sp>
      <p:sp>
        <p:nvSpPr>
          <p:cNvPr id="20" name="cpe|exhibit|fill|19"/>
          <p:cNvSpPr/>
          <p:nvPr/>
        </p:nvSpPr>
        <p:spPr>
          <a:xfrm>
            <a:off x="6909664" y="2683764"/>
            <a:ext cx="2032940" cy="1110996"/>
          </a:xfrm>
          <a:prstGeom prst="rect">
            <a:avLst/>
          </a:prstGeom>
          <a:solidFill>
            <a:srgbClr val="EEF2F6"/>
          </a:solidFill>
          <a:ln w="19050">
            <a:solidFill>
              <a:srgbClr val="E08A0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text|20"/>
          <p:cNvSpPr txBox="1"/>
          <p:nvPr/>
        </p:nvSpPr>
        <p:spPr>
          <a:xfrm>
            <a:off x="6964528" y="2683764"/>
            <a:ext cx="1923212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Routing engine</a:t>
            </a:r>
          </a:p>
        </p:txBody>
      </p:sp>
      <p:sp>
        <p:nvSpPr>
          <p:cNvPr id="22" name="cpe|exhibit|fill|21"/>
          <p:cNvSpPr/>
          <p:nvPr/>
        </p:nvSpPr>
        <p:spPr>
          <a:xfrm>
            <a:off x="9015755" y="2683764"/>
            <a:ext cx="2032940" cy="1110996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text|22"/>
          <p:cNvSpPr txBox="1"/>
          <p:nvPr/>
        </p:nvSpPr>
        <p:spPr>
          <a:xfrm>
            <a:off x="9070619" y="2683764"/>
            <a:ext cx="1923212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TMS</a:t>
            </a:r>
          </a:p>
        </p:txBody>
      </p:sp>
      <p:sp>
        <p:nvSpPr>
          <p:cNvPr id="24" name="cpe|exhibit|fill|23"/>
          <p:cNvSpPr/>
          <p:nvPr/>
        </p:nvSpPr>
        <p:spPr>
          <a:xfrm>
            <a:off x="502920" y="3886200"/>
            <a:ext cx="2103120" cy="1110996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cpe|exhibit|text|24"/>
          <p:cNvSpPr txBox="1"/>
          <p:nvPr/>
        </p:nvSpPr>
        <p:spPr>
          <a:xfrm>
            <a:off x="594360" y="3886200"/>
            <a:ext cx="1920240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Data</a:t>
            </a:r>
          </a:p>
        </p:txBody>
      </p:sp>
      <p:sp>
        <p:nvSpPr>
          <p:cNvPr id="26" name="cpe|exhibit|fill|25"/>
          <p:cNvSpPr/>
          <p:nvPr/>
        </p:nvSpPr>
        <p:spPr>
          <a:xfrm>
            <a:off x="2697480" y="3886200"/>
            <a:ext cx="4139032" cy="1110996"/>
          </a:xfrm>
          <a:prstGeom prst="rect">
            <a:avLst/>
          </a:prstGeom>
          <a:solidFill>
            <a:srgbClr val="EEF2F6"/>
          </a:solidFill>
          <a:ln w="19050">
            <a:solidFill>
              <a:srgbClr val="E08A00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text|26"/>
          <p:cNvSpPr txBox="1"/>
          <p:nvPr/>
        </p:nvSpPr>
        <p:spPr>
          <a:xfrm>
            <a:off x="2752344" y="3886200"/>
            <a:ext cx="4029304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Common data layer</a:t>
            </a:r>
          </a:p>
        </p:txBody>
      </p:sp>
      <p:sp>
        <p:nvSpPr>
          <p:cNvPr id="28" name="cpe|exhibit|fill|27"/>
          <p:cNvSpPr/>
          <p:nvPr/>
        </p:nvSpPr>
        <p:spPr>
          <a:xfrm>
            <a:off x="6909664" y="3886200"/>
            <a:ext cx="4139032" cy="1110996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text|28"/>
          <p:cNvSpPr txBox="1"/>
          <p:nvPr/>
        </p:nvSpPr>
        <p:spPr>
          <a:xfrm>
            <a:off x="6964528" y="3886200"/>
            <a:ext cx="4029304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Reporting</a:t>
            </a:r>
          </a:p>
        </p:txBody>
      </p:sp>
      <p:sp>
        <p:nvSpPr>
          <p:cNvPr id="30" name="cpe|exhibit|fill|29"/>
          <p:cNvSpPr/>
          <p:nvPr/>
        </p:nvSpPr>
        <p:spPr>
          <a:xfrm>
            <a:off x="502920" y="5088636"/>
            <a:ext cx="2103120" cy="1110996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text|30"/>
          <p:cNvSpPr txBox="1"/>
          <p:nvPr/>
        </p:nvSpPr>
        <p:spPr>
          <a:xfrm>
            <a:off x="594360" y="5088636"/>
            <a:ext cx="1920240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Infrastructure</a:t>
            </a:r>
          </a:p>
        </p:txBody>
      </p:sp>
      <p:sp>
        <p:nvSpPr>
          <p:cNvPr id="32" name="cpe|exhibit|fill|31"/>
          <p:cNvSpPr/>
          <p:nvPr/>
        </p:nvSpPr>
        <p:spPr>
          <a:xfrm>
            <a:off x="2697480" y="5088636"/>
            <a:ext cx="4139032" cy="1110996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text|32"/>
          <p:cNvSpPr txBox="1"/>
          <p:nvPr/>
        </p:nvSpPr>
        <p:spPr>
          <a:xfrm>
            <a:off x="2752344" y="5088636"/>
            <a:ext cx="4029304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Cloud</a:t>
            </a:r>
          </a:p>
        </p:txBody>
      </p:sp>
      <p:sp>
        <p:nvSpPr>
          <p:cNvPr id="34" name="cpe|exhibit|fill|33"/>
          <p:cNvSpPr/>
          <p:nvPr/>
        </p:nvSpPr>
        <p:spPr>
          <a:xfrm>
            <a:off x="6909664" y="5088636"/>
            <a:ext cx="4139032" cy="1110996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text|34"/>
          <p:cNvSpPr txBox="1"/>
          <p:nvPr/>
        </p:nvSpPr>
        <p:spPr>
          <a:xfrm>
            <a:off x="6964528" y="5088636"/>
            <a:ext cx="4029304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Hub automation controls</a:t>
            </a:r>
          </a:p>
        </p:txBody>
      </p:sp>
      <p:sp>
        <p:nvSpPr>
          <p:cNvPr id="36" name="cpe|exhibit|fill|35"/>
          <p:cNvSpPr/>
          <p:nvPr/>
        </p:nvSpPr>
        <p:spPr>
          <a:xfrm>
            <a:off x="11121847" y="1481328"/>
            <a:ext cx="566928" cy="4718304"/>
          </a:xfrm>
          <a:prstGeom prst="rect">
            <a:avLst/>
          </a:prstGeom>
          <a:solidFill>
            <a:srgbClr val="F4F6F9"/>
          </a:solidFill>
          <a:ln w="6350">
            <a:solidFill>
              <a:srgbClr val="B6C0C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cpe|exhibit|vtext|36"/>
          <p:cNvSpPr txBox="1"/>
          <p:nvPr/>
        </p:nvSpPr>
        <p:spPr>
          <a:xfrm>
            <a:off x="11121847" y="1572768"/>
            <a:ext cx="566928" cy="4535424"/>
          </a:xfrm>
          <a:prstGeom prst="rect">
            <a:avLst/>
          </a:prstGeom>
          <a:noFill/>
        </p:spPr>
        <p:txBody>
          <a:bodyPr wrap="square" lIns="0" rIns="0" tIns="0" bIns="0" anchor="ctr" vert="vert27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C2530"/>
                </a:solidFill>
                <a:latin typeface="Arial"/>
              </a:rPr>
              <a:t>Security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PROGRAMME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Five milestones gate the programme; the WMS go-live in Q2 2027 is the critical one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Programme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19</a:t>
            </a:r>
          </a:p>
        </p:txBody>
      </p:sp>
      <p:cxnSp>
        <p:nvCxnSpPr>
          <p:cNvPr id="6" name="cpe|exhibit|line|5"/>
          <p:cNvCxnSpPr/>
          <p:nvPr/>
        </p:nvCxnSpPr>
        <p:spPr>
          <a:xfrm>
            <a:off x="502920" y="3651748"/>
            <a:ext cx="11185855" cy="0"/>
          </a:xfrm>
          <a:prstGeom prst="line">
            <a:avLst/>
          </a:prstGeom>
          <a:ln w="19050">
            <a:solidFill>
              <a:srgbClr val="B6C0CB"/>
            </a:solidFill>
          </a:ln>
        </p:spPr>
      </p:cxnSp>
      <p:sp>
        <p:nvSpPr>
          <p:cNvPr id="7" name="cpe|exhibit|marker|6"/>
          <p:cNvSpPr/>
          <p:nvPr/>
        </p:nvSpPr>
        <p:spPr>
          <a:xfrm>
            <a:off x="1552926" y="3583168"/>
            <a:ext cx="137160" cy="1371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8" name="cpe|exhibit|line|7"/>
          <p:cNvCxnSpPr/>
          <p:nvPr/>
        </p:nvCxnSpPr>
        <p:spPr>
          <a:xfrm flipV="1">
            <a:off x="1621506" y="3450580"/>
            <a:ext cx="0" cy="132588"/>
          </a:xfrm>
          <a:prstGeom prst="line">
            <a:avLst/>
          </a:prstGeom>
          <a:ln w="6350">
            <a:solidFill>
              <a:srgbClr val="B6C0CB"/>
            </a:solidFill>
          </a:ln>
        </p:spPr>
      </p:cxnSp>
      <p:sp>
        <p:nvSpPr>
          <p:cNvPr id="9" name="cpe|exhibit|text|8"/>
          <p:cNvSpPr txBox="1"/>
          <p:nvPr/>
        </p:nvSpPr>
        <p:spPr>
          <a:xfrm>
            <a:off x="548640" y="3148828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3294B"/>
                </a:solidFill>
                <a:latin typeface="Arial"/>
              </a:rPr>
              <a:t>Oct 2026</a:t>
            </a:r>
          </a:p>
        </p:txBody>
      </p:sp>
      <p:sp>
        <p:nvSpPr>
          <p:cNvPr id="10" name="cpe|exhibit|text|9"/>
          <p:cNvSpPr txBox="1"/>
          <p:nvPr/>
        </p:nvSpPr>
        <p:spPr>
          <a:xfrm>
            <a:off x="548640" y="1481328"/>
            <a:ext cx="2145731" cy="16675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New customer terms live</a:t>
            </a:r>
          </a:p>
        </p:txBody>
      </p:sp>
      <p:sp>
        <p:nvSpPr>
          <p:cNvPr id="11" name="cpe|exhibit|marker|10"/>
          <p:cNvSpPr/>
          <p:nvPr/>
        </p:nvSpPr>
        <p:spPr>
          <a:xfrm>
            <a:off x="3790097" y="3583168"/>
            <a:ext cx="137160" cy="1371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2" name="cpe|exhibit|line|11"/>
          <p:cNvCxnSpPr/>
          <p:nvPr/>
        </p:nvCxnSpPr>
        <p:spPr>
          <a:xfrm>
            <a:off x="3858677" y="3720328"/>
            <a:ext cx="0" cy="132588"/>
          </a:xfrm>
          <a:prstGeom prst="line">
            <a:avLst/>
          </a:prstGeom>
          <a:ln w="6350">
            <a:solidFill>
              <a:srgbClr val="B6C0CB"/>
            </a:solidFill>
          </a:ln>
        </p:spPr>
      </p:cxnSp>
      <p:sp>
        <p:nvSpPr>
          <p:cNvPr id="13" name="cpe|exhibit|text|12"/>
          <p:cNvSpPr txBox="1"/>
          <p:nvPr/>
        </p:nvSpPr>
        <p:spPr>
          <a:xfrm>
            <a:off x="2785811" y="3880348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3294B"/>
                </a:solidFill>
                <a:latin typeface="Arial"/>
              </a:rPr>
              <a:t>Dec 2026</a:t>
            </a:r>
          </a:p>
        </p:txBody>
      </p:sp>
      <p:sp>
        <p:nvSpPr>
          <p:cNvPr id="14" name="cpe|exhibit|text|13"/>
          <p:cNvSpPr txBox="1"/>
          <p:nvPr/>
        </p:nvSpPr>
        <p:spPr>
          <a:xfrm>
            <a:off x="2785811" y="4154668"/>
            <a:ext cx="2145731" cy="166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Transport tender awarded</a:t>
            </a:r>
          </a:p>
        </p:txBody>
      </p:sp>
      <p:sp>
        <p:nvSpPr>
          <p:cNvPr id="15" name="cpe|exhibit|marker|14"/>
          <p:cNvSpPr/>
          <p:nvPr/>
        </p:nvSpPr>
        <p:spPr>
          <a:xfrm>
            <a:off x="6027268" y="3583168"/>
            <a:ext cx="137160" cy="1371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6" name="cpe|exhibit|line|15"/>
          <p:cNvCxnSpPr/>
          <p:nvPr/>
        </p:nvCxnSpPr>
        <p:spPr>
          <a:xfrm flipV="1">
            <a:off x="6095848" y="3450580"/>
            <a:ext cx="0" cy="132588"/>
          </a:xfrm>
          <a:prstGeom prst="line">
            <a:avLst/>
          </a:prstGeom>
          <a:ln w="6350">
            <a:solidFill>
              <a:srgbClr val="B6C0CB"/>
            </a:solidFill>
          </a:ln>
        </p:spPr>
      </p:cxnSp>
      <p:sp>
        <p:nvSpPr>
          <p:cNvPr id="17" name="cpe|exhibit|text|16"/>
          <p:cNvSpPr txBox="1"/>
          <p:nvPr/>
        </p:nvSpPr>
        <p:spPr>
          <a:xfrm>
            <a:off x="5022982" y="3148828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3294B"/>
                </a:solidFill>
                <a:latin typeface="Arial"/>
              </a:rPr>
              <a:t>Mar 2027</a:t>
            </a:r>
          </a:p>
        </p:txBody>
      </p:sp>
      <p:sp>
        <p:nvSpPr>
          <p:cNvPr id="18" name="cpe|exhibit|text|17"/>
          <p:cNvSpPr txBox="1"/>
          <p:nvPr/>
        </p:nvSpPr>
        <p:spPr>
          <a:xfrm>
            <a:off x="5022982" y="1481328"/>
            <a:ext cx="2145731" cy="16675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Hub 1 automation commissioned</a:t>
            </a:r>
          </a:p>
        </p:txBody>
      </p:sp>
      <p:sp>
        <p:nvSpPr>
          <p:cNvPr id="19" name="cpe|exhibit|marker|18"/>
          <p:cNvSpPr/>
          <p:nvPr/>
        </p:nvSpPr>
        <p:spPr>
          <a:xfrm>
            <a:off x="8241579" y="3560308"/>
            <a:ext cx="182880" cy="182880"/>
          </a:xfrm>
          <a:prstGeom prst="ellipse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20" name="cpe|exhibit|line|19"/>
          <p:cNvCxnSpPr/>
          <p:nvPr/>
        </p:nvCxnSpPr>
        <p:spPr>
          <a:xfrm>
            <a:off x="8333019" y="3743188"/>
            <a:ext cx="0" cy="109728"/>
          </a:xfrm>
          <a:prstGeom prst="line">
            <a:avLst/>
          </a:prstGeom>
          <a:ln w="6350">
            <a:solidFill>
              <a:srgbClr val="B6C0CB"/>
            </a:solidFill>
          </a:ln>
        </p:spPr>
      </p:cxnSp>
      <p:sp>
        <p:nvSpPr>
          <p:cNvPr id="21" name="cpe|exhibit|text|20"/>
          <p:cNvSpPr txBox="1"/>
          <p:nvPr/>
        </p:nvSpPr>
        <p:spPr>
          <a:xfrm>
            <a:off x="7260153" y="3880348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3294B"/>
                </a:solidFill>
                <a:latin typeface="Arial"/>
              </a:rPr>
              <a:t>Jun 2027</a:t>
            </a:r>
          </a:p>
        </p:txBody>
      </p:sp>
      <p:sp>
        <p:nvSpPr>
          <p:cNvPr id="22" name="cpe|exhibit|text|21"/>
          <p:cNvSpPr txBox="1"/>
          <p:nvPr/>
        </p:nvSpPr>
        <p:spPr>
          <a:xfrm>
            <a:off x="7260153" y="4154668"/>
            <a:ext cx="2145731" cy="166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WMS go-live (critical path)</a:t>
            </a:r>
          </a:p>
        </p:txBody>
      </p:sp>
      <p:sp>
        <p:nvSpPr>
          <p:cNvPr id="23" name="cpe|exhibit|marker|22"/>
          <p:cNvSpPr/>
          <p:nvPr/>
        </p:nvSpPr>
        <p:spPr>
          <a:xfrm>
            <a:off x="10501610" y="3583168"/>
            <a:ext cx="137160" cy="1371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24" name="cpe|exhibit|line|23"/>
          <p:cNvCxnSpPr/>
          <p:nvPr/>
        </p:nvCxnSpPr>
        <p:spPr>
          <a:xfrm flipV="1">
            <a:off x="10570190" y="3450580"/>
            <a:ext cx="0" cy="132588"/>
          </a:xfrm>
          <a:prstGeom prst="line">
            <a:avLst/>
          </a:prstGeom>
          <a:ln w="6350">
            <a:solidFill>
              <a:srgbClr val="B6C0CB"/>
            </a:solidFill>
          </a:ln>
        </p:spPr>
      </p:cxnSp>
      <p:sp>
        <p:nvSpPr>
          <p:cNvPr id="25" name="cpe|exhibit|text|24"/>
          <p:cNvSpPr txBox="1"/>
          <p:nvPr/>
        </p:nvSpPr>
        <p:spPr>
          <a:xfrm>
            <a:off x="9497324" y="3148828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3294B"/>
                </a:solidFill>
                <a:latin typeface="Arial"/>
              </a:rPr>
              <a:t>Dec 2027</a:t>
            </a:r>
          </a:p>
        </p:txBody>
      </p:sp>
      <p:sp>
        <p:nvSpPr>
          <p:cNvPr id="26" name="cpe|exhibit|text|25"/>
          <p:cNvSpPr txBox="1"/>
          <p:nvPr/>
        </p:nvSpPr>
        <p:spPr>
          <a:xfrm>
            <a:off x="9497324" y="1481328"/>
            <a:ext cx="2145731" cy="16675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Network: 5 depots closed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PROGRAMME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Five milestones gate the programme; the WMS go-live in Q2 2027 is the critical one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Programme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19</a:t>
            </a:r>
          </a:p>
        </p:txBody>
      </p:sp>
      <p:cxnSp>
        <p:nvCxnSpPr>
          <p:cNvPr id="6" name="cpe|exhibit|line|5"/>
          <p:cNvCxnSpPr/>
          <p:nvPr/>
        </p:nvCxnSpPr>
        <p:spPr>
          <a:xfrm>
            <a:off x="502920" y="3651748"/>
            <a:ext cx="11185855" cy="0"/>
          </a:xfrm>
          <a:prstGeom prst="line">
            <a:avLst/>
          </a:prstGeom>
          <a:ln w="19050">
            <a:solidFill>
              <a:srgbClr val="B6C0CB"/>
            </a:solidFill>
          </a:ln>
        </p:spPr>
      </p:cxnSp>
      <p:sp>
        <p:nvSpPr>
          <p:cNvPr id="7" name="cpe|exhibit|marker|6"/>
          <p:cNvSpPr/>
          <p:nvPr/>
        </p:nvSpPr>
        <p:spPr>
          <a:xfrm>
            <a:off x="1552926" y="3583168"/>
            <a:ext cx="137160" cy="1371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8" name="cpe|exhibit|line|7"/>
          <p:cNvCxnSpPr/>
          <p:nvPr/>
        </p:nvCxnSpPr>
        <p:spPr>
          <a:xfrm flipV="1">
            <a:off x="1621506" y="3450580"/>
            <a:ext cx="0" cy="132588"/>
          </a:xfrm>
          <a:prstGeom prst="line">
            <a:avLst/>
          </a:prstGeom>
          <a:ln w="6350">
            <a:solidFill>
              <a:srgbClr val="B6C0CB"/>
            </a:solidFill>
          </a:ln>
        </p:spPr>
      </p:cxnSp>
      <p:sp>
        <p:nvSpPr>
          <p:cNvPr id="9" name="cpe|exhibit|text|8"/>
          <p:cNvSpPr txBox="1"/>
          <p:nvPr/>
        </p:nvSpPr>
        <p:spPr>
          <a:xfrm>
            <a:off x="548640" y="3148828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3294B"/>
                </a:solidFill>
                <a:latin typeface="Arial"/>
              </a:rPr>
              <a:t>Oct 2026</a:t>
            </a:r>
          </a:p>
        </p:txBody>
      </p:sp>
      <p:sp>
        <p:nvSpPr>
          <p:cNvPr id="10" name="cpe|exhibit|text|9"/>
          <p:cNvSpPr txBox="1"/>
          <p:nvPr/>
        </p:nvSpPr>
        <p:spPr>
          <a:xfrm>
            <a:off x="548640" y="1481328"/>
            <a:ext cx="2145731" cy="16675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New customer terms live</a:t>
            </a:r>
          </a:p>
        </p:txBody>
      </p:sp>
      <p:sp>
        <p:nvSpPr>
          <p:cNvPr id="11" name="cpe|exhibit|marker|10"/>
          <p:cNvSpPr/>
          <p:nvPr/>
        </p:nvSpPr>
        <p:spPr>
          <a:xfrm>
            <a:off x="3790097" y="3583168"/>
            <a:ext cx="137160" cy="1371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2" name="cpe|exhibit|line|11"/>
          <p:cNvCxnSpPr/>
          <p:nvPr/>
        </p:nvCxnSpPr>
        <p:spPr>
          <a:xfrm>
            <a:off x="3858677" y="3720328"/>
            <a:ext cx="0" cy="132588"/>
          </a:xfrm>
          <a:prstGeom prst="line">
            <a:avLst/>
          </a:prstGeom>
          <a:ln w="6350">
            <a:solidFill>
              <a:srgbClr val="B6C0CB"/>
            </a:solidFill>
          </a:ln>
        </p:spPr>
      </p:cxnSp>
      <p:sp>
        <p:nvSpPr>
          <p:cNvPr id="13" name="cpe|exhibit|text|12"/>
          <p:cNvSpPr txBox="1"/>
          <p:nvPr/>
        </p:nvSpPr>
        <p:spPr>
          <a:xfrm>
            <a:off x="2785811" y="3880348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3294B"/>
                </a:solidFill>
                <a:latin typeface="Arial"/>
              </a:rPr>
              <a:t>Dec 2026</a:t>
            </a:r>
          </a:p>
        </p:txBody>
      </p:sp>
      <p:sp>
        <p:nvSpPr>
          <p:cNvPr id="14" name="cpe|exhibit|text|13"/>
          <p:cNvSpPr txBox="1"/>
          <p:nvPr/>
        </p:nvSpPr>
        <p:spPr>
          <a:xfrm>
            <a:off x="2785811" y="4154668"/>
            <a:ext cx="2145731" cy="166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Transport tender awarded</a:t>
            </a:r>
          </a:p>
        </p:txBody>
      </p:sp>
      <p:sp>
        <p:nvSpPr>
          <p:cNvPr id="15" name="cpe|exhibit|marker|14"/>
          <p:cNvSpPr/>
          <p:nvPr/>
        </p:nvSpPr>
        <p:spPr>
          <a:xfrm>
            <a:off x="6027268" y="3583168"/>
            <a:ext cx="137160" cy="1371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6" name="cpe|exhibit|line|15"/>
          <p:cNvCxnSpPr/>
          <p:nvPr/>
        </p:nvCxnSpPr>
        <p:spPr>
          <a:xfrm flipV="1">
            <a:off x="6095848" y="3450580"/>
            <a:ext cx="0" cy="132588"/>
          </a:xfrm>
          <a:prstGeom prst="line">
            <a:avLst/>
          </a:prstGeom>
          <a:ln w="6350">
            <a:solidFill>
              <a:srgbClr val="B6C0CB"/>
            </a:solidFill>
          </a:ln>
        </p:spPr>
      </p:cxnSp>
      <p:sp>
        <p:nvSpPr>
          <p:cNvPr id="17" name="cpe|exhibit|text|16"/>
          <p:cNvSpPr txBox="1"/>
          <p:nvPr/>
        </p:nvSpPr>
        <p:spPr>
          <a:xfrm>
            <a:off x="5022982" y="3148828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3294B"/>
                </a:solidFill>
                <a:latin typeface="Arial"/>
              </a:rPr>
              <a:t>Mar 2027</a:t>
            </a:r>
          </a:p>
        </p:txBody>
      </p:sp>
      <p:sp>
        <p:nvSpPr>
          <p:cNvPr id="18" name="cpe|exhibit|text|17"/>
          <p:cNvSpPr txBox="1"/>
          <p:nvPr/>
        </p:nvSpPr>
        <p:spPr>
          <a:xfrm>
            <a:off x="5022982" y="1481328"/>
            <a:ext cx="2145731" cy="16675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Hub 1 automation commissioned</a:t>
            </a:r>
          </a:p>
        </p:txBody>
      </p:sp>
      <p:sp>
        <p:nvSpPr>
          <p:cNvPr id="19" name="cpe|exhibit|marker|18"/>
          <p:cNvSpPr/>
          <p:nvPr/>
        </p:nvSpPr>
        <p:spPr>
          <a:xfrm>
            <a:off x="8241579" y="3560308"/>
            <a:ext cx="182880" cy="182880"/>
          </a:xfrm>
          <a:prstGeom prst="ellipse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20" name="cpe|exhibit|line|19"/>
          <p:cNvCxnSpPr/>
          <p:nvPr/>
        </p:nvCxnSpPr>
        <p:spPr>
          <a:xfrm>
            <a:off x="8333019" y="3743188"/>
            <a:ext cx="0" cy="109728"/>
          </a:xfrm>
          <a:prstGeom prst="line">
            <a:avLst/>
          </a:prstGeom>
          <a:ln w="6350">
            <a:solidFill>
              <a:srgbClr val="B6C0CB"/>
            </a:solidFill>
          </a:ln>
        </p:spPr>
      </p:cxnSp>
      <p:sp>
        <p:nvSpPr>
          <p:cNvPr id="21" name="cpe|exhibit|text|20"/>
          <p:cNvSpPr txBox="1"/>
          <p:nvPr/>
        </p:nvSpPr>
        <p:spPr>
          <a:xfrm>
            <a:off x="7260153" y="3880348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3294B"/>
                </a:solidFill>
                <a:latin typeface="Arial"/>
              </a:rPr>
              <a:t>Jun 2027</a:t>
            </a:r>
          </a:p>
        </p:txBody>
      </p:sp>
      <p:sp>
        <p:nvSpPr>
          <p:cNvPr id="22" name="cpe|exhibit|text|21"/>
          <p:cNvSpPr txBox="1"/>
          <p:nvPr/>
        </p:nvSpPr>
        <p:spPr>
          <a:xfrm>
            <a:off x="7260153" y="4154668"/>
            <a:ext cx="2145731" cy="166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WMS go-live (critical path)</a:t>
            </a:r>
          </a:p>
        </p:txBody>
      </p:sp>
      <p:sp>
        <p:nvSpPr>
          <p:cNvPr id="23" name="cpe|exhibit|marker|22"/>
          <p:cNvSpPr/>
          <p:nvPr/>
        </p:nvSpPr>
        <p:spPr>
          <a:xfrm>
            <a:off x="10501610" y="3583168"/>
            <a:ext cx="137160" cy="1371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24" name="cpe|exhibit|line|23"/>
          <p:cNvCxnSpPr/>
          <p:nvPr/>
        </p:nvCxnSpPr>
        <p:spPr>
          <a:xfrm flipV="1">
            <a:off x="10570190" y="3450580"/>
            <a:ext cx="0" cy="132588"/>
          </a:xfrm>
          <a:prstGeom prst="line">
            <a:avLst/>
          </a:prstGeom>
          <a:ln w="6350">
            <a:solidFill>
              <a:srgbClr val="B6C0CB"/>
            </a:solidFill>
          </a:ln>
        </p:spPr>
      </p:cxnSp>
      <p:sp>
        <p:nvSpPr>
          <p:cNvPr id="25" name="cpe|exhibit|text|24"/>
          <p:cNvSpPr txBox="1"/>
          <p:nvPr/>
        </p:nvSpPr>
        <p:spPr>
          <a:xfrm>
            <a:off x="9497324" y="3148828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3294B"/>
                </a:solidFill>
                <a:latin typeface="Arial"/>
              </a:rPr>
              <a:t>Dec 2027</a:t>
            </a:r>
          </a:p>
        </p:txBody>
      </p:sp>
      <p:sp>
        <p:nvSpPr>
          <p:cNvPr id="26" name="cpe|exhibit|text|25"/>
          <p:cNvSpPr txBox="1"/>
          <p:nvPr/>
        </p:nvSpPr>
        <p:spPr>
          <a:xfrm>
            <a:off x="9497324" y="1481328"/>
            <a:ext cx="2145731" cy="16675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Network: 5 depots closed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PROGRAMME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Five milestones gate the programme; the WMS go-live in Q2 2027 is the critical one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Programme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19</a:t>
            </a:r>
          </a:p>
        </p:txBody>
      </p:sp>
      <p:cxnSp>
        <p:nvCxnSpPr>
          <p:cNvPr id="6" name="cpe|exhibit|line|5"/>
          <p:cNvCxnSpPr/>
          <p:nvPr/>
        </p:nvCxnSpPr>
        <p:spPr>
          <a:xfrm>
            <a:off x="502920" y="3651748"/>
            <a:ext cx="11185855" cy="0"/>
          </a:xfrm>
          <a:prstGeom prst="line">
            <a:avLst/>
          </a:prstGeom>
          <a:ln w="19050">
            <a:solidFill>
              <a:srgbClr val="B6C0CB"/>
            </a:solidFill>
          </a:ln>
        </p:spPr>
      </p:cxnSp>
      <p:sp>
        <p:nvSpPr>
          <p:cNvPr id="7" name="cpe|exhibit|marker|6"/>
          <p:cNvSpPr/>
          <p:nvPr/>
        </p:nvSpPr>
        <p:spPr>
          <a:xfrm>
            <a:off x="1552926" y="3583168"/>
            <a:ext cx="137160" cy="1371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8" name="cpe|exhibit|line|7"/>
          <p:cNvCxnSpPr/>
          <p:nvPr/>
        </p:nvCxnSpPr>
        <p:spPr>
          <a:xfrm flipV="1">
            <a:off x="1621506" y="3450580"/>
            <a:ext cx="0" cy="132588"/>
          </a:xfrm>
          <a:prstGeom prst="line">
            <a:avLst/>
          </a:prstGeom>
          <a:ln w="6350">
            <a:solidFill>
              <a:srgbClr val="B6C0CB"/>
            </a:solidFill>
          </a:ln>
        </p:spPr>
      </p:cxnSp>
      <p:sp>
        <p:nvSpPr>
          <p:cNvPr id="9" name="cpe|exhibit|text|8"/>
          <p:cNvSpPr txBox="1"/>
          <p:nvPr/>
        </p:nvSpPr>
        <p:spPr>
          <a:xfrm>
            <a:off x="548640" y="3148828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3294B"/>
                </a:solidFill>
                <a:latin typeface="Arial"/>
              </a:rPr>
              <a:t>Oct 2026</a:t>
            </a:r>
          </a:p>
        </p:txBody>
      </p:sp>
      <p:sp>
        <p:nvSpPr>
          <p:cNvPr id="10" name="cpe|exhibit|text|9"/>
          <p:cNvSpPr txBox="1"/>
          <p:nvPr/>
        </p:nvSpPr>
        <p:spPr>
          <a:xfrm>
            <a:off x="548640" y="1481328"/>
            <a:ext cx="2145731" cy="16675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New customer terms live</a:t>
            </a:r>
          </a:p>
        </p:txBody>
      </p:sp>
      <p:sp>
        <p:nvSpPr>
          <p:cNvPr id="11" name="cpe|exhibit|marker|10"/>
          <p:cNvSpPr/>
          <p:nvPr/>
        </p:nvSpPr>
        <p:spPr>
          <a:xfrm>
            <a:off x="3790097" y="3583168"/>
            <a:ext cx="137160" cy="1371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2" name="cpe|exhibit|line|11"/>
          <p:cNvCxnSpPr/>
          <p:nvPr/>
        </p:nvCxnSpPr>
        <p:spPr>
          <a:xfrm>
            <a:off x="3858677" y="3720328"/>
            <a:ext cx="0" cy="132588"/>
          </a:xfrm>
          <a:prstGeom prst="line">
            <a:avLst/>
          </a:prstGeom>
          <a:ln w="6350">
            <a:solidFill>
              <a:srgbClr val="B6C0CB"/>
            </a:solidFill>
          </a:ln>
        </p:spPr>
      </p:cxnSp>
      <p:sp>
        <p:nvSpPr>
          <p:cNvPr id="13" name="cpe|exhibit|text|12"/>
          <p:cNvSpPr txBox="1"/>
          <p:nvPr/>
        </p:nvSpPr>
        <p:spPr>
          <a:xfrm>
            <a:off x="2785811" y="3880348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3294B"/>
                </a:solidFill>
                <a:latin typeface="Arial"/>
              </a:rPr>
              <a:t>Dec 2026</a:t>
            </a:r>
          </a:p>
        </p:txBody>
      </p:sp>
      <p:sp>
        <p:nvSpPr>
          <p:cNvPr id="14" name="cpe|exhibit|text|13"/>
          <p:cNvSpPr txBox="1"/>
          <p:nvPr/>
        </p:nvSpPr>
        <p:spPr>
          <a:xfrm>
            <a:off x="2785811" y="4154668"/>
            <a:ext cx="2145731" cy="166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Transport tender awarded</a:t>
            </a:r>
          </a:p>
        </p:txBody>
      </p:sp>
      <p:sp>
        <p:nvSpPr>
          <p:cNvPr id="15" name="cpe|exhibit|marker|14"/>
          <p:cNvSpPr/>
          <p:nvPr/>
        </p:nvSpPr>
        <p:spPr>
          <a:xfrm>
            <a:off x="6027268" y="3583168"/>
            <a:ext cx="137160" cy="1371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6" name="cpe|exhibit|line|15"/>
          <p:cNvCxnSpPr/>
          <p:nvPr/>
        </p:nvCxnSpPr>
        <p:spPr>
          <a:xfrm flipV="1">
            <a:off x="6095848" y="3450580"/>
            <a:ext cx="0" cy="132588"/>
          </a:xfrm>
          <a:prstGeom prst="line">
            <a:avLst/>
          </a:prstGeom>
          <a:ln w="6350">
            <a:solidFill>
              <a:srgbClr val="B6C0CB"/>
            </a:solidFill>
          </a:ln>
        </p:spPr>
      </p:cxnSp>
      <p:sp>
        <p:nvSpPr>
          <p:cNvPr id="17" name="cpe|exhibit|text|16"/>
          <p:cNvSpPr txBox="1"/>
          <p:nvPr/>
        </p:nvSpPr>
        <p:spPr>
          <a:xfrm>
            <a:off x="5022982" y="3148828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3294B"/>
                </a:solidFill>
                <a:latin typeface="Arial"/>
              </a:rPr>
              <a:t>Mar 2027</a:t>
            </a:r>
          </a:p>
        </p:txBody>
      </p:sp>
      <p:sp>
        <p:nvSpPr>
          <p:cNvPr id="18" name="cpe|exhibit|text|17"/>
          <p:cNvSpPr txBox="1"/>
          <p:nvPr/>
        </p:nvSpPr>
        <p:spPr>
          <a:xfrm>
            <a:off x="5022982" y="1481328"/>
            <a:ext cx="2145731" cy="16675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Hub 1 automation commissioned</a:t>
            </a:r>
          </a:p>
        </p:txBody>
      </p:sp>
      <p:sp>
        <p:nvSpPr>
          <p:cNvPr id="19" name="cpe|exhibit|marker|18"/>
          <p:cNvSpPr/>
          <p:nvPr/>
        </p:nvSpPr>
        <p:spPr>
          <a:xfrm>
            <a:off x="8241579" y="3560308"/>
            <a:ext cx="182880" cy="182880"/>
          </a:xfrm>
          <a:prstGeom prst="ellipse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20" name="cpe|exhibit|line|19"/>
          <p:cNvCxnSpPr/>
          <p:nvPr/>
        </p:nvCxnSpPr>
        <p:spPr>
          <a:xfrm>
            <a:off x="8333019" y="3743188"/>
            <a:ext cx="0" cy="109728"/>
          </a:xfrm>
          <a:prstGeom prst="line">
            <a:avLst/>
          </a:prstGeom>
          <a:ln w="6350">
            <a:solidFill>
              <a:srgbClr val="B6C0CB"/>
            </a:solidFill>
          </a:ln>
        </p:spPr>
      </p:cxnSp>
      <p:sp>
        <p:nvSpPr>
          <p:cNvPr id="21" name="cpe|exhibit|text|20"/>
          <p:cNvSpPr txBox="1"/>
          <p:nvPr/>
        </p:nvSpPr>
        <p:spPr>
          <a:xfrm>
            <a:off x="7260153" y="3880348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3294B"/>
                </a:solidFill>
                <a:latin typeface="Arial"/>
              </a:rPr>
              <a:t>Jun 2027</a:t>
            </a:r>
          </a:p>
        </p:txBody>
      </p:sp>
      <p:sp>
        <p:nvSpPr>
          <p:cNvPr id="22" name="cpe|exhibit|text|21"/>
          <p:cNvSpPr txBox="1"/>
          <p:nvPr/>
        </p:nvSpPr>
        <p:spPr>
          <a:xfrm>
            <a:off x="7260153" y="4154668"/>
            <a:ext cx="2145731" cy="166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WMS go-live (critical path)</a:t>
            </a:r>
          </a:p>
        </p:txBody>
      </p:sp>
      <p:sp>
        <p:nvSpPr>
          <p:cNvPr id="23" name="cpe|exhibit|marker|22"/>
          <p:cNvSpPr/>
          <p:nvPr/>
        </p:nvSpPr>
        <p:spPr>
          <a:xfrm>
            <a:off x="10501610" y="3583168"/>
            <a:ext cx="137160" cy="1371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24" name="cpe|exhibit|line|23"/>
          <p:cNvCxnSpPr/>
          <p:nvPr/>
        </p:nvCxnSpPr>
        <p:spPr>
          <a:xfrm flipV="1">
            <a:off x="10570190" y="3450580"/>
            <a:ext cx="0" cy="132588"/>
          </a:xfrm>
          <a:prstGeom prst="line">
            <a:avLst/>
          </a:prstGeom>
          <a:ln w="6350">
            <a:solidFill>
              <a:srgbClr val="B6C0CB"/>
            </a:solidFill>
          </a:ln>
        </p:spPr>
      </p:cxnSp>
      <p:sp>
        <p:nvSpPr>
          <p:cNvPr id="25" name="cpe|exhibit|text|24"/>
          <p:cNvSpPr txBox="1"/>
          <p:nvPr/>
        </p:nvSpPr>
        <p:spPr>
          <a:xfrm>
            <a:off x="9497324" y="3148828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3294B"/>
                </a:solidFill>
                <a:latin typeface="Arial"/>
              </a:rPr>
              <a:t>Dec 2027</a:t>
            </a:r>
          </a:p>
        </p:txBody>
      </p:sp>
      <p:sp>
        <p:nvSpPr>
          <p:cNvPr id="26" name="cpe|exhibit|text|25"/>
          <p:cNvSpPr txBox="1"/>
          <p:nvPr/>
        </p:nvSpPr>
        <p:spPr>
          <a:xfrm>
            <a:off x="9497324" y="1481328"/>
            <a:ext cx="2145731" cy="16675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Network: 5 depots closed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VALUE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Three of four initiatives are on track; automation is amber on supplier lead times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Programme tracker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21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Initiative status, September 2026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4" cy="2881503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2013876"/>
                <a:gridCol w="1045646"/>
                <a:gridCol w="1045646"/>
                <a:gridCol w="1045646"/>
                <a:gridCol w="3291840"/>
              </a:tblGrid>
              <a:tr h="46405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Initiative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Savings to date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Target 2027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Comment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Customer terms reset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Sales director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3.2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Signed with 60% of accounts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Transport procurement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CPO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2.1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Tender closes in December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Hub automation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Head of hubs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Supplier lead time +6 weeks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Network redesign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Head of logistics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Works council consulted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5.7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7755240" y="2488883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7755240" y="2972372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7755240" y="3455861"/>
            <a:ext cx="237744" cy="237744"/>
          </a:xfrm>
          <a:prstGeom prst="ellipse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marker|10"/>
          <p:cNvSpPr/>
          <p:nvPr/>
        </p:nvSpPr>
        <p:spPr>
          <a:xfrm>
            <a:off x="7755240" y="3939350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marker|11"/>
          <p:cNvSpPr/>
          <p:nvPr/>
        </p:nvSpPr>
        <p:spPr>
          <a:xfrm>
            <a:off x="7755240" y="4422838"/>
            <a:ext cx="237744" cy="237744"/>
          </a:xfrm>
          <a:prstGeom prst="ellipse">
            <a:avLst/>
          </a:prstGeom>
          <a:solidFill>
            <a:srgbClr val="8A95A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VALUE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Three of four initiatives are on track; automation is amber on supplier lead times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Programme tracker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21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Initiative status, September 2026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4" cy="4297679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2025369"/>
                <a:gridCol w="1041815"/>
                <a:gridCol w="1041815"/>
                <a:gridCol w="1041815"/>
                <a:gridCol w="3291840"/>
              </a:tblGrid>
              <a:tr h="52349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Initiative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Savings to date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Target 2027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Comment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</a:tr>
              <a:tr h="75483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Customer terms reset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Sales director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3.2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Signed with 60% of accounts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75483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Transport procurement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CPO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2.1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Tender closes in December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75483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Hub automation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Head of hubs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Supplier lead time +6 weeks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75483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Network redesign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Head of logistics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Works council consulted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754837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5.7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7757156" y="2683993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7757156" y="3438830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7757156" y="4193667"/>
            <a:ext cx="237744" cy="237744"/>
          </a:xfrm>
          <a:prstGeom prst="ellipse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marker|10"/>
          <p:cNvSpPr/>
          <p:nvPr/>
        </p:nvSpPr>
        <p:spPr>
          <a:xfrm>
            <a:off x="7757156" y="4948504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marker|11"/>
          <p:cNvSpPr/>
          <p:nvPr/>
        </p:nvSpPr>
        <p:spPr>
          <a:xfrm>
            <a:off x="7757156" y="5703341"/>
            <a:ext cx="237744" cy="237744"/>
          </a:xfrm>
          <a:prstGeom prst="ellipse">
            <a:avLst/>
          </a:prstGeom>
          <a:solidFill>
            <a:srgbClr val="8A95A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VALUE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Three of four initiatives are on track; automation is amber on supplier lead times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Programme tracker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21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Initiative status, September 2026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6" cy="42976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2036879"/>
                <a:gridCol w="1037979"/>
                <a:gridCol w="1037979"/>
                <a:gridCol w="1037979"/>
                <a:gridCol w="3291840"/>
              </a:tblGrid>
              <a:tr h="805815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Initiative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Savings to date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Target 2027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Comment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</a:tr>
              <a:tr h="698373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Customer terms reset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Sales director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3.2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Signed with 60% of accounts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698373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Transport procurement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CPO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2.1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Tender closes in December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698373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Hub automation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Head of hubs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Supplier lead time +6 weeks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698373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Network redesign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Head of logistics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Works council consulted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698373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5.7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7759074" y="2938082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7759074" y="3636454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7759074" y="4334828"/>
            <a:ext cx="237744" cy="237744"/>
          </a:xfrm>
          <a:prstGeom prst="ellipse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marker|10"/>
          <p:cNvSpPr/>
          <p:nvPr/>
        </p:nvSpPr>
        <p:spPr>
          <a:xfrm>
            <a:off x="7759074" y="5033200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marker|11"/>
          <p:cNvSpPr/>
          <p:nvPr/>
        </p:nvSpPr>
        <p:spPr>
          <a:xfrm>
            <a:off x="7759074" y="5731574"/>
            <a:ext cx="237744" cy="237744"/>
          </a:xfrm>
          <a:prstGeom prst="ellipse">
            <a:avLst/>
          </a:prstGeom>
          <a:solidFill>
            <a:srgbClr val="8A95A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VALUE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Three of four initiatives are on track; automation is amber on supplier lead times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Programme tracker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21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Initiative status, September 2026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4" cy="2881503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2013876"/>
                <a:gridCol w="1045646"/>
                <a:gridCol w="1045646"/>
                <a:gridCol w="1045646"/>
                <a:gridCol w="3291840"/>
              </a:tblGrid>
              <a:tr h="46405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Initiative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Savings to date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Target 2027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Comment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Customer terms reset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Sales director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3.2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Signed with 60% of accounts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Transport procurement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CPO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2.1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Tender closes in December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Hub automation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Head of hubs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Supplier lead time +6 weeks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Network redesign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Head of logistics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Works council consulted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5.7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7755240" y="2488883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7755240" y="2972372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7755240" y="3455861"/>
            <a:ext cx="237744" cy="237744"/>
          </a:xfrm>
          <a:prstGeom prst="ellipse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marker|10"/>
          <p:cNvSpPr/>
          <p:nvPr/>
        </p:nvSpPr>
        <p:spPr>
          <a:xfrm>
            <a:off x="7755240" y="3939350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marker|11"/>
          <p:cNvSpPr/>
          <p:nvPr/>
        </p:nvSpPr>
        <p:spPr>
          <a:xfrm>
            <a:off x="7755240" y="4422838"/>
            <a:ext cx="237744" cy="237744"/>
          </a:xfrm>
          <a:prstGeom prst="ellipse">
            <a:avLst/>
          </a:prstGeom>
          <a:solidFill>
            <a:srgbClr val="8A95A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VALUE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Three of four initiatives are on track; automation is amber on supplier lead times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Programme tracker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21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Initiative status, September 2026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4" cy="4297679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2025369"/>
                <a:gridCol w="1041815"/>
                <a:gridCol w="1041815"/>
                <a:gridCol w="1041815"/>
                <a:gridCol w="3291840"/>
              </a:tblGrid>
              <a:tr h="52349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Initiative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Savings to date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Target 2027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Comment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</a:tr>
              <a:tr h="75483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Customer terms reset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Sales director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3.2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Signed with 60% of accounts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75483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Transport procurement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CPO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2.1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Tender closes in December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75483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Hub automation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Head of hubs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Supplier lead time +6 weeks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75483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Network redesign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Head of logistics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Works council consulted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754837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5.7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7757156" y="2683993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7757156" y="3438830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7757156" y="4193667"/>
            <a:ext cx="237744" cy="237744"/>
          </a:xfrm>
          <a:prstGeom prst="ellipse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marker|10"/>
          <p:cNvSpPr/>
          <p:nvPr/>
        </p:nvSpPr>
        <p:spPr>
          <a:xfrm>
            <a:off x="7757156" y="4948504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marker|11"/>
          <p:cNvSpPr/>
          <p:nvPr/>
        </p:nvSpPr>
        <p:spPr>
          <a:xfrm>
            <a:off x="7757156" y="5703341"/>
            <a:ext cx="237744" cy="237744"/>
          </a:xfrm>
          <a:prstGeom prst="ellipse">
            <a:avLst/>
          </a:prstGeom>
          <a:solidFill>
            <a:srgbClr val="8A95A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VALUE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Three of four initiatives are on track; automation is amber on supplier lead times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Programme tracker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21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Initiative status, September 2026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6" cy="42976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2036879"/>
                <a:gridCol w="1037979"/>
                <a:gridCol w="1037979"/>
                <a:gridCol w="1037979"/>
                <a:gridCol w="3291840"/>
              </a:tblGrid>
              <a:tr h="805815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Initiative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Savings to date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Target 2027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Comment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</a:tr>
              <a:tr h="698373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Customer terms reset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Sales director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3.2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Signed with 60% of accounts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698373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Transport procurement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CPO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2.1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Tender closes in December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698373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Hub automation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Head of hubs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Supplier lead time +6 weeks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698373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Network redesign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Head of logistics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Works council consulted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698373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5.7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7759074" y="2938082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7759074" y="3636454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7759074" y="4334828"/>
            <a:ext cx="237744" cy="237744"/>
          </a:xfrm>
          <a:prstGeom prst="ellipse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marker|10"/>
          <p:cNvSpPr/>
          <p:nvPr/>
        </p:nvSpPr>
        <p:spPr>
          <a:xfrm>
            <a:off x="7759074" y="5033200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marker|11"/>
          <p:cNvSpPr/>
          <p:nvPr/>
        </p:nvSpPr>
        <p:spPr>
          <a:xfrm>
            <a:off x="7759074" y="5731574"/>
            <a:ext cx="237744" cy="237744"/>
          </a:xfrm>
          <a:prstGeom prst="ellipse">
            <a:avLst/>
          </a:prstGeom>
          <a:solidFill>
            <a:srgbClr val="8A95A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VALUE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Three of four initiatives are on track; automation is amber on supplier lead times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Programme tracker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21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Initiative status, September 2026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4" cy="2881503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2013876"/>
                <a:gridCol w="1045646"/>
                <a:gridCol w="1045646"/>
                <a:gridCol w="1045646"/>
                <a:gridCol w="3291840"/>
              </a:tblGrid>
              <a:tr h="46405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Initiative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Savings to date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Target 2027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Comment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Customer terms reset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Sales director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3.2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Signed with 60% of accounts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Transport procurement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CPO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2.1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Tender closes in December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Hub automation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Head of hubs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Supplier lead time +6 weeks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Network redesign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Head of logistics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Works council consulted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5.7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7755240" y="2488883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7755240" y="2972372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7755240" y="3455861"/>
            <a:ext cx="237744" cy="237744"/>
          </a:xfrm>
          <a:prstGeom prst="ellipse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marker|10"/>
          <p:cNvSpPr/>
          <p:nvPr/>
        </p:nvSpPr>
        <p:spPr>
          <a:xfrm>
            <a:off x="7755240" y="3939350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marker|11"/>
          <p:cNvSpPr/>
          <p:nvPr/>
        </p:nvSpPr>
        <p:spPr>
          <a:xfrm>
            <a:off x="7755240" y="4422838"/>
            <a:ext cx="237744" cy="237744"/>
          </a:xfrm>
          <a:prstGeom prst="ellipse">
            <a:avLst/>
          </a:prstGeom>
          <a:solidFill>
            <a:srgbClr val="8A95A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VALUE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Three of four initiatives are on track; automation is amber on supplier lead times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Programme tracker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21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Initiative status, September 2026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4" cy="4297679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2025369"/>
                <a:gridCol w="1041815"/>
                <a:gridCol w="1041815"/>
                <a:gridCol w="1041815"/>
                <a:gridCol w="3291840"/>
              </a:tblGrid>
              <a:tr h="52349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Initiative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Savings to date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Target 2027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Comment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</a:tr>
              <a:tr h="75483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Customer terms reset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Sales director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3.2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Signed with 60% of accounts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75483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Transport procurement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CPO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2.1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Tender closes in December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75483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Hub automation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Head of hubs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Supplier lead time +6 weeks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75483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Network redesign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Head of logistics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530"/>
                          </a:solidFill>
                          <a:latin typeface="Arial"/>
                        </a:rPr>
                        <a:t>Works council consulted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754837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5.7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7757156" y="2683993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7757156" y="3438830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7757156" y="4193667"/>
            <a:ext cx="237744" cy="237744"/>
          </a:xfrm>
          <a:prstGeom prst="ellipse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marker|10"/>
          <p:cNvSpPr/>
          <p:nvPr/>
        </p:nvSpPr>
        <p:spPr>
          <a:xfrm>
            <a:off x="7757156" y="4948504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marker|11"/>
          <p:cNvSpPr/>
          <p:nvPr/>
        </p:nvSpPr>
        <p:spPr>
          <a:xfrm>
            <a:off x="7757156" y="5703341"/>
            <a:ext cx="237744" cy="237744"/>
          </a:xfrm>
          <a:prstGeom prst="ellipse">
            <a:avLst/>
          </a:prstGeom>
          <a:solidFill>
            <a:srgbClr val="8A95A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VALUE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Three of four initiatives are on track; automation is amber on supplier lead times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Programme tracker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21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Initiative status, September 2026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6" cy="42976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2036879"/>
                <a:gridCol w="1037979"/>
                <a:gridCol w="1037979"/>
                <a:gridCol w="1037979"/>
                <a:gridCol w="3291840"/>
              </a:tblGrid>
              <a:tr h="805815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Initiative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Savings to date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Target 2027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Comment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</a:tr>
              <a:tr h="698373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Customer terms reset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Sales director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3.2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Signed with 60% of accounts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698373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Transport procurement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CPO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2.1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Tender closes in December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698373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Hub automation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Head of hubs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Supplier lead time +6 weeks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698373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Network redesign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Head of logistics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C2530"/>
                          </a:solidFill>
                          <a:latin typeface="Arial"/>
                        </a:rPr>
                        <a:t>Works council consulted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698373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5.7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7759074" y="2938082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7759074" y="3636454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7759074" y="4334828"/>
            <a:ext cx="237744" cy="237744"/>
          </a:xfrm>
          <a:prstGeom prst="ellipse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marker|10"/>
          <p:cNvSpPr/>
          <p:nvPr/>
        </p:nvSpPr>
        <p:spPr>
          <a:xfrm>
            <a:off x="7759074" y="5033200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marker|11"/>
          <p:cNvSpPr/>
          <p:nvPr/>
        </p:nvSpPr>
        <p:spPr>
          <a:xfrm>
            <a:off x="7759074" y="5731574"/>
            <a:ext cx="237744" cy="237744"/>
          </a:xfrm>
          <a:prstGeom prst="ellipse">
            <a:avLst/>
          </a:prstGeom>
          <a:solidFill>
            <a:srgbClr val="8A95A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VALUE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Wave 1 already cut cost per drop by 3% and overtime by a fifth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KPI tracker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22</a:t>
            </a:r>
          </a:p>
        </p:txBody>
      </p:sp>
      <p:cxnSp>
        <p:nvCxnSpPr>
          <p:cNvPr id="6" name="cpe|kpis|line|5"/>
          <p:cNvCxnSpPr/>
          <p:nvPr/>
        </p:nvCxnSpPr>
        <p:spPr>
          <a:xfrm>
            <a:off x="502920" y="1481328"/>
            <a:ext cx="5391760" cy="0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7" name="cpe|kpis|text|6"/>
          <p:cNvSpPr txBox="1"/>
          <p:nvPr/>
        </p:nvSpPr>
        <p:spPr>
          <a:xfrm>
            <a:off x="502920" y="1618488"/>
            <a:ext cx="539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3294B"/>
                </a:solidFill>
                <a:latin typeface="Arial"/>
              </a:rPr>
              <a:t>€5.7M</a:t>
            </a:r>
          </a:p>
        </p:txBody>
      </p:sp>
      <p:sp>
        <p:nvSpPr>
          <p:cNvPr id="8" name="cpe|kpis|text|7"/>
          <p:cNvSpPr txBox="1"/>
          <p:nvPr/>
        </p:nvSpPr>
        <p:spPr>
          <a:xfrm>
            <a:off x="502920" y="2304288"/>
            <a:ext cx="53917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7D4F"/>
                </a:solidFill>
                <a:latin typeface="Arial"/>
              </a:rPr>
              <a:t>▲ +€2.3M vs plan</a:t>
            </a:r>
          </a:p>
        </p:txBody>
      </p:sp>
      <p:sp>
        <p:nvSpPr>
          <p:cNvPr id="9" name="cpe|kpis|text|8"/>
          <p:cNvSpPr txBox="1"/>
          <p:nvPr/>
        </p:nvSpPr>
        <p:spPr>
          <a:xfrm>
            <a:off x="502920" y="2560320"/>
            <a:ext cx="5391760" cy="2091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776"/>
                </a:solidFill>
                <a:latin typeface="Arial"/>
              </a:rPr>
              <a:t>Savings delivered to date</a:t>
            </a:r>
          </a:p>
        </p:txBody>
      </p:sp>
      <p:sp>
        <p:nvSpPr>
          <p:cNvPr id="10" name="cpe|kpis|text|9"/>
          <p:cNvSpPr txBox="1"/>
          <p:nvPr/>
        </p:nvSpPr>
        <p:spPr>
          <a:xfrm>
            <a:off x="502920" y="2796921"/>
            <a:ext cx="5391760" cy="860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Mostly customer terms and transport rates</a:t>
            </a:r>
          </a:p>
        </p:txBody>
      </p:sp>
      <p:cxnSp>
        <p:nvCxnSpPr>
          <p:cNvPr id="11" name="cpe|kpis|line|10"/>
          <p:cNvCxnSpPr/>
          <p:nvPr/>
        </p:nvCxnSpPr>
        <p:spPr>
          <a:xfrm>
            <a:off x="6297016" y="1481328"/>
            <a:ext cx="5391759" cy="0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12" name="cpe|kpis|text|11"/>
          <p:cNvSpPr txBox="1"/>
          <p:nvPr/>
        </p:nvSpPr>
        <p:spPr>
          <a:xfrm>
            <a:off x="6297016" y="1618488"/>
            <a:ext cx="539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3294B"/>
                </a:solidFill>
                <a:latin typeface="Arial"/>
              </a:rPr>
              <a:t>€5.63</a:t>
            </a:r>
          </a:p>
        </p:txBody>
      </p:sp>
      <p:sp>
        <p:nvSpPr>
          <p:cNvPr id="13" name="cpe|kpis|text|12"/>
          <p:cNvSpPr txBox="1"/>
          <p:nvPr/>
        </p:nvSpPr>
        <p:spPr>
          <a:xfrm>
            <a:off x="6297016" y="2304288"/>
            <a:ext cx="53917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7D4F"/>
                </a:solidFill>
                <a:latin typeface="Arial"/>
              </a:rPr>
              <a:t>▼ −3.0% vs 2025</a:t>
            </a:r>
          </a:p>
        </p:txBody>
      </p:sp>
      <p:sp>
        <p:nvSpPr>
          <p:cNvPr id="14" name="cpe|kpis|text|13"/>
          <p:cNvSpPr txBox="1"/>
          <p:nvPr/>
        </p:nvSpPr>
        <p:spPr>
          <a:xfrm>
            <a:off x="6297016" y="2560320"/>
            <a:ext cx="5391760" cy="2091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776"/>
                </a:solidFill>
                <a:latin typeface="Arial"/>
              </a:rPr>
              <a:t>Cost per drop, August</a:t>
            </a:r>
          </a:p>
        </p:txBody>
      </p:sp>
      <p:sp>
        <p:nvSpPr>
          <p:cNvPr id="15" name="cpe|kpis|text|14"/>
          <p:cNvSpPr txBox="1"/>
          <p:nvPr/>
        </p:nvSpPr>
        <p:spPr>
          <a:xfrm>
            <a:off x="6297016" y="2796921"/>
            <a:ext cx="5391760" cy="860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First decline in five years</a:t>
            </a:r>
          </a:p>
        </p:txBody>
      </p:sp>
      <p:cxnSp>
        <p:nvCxnSpPr>
          <p:cNvPr id="16" name="cpe|kpis|line|15"/>
          <p:cNvCxnSpPr/>
          <p:nvPr/>
        </p:nvCxnSpPr>
        <p:spPr>
          <a:xfrm>
            <a:off x="502920" y="4023360"/>
            <a:ext cx="5391760" cy="0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17" name="cpe|kpis|text|16"/>
          <p:cNvSpPr txBox="1"/>
          <p:nvPr/>
        </p:nvSpPr>
        <p:spPr>
          <a:xfrm>
            <a:off x="502920" y="4160520"/>
            <a:ext cx="539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3294B"/>
                </a:solidFill>
                <a:latin typeface="Arial"/>
              </a:rPr>
              <a:t>81%</a:t>
            </a:r>
          </a:p>
        </p:txBody>
      </p:sp>
      <p:sp>
        <p:nvSpPr>
          <p:cNvPr id="18" name="cpe|kpis|text|17"/>
          <p:cNvSpPr txBox="1"/>
          <p:nvPr/>
        </p:nvSpPr>
        <p:spPr>
          <a:xfrm>
            <a:off x="502920" y="4846320"/>
            <a:ext cx="53917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7D4F"/>
                </a:solidFill>
                <a:latin typeface="Arial"/>
              </a:rPr>
              <a:t>▲ +4pp</a:t>
            </a:r>
          </a:p>
        </p:txBody>
      </p:sp>
      <p:sp>
        <p:nvSpPr>
          <p:cNvPr id="19" name="cpe|kpis|text|18"/>
          <p:cNvSpPr txBox="1"/>
          <p:nvPr/>
        </p:nvSpPr>
        <p:spPr>
          <a:xfrm>
            <a:off x="502920" y="5102352"/>
            <a:ext cx="5391760" cy="2091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776"/>
                </a:solidFill>
                <a:latin typeface="Arial"/>
              </a:rPr>
              <a:t>Truck fill</a:t>
            </a:r>
          </a:p>
        </p:txBody>
      </p:sp>
      <p:sp>
        <p:nvSpPr>
          <p:cNvPr id="20" name="cpe|kpis|text|19"/>
          <p:cNvSpPr txBox="1"/>
          <p:nvPr/>
        </p:nvSpPr>
        <p:spPr>
          <a:xfrm>
            <a:off x="502920" y="5338953"/>
            <a:ext cx="5391760" cy="860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Dynamic routing pilot in Madrid</a:t>
            </a:r>
          </a:p>
        </p:txBody>
      </p:sp>
      <p:cxnSp>
        <p:nvCxnSpPr>
          <p:cNvPr id="21" name="cpe|kpis|line|20"/>
          <p:cNvCxnSpPr/>
          <p:nvPr/>
        </p:nvCxnSpPr>
        <p:spPr>
          <a:xfrm>
            <a:off x="6297016" y="4023360"/>
            <a:ext cx="5391759" cy="0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22" name="cpe|kpis|text|21"/>
          <p:cNvSpPr txBox="1"/>
          <p:nvPr/>
        </p:nvSpPr>
        <p:spPr>
          <a:xfrm>
            <a:off x="6297016" y="4160520"/>
            <a:ext cx="539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3294B"/>
                </a:solidFill>
                <a:latin typeface="Arial"/>
              </a:rPr>
              <a:t>−21%</a:t>
            </a:r>
          </a:p>
        </p:txBody>
      </p:sp>
      <p:sp>
        <p:nvSpPr>
          <p:cNvPr id="23" name="cpe|kpis|text|22"/>
          <p:cNvSpPr txBox="1"/>
          <p:nvPr/>
        </p:nvSpPr>
        <p:spPr>
          <a:xfrm>
            <a:off x="6297016" y="4846320"/>
            <a:ext cx="53917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7D4F"/>
                </a:solidFill>
                <a:latin typeface="Arial"/>
              </a:rPr>
              <a:t>▼ −21% YoY</a:t>
            </a:r>
          </a:p>
        </p:txBody>
      </p:sp>
      <p:sp>
        <p:nvSpPr>
          <p:cNvPr id="24" name="cpe|kpis|text|23"/>
          <p:cNvSpPr txBox="1"/>
          <p:nvPr/>
        </p:nvSpPr>
        <p:spPr>
          <a:xfrm>
            <a:off x="6297016" y="5102352"/>
            <a:ext cx="5391760" cy="2091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776"/>
                </a:solidFill>
                <a:latin typeface="Arial"/>
              </a:rPr>
              <a:t>Overtime hours</a:t>
            </a:r>
          </a:p>
        </p:txBody>
      </p:sp>
      <p:sp>
        <p:nvSpPr>
          <p:cNvPr id="25" name="cpe|kpis|text|24"/>
          <p:cNvSpPr txBox="1"/>
          <p:nvPr/>
        </p:nvSpPr>
        <p:spPr>
          <a:xfrm>
            <a:off x="6297016" y="5338953"/>
            <a:ext cx="5391760" cy="860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New shift patterns in 3 hubs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VALUE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Wave 1 already cut cost per drop by 3% and overtime by a fifth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KPI tracker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22</a:t>
            </a:r>
          </a:p>
        </p:txBody>
      </p:sp>
      <p:cxnSp>
        <p:nvCxnSpPr>
          <p:cNvPr id="6" name="cpe|kpis|line|5"/>
          <p:cNvCxnSpPr/>
          <p:nvPr/>
        </p:nvCxnSpPr>
        <p:spPr>
          <a:xfrm>
            <a:off x="502920" y="1481328"/>
            <a:ext cx="5391760" cy="0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7" name="cpe|kpis|text|6"/>
          <p:cNvSpPr txBox="1"/>
          <p:nvPr/>
        </p:nvSpPr>
        <p:spPr>
          <a:xfrm>
            <a:off x="502920" y="1618488"/>
            <a:ext cx="539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3294B"/>
                </a:solidFill>
                <a:latin typeface="Arial"/>
              </a:rPr>
              <a:t>€5.7M</a:t>
            </a:r>
          </a:p>
        </p:txBody>
      </p:sp>
      <p:sp>
        <p:nvSpPr>
          <p:cNvPr id="8" name="cpe|kpis|text|7"/>
          <p:cNvSpPr txBox="1"/>
          <p:nvPr/>
        </p:nvSpPr>
        <p:spPr>
          <a:xfrm>
            <a:off x="502920" y="2304288"/>
            <a:ext cx="53917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E7D4F"/>
                </a:solidFill>
                <a:latin typeface="Arial"/>
              </a:rPr>
              <a:t>▲ +€2.3M vs plan</a:t>
            </a:r>
          </a:p>
        </p:txBody>
      </p:sp>
      <p:sp>
        <p:nvSpPr>
          <p:cNvPr id="9" name="cpe|kpis|text|8"/>
          <p:cNvSpPr txBox="1"/>
          <p:nvPr/>
        </p:nvSpPr>
        <p:spPr>
          <a:xfrm>
            <a:off x="502920" y="2560320"/>
            <a:ext cx="5391760" cy="2388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776"/>
                </a:solidFill>
                <a:latin typeface="Arial"/>
              </a:rPr>
              <a:t>Savings delivered to date</a:t>
            </a:r>
          </a:p>
        </p:txBody>
      </p:sp>
      <p:sp>
        <p:nvSpPr>
          <p:cNvPr id="10" name="cpe|kpis|text|9"/>
          <p:cNvSpPr txBox="1"/>
          <p:nvPr/>
        </p:nvSpPr>
        <p:spPr>
          <a:xfrm>
            <a:off x="502920" y="2826639"/>
            <a:ext cx="5391760" cy="8309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Mostly customer terms and transport rates</a:t>
            </a:r>
          </a:p>
        </p:txBody>
      </p:sp>
      <p:cxnSp>
        <p:nvCxnSpPr>
          <p:cNvPr id="11" name="cpe|kpis|line|10"/>
          <p:cNvCxnSpPr/>
          <p:nvPr/>
        </p:nvCxnSpPr>
        <p:spPr>
          <a:xfrm>
            <a:off x="6297016" y="1481328"/>
            <a:ext cx="5391759" cy="0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12" name="cpe|kpis|text|11"/>
          <p:cNvSpPr txBox="1"/>
          <p:nvPr/>
        </p:nvSpPr>
        <p:spPr>
          <a:xfrm>
            <a:off x="6297016" y="1618488"/>
            <a:ext cx="539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3294B"/>
                </a:solidFill>
                <a:latin typeface="Arial"/>
              </a:rPr>
              <a:t>€5.63</a:t>
            </a:r>
          </a:p>
        </p:txBody>
      </p:sp>
      <p:sp>
        <p:nvSpPr>
          <p:cNvPr id="13" name="cpe|kpis|text|12"/>
          <p:cNvSpPr txBox="1"/>
          <p:nvPr/>
        </p:nvSpPr>
        <p:spPr>
          <a:xfrm>
            <a:off x="6297016" y="2304288"/>
            <a:ext cx="53917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E7D4F"/>
                </a:solidFill>
                <a:latin typeface="Arial"/>
              </a:rPr>
              <a:t>▼ −3.0% vs 2025</a:t>
            </a:r>
          </a:p>
        </p:txBody>
      </p:sp>
      <p:sp>
        <p:nvSpPr>
          <p:cNvPr id="14" name="cpe|kpis|text|13"/>
          <p:cNvSpPr txBox="1"/>
          <p:nvPr/>
        </p:nvSpPr>
        <p:spPr>
          <a:xfrm>
            <a:off x="6297016" y="2560320"/>
            <a:ext cx="5391760" cy="2388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776"/>
                </a:solidFill>
                <a:latin typeface="Arial"/>
              </a:rPr>
              <a:t>Cost per drop, August</a:t>
            </a:r>
          </a:p>
        </p:txBody>
      </p:sp>
      <p:sp>
        <p:nvSpPr>
          <p:cNvPr id="15" name="cpe|kpis|text|14"/>
          <p:cNvSpPr txBox="1"/>
          <p:nvPr/>
        </p:nvSpPr>
        <p:spPr>
          <a:xfrm>
            <a:off x="6297016" y="2826639"/>
            <a:ext cx="5391760" cy="8309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First decline in five years</a:t>
            </a:r>
          </a:p>
        </p:txBody>
      </p:sp>
      <p:cxnSp>
        <p:nvCxnSpPr>
          <p:cNvPr id="16" name="cpe|kpis|line|15"/>
          <p:cNvCxnSpPr/>
          <p:nvPr/>
        </p:nvCxnSpPr>
        <p:spPr>
          <a:xfrm>
            <a:off x="502920" y="4023360"/>
            <a:ext cx="5391760" cy="0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17" name="cpe|kpis|text|16"/>
          <p:cNvSpPr txBox="1"/>
          <p:nvPr/>
        </p:nvSpPr>
        <p:spPr>
          <a:xfrm>
            <a:off x="502920" y="4160520"/>
            <a:ext cx="539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3294B"/>
                </a:solidFill>
                <a:latin typeface="Arial"/>
              </a:rPr>
              <a:t>81%</a:t>
            </a:r>
          </a:p>
        </p:txBody>
      </p:sp>
      <p:sp>
        <p:nvSpPr>
          <p:cNvPr id="18" name="cpe|kpis|text|17"/>
          <p:cNvSpPr txBox="1"/>
          <p:nvPr/>
        </p:nvSpPr>
        <p:spPr>
          <a:xfrm>
            <a:off x="502920" y="4846320"/>
            <a:ext cx="53917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E7D4F"/>
                </a:solidFill>
                <a:latin typeface="Arial"/>
              </a:rPr>
              <a:t>▲ +4pp</a:t>
            </a:r>
          </a:p>
        </p:txBody>
      </p:sp>
      <p:sp>
        <p:nvSpPr>
          <p:cNvPr id="19" name="cpe|kpis|text|18"/>
          <p:cNvSpPr txBox="1"/>
          <p:nvPr/>
        </p:nvSpPr>
        <p:spPr>
          <a:xfrm>
            <a:off x="502920" y="5102352"/>
            <a:ext cx="5391760" cy="2388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776"/>
                </a:solidFill>
                <a:latin typeface="Arial"/>
              </a:rPr>
              <a:t>Truck fill</a:t>
            </a:r>
          </a:p>
        </p:txBody>
      </p:sp>
      <p:sp>
        <p:nvSpPr>
          <p:cNvPr id="20" name="cpe|kpis|text|19"/>
          <p:cNvSpPr txBox="1"/>
          <p:nvPr/>
        </p:nvSpPr>
        <p:spPr>
          <a:xfrm>
            <a:off x="502920" y="5368671"/>
            <a:ext cx="5391760" cy="8309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Dynamic routing pilot in Madrid</a:t>
            </a:r>
          </a:p>
        </p:txBody>
      </p:sp>
      <p:cxnSp>
        <p:nvCxnSpPr>
          <p:cNvPr id="21" name="cpe|kpis|line|20"/>
          <p:cNvCxnSpPr/>
          <p:nvPr/>
        </p:nvCxnSpPr>
        <p:spPr>
          <a:xfrm>
            <a:off x="6297016" y="4023360"/>
            <a:ext cx="5391759" cy="0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22" name="cpe|kpis|text|21"/>
          <p:cNvSpPr txBox="1"/>
          <p:nvPr/>
        </p:nvSpPr>
        <p:spPr>
          <a:xfrm>
            <a:off x="6297016" y="4160520"/>
            <a:ext cx="539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3294B"/>
                </a:solidFill>
                <a:latin typeface="Arial"/>
              </a:rPr>
              <a:t>−21%</a:t>
            </a:r>
          </a:p>
        </p:txBody>
      </p:sp>
      <p:sp>
        <p:nvSpPr>
          <p:cNvPr id="23" name="cpe|kpis|text|22"/>
          <p:cNvSpPr txBox="1"/>
          <p:nvPr/>
        </p:nvSpPr>
        <p:spPr>
          <a:xfrm>
            <a:off x="6297016" y="4846320"/>
            <a:ext cx="53917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E7D4F"/>
                </a:solidFill>
                <a:latin typeface="Arial"/>
              </a:rPr>
              <a:t>▼ −21% YoY</a:t>
            </a:r>
          </a:p>
        </p:txBody>
      </p:sp>
      <p:sp>
        <p:nvSpPr>
          <p:cNvPr id="24" name="cpe|kpis|text|23"/>
          <p:cNvSpPr txBox="1"/>
          <p:nvPr/>
        </p:nvSpPr>
        <p:spPr>
          <a:xfrm>
            <a:off x="6297016" y="5102352"/>
            <a:ext cx="5391760" cy="2388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776"/>
                </a:solidFill>
                <a:latin typeface="Arial"/>
              </a:rPr>
              <a:t>Overtime hours</a:t>
            </a:r>
          </a:p>
        </p:txBody>
      </p:sp>
      <p:sp>
        <p:nvSpPr>
          <p:cNvPr id="25" name="cpe|kpis|text|24"/>
          <p:cNvSpPr txBox="1"/>
          <p:nvPr/>
        </p:nvSpPr>
        <p:spPr>
          <a:xfrm>
            <a:off x="6297016" y="5368671"/>
            <a:ext cx="5391760" cy="8309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New shift patterns in 3 hubs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VALUE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Wave 1 already cut cost per drop by 3% and overtime by a fifth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KPI tracker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22</a:t>
            </a:r>
          </a:p>
        </p:txBody>
      </p:sp>
      <p:cxnSp>
        <p:nvCxnSpPr>
          <p:cNvPr id="6" name="cpe|kpis|line|5"/>
          <p:cNvCxnSpPr/>
          <p:nvPr/>
        </p:nvCxnSpPr>
        <p:spPr>
          <a:xfrm>
            <a:off x="502920" y="1481328"/>
            <a:ext cx="5391760" cy="0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7" name="cpe|kpis|text|6"/>
          <p:cNvSpPr txBox="1"/>
          <p:nvPr/>
        </p:nvSpPr>
        <p:spPr>
          <a:xfrm>
            <a:off x="502920" y="1618488"/>
            <a:ext cx="539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3294B"/>
                </a:solidFill>
                <a:latin typeface="Arial"/>
              </a:rPr>
              <a:t>€5.7M</a:t>
            </a:r>
          </a:p>
        </p:txBody>
      </p:sp>
      <p:sp>
        <p:nvSpPr>
          <p:cNvPr id="8" name="cpe|kpis|text|7"/>
          <p:cNvSpPr txBox="1"/>
          <p:nvPr/>
        </p:nvSpPr>
        <p:spPr>
          <a:xfrm>
            <a:off x="502920" y="2304288"/>
            <a:ext cx="53917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39" b="1">
                <a:solidFill>
                  <a:srgbClr val="2E7D4F"/>
                </a:solidFill>
                <a:latin typeface="Arial"/>
              </a:rPr>
              <a:t>▲ +€2.3M vs plan</a:t>
            </a:r>
          </a:p>
        </p:txBody>
      </p:sp>
      <p:sp>
        <p:nvSpPr>
          <p:cNvPr id="9" name="cpe|kpis|text|8"/>
          <p:cNvSpPr txBox="1"/>
          <p:nvPr/>
        </p:nvSpPr>
        <p:spPr>
          <a:xfrm>
            <a:off x="502920" y="2560320"/>
            <a:ext cx="5391760" cy="27454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39" b="0">
                <a:solidFill>
                  <a:srgbClr val="5B6776"/>
                </a:solidFill>
                <a:latin typeface="Arial"/>
              </a:rPr>
              <a:t>Savings delivered to date</a:t>
            </a:r>
          </a:p>
        </p:txBody>
      </p:sp>
      <p:sp>
        <p:nvSpPr>
          <p:cNvPr id="10" name="cpe|kpis|text|9"/>
          <p:cNvSpPr txBox="1"/>
          <p:nvPr/>
        </p:nvSpPr>
        <p:spPr>
          <a:xfrm>
            <a:off x="502920" y="2862301"/>
            <a:ext cx="5391760" cy="7952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Mostly customer terms and transport rates</a:t>
            </a:r>
          </a:p>
        </p:txBody>
      </p:sp>
      <p:cxnSp>
        <p:nvCxnSpPr>
          <p:cNvPr id="11" name="cpe|kpis|line|10"/>
          <p:cNvCxnSpPr/>
          <p:nvPr/>
        </p:nvCxnSpPr>
        <p:spPr>
          <a:xfrm>
            <a:off x="6297016" y="1481328"/>
            <a:ext cx="5391759" cy="0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12" name="cpe|kpis|text|11"/>
          <p:cNvSpPr txBox="1"/>
          <p:nvPr/>
        </p:nvSpPr>
        <p:spPr>
          <a:xfrm>
            <a:off x="6297016" y="1618488"/>
            <a:ext cx="539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3294B"/>
                </a:solidFill>
                <a:latin typeface="Arial"/>
              </a:rPr>
              <a:t>€5.63</a:t>
            </a:r>
          </a:p>
        </p:txBody>
      </p:sp>
      <p:sp>
        <p:nvSpPr>
          <p:cNvPr id="13" name="cpe|kpis|text|12"/>
          <p:cNvSpPr txBox="1"/>
          <p:nvPr/>
        </p:nvSpPr>
        <p:spPr>
          <a:xfrm>
            <a:off x="6297016" y="2304288"/>
            <a:ext cx="53917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39" b="1">
                <a:solidFill>
                  <a:srgbClr val="2E7D4F"/>
                </a:solidFill>
                <a:latin typeface="Arial"/>
              </a:rPr>
              <a:t>▼ −3.0% vs 2025</a:t>
            </a:r>
          </a:p>
        </p:txBody>
      </p:sp>
      <p:sp>
        <p:nvSpPr>
          <p:cNvPr id="14" name="cpe|kpis|text|13"/>
          <p:cNvSpPr txBox="1"/>
          <p:nvPr/>
        </p:nvSpPr>
        <p:spPr>
          <a:xfrm>
            <a:off x="6297016" y="2560320"/>
            <a:ext cx="5391760" cy="27454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39" b="0">
                <a:solidFill>
                  <a:srgbClr val="5B6776"/>
                </a:solidFill>
                <a:latin typeface="Arial"/>
              </a:rPr>
              <a:t>Cost per drop, August</a:t>
            </a:r>
          </a:p>
        </p:txBody>
      </p:sp>
      <p:sp>
        <p:nvSpPr>
          <p:cNvPr id="15" name="cpe|kpis|text|14"/>
          <p:cNvSpPr txBox="1"/>
          <p:nvPr/>
        </p:nvSpPr>
        <p:spPr>
          <a:xfrm>
            <a:off x="6297016" y="2862301"/>
            <a:ext cx="5391760" cy="7952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First decline in five years</a:t>
            </a:r>
          </a:p>
        </p:txBody>
      </p:sp>
      <p:cxnSp>
        <p:nvCxnSpPr>
          <p:cNvPr id="16" name="cpe|kpis|line|15"/>
          <p:cNvCxnSpPr/>
          <p:nvPr/>
        </p:nvCxnSpPr>
        <p:spPr>
          <a:xfrm>
            <a:off x="502920" y="4023360"/>
            <a:ext cx="5391760" cy="0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17" name="cpe|kpis|text|16"/>
          <p:cNvSpPr txBox="1"/>
          <p:nvPr/>
        </p:nvSpPr>
        <p:spPr>
          <a:xfrm>
            <a:off x="502920" y="4160520"/>
            <a:ext cx="539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3294B"/>
                </a:solidFill>
                <a:latin typeface="Arial"/>
              </a:rPr>
              <a:t>81%</a:t>
            </a:r>
          </a:p>
        </p:txBody>
      </p:sp>
      <p:sp>
        <p:nvSpPr>
          <p:cNvPr id="18" name="cpe|kpis|text|17"/>
          <p:cNvSpPr txBox="1"/>
          <p:nvPr/>
        </p:nvSpPr>
        <p:spPr>
          <a:xfrm>
            <a:off x="502920" y="4846320"/>
            <a:ext cx="53917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39" b="1">
                <a:solidFill>
                  <a:srgbClr val="2E7D4F"/>
                </a:solidFill>
                <a:latin typeface="Arial"/>
              </a:rPr>
              <a:t>▲ +4pp</a:t>
            </a:r>
          </a:p>
        </p:txBody>
      </p:sp>
      <p:sp>
        <p:nvSpPr>
          <p:cNvPr id="19" name="cpe|kpis|text|18"/>
          <p:cNvSpPr txBox="1"/>
          <p:nvPr/>
        </p:nvSpPr>
        <p:spPr>
          <a:xfrm>
            <a:off x="502920" y="5102352"/>
            <a:ext cx="5391760" cy="27454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39" b="0">
                <a:solidFill>
                  <a:srgbClr val="5B6776"/>
                </a:solidFill>
                <a:latin typeface="Arial"/>
              </a:rPr>
              <a:t>Truck fill</a:t>
            </a:r>
          </a:p>
        </p:txBody>
      </p:sp>
      <p:sp>
        <p:nvSpPr>
          <p:cNvPr id="20" name="cpe|kpis|text|19"/>
          <p:cNvSpPr txBox="1"/>
          <p:nvPr/>
        </p:nvSpPr>
        <p:spPr>
          <a:xfrm>
            <a:off x="502920" y="5404333"/>
            <a:ext cx="5391760" cy="7952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Dynamic routing pilot in Madrid</a:t>
            </a:r>
          </a:p>
        </p:txBody>
      </p:sp>
      <p:cxnSp>
        <p:nvCxnSpPr>
          <p:cNvPr id="21" name="cpe|kpis|line|20"/>
          <p:cNvCxnSpPr/>
          <p:nvPr/>
        </p:nvCxnSpPr>
        <p:spPr>
          <a:xfrm>
            <a:off x="6297016" y="4023360"/>
            <a:ext cx="5391759" cy="0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22" name="cpe|kpis|text|21"/>
          <p:cNvSpPr txBox="1"/>
          <p:nvPr/>
        </p:nvSpPr>
        <p:spPr>
          <a:xfrm>
            <a:off x="6297016" y="4160520"/>
            <a:ext cx="539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3294B"/>
                </a:solidFill>
                <a:latin typeface="Arial"/>
              </a:rPr>
              <a:t>−21%</a:t>
            </a:r>
          </a:p>
        </p:txBody>
      </p:sp>
      <p:sp>
        <p:nvSpPr>
          <p:cNvPr id="23" name="cpe|kpis|text|22"/>
          <p:cNvSpPr txBox="1"/>
          <p:nvPr/>
        </p:nvSpPr>
        <p:spPr>
          <a:xfrm>
            <a:off x="6297016" y="4846320"/>
            <a:ext cx="53917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39" b="1">
                <a:solidFill>
                  <a:srgbClr val="2E7D4F"/>
                </a:solidFill>
                <a:latin typeface="Arial"/>
              </a:rPr>
              <a:t>▼ −21% YoY</a:t>
            </a:r>
          </a:p>
        </p:txBody>
      </p:sp>
      <p:sp>
        <p:nvSpPr>
          <p:cNvPr id="24" name="cpe|kpis|text|23"/>
          <p:cNvSpPr txBox="1"/>
          <p:nvPr/>
        </p:nvSpPr>
        <p:spPr>
          <a:xfrm>
            <a:off x="6297016" y="5102352"/>
            <a:ext cx="5391760" cy="27454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39" b="0">
                <a:solidFill>
                  <a:srgbClr val="5B6776"/>
                </a:solidFill>
                <a:latin typeface="Arial"/>
              </a:rPr>
              <a:t>Overtime hours</a:t>
            </a:r>
          </a:p>
        </p:txBody>
      </p:sp>
      <p:sp>
        <p:nvSpPr>
          <p:cNvPr id="25" name="cpe|kpis|text|24"/>
          <p:cNvSpPr txBox="1"/>
          <p:nvPr/>
        </p:nvSpPr>
        <p:spPr>
          <a:xfrm>
            <a:off x="6297016" y="5404333"/>
            <a:ext cx="5391760" cy="7952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New shift patterns in 3 hubs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VALUE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€48M run-rate savings by 2027, with €24M secured by wave 1 and 2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Business cases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23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Run-rate savings build-up</a:t>
            </a:r>
            <a:r>
              <a:rPr sz="1100" b="0">
                <a:solidFill>
                  <a:srgbClr val="1C2530"/>
                </a:solidFill>
                <a:latin typeface="Arial"/>
              </a:rPr>
              <a:t>, €M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739018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502920" y="4870814"/>
            <a:ext cx="1231697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+11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1734617" y="3919068"/>
            <a:ext cx="1231697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+13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2966314" y="3919068"/>
            <a:ext cx="1231697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24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4198010" y="2674476"/>
            <a:ext cx="1231697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+17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5429707" y="2161997"/>
            <a:ext cx="1231697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+7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6661404" y="2161997"/>
            <a:ext cx="1231697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48</a:t>
            </a:r>
          </a:p>
        </p:txBody>
      </p:sp>
      <p:cxnSp>
        <p:nvCxnSpPr>
          <p:cNvPr id="14" name="cpe|exhibit|connector|13"/>
          <p:cNvCxnSpPr/>
          <p:nvPr/>
        </p:nvCxnSpPr>
        <p:spPr>
          <a:xfrm>
            <a:off x="1543491" y="5135990"/>
            <a:ext cx="382251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5" name="cpe|exhibit|connector|14"/>
          <p:cNvCxnSpPr/>
          <p:nvPr/>
        </p:nvCxnSpPr>
        <p:spPr>
          <a:xfrm>
            <a:off x="2775188" y="4184244"/>
            <a:ext cx="382251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6" name="cpe|exhibit|connector|15"/>
          <p:cNvCxnSpPr/>
          <p:nvPr/>
        </p:nvCxnSpPr>
        <p:spPr>
          <a:xfrm>
            <a:off x="4006885" y="4184244"/>
            <a:ext cx="382251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7" name="cpe|exhibit|connector|16"/>
          <p:cNvCxnSpPr/>
          <p:nvPr/>
        </p:nvCxnSpPr>
        <p:spPr>
          <a:xfrm>
            <a:off x="5238582" y="2939652"/>
            <a:ext cx="382251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8" name="cpe|exhibit|connector|17"/>
          <p:cNvCxnSpPr/>
          <p:nvPr/>
        </p:nvCxnSpPr>
        <p:spPr>
          <a:xfrm>
            <a:off x="6470279" y="2427173"/>
            <a:ext cx="382250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9" name="cpe|commentary|line|18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20" name="cpe|commentary|text|19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Waves 1-2 secure </a:t>
            </a:r>
            <a:r>
              <a:rPr sz="1200" b="1">
                <a:solidFill>
                  <a:srgbClr val="1C2530"/>
                </a:solidFill>
                <a:latin typeface="Arial"/>
              </a:rPr>
              <a:t>half</a:t>
            </a:r>
            <a:r>
              <a:rPr sz="1200" b="0">
                <a:solidFill>
                  <a:srgbClr val="1C2530"/>
                </a:solidFill>
                <a:latin typeface="Arial"/>
              </a:rPr>
              <a:t> of the target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Network carries the largest single block and the most execution risk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VALUE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€48M run-rate savings by 2027, with €24M secured by wave 1 and 2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Business cases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23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Run-rate savings build-up</a:t>
            </a:r>
            <a:r>
              <a:rPr sz="1100" b="0">
                <a:solidFill>
                  <a:srgbClr val="1C2530"/>
                </a:solidFill>
                <a:latin typeface="Arial"/>
              </a:rPr>
              <a:t>, €M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739018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502920" y="4870814"/>
            <a:ext cx="1231697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+11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1734617" y="3919068"/>
            <a:ext cx="1231697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+13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2966314" y="3919068"/>
            <a:ext cx="1231697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24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4198010" y="2674476"/>
            <a:ext cx="1231697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+17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5429707" y="2161997"/>
            <a:ext cx="1231697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+7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6661404" y="2161997"/>
            <a:ext cx="1231697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48</a:t>
            </a:r>
          </a:p>
        </p:txBody>
      </p:sp>
      <p:cxnSp>
        <p:nvCxnSpPr>
          <p:cNvPr id="14" name="cpe|exhibit|connector|13"/>
          <p:cNvCxnSpPr/>
          <p:nvPr/>
        </p:nvCxnSpPr>
        <p:spPr>
          <a:xfrm>
            <a:off x="1543491" y="5135990"/>
            <a:ext cx="382251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5" name="cpe|exhibit|connector|14"/>
          <p:cNvCxnSpPr/>
          <p:nvPr/>
        </p:nvCxnSpPr>
        <p:spPr>
          <a:xfrm>
            <a:off x="2775188" y="4184244"/>
            <a:ext cx="382251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6" name="cpe|exhibit|connector|15"/>
          <p:cNvCxnSpPr/>
          <p:nvPr/>
        </p:nvCxnSpPr>
        <p:spPr>
          <a:xfrm>
            <a:off x="4006885" y="4184244"/>
            <a:ext cx="382251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7" name="cpe|exhibit|connector|16"/>
          <p:cNvCxnSpPr/>
          <p:nvPr/>
        </p:nvCxnSpPr>
        <p:spPr>
          <a:xfrm>
            <a:off x="5238582" y="2939652"/>
            <a:ext cx="382251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8" name="cpe|exhibit|connector|17"/>
          <p:cNvCxnSpPr/>
          <p:nvPr/>
        </p:nvCxnSpPr>
        <p:spPr>
          <a:xfrm>
            <a:off x="6470279" y="2427173"/>
            <a:ext cx="382250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9" name="cpe|commentary|line|18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20" name="cpe|commentary|text|19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C2530"/>
                </a:solidFill>
                <a:latin typeface="Arial"/>
              </a:rPr>
              <a:t>Waves 1-2 secure </a:t>
            </a:r>
            <a:r>
              <a:rPr sz="1400" b="1">
                <a:solidFill>
                  <a:srgbClr val="1C2530"/>
                </a:solidFill>
                <a:latin typeface="Arial"/>
              </a:rPr>
              <a:t>half</a:t>
            </a:r>
            <a:r>
              <a:rPr sz="1400" b="0">
                <a:solidFill>
                  <a:srgbClr val="1C2530"/>
                </a:solidFill>
                <a:latin typeface="Arial"/>
              </a:rPr>
              <a:t> of the target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C2530"/>
                </a:solidFill>
                <a:latin typeface="Arial"/>
              </a:rPr>
              <a:t>Network carries the largest single block and the most execution risk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VALUE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€48M run-rate savings by 2027, with €24M secured by wave 1 and 2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Business cases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23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Run-rate savings build-up</a:t>
            </a:r>
            <a:r>
              <a:rPr sz="1100" b="0">
                <a:solidFill>
                  <a:srgbClr val="1C2530"/>
                </a:solidFill>
                <a:latin typeface="Arial"/>
              </a:rPr>
              <a:t>, €M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739018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502920" y="4870814"/>
            <a:ext cx="1231697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+11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1734617" y="3919068"/>
            <a:ext cx="1231697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+13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2966314" y="3919068"/>
            <a:ext cx="1231697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24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4198010" y="2674476"/>
            <a:ext cx="1231697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+17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5429707" y="2161997"/>
            <a:ext cx="1231697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+7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6661404" y="2161997"/>
            <a:ext cx="1231697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48</a:t>
            </a:r>
          </a:p>
        </p:txBody>
      </p:sp>
      <p:cxnSp>
        <p:nvCxnSpPr>
          <p:cNvPr id="14" name="cpe|exhibit|connector|13"/>
          <p:cNvCxnSpPr/>
          <p:nvPr/>
        </p:nvCxnSpPr>
        <p:spPr>
          <a:xfrm>
            <a:off x="1543491" y="5135990"/>
            <a:ext cx="382251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5" name="cpe|exhibit|connector|14"/>
          <p:cNvCxnSpPr/>
          <p:nvPr/>
        </p:nvCxnSpPr>
        <p:spPr>
          <a:xfrm>
            <a:off x="2775188" y="4184244"/>
            <a:ext cx="382251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6" name="cpe|exhibit|connector|15"/>
          <p:cNvCxnSpPr/>
          <p:nvPr/>
        </p:nvCxnSpPr>
        <p:spPr>
          <a:xfrm>
            <a:off x="4006885" y="4184244"/>
            <a:ext cx="382251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7" name="cpe|exhibit|connector|16"/>
          <p:cNvCxnSpPr/>
          <p:nvPr/>
        </p:nvCxnSpPr>
        <p:spPr>
          <a:xfrm>
            <a:off x="5238582" y="2939652"/>
            <a:ext cx="382251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8" name="cpe|exhibit|connector|17"/>
          <p:cNvCxnSpPr/>
          <p:nvPr/>
        </p:nvCxnSpPr>
        <p:spPr>
          <a:xfrm>
            <a:off x="6470279" y="2427173"/>
            <a:ext cx="382250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9" name="cpe|commentary|line|18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20" name="cpe|commentary|text|19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Waves 1-2 secure </a:t>
            </a:r>
            <a:r>
              <a:rPr sz="1200" b="1">
                <a:solidFill>
                  <a:srgbClr val="1C2530"/>
                </a:solidFill>
                <a:latin typeface="Arial"/>
              </a:rPr>
              <a:t>half</a:t>
            </a:r>
            <a:r>
              <a:rPr sz="1200" b="0">
                <a:solidFill>
                  <a:srgbClr val="1C2530"/>
                </a:solidFill>
                <a:latin typeface="Arial"/>
              </a:rPr>
              <a:t> of the target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Network carries the largest single block and the most execution risk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VALUE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€48M run-rate savings by 2027, with €24M secured by wave 1 and 2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Business cases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23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Run-rate savings build-up</a:t>
            </a:r>
            <a:r>
              <a:rPr sz="1100" b="0">
                <a:solidFill>
                  <a:srgbClr val="1C2530"/>
                </a:solidFill>
                <a:latin typeface="Arial"/>
              </a:rPr>
              <a:t>, €M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739018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502920" y="4870814"/>
            <a:ext cx="1231697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+11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1734617" y="3919068"/>
            <a:ext cx="1231697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+13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2966314" y="3919068"/>
            <a:ext cx="1231697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24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4198010" y="2674476"/>
            <a:ext cx="1231697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+17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5429707" y="2161997"/>
            <a:ext cx="1231697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+7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6661404" y="2161997"/>
            <a:ext cx="1231697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48</a:t>
            </a:r>
          </a:p>
        </p:txBody>
      </p:sp>
      <p:cxnSp>
        <p:nvCxnSpPr>
          <p:cNvPr id="14" name="cpe|exhibit|connector|13"/>
          <p:cNvCxnSpPr/>
          <p:nvPr/>
        </p:nvCxnSpPr>
        <p:spPr>
          <a:xfrm>
            <a:off x="1543491" y="5135990"/>
            <a:ext cx="382251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5" name="cpe|exhibit|connector|14"/>
          <p:cNvCxnSpPr/>
          <p:nvPr/>
        </p:nvCxnSpPr>
        <p:spPr>
          <a:xfrm>
            <a:off x="2775188" y="4184244"/>
            <a:ext cx="382251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6" name="cpe|exhibit|connector|15"/>
          <p:cNvCxnSpPr/>
          <p:nvPr/>
        </p:nvCxnSpPr>
        <p:spPr>
          <a:xfrm>
            <a:off x="4006885" y="4184244"/>
            <a:ext cx="382251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7" name="cpe|exhibit|connector|16"/>
          <p:cNvCxnSpPr/>
          <p:nvPr/>
        </p:nvCxnSpPr>
        <p:spPr>
          <a:xfrm>
            <a:off x="5238582" y="2939652"/>
            <a:ext cx="382251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8" name="cpe|exhibit|connector|17"/>
          <p:cNvCxnSpPr/>
          <p:nvPr/>
        </p:nvCxnSpPr>
        <p:spPr>
          <a:xfrm>
            <a:off x="6470279" y="2427173"/>
            <a:ext cx="382250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9" name="cpe|commentary|line|18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20" name="cpe|commentary|text|19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C2530"/>
                </a:solidFill>
                <a:latin typeface="Arial"/>
              </a:rPr>
              <a:t>Waves 1-2 secure </a:t>
            </a:r>
            <a:r>
              <a:rPr sz="1400" b="1">
                <a:solidFill>
                  <a:srgbClr val="1C2530"/>
                </a:solidFill>
                <a:latin typeface="Arial"/>
              </a:rPr>
              <a:t>half</a:t>
            </a:r>
            <a:r>
              <a:rPr sz="1400" b="0">
                <a:solidFill>
                  <a:srgbClr val="1C2530"/>
                </a:solidFill>
                <a:latin typeface="Arial"/>
              </a:rPr>
              <a:t> of the target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C2530"/>
                </a:solidFill>
                <a:latin typeface="Arial"/>
              </a:rPr>
              <a:t>Network carries the largest single block and the most execution risk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VALUE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€48M run-rate savings by 2027, with €24M secured by wave 1 and 2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Business cases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23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Run-rate savings build-up</a:t>
            </a:r>
            <a:r>
              <a:rPr sz="1100" b="0">
                <a:solidFill>
                  <a:srgbClr val="1C2530"/>
                </a:solidFill>
                <a:latin typeface="Arial"/>
              </a:rPr>
              <a:t>, €M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11185855" cy="364388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502920" y="4347535"/>
            <a:ext cx="1864309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+11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2367229" y="3550036"/>
            <a:ext cx="1864309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+13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4231538" y="3550036"/>
            <a:ext cx="1864309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24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6095848" y="2507153"/>
            <a:ext cx="1864309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+17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7960157" y="2077730"/>
            <a:ext cx="1864309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+7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9824466" y="2077730"/>
            <a:ext cx="1864309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48</a:t>
            </a:r>
          </a:p>
        </p:txBody>
      </p:sp>
      <p:cxnSp>
        <p:nvCxnSpPr>
          <p:cNvPr id="14" name="cpe|exhibit|connector|13"/>
          <p:cNvCxnSpPr/>
          <p:nvPr/>
        </p:nvCxnSpPr>
        <p:spPr>
          <a:xfrm>
            <a:off x="2077940" y="4612711"/>
            <a:ext cx="578579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5" name="cpe|exhibit|connector|14"/>
          <p:cNvCxnSpPr/>
          <p:nvPr/>
        </p:nvCxnSpPr>
        <p:spPr>
          <a:xfrm>
            <a:off x="3942249" y="3815212"/>
            <a:ext cx="578579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6" name="cpe|exhibit|connector|15"/>
          <p:cNvCxnSpPr/>
          <p:nvPr/>
        </p:nvCxnSpPr>
        <p:spPr>
          <a:xfrm>
            <a:off x="5806558" y="3815212"/>
            <a:ext cx="578579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7" name="cpe|exhibit|connector|16"/>
          <p:cNvCxnSpPr/>
          <p:nvPr/>
        </p:nvCxnSpPr>
        <p:spPr>
          <a:xfrm>
            <a:off x="7670867" y="2772329"/>
            <a:ext cx="578579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8" name="cpe|exhibit|connector|17"/>
          <p:cNvCxnSpPr/>
          <p:nvPr/>
        </p:nvCxnSpPr>
        <p:spPr>
          <a:xfrm>
            <a:off x="9535177" y="2342906"/>
            <a:ext cx="578578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9" name="cpe|commentary|line|18"/>
          <p:cNvCxnSpPr/>
          <p:nvPr/>
        </p:nvCxnSpPr>
        <p:spPr>
          <a:xfrm>
            <a:off x="502920" y="5747004"/>
            <a:ext cx="11185855" cy="0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20" name="cpe|commentary|text|19"/>
          <p:cNvSpPr txBox="1"/>
          <p:nvPr/>
        </p:nvSpPr>
        <p:spPr>
          <a:xfrm>
            <a:off x="502920" y="5884164"/>
            <a:ext cx="5492344" cy="3154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Waves 1-2 secure </a:t>
            </a:r>
            <a:r>
              <a:rPr sz="1200" b="1">
                <a:solidFill>
                  <a:srgbClr val="1C2530"/>
                </a:solidFill>
                <a:latin typeface="Arial"/>
              </a:rPr>
              <a:t>half</a:t>
            </a:r>
            <a:r>
              <a:rPr sz="1200" b="0">
                <a:solidFill>
                  <a:srgbClr val="1C2530"/>
                </a:solidFill>
                <a:latin typeface="Arial"/>
              </a:rPr>
              <a:t> of the target</a:t>
            </a:r>
          </a:p>
        </p:txBody>
      </p:sp>
      <p:sp>
        <p:nvSpPr>
          <p:cNvPr id="21" name="cpe|commentary|text|20"/>
          <p:cNvSpPr txBox="1"/>
          <p:nvPr/>
        </p:nvSpPr>
        <p:spPr>
          <a:xfrm>
            <a:off x="6196432" y="5884164"/>
            <a:ext cx="5492344" cy="3154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Network carries the largest single block and the most execution risk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VALUE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€48M run-rate savings by 2027, with €24M secured by wave 1 and 2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Business cases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23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Run-rate savings build-up</a:t>
            </a:r>
            <a:r>
              <a:rPr sz="1100" b="0">
                <a:solidFill>
                  <a:srgbClr val="1C2530"/>
                </a:solidFill>
                <a:latin typeface="Arial"/>
              </a:rPr>
              <a:t>, €M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11185855" cy="361416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502920" y="4323750"/>
            <a:ext cx="1864309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+11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2367229" y="3533262"/>
            <a:ext cx="1864309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+13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4231538" y="3533262"/>
            <a:ext cx="1864309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24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6095848" y="2499547"/>
            <a:ext cx="1864309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+17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7960157" y="2073900"/>
            <a:ext cx="1864309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+7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9824466" y="2073900"/>
            <a:ext cx="1864309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48</a:t>
            </a:r>
          </a:p>
        </p:txBody>
      </p:sp>
      <p:cxnSp>
        <p:nvCxnSpPr>
          <p:cNvPr id="14" name="cpe|exhibit|connector|13"/>
          <p:cNvCxnSpPr/>
          <p:nvPr/>
        </p:nvCxnSpPr>
        <p:spPr>
          <a:xfrm>
            <a:off x="2077940" y="4588926"/>
            <a:ext cx="578579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5" name="cpe|exhibit|connector|14"/>
          <p:cNvCxnSpPr/>
          <p:nvPr/>
        </p:nvCxnSpPr>
        <p:spPr>
          <a:xfrm>
            <a:off x="3942249" y="3798438"/>
            <a:ext cx="578579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6" name="cpe|exhibit|connector|15"/>
          <p:cNvCxnSpPr/>
          <p:nvPr/>
        </p:nvCxnSpPr>
        <p:spPr>
          <a:xfrm>
            <a:off x="5806558" y="3798438"/>
            <a:ext cx="578579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7" name="cpe|exhibit|connector|16"/>
          <p:cNvCxnSpPr/>
          <p:nvPr/>
        </p:nvCxnSpPr>
        <p:spPr>
          <a:xfrm>
            <a:off x="7670867" y="2764723"/>
            <a:ext cx="578579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8" name="cpe|exhibit|connector|17"/>
          <p:cNvCxnSpPr/>
          <p:nvPr/>
        </p:nvCxnSpPr>
        <p:spPr>
          <a:xfrm>
            <a:off x="9535177" y="2339076"/>
            <a:ext cx="578578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9" name="cpe|commentary|line|18"/>
          <p:cNvCxnSpPr/>
          <p:nvPr/>
        </p:nvCxnSpPr>
        <p:spPr>
          <a:xfrm>
            <a:off x="502920" y="5717286"/>
            <a:ext cx="11185855" cy="0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20" name="cpe|commentary|text|19"/>
          <p:cNvSpPr txBox="1"/>
          <p:nvPr/>
        </p:nvSpPr>
        <p:spPr>
          <a:xfrm>
            <a:off x="502920" y="5854446"/>
            <a:ext cx="5492344" cy="3451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Waves 1-2 secure </a:t>
            </a:r>
            <a:r>
              <a:rPr sz="1400" b="1">
                <a:solidFill>
                  <a:srgbClr val="1C2530"/>
                </a:solidFill>
                <a:latin typeface="Arial"/>
              </a:rPr>
              <a:t>half</a:t>
            </a:r>
            <a:r>
              <a:rPr sz="1400" b="0">
                <a:solidFill>
                  <a:srgbClr val="1C2530"/>
                </a:solidFill>
                <a:latin typeface="Arial"/>
              </a:rPr>
              <a:t> of the target</a:t>
            </a:r>
          </a:p>
        </p:txBody>
      </p:sp>
      <p:sp>
        <p:nvSpPr>
          <p:cNvPr id="21" name="cpe|commentary|text|20"/>
          <p:cNvSpPr txBox="1"/>
          <p:nvPr/>
        </p:nvSpPr>
        <p:spPr>
          <a:xfrm>
            <a:off x="6196432" y="5854446"/>
            <a:ext cx="5492344" cy="3451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Network carries the largest single block and the most execution risk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VALUE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Network and automation deliver 63% of the savings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Business cases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25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Run-rate savings by initiative, 2027</a:t>
            </a:r>
            <a:r>
              <a:rPr sz="1100" b="0">
                <a:solidFill>
                  <a:srgbClr val="1C2530"/>
                </a:solidFill>
                <a:latin typeface="Arial"/>
              </a:rPr>
              <a:t>, €M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2018492"/>
          <a:ext cx="4064599" cy="40645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4887559" y="3410712"/>
            <a:ext cx="128016" cy="128016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label|8"/>
          <p:cNvSpPr txBox="1"/>
          <p:nvPr/>
        </p:nvSpPr>
        <p:spPr>
          <a:xfrm>
            <a:off x="5116159" y="3282696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35%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5756239" y="3282696"/>
            <a:ext cx="213686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Network  (17)</a:t>
            </a:r>
          </a:p>
        </p:txBody>
      </p:sp>
      <p:sp>
        <p:nvSpPr>
          <p:cNvPr id="11" name="cpe|exhibit|marker|10"/>
          <p:cNvSpPr/>
          <p:nvPr/>
        </p:nvSpPr>
        <p:spPr>
          <a:xfrm>
            <a:off x="4887559" y="3794760"/>
            <a:ext cx="128016" cy="128016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label|11"/>
          <p:cNvSpPr txBox="1"/>
          <p:nvPr/>
        </p:nvSpPr>
        <p:spPr>
          <a:xfrm>
            <a:off x="5116159" y="3666744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27%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5756239" y="3666744"/>
            <a:ext cx="213686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Hub automation  (13)</a:t>
            </a:r>
          </a:p>
        </p:txBody>
      </p:sp>
      <p:sp>
        <p:nvSpPr>
          <p:cNvPr id="14" name="cpe|exhibit|marker|13"/>
          <p:cNvSpPr/>
          <p:nvPr/>
        </p:nvSpPr>
        <p:spPr>
          <a:xfrm>
            <a:off x="4887559" y="4178808"/>
            <a:ext cx="128016" cy="128016"/>
          </a:xfrm>
          <a:prstGeom prst="rect">
            <a:avLst/>
          </a:prstGeom>
          <a:solidFill>
            <a:srgbClr val="CAD2D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label|14"/>
          <p:cNvSpPr txBox="1"/>
          <p:nvPr/>
        </p:nvSpPr>
        <p:spPr>
          <a:xfrm>
            <a:off x="5116159" y="405079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23%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5756239" y="4050792"/>
            <a:ext cx="213686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Customer terms  (11)</a:t>
            </a:r>
          </a:p>
        </p:txBody>
      </p:sp>
      <p:sp>
        <p:nvSpPr>
          <p:cNvPr id="17" name="cpe|exhibit|marker|16"/>
          <p:cNvSpPr/>
          <p:nvPr/>
        </p:nvSpPr>
        <p:spPr>
          <a:xfrm>
            <a:off x="4887559" y="4562856"/>
            <a:ext cx="128016" cy="128016"/>
          </a:xfrm>
          <a:prstGeom prst="rect">
            <a:avLst/>
          </a:prstGeom>
          <a:solidFill>
            <a:srgbClr val="B6C0C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cpe|exhibit|label|17"/>
          <p:cNvSpPr txBox="1"/>
          <p:nvPr/>
        </p:nvSpPr>
        <p:spPr>
          <a:xfrm>
            <a:off x="5116159" y="4434840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15%</a:t>
            </a:r>
          </a:p>
        </p:txBody>
      </p:sp>
      <p:sp>
        <p:nvSpPr>
          <p:cNvPr id="19" name="cpe|exhibit|label|18"/>
          <p:cNvSpPr txBox="1"/>
          <p:nvPr/>
        </p:nvSpPr>
        <p:spPr>
          <a:xfrm>
            <a:off x="5756239" y="4434840"/>
            <a:ext cx="213686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Procurement  (7)</a:t>
            </a:r>
          </a:p>
        </p:txBody>
      </p:sp>
      <p:cxnSp>
        <p:nvCxnSpPr>
          <p:cNvPr id="20" name="cpe|exhibit|line|19"/>
          <p:cNvCxnSpPr/>
          <p:nvPr/>
        </p:nvCxnSpPr>
        <p:spPr>
          <a:xfrm>
            <a:off x="4887559" y="4864608"/>
            <a:ext cx="3005542" cy="0"/>
          </a:xfrm>
          <a:prstGeom prst="line">
            <a:avLst/>
          </a:prstGeom>
          <a:ln w="6350">
            <a:solidFill>
              <a:srgbClr val="B6C0CB"/>
            </a:solidFill>
          </a:ln>
        </p:spPr>
      </p:cxnSp>
      <p:sp>
        <p:nvSpPr>
          <p:cNvPr id="21" name="cpe|exhibit|label|20"/>
          <p:cNvSpPr txBox="1"/>
          <p:nvPr/>
        </p:nvSpPr>
        <p:spPr>
          <a:xfrm>
            <a:off x="5116159" y="4882896"/>
            <a:ext cx="2776941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Top 2: 62%</a:t>
            </a:r>
          </a:p>
        </p:txBody>
      </p:sp>
      <p:cxnSp>
        <p:nvCxnSpPr>
          <p:cNvPr id="22" name="cpe|commentary|line|21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23" name="cpe|commentary|text|22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Two initiatives carry two thirds of the value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Both depend on capex released today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VALUE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Network and automation deliver 63% of the savings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Business cases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25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Run-rate savings by initiative, 2027</a:t>
            </a:r>
            <a:r>
              <a:rPr sz="1100" b="0">
                <a:solidFill>
                  <a:srgbClr val="1C2530"/>
                </a:solidFill>
                <a:latin typeface="Arial"/>
              </a:rPr>
              <a:t>, €M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2018492"/>
          <a:ext cx="4064599" cy="40645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4887559" y="3410712"/>
            <a:ext cx="128016" cy="128016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label|8"/>
          <p:cNvSpPr txBox="1"/>
          <p:nvPr/>
        </p:nvSpPr>
        <p:spPr>
          <a:xfrm>
            <a:off x="5116159" y="3282696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35%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5756239" y="3282696"/>
            <a:ext cx="213686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Network  (17)</a:t>
            </a:r>
          </a:p>
        </p:txBody>
      </p:sp>
      <p:sp>
        <p:nvSpPr>
          <p:cNvPr id="11" name="cpe|exhibit|marker|10"/>
          <p:cNvSpPr/>
          <p:nvPr/>
        </p:nvSpPr>
        <p:spPr>
          <a:xfrm>
            <a:off x="4887559" y="3794760"/>
            <a:ext cx="128016" cy="128016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label|11"/>
          <p:cNvSpPr txBox="1"/>
          <p:nvPr/>
        </p:nvSpPr>
        <p:spPr>
          <a:xfrm>
            <a:off x="5116159" y="3666744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27%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5756239" y="3666744"/>
            <a:ext cx="213686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Hub automation  (13)</a:t>
            </a:r>
          </a:p>
        </p:txBody>
      </p:sp>
      <p:sp>
        <p:nvSpPr>
          <p:cNvPr id="14" name="cpe|exhibit|marker|13"/>
          <p:cNvSpPr/>
          <p:nvPr/>
        </p:nvSpPr>
        <p:spPr>
          <a:xfrm>
            <a:off x="4887559" y="4178808"/>
            <a:ext cx="128016" cy="128016"/>
          </a:xfrm>
          <a:prstGeom prst="rect">
            <a:avLst/>
          </a:prstGeom>
          <a:solidFill>
            <a:srgbClr val="CAD2D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label|14"/>
          <p:cNvSpPr txBox="1"/>
          <p:nvPr/>
        </p:nvSpPr>
        <p:spPr>
          <a:xfrm>
            <a:off x="5116159" y="405079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23%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5756239" y="4050792"/>
            <a:ext cx="213686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Customer terms  (11)</a:t>
            </a:r>
          </a:p>
        </p:txBody>
      </p:sp>
      <p:sp>
        <p:nvSpPr>
          <p:cNvPr id="17" name="cpe|exhibit|marker|16"/>
          <p:cNvSpPr/>
          <p:nvPr/>
        </p:nvSpPr>
        <p:spPr>
          <a:xfrm>
            <a:off x="4887559" y="4562856"/>
            <a:ext cx="128016" cy="128016"/>
          </a:xfrm>
          <a:prstGeom prst="rect">
            <a:avLst/>
          </a:prstGeom>
          <a:solidFill>
            <a:srgbClr val="B6C0C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cpe|exhibit|label|17"/>
          <p:cNvSpPr txBox="1"/>
          <p:nvPr/>
        </p:nvSpPr>
        <p:spPr>
          <a:xfrm>
            <a:off x="5116159" y="4434840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15%</a:t>
            </a:r>
          </a:p>
        </p:txBody>
      </p:sp>
      <p:sp>
        <p:nvSpPr>
          <p:cNvPr id="19" name="cpe|exhibit|label|18"/>
          <p:cNvSpPr txBox="1"/>
          <p:nvPr/>
        </p:nvSpPr>
        <p:spPr>
          <a:xfrm>
            <a:off x="5756239" y="4434840"/>
            <a:ext cx="213686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Procurement  (7)</a:t>
            </a:r>
          </a:p>
        </p:txBody>
      </p:sp>
      <p:cxnSp>
        <p:nvCxnSpPr>
          <p:cNvPr id="20" name="cpe|exhibit|line|19"/>
          <p:cNvCxnSpPr/>
          <p:nvPr/>
        </p:nvCxnSpPr>
        <p:spPr>
          <a:xfrm>
            <a:off x="4887559" y="4864608"/>
            <a:ext cx="3005542" cy="0"/>
          </a:xfrm>
          <a:prstGeom prst="line">
            <a:avLst/>
          </a:prstGeom>
          <a:ln w="6350">
            <a:solidFill>
              <a:srgbClr val="B6C0CB"/>
            </a:solidFill>
          </a:ln>
        </p:spPr>
      </p:cxnSp>
      <p:sp>
        <p:nvSpPr>
          <p:cNvPr id="21" name="cpe|exhibit|label|20"/>
          <p:cNvSpPr txBox="1"/>
          <p:nvPr/>
        </p:nvSpPr>
        <p:spPr>
          <a:xfrm>
            <a:off x="5116159" y="4882896"/>
            <a:ext cx="2776941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Top 2: 62%</a:t>
            </a:r>
          </a:p>
        </p:txBody>
      </p:sp>
      <p:cxnSp>
        <p:nvCxnSpPr>
          <p:cNvPr id="22" name="cpe|commentary|line|21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23" name="cpe|commentary|text|22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C2530"/>
                </a:solidFill>
                <a:latin typeface="Arial"/>
              </a:rPr>
              <a:t>Two initiatives carry two thirds of the value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C2530"/>
                </a:solidFill>
                <a:latin typeface="Arial"/>
              </a:rPr>
              <a:t>Both depend on capex released today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VALUE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Network and automation deliver 63% of the savings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Business cases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25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Run-rate savings by initiative, 2027</a:t>
            </a:r>
            <a:r>
              <a:rPr sz="1100" b="0">
                <a:solidFill>
                  <a:srgbClr val="1C2530"/>
                </a:solidFill>
                <a:latin typeface="Arial"/>
              </a:rPr>
              <a:t>, €M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3643884" cy="364388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4466844" y="3083814"/>
            <a:ext cx="128016" cy="128016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label|8"/>
          <p:cNvSpPr txBox="1"/>
          <p:nvPr/>
        </p:nvSpPr>
        <p:spPr>
          <a:xfrm>
            <a:off x="4695444" y="2955798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35%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5335524" y="2955798"/>
            <a:ext cx="635325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Network  (17)</a:t>
            </a:r>
          </a:p>
        </p:txBody>
      </p:sp>
      <p:sp>
        <p:nvSpPr>
          <p:cNvPr id="11" name="cpe|exhibit|marker|10"/>
          <p:cNvSpPr/>
          <p:nvPr/>
        </p:nvSpPr>
        <p:spPr>
          <a:xfrm>
            <a:off x="4466844" y="3467862"/>
            <a:ext cx="128016" cy="128016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label|11"/>
          <p:cNvSpPr txBox="1"/>
          <p:nvPr/>
        </p:nvSpPr>
        <p:spPr>
          <a:xfrm>
            <a:off x="4695444" y="3339846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27%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5335524" y="3339846"/>
            <a:ext cx="635325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Hub automation  (13)</a:t>
            </a:r>
          </a:p>
        </p:txBody>
      </p:sp>
      <p:sp>
        <p:nvSpPr>
          <p:cNvPr id="14" name="cpe|exhibit|marker|13"/>
          <p:cNvSpPr/>
          <p:nvPr/>
        </p:nvSpPr>
        <p:spPr>
          <a:xfrm>
            <a:off x="4466844" y="3851910"/>
            <a:ext cx="128016" cy="128016"/>
          </a:xfrm>
          <a:prstGeom prst="rect">
            <a:avLst/>
          </a:prstGeom>
          <a:solidFill>
            <a:srgbClr val="CAD2D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label|14"/>
          <p:cNvSpPr txBox="1"/>
          <p:nvPr/>
        </p:nvSpPr>
        <p:spPr>
          <a:xfrm>
            <a:off x="4695444" y="3723894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23%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5335524" y="3723894"/>
            <a:ext cx="635325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Customer terms  (11)</a:t>
            </a:r>
          </a:p>
        </p:txBody>
      </p:sp>
      <p:sp>
        <p:nvSpPr>
          <p:cNvPr id="17" name="cpe|exhibit|marker|16"/>
          <p:cNvSpPr/>
          <p:nvPr/>
        </p:nvSpPr>
        <p:spPr>
          <a:xfrm>
            <a:off x="4466844" y="4235958"/>
            <a:ext cx="128016" cy="128016"/>
          </a:xfrm>
          <a:prstGeom prst="rect">
            <a:avLst/>
          </a:prstGeom>
          <a:solidFill>
            <a:srgbClr val="B6C0C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cpe|exhibit|label|17"/>
          <p:cNvSpPr txBox="1"/>
          <p:nvPr/>
        </p:nvSpPr>
        <p:spPr>
          <a:xfrm>
            <a:off x="4695444" y="410794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15%</a:t>
            </a:r>
          </a:p>
        </p:txBody>
      </p:sp>
      <p:sp>
        <p:nvSpPr>
          <p:cNvPr id="19" name="cpe|exhibit|label|18"/>
          <p:cNvSpPr txBox="1"/>
          <p:nvPr/>
        </p:nvSpPr>
        <p:spPr>
          <a:xfrm>
            <a:off x="5335524" y="4107942"/>
            <a:ext cx="635325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Procurement  (7)</a:t>
            </a:r>
          </a:p>
        </p:txBody>
      </p:sp>
      <p:cxnSp>
        <p:nvCxnSpPr>
          <p:cNvPr id="20" name="cpe|exhibit|line|19"/>
          <p:cNvCxnSpPr/>
          <p:nvPr/>
        </p:nvCxnSpPr>
        <p:spPr>
          <a:xfrm>
            <a:off x="4466844" y="4537710"/>
            <a:ext cx="7221931" cy="0"/>
          </a:xfrm>
          <a:prstGeom prst="line">
            <a:avLst/>
          </a:prstGeom>
          <a:ln w="6350">
            <a:solidFill>
              <a:srgbClr val="B6C0CB"/>
            </a:solidFill>
          </a:ln>
        </p:spPr>
      </p:cxnSp>
      <p:sp>
        <p:nvSpPr>
          <p:cNvPr id="21" name="cpe|exhibit|label|20"/>
          <p:cNvSpPr txBox="1"/>
          <p:nvPr/>
        </p:nvSpPr>
        <p:spPr>
          <a:xfrm>
            <a:off x="4695444" y="4555998"/>
            <a:ext cx="6993331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Top 2: 62%</a:t>
            </a:r>
          </a:p>
        </p:txBody>
      </p:sp>
      <p:cxnSp>
        <p:nvCxnSpPr>
          <p:cNvPr id="22" name="cpe|commentary|line|21"/>
          <p:cNvCxnSpPr/>
          <p:nvPr/>
        </p:nvCxnSpPr>
        <p:spPr>
          <a:xfrm>
            <a:off x="502920" y="5747004"/>
            <a:ext cx="11185855" cy="0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23" name="cpe|commentary|text|22"/>
          <p:cNvSpPr txBox="1"/>
          <p:nvPr/>
        </p:nvSpPr>
        <p:spPr>
          <a:xfrm>
            <a:off x="502920" y="5884164"/>
            <a:ext cx="5492344" cy="3154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Two initiatives carry two thirds of the value</a:t>
            </a:r>
          </a:p>
        </p:txBody>
      </p:sp>
      <p:sp>
        <p:nvSpPr>
          <p:cNvPr id="24" name="cpe|commentary|text|23"/>
          <p:cNvSpPr txBox="1"/>
          <p:nvPr/>
        </p:nvSpPr>
        <p:spPr>
          <a:xfrm>
            <a:off x="6196432" y="5884164"/>
            <a:ext cx="5492344" cy="3154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Both depend on capex released today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VALUE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Network and automation deliver 63% of the savings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Business cases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25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Run-rate savings by initiative, 2027</a:t>
            </a:r>
            <a:r>
              <a:rPr sz="1100" b="0">
                <a:solidFill>
                  <a:srgbClr val="1C2530"/>
                </a:solidFill>
                <a:latin typeface="Arial"/>
              </a:rPr>
              <a:t>, €M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3614166" cy="361416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4437126" y="3068955"/>
            <a:ext cx="128016" cy="128016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label|8"/>
          <p:cNvSpPr txBox="1"/>
          <p:nvPr/>
        </p:nvSpPr>
        <p:spPr>
          <a:xfrm>
            <a:off x="4665726" y="2940939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35%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5305806" y="2940939"/>
            <a:ext cx="638296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Network  (17)</a:t>
            </a:r>
          </a:p>
        </p:txBody>
      </p:sp>
      <p:sp>
        <p:nvSpPr>
          <p:cNvPr id="11" name="cpe|exhibit|marker|10"/>
          <p:cNvSpPr/>
          <p:nvPr/>
        </p:nvSpPr>
        <p:spPr>
          <a:xfrm>
            <a:off x="4437126" y="3453003"/>
            <a:ext cx="128016" cy="128016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label|11"/>
          <p:cNvSpPr txBox="1"/>
          <p:nvPr/>
        </p:nvSpPr>
        <p:spPr>
          <a:xfrm>
            <a:off x="4665726" y="3324987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27%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5305806" y="3324987"/>
            <a:ext cx="638296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Hub automation  (13)</a:t>
            </a:r>
          </a:p>
        </p:txBody>
      </p:sp>
      <p:sp>
        <p:nvSpPr>
          <p:cNvPr id="14" name="cpe|exhibit|marker|13"/>
          <p:cNvSpPr/>
          <p:nvPr/>
        </p:nvSpPr>
        <p:spPr>
          <a:xfrm>
            <a:off x="4437126" y="3837051"/>
            <a:ext cx="128016" cy="128016"/>
          </a:xfrm>
          <a:prstGeom prst="rect">
            <a:avLst/>
          </a:prstGeom>
          <a:solidFill>
            <a:srgbClr val="CAD2D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label|14"/>
          <p:cNvSpPr txBox="1"/>
          <p:nvPr/>
        </p:nvSpPr>
        <p:spPr>
          <a:xfrm>
            <a:off x="4665726" y="3709035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23%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5305806" y="3709035"/>
            <a:ext cx="638296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Customer terms  (11)</a:t>
            </a:r>
          </a:p>
        </p:txBody>
      </p:sp>
      <p:sp>
        <p:nvSpPr>
          <p:cNvPr id="17" name="cpe|exhibit|marker|16"/>
          <p:cNvSpPr/>
          <p:nvPr/>
        </p:nvSpPr>
        <p:spPr>
          <a:xfrm>
            <a:off x="4437126" y="4221099"/>
            <a:ext cx="128016" cy="128016"/>
          </a:xfrm>
          <a:prstGeom prst="rect">
            <a:avLst/>
          </a:prstGeom>
          <a:solidFill>
            <a:srgbClr val="B6C0C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cpe|exhibit|label|17"/>
          <p:cNvSpPr txBox="1"/>
          <p:nvPr/>
        </p:nvSpPr>
        <p:spPr>
          <a:xfrm>
            <a:off x="4665726" y="4093083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15%</a:t>
            </a:r>
          </a:p>
        </p:txBody>
      </p:sp>
      <p:sp>
        <p:nvSpPr>
          <p:cNvPr id="19" name="cpe|exhibit|label|18"/>
          <p:cNvSpPr txBox="1"/>
          <p:nvPr/>
        </p:nvSpPr>
        <p:spPr>
          <a:xfrm>
            <a:off x="5305806" y="4093083"/>
            <a:ext cx="638296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Procurement  (7)</a:t>
            </a:r>
          </a:p>
        </p:txBody>
      </p:sp>
      <p:cxnSp>
        <p:nvCxnSpPr>
          <p:cNvPr id="20" name="cpe|exhibit|line|19"/>
          <p:cNvCxnSpPr/>
          <p:nvPr/>
        </p:nvCxnSpPr>
        <p:spPr>
          <a:xfrm>
            <a:off x="4437126" y="4522851"/>
            <a:ext cx="7251649" cy="0"/>
          </a:xfrm>
          <a:prstGeom prst="line">
            <a:avLst/>
          </a:prstGeom>
          <a:ln w="6350">
            <a:solidFill>
              <a:srgbClr val="B6C0CB"/>
            </a:solidFill>
          </a:ln>
        </p:spPr>
      </p:cxnSp>
      <p:sp>
        <p:nvSpPr>
          <p:cNvPr id="21" name="cpe|exhibit|label|20"/>
          <p:cNvSpPr txBox="1"/>
          <p:nvPr/>
        </p:nvSpPr>
        <p:spPr>
          <a:xfrm>
            <a:off x="4665726" y="4541139"/>
            <a:ext cx="7023049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Top 2: 62%</a:t>
            </a:r>
          </a:p>
        </p:txBody>
      </p:sp>
      <p:cxnSp>
        <p:nvCxnSpPr>
          <p:cNvPr id="22" name="cpe|commentary|line|21"/>
          <p:cNvCxnSpPr/>
          <p:nvPr/>
        </p:nvCxnSpPr>
        <p:spPr>
          <a:xfrm>
            <a:off x="502920" y="5717286"/>
            <a:ext cx="11185855" cy="0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23" name="cpe|commentary|text|22"/>
          <p:cNvSpPr txBox="1"/>
          <p:nvPr/>
        </p:nvSpPr>
        <p:spPr>
          <a:xfrm>
            <a:off x="502920" y="5854446"/>
            <a:ext cx="5492344" cy="3451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Two initiatives carry two thirds of the value</a:t>
            </a:r>
          </a:p>
        </p:txBody>
      </p:sp>
      <p:sp>
        <p:nvSpPr>
          <p:cNvPr id="24" name="cpe|commentary|text|23"/>
          <p:cNvSpPr txBox="1"/>
          <p:nvPr/>
        </p:nvSpPr>
        <p:spPr>
          <a:xfrm>
            <a:off x="6196432" y="5854446"/>
            <a:ext cx="5492344" cy="3451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530"/>
                </a:solidFill>
                <a:latin typeface="Arial"/>
              </a:rPr>
              <a:t>Both depend on capex released today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VALUE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Network and automation deliver 63% of the savings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Business cases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25</a:t>
            </a:r>
          </a:p>
        </p:txBody>
      </p:sp>
      <p:cxnSp>
        <p:nvCxnSpPr>
          <p:cNvPr id="6" name="cpe|commentary|line|5"/>
          <p:cNvCxnSpPr/>
          <p:nvPr/>
        </p:nvCxnSpPr>
        <p:spPr>
          <a:xfrm>
            <a:off x="4097426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7" name="cpe|commentary|text|6"/>
          <p:cNvSpPr txBox="1"/>
          <p:nvPr/>
        </p:nvSpPr>
        <p:spPr>
          <a:xfrm>
            <a:off x="502920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Two initiatives carry two thirds of the value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Both depend on capex released today</a:t>
            </a:r>
          </a:p>
        </p:txBody>
      </p:sp>
      <p:sp>
        <p:nvSpPr>
          <p:cNvPr id="8" name="cpe|exhibit|text|7"/>
          <p:cNvSpPr txBox="1"/>
          <p:nvPr/>
        </p:nvSpPr>
        <p:spPr>
          <a:xfrm>
            <a:off x="4298594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Run-rate savings by initiative, 2027</a:t>
            </a:r>
            <a:r>
              <a:rPr sz="1100" b="0">
                <a:solidFill>
                  <a:srgbClr val="1C2530"/>
                </a:solidFill>
                <a:latin typeface="Arial"/>
              </a:rPr>
              <a:t>, €M</a:t>
            </a:r>
          </a:p>
        </p:txBody>
      </p:sp>
      <p:graphicFrame>
        <p:nvGraphicFramePr>
          <p:cNvPr id="9" name="cpe|exhibit|chart|8"/>
          <p:cNvGraphicFramePr>
            <a:graphicFrameLocks noGrp="1"/>
          </p:cNvGraphicFramePr>
          <p:nvPr/>
        </p:nvGraphicFramePr>
        <p:xfrm>
          <a:off x="4298594" y="2018492"/>
          <a:ext cx="4064599" cy="40645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cpe|exhibit|marker|9"/>
          <p:cNvSpPr/>
          <p:nvPr/>
        </p:nvSpPr>
        <p:spPr>
          <a:xfrm>
            <a:off x="8683234" y="3410712"/>
            <a:ext cx="128016" cy="128016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label|10"/>
          <p:cNvSpPr txBox="1"/>
          <p:nvPr/>
        </p:nvSpPr>
        <p:spPr>
          <a:xfrm>
            <a:off x="8911834" y="3282696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35%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9551914" y="3282696"/>
            <a:ext cx="213686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Network  (17)</a:t>
            </a:r>
          </a:p>
        </p:txBody>
      </p:sp>
      <p:sp>
        <p:nvSpPr>
          <p:cNvPr id="13" name="cpe|exhibit|marker|12"/>
          <p:cNvSpPr/>
          <p:nvPr/>
        </p:nvSpPr>
        <p:spPr>
          <a:xfrm>
            <a:off x="8683234" y="3794760"/>
            <a:ext cx="128016" cy="128016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cpe|exhibit|label|13"/>
          <p:cNvSpPr txBox="1"/>
          <p:nvPr/>
        </p:nvSpPr>
        <p:spPr>
          <a:xfrm>
            <a:off x="8911834" y="3666744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27%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9551914" y="3666744"/>
            <a:ext cx="213686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Hub automation  (13)</a:t>
            </a:r>
          </a:p>
        </p:txBody>
      </p:sp>
      <p:sp>
        <p:nvSpPr>
          <p:cNvPr id="16" name="cpe|exhibit|marker|15"/>
          <p:cNvSpPr/>
          <p:nvPr/>
        </p:nvSpPr>
        <p:spPr>
          <a:xfrm>
            <a:off x="8683234" y="4178808"/>
            <a:ext cx="128016" cy="128016"/>
          </a:xfrm>
          <a:prstGeom prst="rect">
            <a:avLst/>
          </a:prstGeom>
          <a:solidFill>
            <a:srgbClr val="CAD2D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label|16"/>
          <p:cNvSpPr txBox="1"/>
          <p:nvPr/>
        </p:nvSpPr>
        <p:spPr>
          <a:xfrm>
            <a:off x="8911834" y="405079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23%</a:t>
            </a:r>
          </a:p>
        </p:txBody>
      </p:sp>
      <p:sp>
        <p:nvSpPr>
          <p:cNvPr id="18" name="cpe|exhibit|label|17"/>
          <p:cNvSpPr txBox="1"/>
          <p:nvPr/>
        </p:nvSpPr>
        <p:spPr>
          <a:xfrm>
            <a:off x="9551914" y="4050792"/>
            <a:ext cx="213686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Customer terms  (11)</a:t>
            </a:r>
          </a:p>
        </p:txBody>
      </p:sp>
      <p:sp>
        <p:nvSpPr>
          <p:cNvPr id="19" name="cpe|exhibit|marker|18"/>
          <p:cNvSpPr/>
          <p:nvPr/>
        </p:nvSpPr>
        <p:spPr>
          <a:xfrm>
            <a:off x="8683234" y="4562856"/>
            <a:ext cx="128016" cy="128016"/>
          </a:xfrm>
          <a:prstGeom prst="rect">
            <a:avLst/>
          </a:prstGeom>
          <a:solidFill>
            <a:srgbClr val="B6C0C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label|19"/>
          <p:cNvSpPr txBox="1"/>
          <p:nvPr/>
        </p:nvSpPr>
        <p:spPr>
          <a:xfrm>
            <a:off x="8911834" y="4434840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15%</a:t>
            </a:r>
          </a:p>
        </p:txBody>
      </p:sp>
      <p:sp>
        <p:nvSpPr>
          <p:cNvPr id="21" name="cpe|exhibit|label|20"/>
          <p:cNvSpPr txBox="1"/>
          <p:nvPr/>
        </p:nvSpPr>
        <p:spPr>
          <a:xfrm>
            <a:off x="9551914" y="4434840"/>
            <a:ext cx="213686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Procurement  (7)</a:t>
            </a:r>
          </a:p>
        </p:txBody>
      </p:sp>
      <p:cxnSp>
        <p:nvCxnSpPr>
          <p:cNvPr id="22" name="cpe|exhibit|line|21"/>
          <p:cNvCxnSpPr/>
          <p:nvPr/>
        </p:nvCxnSpPr>
        <p:spPr>
          <a:xfrm>
            <a:off x="8683234" y="4864608"/>
            <a:ext cx="3005541" cy="0"/>
          </a:xfrm>
          <a:prstGeom prst="line">
            <a:avLst/>
          </a:prstGeom>
          <a:ln w="6350">
            <a:solidFill>
              <a:srgbClr val="B6C0CB"/>
            </a:solidFill>
          </a:ln>
        </p:spPr>
      </p:cxnSp>
      <p:sp>
        <p:nvSpPr>
          <p:cNvPr id="23" name="cpe|exhibit|label|22"/>
          <p:cNvSpPr txBox="1"/>
          <p:nvPr/>
        </p:nvSpPr>
        <p:spPr>
          <a:xfrm>
            <a:off x="8911834" y="4882896"/>
            <a:ext cx="2776941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Top 2: 62%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VALUE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Network and automation deliver 63% of the savings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Business cases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25</a:t>
            </a:r>
          </a:p>
        </p:txBody>
      </p:sp>
      <p:cxnSp>
        <p:nvCxnSpPr>
          <p:cNvPr id="6" name="cpe|commentary|line|5"/>
          <p:cNvCxnSpPr/>
          <p:nvPr/>
        </p:nvCxnSpPr>
        <p:spPr>
          <a:xfrm>
            <a:off x="4097426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7" name="cpe|commentary|text|6"/>
          <p:cNvSpPr txBox="1"/>
          <p:nvPr/>
        </p:nvSpPr>
        <p:spPr>
          <a:xfrm>
            <a:off x="502920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C2530"/>
                </a:solidFill>
                <a:latin typeface="Arial"/>
              </a:rPr>
              <a:t>Two initiatives carry two thirds of the value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C2530"/>
                </a:solidFill>
                <a:latin typeface="Arial"/>
              </a:rPr>
              <a:t>Both depend on capex released today</a:t>
            </a:r>
          </a:p>
        </p:txBody>
      </p:sp>
      <p:sp>
        <p:nvSpPr>
          <p:cNvPr id="8" name="cpe|exhibit|text|7"/>
          <p:cNvSpPr txBox="1"/>
          <p:nvPr/>
        </p:nvSpPr>
        <p:spPr>
          <a:xfrm>
            <a:off x="4298594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Run-rate savings by initiative, 2027</a:t>
            </a:r>
            <a:r>
              <a:rPr sz="1100" b="0">
                <a:solidFill>
                  <a:srgbClr val="1C2530"/>
                </a:solidFill>
                <a:latin typeface="Arial"/>
              </a:rPr>
              <a:t>, €M</a:t>
            </a:r>
          </a:p>
        </p:txBody>
      </p:sp>
      <p:graphicFrame>
        <p:nvGraphicFramePr>
          <p:cNvPr id="9" name="cpe|exhibit|chart|8"/>
          <p:cNvGraphicFramePr>
            <a:graphicFrameLocks noGrp="1"/>
          </p:cNvGraphicFramePr>
          <p:nvPr/>
        </p:nvGraphicFramePr>
        <p:xfrm>
          <a:off x="4298594" y="2018492"/>
          <a:ext cx="4064599" cy="40645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cpe|exhibit|marker|9"/>
          <p:cNvSpPr/>
          <p:nvPr/>
        </p:nvSpPr>
        <p:spPr>
          <a:xfrm>
            <a:off x="8683234" y="3410712"/>
            <a:ext cx="128016" cy="128016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label|10"/>
          <p:cNvSpPr txBox="1"/>
          <p:nvPr/>
        </p:nvSpPr>
        <p:spPr>
          <a:xfrm>
            <a:off x="8911834" y="3282696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35%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9551914" y="3282696"/>
            <a:ext cx="213686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Network  (17)</a:t>
            </a:r>
          </a:p>
        </p:txBody>
      </p:sp>
      <p:sp>
        <p:nvSpPr>
          <p:cNvPr id="13" name="cpe|exhibit|marker|12"/>
          <p:cNvSpPr/>
          <p:nvPr/>
        </p:nvSpPr>
        <p:spPr>
          <a:xfrm>
            <a:off x="8683234" y="3794760"/>
            <a:ext cx="128016" cy="128016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cpe|exhibit|label|13"/>
          <p:cNvSpPr txBox="1"/>
          <p:nvPr/>
        </p:nvSpPr>
        <p:spPr>
          <a:xfrm>
            <a:off x="8911834" y="3666744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27%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9551914" y="3666744"/>
            <a:ext cx="213686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Hub automation  (13)</a:t>
            </a:r>
          </a:p>
        </p:txBody>
      </p:sp>
      <p:sp>
        <p:nvSpPr>
          <p:cNvPr id="16" name="cpe|exhibit|marker|15"/>
          <p:cNvSpPr/>
          <p:nvPr/>
        </p:nvSpPr>
        <p:spPr>
          <a:xfrm>
            <a:off x="8683234" y="4178808"/>
            <a:ext cx="128016" cy="128016"/>
          </a:xfrm>
          <a:prstGeom prst="rect">
            <a:avLst/>
          </a:prstGeom>
          <a:solidFill>
            <a:srgbClr val="CAD2D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label|16"/>
          <p:cNvSpPr txBox="1"/>
          <p:nvPr/>
        </p:nvSpPr>
        <p:spPr>
          <a:xfrm>
            <a:off x="8911834" y="405079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23%</a:t>
            </a:r>
          </a:p>
        </p:txBody>
      </p:sp>
      <p:sp>
        <p:nvSpPr>
          <p:cNvPr id="18" name="cpe|exhibit|label|17"/>
          <p:cNvSpPr txBox="1"/>
          <p:nvPr/>
        </p:nvSpPr>
        <p:spPr>
          <a:xfrm>
            <a:off x="9551914" y="4050792"/>
            <a:ext cx="213686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Customer terms  (11)</a:t>
            </a:r>
          </a:p>
        </p:txBody>
      </p:sp>
      <p:sp>
        <p:nvSpPr>
          <p:cNvPr id="19" name="cpe|exhibit|marker|18"/>
          <p:cNvSpPr/>
          <p:nvPr/>
        </p:nvSpPr>
        <p:spPr>
          <a:xfrm>
            <a:off x="8683234" y="4562856"/>
            <a:ext cx="128016" cy="128016"/>
          </a:xfrm>
          <a:prstGeom prst="rect">
            <a:avLst/>
          </a:prstGeom>
          <a:solidFill>
            <a:srgbClr val="B6C0C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label|19"/>
          <p:cNvSpPr txBox="1"/>
          <p:nvPr/>
        </p:nvSpPr>
        <p:spPr>
          <a:xfrm>
            <a:off x="8911834" y="4434840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15%</a:t>
            </a:r>
          </a:p>
        </p:txBody>
      </p:sp>
      <p:sp>
        <p:nvSpPr>
          <p:cNvPr id="21" name="cpe|exhibit|label|20"/>
          <p:cNvSpPr txBox="1"/>
          <p:nvPr/>
        </p:nvSpPr>
        <p:spPr>
          <a:xfrm>
            <a:off x="9551914" y="4434840"/>
            <a:ext cx="213686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Procurement  (7)</a:t>
            </a:r>
          </a:p>
        </p:txBody>
      </p:sp>
      <p:cxnSp>
        <p:nvCxnSpPr>
          <p:cNvPr id="22" name="cpe|exhibit|line|21"/>
          <p:cNvCxnSpPr/>
          <p:nvPr/>
        </p:nvCxnSpPr>
        <p:spPr>
          <a:xfrm>
            <a:off x="8683234" y="4864608"/>
            <a:ext cx="3005541" cy="0"/>
          </a:xfrm>
          <a:prstGeom prst="line">
            <a:avLst/>
          </a:prstGeom>
          <a:ln w="6350">
            <a:solidFill>
              <a:srgbClr val="B6C0CB"/>
            </a:solidFill>
          </a:ln>
        </p:spPr>
      </p:cxnSp>
      <p:sp>
        <p:nvSpPr>
          <p:cNvPr id="23" name="cpe|exhibit|label|22"/>
          <p:cNvSpPr txBox="1"/>
          <p:nvPr/>
        </p:nvSpPr>
        <p:spPr>
          <a:xfrm>
            <a:off x="8911834" y="4882896"/>
            <a:ext cx="2776941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Top 2: 62%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Helix Logistics transformation: steering committee</dc:title>
  <dc:subject>The programme is on track to deliver €48M run-rate savings; releasing wave 2 funding now keeps the 2027 target</dc:subject>
  <dc:creator>Consulting Presentation Engine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