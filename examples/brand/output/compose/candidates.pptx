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84474"/>
          <c:h val="0.92926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1B3A2F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28.2</c:v>
                </c:pt>
                <c:pt idx="1">
                  <c:v>30.4</c:v>
                </c:pt>
                <c:pt idx="2">
                  <c:v>32.8</c:v>
                </c:pt>
                <c:pt idx="3">
                  <c:v>35.3</c:v>
                </c:pt>
                <c:pt idx="4">
                  <c:v>38.0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Supermarkets</c:v>
                </c:pt>
              </c:strCache>
            </c:strRef>
          </c:tx>
          <c:spPr>
            <a:solidFill>
              <a:srgbClr val="CECECE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48.1</c:v>
                </c:pt>
                <c:pt idx="1">
                  <c:v>49.0</c:v>
                </c:pt>
                <c:pt idx="2">
                  <c:v>50.1</c:v>
                </c:pt>
                <c:pt idx="3">
                  <c:v>51.1</c:v>
                </c:pt>
                <c:pt idx="4">
                  <c:v>52.0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Hypermarkets</c:v>
                </c:pt>
              </c:strCache>
            </c:strRef>
          </c:tx>
          <c:spPr>
            <a:solidFill>
              <a:srgbClr val="E4E4E4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25.2</c:v>
                </c:pt>
                <c:pt idx="1">
                  <c:v>24.9</c:v>
                </c:pt>
                <c:pt idx="2">
                  <c:v>24.6</c:v>
                </c:pt>
                <c:pt idx="3">
                  <c:v>24.3</c:v>
                </c:pt>
                <c:pt idx="4">
                  <c:v>24.0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Convenience</c:v>
                </c:pt>
              </c:strCache>
            </c:strRef>
          </c:tx>
          <c:spPr>
            <a:solidFill>
              <a:srgbClr val="B8B8B8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11.5</c:v>
                </c:pt>
                <c:pt idx="1">
                  <c:v>12.1</c:v>
                </c:pt>
                <c:pt idx="2">
                  <c:v>12.7</c:v>
                </c:pt>
                <c:pt idx="3">
                  <c:v>13.3</c:v>
                </c:pt>
                <c:pt idx="4">
                  <c:v>14.0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C8A24A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8.3</c:v>
                </c:pt>
                <c:pt idx="1">
                  <c:v>9.5</c:v>
                </c:pt>
                <c:pt idx="2">
                  <c:v>10.9</c:v>
                </c:pt>
                <c:pt idx="3">
                  <c:v>12.4</c:v>
                </c:pt>
                <c:pt idx="4">
                  <c:v>14.0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5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319"/>
          <c:w val="0.89406"/>
          <c:h val="0.91227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1B3A2F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28.2</c:v>
                </c:pt>
                <c:pt idx="1">
                  <c:v>30.4</c:v>
                </c:pt>
                <c:pt idx="2">
                  <c:v>32.8</c:v>
                </c:pt>
                <c:pt idx="3">
                  <c:v>35.3</c:v>
                </c:pt>
                <c:pt idx="4">
                  <c:v>38.0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Supermarkets</c:v>
                </c:pt>
              </c:strCache>
            </c:strRef>
          </c:tx>
          <c:spPr>
            <a:solidFill>
              <a:srgbClr val="CECECE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48.1</c:v>
                </c:pt>
                <c:pt idx="1">
                  <c:v>49.0</c:v>
                </c:pt>
                <c:pt idx="2">
                  <c:v>50.1</c:v>
                </c:pt>
                <c:pt idx="3">
                  <c:v>51.1</c:v>
                </c:pt>
                <c:pt idx="4">
                  <c:v>52.0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Hypermarkets</c:v>
                </c:pt>
              </c:strCache>
            </c:strRef>
          </c:tx>
          <c:spPr>
            <a:solidFill>
              <a:srgbClr val="E4E4E4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25.2</c:v>
                </c:pt>
                <c:pt idx="1">
                  <c:v>24.9</c:v>
                </c:pt>
                <c:pt idx="2">
                  <c:v>24.6</c:v>
                </c:pt>
                <c:pt idx="3">
                  <c:v>24.3</c:v>
                </c:pt>
                <c:pt idx="4">
                  <c:v>24.0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Convenience</c:v>
                </c:pt>
              </c:strCache>
            </c:strRef>
          </c:tx>
          <c:spPr>
            <a:solidFill>
              <a:srgbClr val="B8B8B8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11.5</c:v>
                </c:pt>
                <c:pt idx="1">
                  <c:v>12.1</c:v>
                </c:pt>
                <c:pt idx="2">
                  <c:v>12.7</c:v>
                </c:pt>
                <c:pt idx="3">
                  <c:v>13.3</c:v>
                </c:pt>
                <c:pt idx="4">
                  <c:v>14.0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C8A24A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8.3</c:v>
                </c:pt>
                <c:pt idx="1">
                  <c:v>9.5</c:v>
                </c:pt>
                <c:pt idx="2">
                  <c:v>10.9</c:v>
                </c:pt>
                <c:pt idx="3">
                  <c:v>12.4</c:v>
                </c:pt>
                <c:pt idx="4">
                  <c:v>14.0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7.5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84474"/>
          <c:h val="0.92926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1B3A2F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28.2</c:v>
                </c:pt>
                <c:pt idx="1">
                  <c:v>30.4</c:v>
                </c:pt>
                <c:pt idx="2">
                  <c:v>32.8</c:v>
                </c:pt>
                <c:pt idx="3">
                  <c:v>35.3</c:v>
                </c:pt>
                <c:pt idx="4">
                  <c:v>38.0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Supermarkets</c:v>
                </c:pt>
              </c:strCache>
            </c:strRef>
          </c:tx>
          <c:spPr>
            <a:solidFill>
              <a:srgbClr val="CECECE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48.1</c:v>
                </c:pt>
                <c:pt idx="1">
                  <c:v>49.0</c:v>
                </c:pt>
                <c:pt idx="2">
                  <c:v>50.1</c:v>
                </c:pt>
                <c:pt idx="3">
                  <c:v>51.1</c:v>
                </c:pt>
                <c:pt idx="4">
                  <c:v>52.0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Hypermarkets</c:v>
                </c:pt>
              </c:strCache>
            </c:strRef>
          </c:tx>
          <c:spPr>
            <a:solidFill>
              <a:srgbClr val="E4E4E4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25.2</c:v>
                </c:pt>
                <c:pt idx="1">
                  <c:v>24.9</c:v>
                </c:pt>
                <c:pt idx="2">
                  <c:v>24.6</c:v>
                </c:pt>
                <c:pt idx="3">
                  <c:v>24.3</c:v>
                </c:pt>
                <c:pt idx="4">
                  <c:v>24.0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Convenience</c:v>
                </c:pt>
              </c:strCache>
            </c:strRef>
          </c:tx>
          <c:spPr>
            <a:solidFill>
              <a:srgbClr val="B8B8B8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11.5</c:v>
                </c:pt>
                <c:pt idx="1">
                  <c:v>12.1</c:v>
                </c:pt>
                <c:pt idx="2">
                  <c:v>12.7</c:v>
                </c:pt>
                <c:pt idx="3">
                  <c:v>13.3</c:v>
                </c:pt>
                <c:pt idx="4">
                  <c:v>14.0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C8A24A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8.3</c:v>
                </c:pt>
                <c:pt idx="1">
                  <c:v>9.5</c:v>
                </c:pt>
                <c:pt idx="2">
                  <c:v>10.9</c:v>
                </c:pt>
                <c:pt idx="3">
                  <c:v>12.4</c:v>
                </c:pt>
                <c:pt idx="4">
                  <c:v>14.0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5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2552"/>
          <c:w val="0.89348"/>
          <c:h val="0.8302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Alvora revenue (€bn)</c:v>
                </c:pt>
              </c:strCache>
            </c:strRef>
          </c:tx>
          <c:spPr>
            <a:solidFill>
              <a:srgbClr val="98A6A1"/>
            </a:solidFill>
          </c:spPr>
          <c:invertIfNegative val="0"/>
          <c:dPt>
            <c:idx val="3"/>
            <c:spPr>
              <a:solidFill>
                <a:srgbClr val="1B3A2F"/>
              </a:solidFill>
            </c:spPr>
          </c:dPt>
          <c:dLbls>
            <c:numFmt formatCode="#,##0.0;-#,##0.0" sourceLinked="0"/>
            <c:txPr>
              <a:bodyPr/>
              <a:lstStyle/>
              <a:p>
                <a:pPr>
                  <a:defRPr sz="110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11.9</c:v>
                </c:pt>
                <c:pt idx="1">
                  <c:v>12.7</c:v>
                </c:pt>
                <c:pt idx="2">
                  <c:v>13.2</c:v>
                </c:pt>
                <c:pt idx="3">
                  <c:v>13.6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25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4276"/>
          <c:w val="0.89348"/>
          <c:h val="0.8888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Alvora growth</c:v>
                </c:pt>
              </c:strCache>
            </c:strRef>
          </c:tx>
          <c:spPr>
            <a:ln w="31750">
              <a:solidFill>
                <a:srgbClr val="1B3A2F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6.3</c:v>
                </c:pt>
                <c:pt idx="1">
                  <c:v>6.7</c:v>
                </c:pt>
                <c:pt idx="2">
                  <c:v>3.9</c:v>
                </c:pt>
                <c:pt idx="3">
                  <c:v>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 growth</c:v>
                </c:pt>
              </c:strCache>
            </c:strRef>
          </c:tx>
          <c:spPr>
            <a:ln w="22225">
              <a:solidFill>
                <a:srgbClr val="90909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4.1</c:v>
                </c:pt>
                <c:pt idx="2">
                  <c:v>4.0</c:v>
                </c:pt>
                <c:pt idx="3">
                  <c:v>4.1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.5"/>
          <c:min val="2.5"/>
        </c:scaling>
        <c:delete/>
        <c:axPos val="l"/>
        <c:majorTickMark val="none"/>
        <c:minorTickMark val="none"/>
        <c:tickLblPos val="nextTo"/>
        <c:crossAx val="2118791784"/>
        <c:crosses val="autoZero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2552"/>
          <c:w val="0.84387"/>
          <c:h val="0.8302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Alvora revenue (€bn)</c:v>
                </c:pt>
              </c:strCache>
            </c:strRef>
          </c:tx>
          <c:spPr>
            <a:solidFill>
              <a:srgbClr val="98A6A1"/>
            </a:solidFill>
          </c:spPr>
          <c:invertIfNegative val="0"/>
          <c:dPt>
            <c:idx val="3"/>
            <c:spPr>
              <a:solidFill>
                <a:srgbClr val="1B3A2F"/>
              </a:solidFill>
            </c:spPr>
          </c:dPt>
          <c:dLbls>
            <c:numFmt formatCode="#,##0.0;-#,##0.0" sourceLinked="0"/>
            <c:txPr>
              <a:bodyPr/>
              <a:lstStyle/>
              <a:p>
                <a:pPr>
                  <a:defRPr sz="1100" b="0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11.9</c:v>
                </c:pt>
                <c:pt idx="1">
                  <c:v>12.7</c:v>
                </c:pt>
                <c:pt idx="2">
                  <c:v>13.2</c:v>
                </c:pt>
                <c:pt idx="3">
                  <c:v>13.6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25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4276"/>
          <c:w val="0.84387"/>
          <c:h val="0.8888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Alvora growth</c:v>
                </c:pt>
              </c:strCache>
            </c:strRef>
          </c:tx>
          <c:spPr>
            <a:ln w="31750">
              <a:solidFill>
                <a:srgbClr val="1B3A2F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6.3</c:v>
                </c:pt>
                <c:pt idx="1">
                  <c:v>6.7</c:v>
                </c:pt>
                <c:pt idx="2">
                  <c:v>3.9</c:v>
                </c:pt>
                <c:pt idx="3">
                  <c:v>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 growth</c:v>
                </c:pt>
              </c:strCache>
            </c:strRef>
          </c:tx>
          <c:spPr>
            <a:ln w="22225">
              <a:solidFill>
                <a:srgbClr val="90909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4.1</c:v>
                </c:pt>
                <c:pt idx="2">
                  <c:v>4.0</c:v>
                </c:pt>
                <c:pt idx="3">
                  <c:v>4.1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.5"/>
          <c:min val="2.5"/>
        </c:scaling>
        <c:delete/>
        <c:axPos val="l"/>
        <c:majorTickMark val="none"/>
        <c:minorTickMark val="none"/>
        <c:tickLblPos val="nextTo"/>
        <c:crossAx val="2118791784"/>
        <c:crosses val="autoZero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B3A2F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B3A2F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B3A2F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B3A2F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B3A2F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B3A2F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2E6B4F"/>
            </a:solidFill>
          </c:spPr>
          <c:dPt>
            <c:idx val="3"/>
            <c:spPr>
              <a:solidFill>
                <a:srgbClr val="C8A24A"/>
              </a:solidFill>
            </c:spPr>
          </c:dPt>
          <c:dPt>
            <c:idx val="4"/>
            <c:spPr>
              <a:solidFill>
                <a:srgbClr val="C8A24A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062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</c:v>
                </c:pt>
                <c:pt idx="1">
                  <c:v>157.0</c:v>
                </c:pt>
                <c:pt idx="2">
                  <c:v>217.0</c:v>
                </c:pt>
                <c:pt idx="3">
                  <c:v>262.0</c:v>
                </c:pt>
                <c:pt idx="4">
                  <c:v>332.0</c:v>
                </c:pt>
                <c:pt idx="5">
                  <c:v>387.0</c:v>
                </c:pt>
                <c:pt idx="6">
                  <c:v>367.0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B3A2F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157.0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367.0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6B4F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0.0</c:v>
                </c:pt>
                <c:pt idx="1">
                  <c:v>60.0</c:v>
                </c:pt>
                <c:pt idx="2">
                  <c:v>45.0</c:v>
                </c:pt>
                <c:pt idx="3">
                  <c:v>70.0</c:v>
                </c:pt>
                <c:pt idx="4">
                  <c:v>55.0</c:v>
                </c:pt>
                <c:pt idx="5">
                  <c:v>20.0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A33A2B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40.0</c:v>
                </c:pt>
                <c:pt idx="7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062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</c:v>
                </c:pt>
                <c:pt idx="1">
                  <c:v>157.0</c:v>
                </c:pt>
                <c:pt idx="2">
                  <c:v>217.0</c:v>
                </c:pt>
                <c:pt idx="3">
                  <c:v>262.0</c:v>
                </c:pt>
                <c:pt idx="4">
                  <c:v>332.0</c:v>
                </c:pt>
                <c:pt idx="5">
                  <c:v>387.0</c:v>
                </c:pt>
                <c:pt idx="6">
                  <c:v>367.0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B3A2F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157.0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367.0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6B4F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0.0</c:v>
                </c:pt>
                <c:pt idx="1">
                  <c:v>60.0</c:v>
                </c:pt>
                <c:pt idx="2">
                  <c:v>45.0</c:v>
                </c:pt>
                <c:pt idx="3">
                  <c:v>70.0</c:v>
                </c:pt>
                <c:pt idx="4">
                  <c:v>55.0</c:v>
                </c:pt>
                <c:pt idx="5">
                  <c:v>20.0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A33A2B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40.0</c:v>
                </c:pt>
                <c:pt idx="7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8B8B8"/>
            </a:solidFill>
          </a:ln>
        </c:spPr>
        <c:txPr>
          <a:bodyPr/>
          <a:lstStyle/>
          <a:p>
            <a:pPr>
              <a:defRPr sz="1000" b="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market growth is coming from The market added €20.7bn in four years; €15.5bn went to discount and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market growth is coming from The market added €20.7bn in four years; €15.5bn went to discount and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market growth is coming from The market added €20.7bn in four years; €15.5bn went to discount and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Alvora's growth has fallen below the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Alvora's growth has fallen below the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 is weakest where the market grows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 is weakest where the market grows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 is weakest where the market grows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Alvora's competitive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Alvora's competitive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Alvora's competitive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implementation plan and its sequencing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implementation plan and its sequencing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implementation plan and its sequencing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Quantify the EBITDA impact of the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Quantify the EBITDA impact of the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1B3A2F"/>
            </a:gs>
            <a:gs pos="100000">
              <a:srgbClr val="2E6B4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2130425"/>
            <a:ext cx="1091153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406900"/>
            <a:ext cx="1091153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906713"/>
            <a:ext cx="1091153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600200"/>
            <a:ext cx="1091153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1600200"/>
            <a:ext cx="1091153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535113"/>
            <a:ext cx="1091153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174875"/>
            <a:ext cx="1091153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" y="1535113"/>
            <a:ext cx="1091153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80" y="2174875"/>
            <a:ext cx="1091153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73050"/>
            <a:ext cx="109115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73050"/>
            <a:ext cx="1091153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1435100"/>
            <a:ext cx="109115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800600"/>
            <a:ext cx="109115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5367338"/>
            <a:ext cx="109115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0"/>
            <a:ext cx="10911535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080" y="274638"/>
            <a:ext cx="10911535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74638"/>
            <a:ext cx="1091153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74638"/>
            <a:ext cx="1091153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00200"/>
            <a:ext cx="1091153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Kestrel 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1280" y="237744"/>
            <a:ext cx="1325880" cy="320040"/>
          </a:xfrm>
          <a:prstGeom prst="rect">
            <a:avLst/>
          </a:prstGeom>
        </p:spPr>
      </p:pic>
      <p:sp>
        <p:nvSpPr>
          <p:cNvPr id="3" name="Brand bar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MARKET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6025953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Discount and online captured 75% of Iberian grocery growth since 2021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National statistics; retailer reports; team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Iberian grocery market by channel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€bn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640080" y="1901952"/>
          <a:ext cx="720730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712153" y="2898830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121.3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929819" y="2793854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125.9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3147485" y="2675186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131.1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365152" y="2554235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136.4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582818" y="2426439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142.0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6663612" y="2741632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Online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663612" y="3061124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Convenience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663612" y="3494719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Hypermarkets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6663612" y="4361910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Supermarkets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6663612" y="5388847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Discount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1320986" y="2316711"/>
            <a:ext cx="4870665" cy="0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1320986" y="2316711"/>
            <a:ext cx="0" cy="91440"/>
          </a:xfrm>
          <a:prstGeom prst="line">
            <a:avLst/>
          </a:prstGeom>
          <a:ln w="9525">
            <a:solidFill>
              <a:srgbClr val="222222"/>
            </a:solidFill>
          </a:ln>
        </p:spPr>
      </p:cxnSp>
      <p:sp>
        <p:nvSpPr>
          <p:cNvPr id="20" name="cpe|exhibit|label|19"/>
          <p:cNvSpPr txBox="1"/>
          <p:nvPr/>
        </p:nvSpPr>
        <p:spPr>
          <a:xfrm>
            <a:off x="3325449" y="2179551"/>
            <a:ext cx="861739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Calibri"/>
              </a:rPr>
              <a:t>CAGR +4.0%</a:t>
            </a:r>
          </a:p>
        </p:txBody>
      </p:sp>
      <p:cxnSp>
        <p:nvCxnSpPr>
          <p:cNvPr id="21" name="cpe|commentary|line|20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22" name="cpe|commentary|text|21"/>
          <p:cNvSpPr txBox="1"/>
          <p:nvPr/>
        </p:nvSpPr>
        <p:spPr>
          <a:xfrm>
            <a:off x="8277149" y="1481328"/>
            <a:ext cx="327446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3A2F"/>
                </a:solidFill>
                <a:latin typeface="Calibri"/>
              </a:rPr>
              <a:t>What moves the market</a:t>
            </a:r>
          </a:p>
        </p:txBody>
      </p:sp>
      <p:sp>
        <p:nvSpPr>
          <p:cNvPr id="23" name="cpe|commentary|text|22"/>
          <p:cNvSpPr txBox="1"/>
          <p:nvPr/>
        </p:nvSpPr>
        <p:spPr>
          <a:xfrm>
            <a:off x="8277149" y="1796796"/>
            <a:ext cx="327446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Discount</a:t>
            </a:r>
            <a:r>
              <a:rPr sz="1200" b="0">
                <a:solidFill>
                  <a:srgbClr val="222222"/>
                </a:solidFill>
                <a:latin typeface="Calibri"/>
              </a:rPr>
              <a:t> grows 7.8% a year on price-sensitive households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Online</a:t>
            </a:r>
            <a:r>
              <a:rPr sz="1200" b="0">
                <a:solidFill>
                  <a:srgbClr val="222222"/>
                </a:solidFill>
                <a:latin typeface="Calibri"/>
              </a:rPr>
              <a:t> is small but compounding at 14% a year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Supermarkets</a:t>
            </a:r>
            <a:r>
              <a:rPr sz="1200" b="0">
                <a:solidFill>
                  <a:srgbClr val="222222"/>
                </a:solidFill>
                <a:latin typeface="Calibri"/>
              </a:rPr>
              <a:t> grow at 2%, below food inflation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Hypermarkets</a:t>
            </a:r>
            <a:r>
              <a:rPr sz="1200" b="0">
                <a:solidFill>
                  <a:srgbClr val="222222"/>
                </a:solidFill>
                <a:latin typeface="Calibri"/>
              </a:rPr>
              <a:t> shrink as trips move to proximity formats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MARKET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6025953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Discount and online captured 75% of Iberian grocery growth since 2021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National statistics; retailer reports; team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Iberian grocery market by channel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€bn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640080" y="1901952"/>
          <a:ext cx="10911535" cy="34655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749195" y="2789586"/>
            <a:ext cx="195110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121.3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2700300" y="2712023"/>
            <a:ext cx="195110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125.9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4651405" y="2624343"/>
            <a:ext cx="195110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131.1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6602509" y="2534976"/>
            <a:ext cx="195110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136.4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8553614" y="2440552"/>
            <a:ext cx="195110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142.0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10230326" y="2714031"/>
            <a:ext cx="132128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Online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10230326" y="2950092"/>
            <a:ext cx="132128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Convenience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10230326" y="3270461"/>
            <a:ext cx="132128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Hypermarkets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10230326" y="3911200"/>
            <a:ext cx="132128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Supermarkets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10230326" y="4669969"/>
            <a:ext cx="132128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Discount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1724748" y="2330824"/>
            <a:ext cx="7804418" cy="0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1724748" y="2330824"/>
            <a:ext cx="0" cy="91440"/>
          </a:xfrm>
          <a:prstGeom prst="line">
            <a:avLst/>
          </a:prstGeom>
          <a:ln w="9525">
            <a:solidFill>
              <a:srgbClr val="222222"/>
            </a:solidFill>
          </a:ln>
        </p:spPr>
      </p:cxnSp>
      <p:sp>
        <p:nvSpPr>
          <p:cNvPr id="20" name="cpe|exhibit|label|19"/>
          <p:cNvSpPr txBox="1"/>
          <p:nvPr/>
        </p:nvSpPr>
        <p:spPr>
          <a:xfrm>
            <a:off x="5196088" y="2193664"/>
            <a:ext cx="861739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Calibri"/>
              </a:rPr>
              <a:t>CAGR +4.0%</a:t>
            </a:r>
          </a:p>
        </p:txBody>
      </p:sp>
      <p:cxnSp>
        <p:nvCxnSpPr>
          <p:cNvPr id="21" name="cpe|commentary|line|20"/>
          <p:cNvCxnSpPr/>
          <p:nvPr/>
        </p:nvCxnSpPr>
        <p:spPr>
          <a:xfrm>
            <a:off x="640080" y="5568696"/>
            <a:ext cx="10911535" cy="0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22" name="cpe|commentary|text|21"/>
          <p:cNvSpPr txBox="1"/>
          <p:nvPr/>
        </p:nvSpPr>
        <p:spPr>
          <a:xfrm>
            <a:off x="640080" y="5705856"/>
            <a:ext cx="257700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Discount</a:t>
            </a:r>
            <a:r>
              <a:rPr sz="1200" b="0">
                <a:solidFill>
                  <a:srgbClr val="222222"/>
                </a:solidFill>
                <a:latin typeface="Calibri"/>
              </a:rPr>
              <a:t> grows 7.8% a year on price-sensitive households</a:t>
            </a:r>
          </a:p>
        </p:txBody>
      </p:sp>
      <p:sp>
        <p:nvSpPr>
          <p:cNvPr id="23" name="cpe|commentary|text|22"/>
          <p:cNvSpPr txBox="1"/>
          <p:nvPr/>
        </p:nvSpPr>
        <p:spPr>
          <a:xfrm>
            <a:off x="3418256" y="5705856"/>
            <a:ext cx="257700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Online</a:t>
            </a:r>
            <a:r>
              <a:rPr sz="1200" b="0">
                <a:solidFill>
                  <a:srgbClr val="222222"/>
                </a:solidFill>
                <a:latin typeface="Calibri"/>
              </a:rPr>
              <a:t> is small but compounding at 14% a year</a:t>
            </a:r>
          </a:p>
        </p:txBody>
      </p:sp>
      <p:sp>
        <p:nvSpPr>
          <p:cNvPr id="24" name="cpe|commentary|text|23"/>
          <p:cNvSpPr txBox="1"/>
          <p:nvPr/>
        </p:nvSpPr>
        <p:spPr>
          <a:xfrm>
            <a:off x="6196432" y="5705856"/>
            <a:ext cx="257700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Supermarkets</a:t>
            </a:r>
            <a:r>
              <a:rPr sz="1200" b="0">
                <a:solidFill>
                  <a:srgbClr val="222222"/>
                </a:solidFill>
                <a:latin typeface="Calibri"/>
              </a:rPr>
              <a:t> grow at 2%, below food inflation</a:t>
            </a:r>
          </a:p>
        </p:txBody>
      </p:sp>
      <p:sp>
        <p:nvSpPr>
          <p:cNvPr id="25" name="cpe|commentary|text|24"/>
          <p:cNvSpPr txBox="1"/>
          <p:nvPr/>
        </p:nvSpPr>
        <p:spPr>
          <a:xfrm>
            <a:off x="8974607" y="5705856"/>
            <a:ext cx="257700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Hypermarkets</a:t>
            </a:r>
            <a:r>
              <a:rPr sz="1200" b="0">
                <a:solidFill>
                  <a:srgbClr val="222222"/>
                </a:solidFill>
                <a:latin typeface="Calibri"/>
              </a:rPr>
              <a:t> shrink as trips move to proximity formats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MARKET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6025953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Discount and online captured 75% of Iberian grocery growth since 2021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National statistics; retailer reports; team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3</a:t>
            </a:r>
          </a:p>
        </p:txBody>
      </p:sp>
      <p:cxnSp>
        <p:nvCxnSpPr>
          <p:cNvPr id="6" name="cpe|commentary|line|5"/>
          <p:cNvCxnSpPr/>
          <p:nvPr/>
        </p:nvCxnSpPr>
        <p:spPr>
          <a:xfrm>
            <a:off x="4143146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7" name="cpe|commentary|text|6"/>
          <p:cNvSpPr txBox="1"/>
          <p:nvPr/>
        </p:nvSpPr>
        <p:spPr>
          <a:xfrm>
            <a:off x="640080" y="1481328"/>
            <a:ext cx="327446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3A2F"/>
                </a:solidFill>
                <a:latin typeface="Calibri"/>
              </a:rPr>
              <a:t>What moves the market</a:t>
            </a:r>
          </a:p>
        </p:txBody>
      </p:sp>
      <p:sp>
        <p:nvSpPr>
          <p:cNvPr id="8" name="cpe|commentary|text|7"/>
          <p:cNvSpPr txBox="1"/>
          <p:nvPr/>
        </p:nvSpPr>
        <p:spPr>
          <a:xfrm>
            <a:off x="640080" y="1796796"/>
            <a:ext cx="327446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Discount</a:t>
            </a:r>
            <a:r>
              <a:rPr sz="1200" b="0">
                <a:solidFill>
                  <a:srgbClr val="222222"/>
                </a:solidFill>
                <a:latin typeface="Calibri"/>
              </a:rPr>
              <a:t> grows 7.8% a year on price-sensitive households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Online</a:t>
            </a:r>
            <a:r>
              <a:rPr sz="1200" b="0">
                <a:solidFill>
                  <a:srgbClr val="222222"/>
                </a:solidFill>
                <a:latin typeface="Calibri"/>
              </a:rPr>
              <a:t> is small but compounding at 14% a year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Supermarkets</a:t>
            </a:r>
            <a:r>
              <a:rPr sz="1200" b="0">
                <a:solidFill>
                  <a:srgbClr val="222222"/>
                </a:solidFill>
                <a:latin typeface="Calibri"/>
              </a:rPr>
              <a:t> grow at 2%, below food inflation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Hypermarkets</a:t>
            </a:r>
            <a:r>
              <a:rPr sz="1200" b="0">
                <a:solidFill>
                  <a:srgbClr val="222222"/>
                </a:solidFill>
                <a:latin typeface="Calibri"/>
              </a:rPr>
              <a:t> shrink as trips move to proximity formats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4344314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Iberian grocery market by channel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€bn</a:t>
            </a:r>
          </a:p>
        </p:txBody>
      </p:sp>
      <p:graphicFrame>
        <p:nvGraphicFramePr>
          <p:cNvPr id="10" name="cpe|exhibit|chart|9"/>
          <p:cNvGraphicFramePr>
            <a:graphicFrameLocks noGrp="1"/>
          </p:cNvGraphicFramePr>
          <p:nvPr/>
        </p:nvGraphicFramePr>
        <p:xfrm>
          <a:off x="4344314" y="1901952"/>
          <a:ext cx="720730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cpe|exhibit|label|10"/>
          <p:cNvSpPr txBox="1"/>
          <p:nvPr/>
        </p:nvSpPr>
        <p:spPr>
          <a:xfrm>
            <a:off x="4416387" y="2898830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121.3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634054" y="2793854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125.9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6851720" y="2675186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131.1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8069386" y="2554235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136.4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9287052" y="2426439"/>
            <a:ext cx="1217666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142.0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10367846" y="2741632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Online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10367846" y="3061124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Convenience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10367846" y="3494719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Hypermarkets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10367846" y="4361910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Supermarkets</a:t>
            </a:r>
          </a:p>
        </p:txBody>
      </p:sp>
      <p:sp>
        <p:nvSpPr>
          <p:cNvPr id="20" name="cpe|exhibit|label|19"/>
          <p:cNvSpPr txBox="1"/>
          <p:nvPr/>
        </p:nvSpPr>
        <p:spPr>
          <a:xfrm>
            <a:off x="10367846" y="5388847"/>
            <a:ext cx="118376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Discount</a:t>
            </a:r>
          </a:p>
        </p:txBody>
      </p:sp>
      <p:cxnSp>
        <p:nvCxnSpPr>
          <p:cNvPr id="21" name="cpe|exhibit|connector|20"/>
          <p:cNvCxnSpPr/>
          <p:nvPr/>
        </p:nvCxnSpPr>
        <p:spPr>
          <a:xfrm>
            <a:off x="5025221" y="2316711"/>
            <a:ext cx="4870664" cy="0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5025221" y="2316711"/>
            <a:ext cx="0" cy="91440"/>
          </a:xfrm>
          <a:prstGeom prst="line">
            <a:avLst/>
          </a:prstGeom>
          <a:ln w="9525">
            <a:solidFill>
              <a:srgbClr val="222222"/>
            </a:solidFill>
          </a:ln>
        </p:spPr>
      </p:cxnSp>
      <p:sp>
        <p:nvSpPr>
          <p:cNvPr id="23" name="cpe|exhibit|label|22"/>
          <p:cNvSpPr txBox="1"/>
          <p:nvPr/>
        </p:nvSpPr>
        <p:spPr>
          <a:xfrm>
            <a:off x="7029684" y="2179551"/>
            <a:ext cx="861739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Calibri"/>
              </a:rPr>
              <a:t>CAGR +4.0%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PERFORMANCE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21389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Alvora's growth slowed to 3.0% in 2025, below the market (4.1%) for the second year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management accounts;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4</a:t>
            </a:r>
          </a:p>
        </p:txBody>
      </p:sp>
      <p:sp>
        <p:nvSpPr>
          <p:cNvPr id="6" name="cpe|kpis|text|5"/>
          <p:cNvSpPr txBox="1"/>
          <p:nvPr/>
        </p:nvSpPr>
        <p:spPr>
          <a:xfrm>
            <a:off x="640080" y="1481328"/>
            <a:ext cx="24261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2F"/>
                </a:solidFill>
                <a:latin typeface="Calibri"/>
              </a:rPr>
              <a:t>€13.6bn</a:t>
            </a:r>
          </a:p>
        </p:txBody>
      </p:sp>
      <p:sp>
        <p:nvSpPr>
          <p:cNvPr id="7" name="cpe|kpis|text|6"/>
          <p:cNvSpPr txBox="1"/>
          <p:nvPr/>
        </p:nvSpPr>
        <p:spPr>
          <a:xfrm>
            <a:off x="640080" y="2048256"/>
            <a:ext cx="24261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6B4F"/>
                </a:solidFill>
                <a:latin typeface="Calibri"/>
              </a:rPr>
              <a:t>▲ +3.0% YoY</a:t>
            </a:r>
          </a:p>
        </p:txBody>
      </p:sp>
      <p:sp>
        <p:nvSpPr>
          <p:cNvPr id="8" name="cpe|kpis|text|7"/>
          <p:cNvSpPr txBox="1"/>
          <p:nvPr/>
        </p:nvSpPr>
        <p:spPr>
          <a:xfrm>
            <a:off x="640080" y="2304288"/>
            <a:ext cx="242613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Revenue 2025</a:t>
            </a:r>
          </a:p>
        </p:txBody>
      </p:sp>
      <p:cxnSp>
        <p:nvCxnSpPr>
          <p:cNvPr id="9" name="cpe|kpis|line|8"/>
          <p:cNvCxnSpPr/>
          <p:nvPr/>
        </p:nvCxnSpPr>
        <p:spPr>
          <a:xfrm>
            <a:off x="3267380" y="1527048"/>
            <a:ext cx="0" cy="1034735"/>
          </a:xfrm>
          <a:prstGeom prst="line">
            <a:avLst/>
          </a:prstGeom>
          <a:ln w="9525">
            <a:solidFill>
              <a:srgbClr val="E4E4E4"/>
            </a:solidFill>
          </a:ln>
        </p:spPr>
      </p:cxnSp>
      <p:sp>
        <p:nvSpPr>
          <p:cNvPr id="10" name="cpe|kpis|text|9"/>
          <p:cNvSpPr txBox="1"/>
          <p:nvPr/>
        </p:nvSpPr>
        <p:spPr>
          <a:xfrm>
            <a:off x="3468548" y="1481328"/>
            <a:ext cx="24261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2F"/>
                </a:solidFill>
                <a:latin typeface="Calibri"/>
              </a:rPr>
              <a:t>6.3%</a:t>
            </a:r>
          </a:p>
        </p:txBody>
      </p:sp>
      <p:sp>
        <p:nvSpPr>
          <p:cNvPr id="11" name="cpe|kpis|text|10"/>
          <p:cNvSpPr txBox="1"/>
          <p:nvPr/>
        </p:nvSpPr>
        <p:spPr>
          <a:xfrm>
            <a:off x="3468548" y="2048256"/>
            <a:ext cx="24261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33A2B"/>
                </a:solidFill>
                <a:latin typeface="Calibri"/>
              </a:rPr>
              <a:t>▼ −0.7pp</a:t>
            </a:r>
          </a:p>
        </p:txBody>
      </p:sp>
      <p:sp>
        <p:nvSpPr>
          <p:cNvPr id="12" name="cpe|kpis|text|11"/>
          <p:cNvSpPr txBox="1"/>
          <p:nvPr/>
        </p:nvSpPr>
        <p:spPr>
          <a:xfrm>
            <a:off x="3468548" y="2304288"/>
            <a:ext cx="242613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EBITDA margin 2025</a:t>
            </a:r>
          </a:p>
        </p:txBody>
      </p:sp>
      <p:cxnSp>
        <p:nvCxnSpPr>
          <p:cNvPr id="13" name="cpe|kpis|line|12"/>
          <p:cNvCxnSpPr/>
          <p:nvPr/>
        </p:nvCxnSpPr>
        <p:spPr>
          <a:xfrm>
            <a:off x="6095848" y="1527048"/>
            <a:ext cx="0" cy="1034735"/>
          </a:xfrm>
          <a:prstGeom prst="line">
            <a:avLst/>
          </a:prstGeom>
          <a:ln w="9525">
            <a:solidFill>
              <a:srgbClr val="E4E4E4"/>
            </a:solidFill>
          </a:ln>
        </p:spPr>
      </p:cxnSp>
      <p:sp>
        <p:nvSpPr>
          <p:cNvPr id="14" name="cpe|kpis|text|13"/>
          <p:cNvSpPr txBox="1"/>
          <p:nvPr/>
        </p:nvSpPr>
        <p:spPr>
          <a:xfrm>
            <a:off x="6297016" y="1481328"/>
            <a:ext cx="24261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2F"/>
                </a:solidFill>
                <a:latin typeface="Calibri"/>
              </a:rPr>
              <a:t>9.6%</a:t>
            </a:r>
          </a:p>
        </p:txBody>
      </p:sp>
      <p:sp>
        <p:nvSpPr>
          <p:cNvPr id="15" name="cpe|kpis|text|14"/>
          <p:cNvSpPr txBox="1"/>
          <p:nvPr/>
        </p:nvSpPr>
        <p:spPr>
          <a:xfrm>
            <a:off x="6297016" y="2048256"/>
            <a:ext cx="24261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33A2B"/>
                </a:solidFill>
                <a:latin typeface="Calibri"/>
              </a:rPr>
              <a:t>▼ −0.1pp</a:t>
            </a:r>
          </a:p>
        </p:txBody>
      </p:sp>
      <p:sp>
        <p:nvSpPr>
          <p:cNvPr id="16" name="cpe|kpis|text|15"/>
          <p:cNvSpPr txBox="1"/>
          <p:nvPr/>
        </p:nvSpPr>
        <p:spPr>
          <a:xfrm>
            <a:off x="6297016" y="2304288"/>
            <a:ext cx="242613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Market share 2025</a:t>
            </a:r>
          </a:p>
        </p:txBody>
      </p:sp>
      <p:cxnSp>
        <p:nvCxnSpPr>
          <p:cNvPr id="17" name="cpe|kpis|line|16"/>
          <p:cNvCxnSpPr/>
          <p:nvPr/>
        </p:nvCxnSpPr>
        <p:spPr>
          <a:xfrm>
            <a:off x="8924315" y="1527048"/>
            <a:ext cx="0" cy="1034735"/>
          </a:xfrm>
          <a:prstGeom prst="line">
            <a:avLst/>
          </a:prstGeom>
          <a:ln w="9525">
            <a:solidFill>
              <a:srgbClr val="E4E4E4"/>
            </a:solidFill>
          </a:ln>
        </p:spPr>
      </p:cxnSp>
      <p:sp>
        <p:nvSpPr>
          <p:cNvPr id="18" name="cpe|kpis|text|17"/>
          <p:cNvSpPr txBox="1"/>
          <p:nvPr/>
        </p:nvSpPr>
        <p:spPr>
          <a:xfrm>
            <a:off x="9125483" y="1481328"/>
            <a:ext cx="24261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2F"/>
                </a:solidFill>
                <a:latin typeface="Calibri"/>
              </a:rPr>
              <a:t>+1.2%</a:t>
            </a:r>
          </a:p>
        </p:txBody>
      </p:sp>
      <p:sp>
        <p:nvSpPr>
          <p:cNvPr id="19" name="cpe|kpis|text|18"/>
          <p:cNvSpPr txBox="1"/>
          <p:nvPr/>
        </p:nvSpPr>
        <p:spPr>
          <a:xfrm>
            <a:off x="9125483" y="2048256"/>
            <a:ext cx="24261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33A2B"/>
                </a:solidFill>
                <a:latin typeface="Calibri"/>
              </a:rPr>
              <a:t>▼ −1.8pp vs 2024</a:t>
            </a:r>
          </a:p>
        </p:txBody>
      </p:sp>
      <p:sp>
        <p:nvSpPr>
          <p:cNvPr id="20" name="cpe|kpis|text|19"/>
          <p:cNvSpPr txBox="1"/>
          <p:nvPr/>
        </p:nvSpPr>
        <p:spPr>
          <a:xfrm>
            <a:off x="9125483" y="2304288"/>
            <a:ext cx="242613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Like-for-like sales 2025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640080" y="2808671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Alvora revenue and growth vs market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€bn, % YoY</a:t>
            </a:r>
          </a:p>
        </p:txBody>
      </p:sp>
      <p:graphicFrame>
        <p:nvGraphicFramePr>
          <p:cNvPr id="22" name="cpe|exhibit|chart|21"/>
          <p:cNvGraphicFramePr>
            <a:graphicFrameLocks noGrp="1"/>
          </p:cNvGraphicFramePr>
          <p:nvPr/>
        </p:nvGraphicFramePr>
        <p:xfrm>
          <a:off x="640080" y="4408344"/>
          <a:ext cx="10911535" cy="1791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23" name="cpe|exhibit|connector|22"/>
          <p:cNvCxnSpPr/>
          <p:nvPr/>
        </p:nvCxnSpPr>
        <p:spPr>
          <a:xfrm>
            <a:off x="6842453" y="4786729"/>
            <a:ext cx="2437304" cy="0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842453" y="4786729"/>
            <a:ext cx="0" cy="91440"/>
          </a:xfrm>
          <a:prstGeom prst="line">
            <a:avLst/>
          </a:prstGeom>
          <a:ln w="9525">
            <a:solidFill>
              <a:srgbClr val="222222"/>
            </a:solidFill>
          </a:ln>
        </p:spPr>
      </p:cxnSp>
      <p:sp>
        <p:nvSpPr>
          <p:cNvPr id="25" name="cpe|exhibit|label|24"/>
          <p:cNvSpPr txBox="1"/>
          <p:nvPr/>
        </p:nvSpPr>
        <p:spPr>
          <a:xfrm>
            <a:off x="7841264" y="4649569"/>
            <a:ext cx="439682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Calibri"/>
              </a:rPr>
              <a:t>+3%</a:t>
            </a:r>
          </a:p>
        </p:txBody>
      </p:sp>
      <p:graphicFrame>
        <p:nvGraphicFramePr>
          <p:cNvPr id="26" name="cpe|exhibit|chart|25"/>
          <p:cNvGraphicFramePr>
            <a:graphicFrameLocks noGrp="1"/>
          </p:cNvGraphicFramePr>
          <p:nvPr/>
        </p:nvGraphicFramePr>
        <p:xfrm>
          <a:off x="640080" y="3229295"/>
          <a:ext cx="10911535" cy="106932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cpe|exhibit|label|26"/>
          <p:cNvSpPr txBox="1"/>
          <p:nvPr/>
        </p:nvSpPr>
        <p:spPr>
          <a:xfrm>
            <a:off x="9371197" y="3802449"/>
            <a:ext cx="218041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F6F6F"/>
                </a:solidFill>
                <a:latin typeface="Calibri"/>
              </a:rPr>
              <a:t>Market growth</a:t>
            </a:r>
          </a:p>
        </p:txBody>
      </p:sp>
      <p:sp>
        <p:nvSpPr>
          <p:cNvPr id="28" name="cpe|exhibit|label|27"/>
          <p:cNvSpPr txBox="1"/>
          <p:nvPr/>
        </p:nvSpPr>
        <p:spPr>
          <a:xfrm>
            <a:off x="9371197" y="4021905"/>
            <a:ext cx="218041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Alvora growth</a:t>
            </a:r>
          </a:p>
        </p:txBody>
      </p:sp>
      <p:sp>
        <p:nvSpPr>
          <p:cNvPr id="29" name="cpe|exhibit|label|28"/>
          <p:cNvSpPr txBox="1"/>
          <p:nvPr/>
        </p:nvSpPr>
        <p:spPr>
          <a:xfrm>
            <a:off x="1510647" y="3201371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6.3%</a:t>
            </a:r>
          </a:p>
        </p:txBody>
      </p:sp>
      <p:sp>
        <p:nvSpPr>
          <p:cNvPr id="30" name="cpe|exhibit|label|29"/>
          <p:cNvSpPr txBox="1"/>
          <p:nvPr/>
        </p:nvSpPr>
        <p:spPr>
          <a:xfrm>
            <a:off x="1510647" y="367659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3.8%</a:t>
            </a:r>
          </a:p>
        </p:txBody>
      </p:sp>
      <p:sp>
        <p:nvSpPr>
          <p:cNvPr id="31" name="cpe|exhibit|label|30"/>
          <p:cNvSpPr txBox="1"/>
          <p:nvPr/>
        </p:nvSpPr>
        <p:spPr>
          <a:xfrm>
            <a:off x="3947950" y="3125335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6.7%</a:t>
            </a:r>
          </a:p>
        </p:txBody>
      </p:sp>
      <p:sp>
        <p:nvSpPr>
          <p:cNvPr id="32" name="cpe|exhibit|label|31"/>
          <p:cNvSpPr txBox="1"/>
          <p:nvPr/>
        </p:nvSpPr>
        <p:spPr>
          <a:xfrm>
            <a:off x="3947950" y="361956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4.1%</a:t>
            </a:r>
          </a:p>
        </p:txBody>
      </p:sp>
      <p:sp>
        <p:nvSpPr>
          <p:cNvPr id="33" name="cpe|exhibit|label|32"/>
          <p:cNvSpPr txBox="1"/>
          <p:nvPr/>
        </p:nvSpPr>
        <p:spPr>
          <a:xfrm>
            <a:off x="6385253" y="363857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4.0%</a:t>
            </a:r>
          </a:p>
        </p:txBody>
      </p:sp>
      <p:sp>
        <p:nvSpPr>
          <p:cNvPr id="34" name="cpe|exhibit|label|33"/>
          <p:cNvSpPr txBox="1"/>
          <p:nvPr/>
        </p:nvSpPr>
        <p:spPr>
          <a:xfrm>
            <a:off x="6385253" y="402334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3.9%</a:t>
            </a:r>
          </a:p>
        </p:txBody>
      </p:sp>
      <p:sp>
        <p:nvSpPr>
          <p:cNvPr id="35" name="cpe|exhibit|label|34"/>
          <p:cNvSpPr txBox="1"/>
          <p:nvPr/>
        </p:nvSpPr>
        <p:spPr>
          <a:xfrm>
            <a:off x="8822557" y="361956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4.1%</a:t>
            </a:r>
          </a:p>
        </p:txBody>
      </p:sp>
      <p:sp>
        <p:nvSpPr>
          <p:cNvPr id="36" name="cpe|exhibit|label|35"/>
          <p:cNvSpPr txBox="1"/>
          <p:nvPr/>
        </p:nvSpPr>
        <p:spPr>
          <a:xfrm>
            <a:off x="8822557" y="419442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3.0%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PERFORMANCE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21389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Alvora's growth slowed to 3.0% in 2025, below the market (4.1%) for the second year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management accounts;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4</a:t>
            </a:r>
          </a:p>
        </p:txBody>
      </p:sp>
      <p:sp>
        <p:nvSpPr>
          <p:cNvPr id="6" name="cpe|kpis|text|5"/>
          <p:cNvSpPr txBox="1"/>
          <p:nvPr/>
        </p:nvSpPr>
        <p:spPr>
          <a:xfrm>
            <a:off x="640080" y="1481328"/>
            <a:ext cx="24261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2F"/>
                </a:solidFill>
                <a:latin typeface="Calibri"/>
              </a:rPr>
              <a:t>€13.6bn</a:t>
            </a:r>
          </a:p>
        </p:txBody>
      </p:sp>
      <p:sp>
        <p:nvSpPr>
          <p:cNvPr id="7" name="cpe|kpis|text|6"/>
          <p:cNvSpPr txBox="1"/>
          <p:nvPr/>
        </p:nvSpPr>
        <p:spPr>
          <a:xfrm>
            <a:off x="640080" y="2048256"/>
            <a:ext cx="24261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6B4F"/>
                </a:solidFill>
                <a:latin typeface="Calibri"/>
              </a:rPr>
              <a:t>▲ +3.0% YoY</a:t>
            </a:r>
          </a:p>
        </p:txBody>
      </p:sp>
      <p:sp>
        <p:nvSpPr>
          <p:cNvPr id="8" name="cpe|kpis|text|7"/>
          <p:cNvSpPr txBox="1"/>
          <p:nvPr/>
        </p:nvSpPr>
        <p:spPr>
          <a:xfrm>
            <a:off x="640080" y="2304288"/>
            <a:ext cx="242613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Revenue 2025</a:t>
            </a:r>
          </a:p>
        </p:txBody>
      </p:sp>
      <p:cxnSp>
        <p:nvCxnSpPr>
          <p:cNvPr id="9" name="cpe|kpis|line|8"/>
          <p:cNvCxnSpPr/>
          <p:nvPr/>
        </p:nvCxnSpPr>
        <p:spPr>
          <a:xfrm>
            <a:off x="3267380" y="1527048"/>
            <a:ext cx="0" cy="1034735"/>
          </a:xfrm>
          <a:prstGeom prst="line">
            <a:avLst/>
          </a:prstGeom>
          <a:ln w="9525">
            <a:solidFill>
              <a:srgbClr val="E4E4E4"/>
            </a:solidFill>
          </a:ln>
        </p:spPr>
      </p:cxnSp>
      <p:sp>
        <p:nvSpPr>
          <p:cNvPr id="10" name="cpe|kpis|text|9"/>
          <p:cNvSpPr txBox="1"/>
          <p:nvPr/>
        </p:nvSpPr>
        <p:spPr>
          <a:xfrm>
            <a:off x="3468548" y="1481328"/>
            <a:ext cx="24261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2F"/>
                </a:solidFill>
                <a:latin typeface="Calibri"/>
              </a:rPr>
              <a:t>6.3%</a:t>
            </a:r>
          </a:p>
        </p:txBody>
      </p:sp>
      <p:sp>
        <p:nvSpPr>
          <p:cNvPr id="11" name="cpe|kpis|text|10"/>
          <p:cNvSpPr txBox="1"/>
          <p:nvPr/>
        </p:nvSpPr>
        <p:spPr>
          <a:xfrm>
            <a:off x="3468548" y="2048256"/>
            <a:ext cx="24261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33A2B"/>
                </a:solidFill>
                <a:latin typeface="Calibri"/>
              </a:rPr>
              <a:t>▼ −0.7pp</a:t>
            </a:r>
          </a:p>
        </p:txBody>
      </p:sp>
      <p:sp>
        <p:nvSpPr>
          <p:cNvPr id="12" name="cpe|kpis|text|11"/>
          <p:cNvSpPr txBox="1"/>
          <p:nvPr/>
        </p:nvSpPr>
        <p:spPr>
          <a:xfrm>
            <a:off x="3468548" y="2304288"/>
            <a:ext cx="242613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EBITDA margin 2025</a:t>
            </a:r>
          </a:p>
        </p:txBody>
      </p:sp>
      <p:cxnSp>
        <p:nvCxnSpPr>
          <p:cNvPr id="13" name="cpe|kpis|line|12"/>
          <p:cNvCxnSpPr/>
          <p:nvPr/>
        </p:nvCxnSpPr>
        <p:spPr>
          <a:xfrm>
            <a:off x="6095848" y="1527048"/>
            <a:ext cx="0" cy="1034735"/>
          </a:xfrm>
          <a:prstGeom prst="line">
            <a:avLst/>
          </a:prstGeom>
          <a:ln w="9525">
            <a:solidFill>
              <a:srgbClr val="E4E4E4"/>
            </a:solidFill>
          </a:ln>
        </p:spPr>
      </p:cxnSp>
      <p:sp>
        <p:nvSpPr>
          <p:cNvPr id="14" name="cpe|kpis|text|13"/>
          <p:cNvSpPr txBox="1"/>
          <p:nvPr/>
        </p:nvSpPr>
        <p:spPr>
          <a:xfrm>
            <a:off x="6297016" y="1481328"/>
            <a:ext cx="24261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2F"/>
                </a:solidFill>
                <a:latin typeface="Calibri"/>
              </a:rPr>
              <a:t>9.6%</a:t>
            </a:r>
          </a:p>
        </p:txBody>
      </p:sp>
      <p:sp>
        <p:nvSpPr>
          <p:cNvPr id="15" name="cpe|kpis|text|14"/>
          <p:cNvSpPr txBox="1"/>
          <p:nvPr/>
        </p:nvSpPr>
        <p:spPr>
          <a:xfrm>
            <a:off x="6297016" y="2048256"/>
            <a:ext cx="24261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33A2B"/>
                </a:solidFill>
                <a:latin typeface="Calibri"/>
              </a:rPr>
              <a:t>▼ −0.1pp</a:t>
            </a:r>
          </a:p>
        </p:txBody>
      </p:sp>
      <p:sp>
        <p:nvSpPr>
          <p:cNvPr id="16" name="cpe|kpis|text|15"/>
          <p:cNvSpPr txBox="1"/>
          <p:nvPr/>
        </p:nvSpPr>
        <p:spPr>
          <a:xfrm>
            <a:off x="6297016" y="2304288"/>
            <a:ext cx="242613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Market share 2025</a:t>
            </a:r>
          </a:p>
        </p:txBody>
      </p:sp>
      <p:cxnSp>
        <p:nvCxnSpPr>
          <p:cNvPr id="17" name="cpe|kpis|line|16"/>
          <p:cNvCxnSpPr/>
          <p:nvPr/>
        </p:nvCxnSpPr>
        <p:spPr>
          <a:xfrm>
            <a:off x="8924315" y="1527048"/>
            <a:ext cx="0" cy="1034735"/>
          </a:xfrm>
          <a:prstGeom prst="line">
            <a:avLst/>
          </a:prstGeom>
          <a:ln w="9525">
            <a:solidFill>
              <a:srgbClr val="E4E4E4"/>
            </a:solidFill>
          </a:ln>
        </p:spPr>
      </p:cxnSp>
      <p:sp>
        <p:nvSpPr>
          <p:cNvPr id="18" name="cpe|kpis|text|17"/>
          <p:cNvSpPr txBox="1"/>
          <p:nvPr/>
        </p:nvSpPr>
        <p:spPr>
          <a:xfrm>
            <a:off x="9125483" y="1481328"/>
            <a:ext cx="24261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2F"/>
                </a:solidFill>
                <a:latin typeface="Calibri"/>
              </a:rPr>
              <a:t>+1.2%</a:t>
            </a:r>
          </a:p>
        </p:txBody>
      </p:sp>
      <p:sp>
        <p:nvSpPr>
          <p:cNvPr id="19" name="cpe|kpis|text|18"/>
          <p:cNvSpPr txBox="1"/>
          <p:nvPr/>
        </p:nvSpPr>
        <p:spPr>
          <a:xfrm>
            <a:off x="9125483" y="2048256"/>
            <a:ext cx="24261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33A2B"/>
                </a:solidFill>
                <a:latin typeface="Calibri"/>
              </a:rPr>
              <a:t>▼ −1.8pp vs 2024</a:t>
            </a:r>
          </a:p>
        </p:txBody>
      </p:sp>
      <p:sp>
        <p:nvSpPr>
          <p:cNvPr id="20" name="cpe|kpis|text|19"/>
          <p:cNvSpPr txBox="1"/>
          <p:nvPr/>
        </p:nvSpPr>
        <p:spPr>
          <a:xfrm>
            <a:off x="9125483" y="2304288"/>
            <a:ext cx="242613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Like-for-like sales 2025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640080" y="2808671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Alvora revenue and growth vs market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€bn, % YoY</a:t>
            </a:r>
          </a:p>
        </p:txBody>
      </p:sp>
      <p:graphicFrame>
        <p:nvGraphicFramePr>
          <p:cNvPr id="22" name="cpe|exhibit|chart|21"/>
          <p:cNvGraphicFramePr>
            <a:graphicFrameLocks noGrp="1"/>
          </p:cNvGraphicFramePr>
          <p:nvPr/>
        </p:nvGraphicFramePr>
        <p:xfrm>
          <a:off x="640080" y="4408344"/>
          <a:ext cx="7207301" cy="1791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23" name="cpe|exhibit|connector|22"/>
          <p:cNvCxnSpPr/>
          <p:nvPr/>
        </p:nvCxnSpPr>
        <p:spPr>
          <a:xfrm>
            <a:off x="4513416" y="4786729"/>
            <a:ext cx="1520505" cy="0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4513416" y="4786729"/>
            <a:ext cx="0" cy="91440"/>
          </a:xfrm>
          <a:prstGeom prst="line">
            <a:avLst/>
          </a:prstGeom>
          <a:ln w="9525">
            <a:solidFill>
              <a:srgbClr val="222222"/>
            </a:solidFill>
          </a:ln>
        </p:spPr>
      </p:cxnSp>
      <p:sp>
        <p:nvSpPr>
          <p:cNvPr id="25" name="cpe|exhibit|label|24"/>
          <p:cNvSpPr txBox="1"/>
          <p:nvPr/>
        </p:nvSpPr>
        <p:spPr>
          <a:xfrm>
            <a:off x="5053828" y="4649569"/>
            <a:ext cx="439682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Calibri"/>
              </a:rPr>
              <a:t>+3%</a:t>
            </a:r>
          </a:p>
        </p:txBody>
      </p:sp>
      <p:graphicFrame>
        <p:nvGraphicFramePr>
          <p:cNvPr id="26" name="cpe|exhibit|chart|25"/>
          <p:cNvGraphicFramePr>
            <a:graphicFrameLocks noGrp="1"/>
          </p:cNvGraphicFramePr>
          <p:nvPr/>
        </p:nvGraphicFramePr>
        <p:xfrm>
          <a:off x="640080" y="3229295"/>
          <a:ext cx="7207301" cy="106932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cpe|exhibit|label|26"/>
          <p:cNvSpPr txBox="1"/>
          <p:nvPr/>
        </p:nvSpPr>
        <p:spPr>
          <a:xfrm>
            <a:off x="6125361" y="3802449"/>
            <a:ext cx="17220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F6F6F"/>
                </a:solidFill>
                <a:latin typeface="Calibri"/>
              </a:rPr>
              <a:t>Market growth</a:t>
            </a:r>
          </a:p>
        </p:txBody>
      </p:sp>
      <p:sp>
        <p:nvSpPr>
          <p:cNvPr id="28" name="cpe|exhibit|label|27"/>
          <p:cNvSpPr txBox="1"/>
          <p:nvPr/>
        </p:nvSpPr>
        <p:spPr>
          <a:xfrm>
            <a:off x="6125361" y="4021905"/>
            <a:ext cx="17220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Alvora growth</a:t>
            </a:r>
          </a:p>
        </p:txBody>
      </p:sp>
      <p:sp>
        <p:nvSpPr>
          <p:cNvPr id="29" name="cpe|exhibit|label|28"/>
          <p:cNvSpPr txBox="1"/>
          <p:nvPr/>
        </p:nvSpPr>
        <p:spPr>
          <a:xfrm>
            <a:off x="1015206" y="3201371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6.3%</a:t>
            </a:r>
          </a:p>
        </p:txBody>
      </p:sp>
      <p:sp>
        <p:nvSpPr>
          <p:cNvPr id="30" name="cpe|exhibit|label|29"/>
          <p:cNvSpPr txBox="1"/>
          <p:nvPr/>
        </p:nvSpPr>
        <p:spPr>
          <a:xfrm>
            <a:off x="1015206" y="367659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3.8%</a:t>
            </a:r>
          </a:p>
        </p:txBody>
      </p:sp>
      <p:sp>
        <p:nvSpPr>
          <p:cNvPr id="31" name="cpe|exhibit|label|30"/>
          <p:cNvSpPr txBox="1"/>
          <p:nvPr/>
        </p:nvSpPr>
        <p:spPr>
          <a:xfrm>
            <a:off x="2535711" y="3125335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6.7%</a:t>
            </a:r>
          </a:p>
        </p:txBody>
      </p:sp>
      <p:sp>
        <p:nvSpPr>
          <p:cNvPr id="32" name="cpe|exhibit|label|31"/>
          <p:cNvSpPr txBox="1"/>
          <p:nvPr/>
        </p:nvSpPr>
        <p:spPr>
          <a:xfrm>
            <a:off x="2535711" y="361956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4.1%</a:t>
            </a:r>
          </a:p>
        </p:txBody>
      </p:sp>
      <p:sp>
        <p:nvSpPr>
          <p:cNvPr id="33" name="cpe|exhibit|label|32"/>
          <p:cNvSpPr txBox="1"/>
          <p:nvPr/>
        </p:nvSpPr>
        <p:spPr>
          <a:xfrm>
            <a:off x="4056216" y="363857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4.0%</a:t>
            </a:r>
          </a:p>
        </p:txBody>
      </p:sp>
      <p:sp>
        <p:nvSpPr>
          <p:cNvPr id="34" name="cpe|exhibit|label|33"/>
          <p:cNvSpPr txBox="1"/>
          <p:nvPr/>
        </p:nvSpPr>
        <p:spPr>
          <a:xfrm>
            <a:off x="4056216" y="402334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3.9%</a:t>
            </a:r>
          </a:p>
        </p:txBody>
      </p:sp>
      <p:sp>
        <p:nvSpPr>
          <p:cNvPr id="35" name="cpe|exhibit|label|34"/>
          <p:cNvSpPr txBox="1"/>
          <p:nvPr/>
        </p:nvSpPr>
        <p:spPr>
          <a:xfrm>
            <a:off x="5576721" y="361956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4.1%</a:t>
            </a:r>
          </a:p>
        </p:txBody>
      </p:sp>
      <p:sp>
        <p:nvSpPr>
          <p:cNvPr id="36" name="cpe|exhibit|label|35"/>
          <p:cNvSpPr txBox="1"/>
          <p:nvPr/>
        </p:nvSpPr>
        <p:spPr>
          <a:xfrm>
            <a:off x="5576721" y="419442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3A2F"/>
                </a:solidFill>
                <a:latin typeface="Calibri"/>
              </a:rPr>
              <a:t>3.0%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PORTFOLIO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11287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Alvora holds 14% of supermarkets but only 5% of discount, the segment driving growth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Retailer reports; consumer panel; team estimates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Market share by channel,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% of channel sales; width = channel size (€bn)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640080" y="4669384"/>
            <a:ext cx="2354735" cy="131216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640080" y="3593409"/>
            <a:ext cx="2354735" cy="1075974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640080" y="3278490"/>
            <a:ext cx="2354735" cy="314919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640080" y="2176272"/>
            <a:ext cx="2354735" cy="1102218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label|10"/>
          <p:cNvSpPr txBox="1"/>
          <p:nvPr/>
        </p:nvSpPr>
        <p:spPr>
          <a:xfrm>
            <a:off x="640080" y="1901952"/>
            <a:ext cx="235473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38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640080" y="4855464"/>
            <a:ext cx="2354735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Discount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3031391" y="4433194"/>
            <a:ext cx="3222268" cy="367406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fill|13"/>
          <p:cNvSpPr/>
          <p:nvPr/>
        </p:nvSpPr>
        <p:spPr>
          <a:xfrm>
            <a:off x="3031391" y="4328221"/>
            <a:ext cx="3222268" cy="104973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fill|14"/>
          <p:cNvSpPr/>
          <p:nvPr/>
        </p:nvSpPr>
        <p:spPr>
          <a:xfrm>
            <a:off x="3031391" y="3750869"/>
            <a:ext cx="3222268" cy="577352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fill|15"/>
          <p:cNvSpPr/>
          <p:nvPr/>
        </p:nvSpPr>
        <p:spPr>
          <a:xfrm>
            <a:off x="3031391" y="3278490"/>
            <a:ext cx="3222268" cy="472379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fill|16"/>
          <p:cNvSpPr/>
          <p:nvPr/>
        </p:nvSpPr>
        <p:spPr>
          <a:xfrm>
            <a:off x="3031391" y="2176272"/>
            <a:ext cx="3222268" cy="1102218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3031391" y="1901952"/>
            <a:ext cx="322226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52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3031391" y="4855464"/>
            <a:ext cx="322226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Supermarkets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6290235" y="4564410"/>
            <a:ext cx="1487201" cy="236190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fill|20"/>
          <p:cNvSpPr/>
          <p:nvPr/>
        </p:nvSpPr>
        <p:spPr>
          <a:xfrm>
            <a:off x="6290235" y="4170761"/>
            <a:ext cx="1487201" cy="393649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fill|21"/>
          <p:cNvSpPr/>
          <p:nvPr/>
        </p:nvSpPr>
        <p:spPr>
          <a:xfrm>
            <a:off x="6290235" y="3357220"/>
            <a:ext cx="1487201" cy="813542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fill|22"/>
          <p:cNvSpPr/>
          <p:nvPr/>
        </p:nvSpPr>
        <p:spPr>
          <a:xfrm>
            <a:off x="6290235" y="2176272"/>
            <a:ext cx="1487201" cy="1180948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6290235" y="1901952"/>
            <a:ext cx="148720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24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6290235" y="4855464"/>
            <a:ext cx="1487201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Hypermarkets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7814012" y="4485681"/>
            <a:ext cx="867534" cy="314919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fill|26"/>
          <p:cNvSpPr/>
          <p:nvPr/>
        </p:nvSpPr>
        <p:spPr>
          <a:xfrm>
            <a:off x="7814012" y="4328221"/>
            <a:ext cx="867534" cy="157460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fill|27"/>
          <p:cNvSpPr/>
          <p:nvPr/>
        </p:nvSpPr>
        <p:spPr>
          <a:xfrm>
            <a:off x="7814012" y="4144518"/>
            <a:ext cx="867534" cy="183703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fill|28"/>
          <p:cNvSpPr/>
          <p:nvPr/>
        </p:nvSpPr>
        <p:spPr>
          <a:xfrm>
            <a:off x="7814012" y="2176272"/>
            <a:ext cx="867534" cy="1968246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label|29"/>
          <p:cNvSpPr txBox="1"/>
          <p:nvPr/>
        </p:nvSpPr>
        <p:spPr>
          <a:xfrm>
            <a:off x="7814012" y="1901952"/>
            <a:ext cx="86753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14</a:t>
            </a:r>
          </a:p>
        </p:txBody>
      </p:sp>
      <p:sp>
        <p:nvSpPr>
          <p:cNvPr id="31" name="cpe|exhibit|text|30"/>
          <p:cNvSpPr txBox="1"/>
          <p:nvPr/>
        </p:nvSpPr>
        <p:spPr>
          <a:xfrm>
            <a:off x="7814012" y="4855464"/>
            <a:ext cx="867534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Convenience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8718121" y="4695627"/>
            <a:ext cx="867534" cy="104973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fill|32"/>
          <p:cNvSpPr/>
          <p:nvPr/>
        </p:nvSpPr>
        <p:spPr>
          <a:xfrm>
            <a:off x="8718121" y="4459437"/>
            <a:ext cx="867534" cy="236190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fill|33"/>
          <p:cNvSpPr/>
          <p:nvPr/>
        </p:nvSpPr>
        <p:spPr>
          <a:xfrm>
            <a:off x="8718121" y="4144518"/>
            <a:ext cx="867534" cy="314919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fill|34"/>
          <p:cNvSpPr/>
          <p:nvPr/>
        </p:nvSpPr>
        <p:spPr>
          <a:xfrm>
            <a:off x="8718121" y="2176272"/>
            <a:ext cx="867534" cy="1968246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label|35"/>
          <p:cNvSpPr txBox="1"/>
          <p:nvPr/>
        </p:nvSpPr>
        <p:spPr>
          <a:xfrm>
            <a:off x="8718121" y="1901952"/>
            <a:ext cx="86753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14</a:t>
            </a:r>
          </a:p>
        </p:txBody>
      </p:sp>
      <p:sp>
        <p:nvSpPr>
          <p:cNvPr id="37" name="cpe|exhibit|text|36"/>
          <p:cNvSpPr txBox="1"/>
          <p:nvPr/>
        </p:nvSpPr>
        <p:spPr>
          <a:xfrm>
            <a:off x="8718121" y="4855464"/>
            <a:ext cx="867534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Online</a:t>
            </a:r>
          </a:p>
        </p:txBody>
      </p:sp>
      <p:sp>
        <p:nvSpPr>
          <p:cNvPr id="38" name="cpe|exhibit|label|37"/>
          <p:cNvSpPr txBox="1"/>
          <p:nvPr/>
        </p:nvSpPr>
        <p:spPr>
          <a:xfrm>
            <a:off x="640080" y="4422496"/>
            <a:ext cx="2354735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5%</a:t>
            </a:r>
          </a:p>
        </p:txBody>
      </p:sp>
      <p:sp>
        <p:nvSpPr>
          <p:cNvPr id="39" name="cpe|exhibit|label|38"/>
          <p:cNvSpPr txBox="1"/>
          <p:nvPr/>
        </p:nvSpPr>
        <p:spPr>
          <a:xfrm>
            <a:off x="3031391" y="4433194"/>
            <a:ext cx="3222268" cy="3674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14%</a:t>
            </a:r>
          </a:p>
        </p:txBody>
      </p:sp>
      <p:sp>
        <p:nvSpPr>
          <p:cNvPr id="40" name="cpe|exhibit|label|39"/>
          <p:cNvSpPr txBox="1"/>
          <p:nvPr/>
        </p:nvSpPr>
        <p:spPr>
          <a:xfrm>
            <a:off x="6290235" y="4317522"/>
            <a:ext cx="1487201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9%</a:t>
            </a:r>
          </a:p>
        </p:txBody>
      </p:sp>
      <p:sp>
        <p:nvSpPr>
          <p:cNvPr id="41" name="cpe|exhibit|label|40"/>
          <p:cNvSpPr txBox="1"/>
          <p:nvPr/>
        </p:nvSpPr>
        <p:spPr>
          <a:xfrm>
            <a:off x="7814012" y="4485681"/>
            <a:ext cx="867534" cy="3149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12%</a:t>
            </a:r>
          </a:p>
        </p:txBody>
      </p:sp>
      <p:sp>
        <p:nvSpPr>
          <p:cNvPr id="42" name="cpe|exhibit|label|41"/>
          <p:cNvSpPr txBox="1"/>
          <p:nvPr/>
        </p:nvSpPr>
        <p:spPr>
          <a:xfrm>
            <a:off x="8718121" y="4448739"/>
            <a:ext cx="867534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4%</a:t>
            </a:r>
          </a:p>
        </p:txBody>
      </p:sp>
      <p:sp>
        <p:nvSpPr>
          <p:cNvPr id="43" name="cpe|exhibit|marker|42"/>
          <p:cNvSpPr/>
          <p:nvPr/>
        </p:nvSpPr>
        <p:spPr>
          <a:xfrm>
            <a:off x="9768535" y="2240280"/>
            <a:ext cx="128016" cy="128016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9969703" y="21762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Alvora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9768535" y="2532888"/>
            <a:ext cx="128016" cy="128016"/>
          </a:xfrm>
          <a:prstGeom prst="rect">
            <a:avLst/>
          </a:prstGeom>
          <a:solidFill>
            <a:srgbClr val="CECEC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label|45"/>
          <p:cNvSpPr txBox="1"/>
          <p:nvPr/>
        </p:nvSpPr>
        <p:spPr>
          <a:xfrm>
            <a:off x="9969703" y="24688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Other players</a:t>
            </a:r>
          </a:p>
        </p:txBody>
      </p:sp>
      <p:cxnSp>
        <p:nvCxnSpPr>
          <p:cNvPr id="47" name="cpe|commentary|line|46"/>
          <p:cNvCxnSpPr/>
          <p:nvPr/>
        </p:nvCxnSpPr>
        <p:spPr>
          <a:xfrm>
            <a:off x="640080" y="5568696"/>
            <a:ext cx="10911535" cy="0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48" name="cpe|commentary|text|47"/>
          <p:cNvSpPr txBox="1"/>
          <p:nvPr/>
        </p:nvSpPr>
        <p:spPr>
          <a:xfrm>
            <a:off x="640080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54% of Alvora sales come from </a:t>
            </a:r>
            <a:r>
              <a:rPr sz="1200" b="1">
                <a:solidFill>
                  <a:srgbClr val="222222"/>
                </a:solidFill>
                <a:latin typeface="Calibri"/>
              </a:rPr>
              <a:t>supermarkets</a:t>
            </a:r>
            <a:r>
              <a:rPr sz="1200" b="0">
                <a:solidFill>
                  <a:srgbClr val="222222"/>
                </a:solidFill>
                <a:latin typeface="Calibri"/>
              </a:rPr>
              <a:t>, a channel growing 2% a year</a:t>
            </a:r>
          </a:p>
        </p:txBody>
      </p:sp>
      <p:sp>
        <p:nvSpPr>
          <p:cNvPr id="49" name="cpe|commentary|text|48"/>
          <p:cNvSpPr txBox="1"/>
          <p:nvPr/>
        </p:nvSpPr>
        <p:spPr>
          <a:xfrm>
            <a:off x="4344314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In </a:t>
            </a:r>
            <a:r>
              <a:rPr sz="1200" b="1">
                <a:solidFill>
                  <a:srgbClr val="222222"/>
                </a:solidFill>
                <a:latin typeface="Calibri"/>
              </a:rPr>
              <a:t>discount</a:t>
            </a:r>
            <a:r>
              <a:rPr sz="1200" b="0">
                <a:solidFill>
                  <a:srgbClr val="222222"/>
                </a:solidFill>
                <a:latin typeface="Calibri"/>
              </a:rPr>
              <a:t>, Competitor A holds 41% with a lower cost-to-serve</a:t>
            </a:r>
          </a:p>
        </p:txBody>
      </p:sp>
      <p:sp>
        <p:nvSpPr>
          <p:cNvPr id="50" name="cpe|commentary|text|49"/>
          <p:cNvSpPr txBox="1"/>
          <p:nvPr/>
        </p:nvSpPr>
        <p:spPr>
          <a:xfrm>
            <a:off x="8048549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Online</a:t>
            </a:r>
            <a:r>
              <a:rPr sz="1200" b="0">
                <a:solidFill>
                  <a:srgbClr val="222222"/>
                </a:solidFill>
                <a:latin typeface="Calibri"/>
              </a:rPr>
              <a:t> share of 4% trails B and C, whose hub networks are in place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PORTFOLIO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11287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Alvora holds 14% of supermarkets but only 5% of discount, the segment driving growth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Retailer reports; consumer panel; team estimates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Market share by channel,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% of channel sales; width = channel size (€bn)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640080" y="5459882"/>
            <a:ext cx="1505689" cy="172822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640080" y="4042745"/>
            <a:ext cx="1505689" cy="1417137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640080" y="3627973"/>
            <a:ext cx="1505689" cy="414772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640080" y="2176272"/>
            <a:ext cx="1505689" cy="1451701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label|10"/>
          <p:cNvSpPr txBox="1"/>
          <p:nvPr/>
        </p:nvSpPr>
        <p:spPr>
          <a:xfrm>
            <a:off x="640080" y="1901952"/>
            <a:ext cx="150568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38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640080" y="5687568"/>
            <a:ext cx="1505689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Discount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2182345" y="5148804"/>
            <a:ext cx="2060417" cy="483900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fill|13"/>
          <p:cNvSpPr/>
          <p:nvPr/>
        </p:nvSpPr>
        <p:spPr>
          <a:xfrm>
            <a:off x="2182345" y="5010546"/>
            <a:ext cx="2060417" cy="138257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fill|14"/>
          <p:cNvSpPr/>
          <p:nvPr/>
        </p:nvSpPr>
        <p:spPr>
          <a:xfrm>
            <a:off x="2182345" y="4250131"/>
            <a:ext cx="2060417" cy="760415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fill|15"/>
          <p:cNvSpPr/>
          <p:nvPr/>
        </p:nvSpPr>
        <p:spPr>
          <a:xfrm>
            <a:off x="2182345" y="3627973"/>
            <a:ext cx="2060417" cy="622158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fill|16"/>
          <p:cNvSpPr/>
          <p:nvPr/>
        </p:nvSpPr>
        <p:spPr>
          <a:xfrm>
            <a:off x="2182345" y="2176272"/>
            <a:ext cx="2060417" cy="1451701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2182345" y="1901952"/>
            <a:ext cx="20604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52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2182345" y="5687568"/>
            <a:ext cx="2060417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Supermarkets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4279338" y="5321625"/>
            <a:ext cx="950962" cy="311079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fill|20"/>
          <p:cNvSpPr/>
          <p:nvPr/>
        </p:nvSpPr>
        <p:spPr>
          <a:xfrm>
            <a:off x="4279338" y="4803160"/>
            <a:ext cx="950962" cy="518465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fill|21"/>
          <p:cNvSpPr/>
          <p:nvPr/>
        </p:nvSpPr>
        <p:spPr>
          <a:xfrm>
            <a:off x="4279338" y="3731666"/>
            <a:ext cx="950962" cy="1071494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fill|22"/>
          <p:cNvSpPr/>
          <p:nvPr/>
        </p:nvSpPr>
        <p:spPr>
          <a:xfrm>
            <a:off x="4279338" y="2176272"/>
            <a:ext cx="950962" cy="1555394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4279338" y="1901952"/>
            <a:ext cx="95096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24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4279338" y="5687568"/>
            <a:ext cx="950962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Hypermarkets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5266875" y="5217932"/>
            <a:ext cx="554728" cy="414772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fill|26"/>
          <p:cNvSpPr/>
          <p:nvPr/>
        </p:nvSpPr>
        <p:spPr>
          <a:xfrm>
            <a:off x="5266875" y="5010546"/>
            <a:ext cx="554728" cy="207386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fill|27"/>
          <p:cNvSpPr/>
          <p:nvPr/>
        </p:nvSpPr>
        <p:spPr>
          <a:xfrm>
            <a:off x="5266875" y="4768596"/>
            <a:ext cx="554728" cy="241950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fill|28"/>
          <p:cNvSpPr/>
          <p:nvPr/>
        </p:nvSpPr>
        <p:spPr>
          <a:xfrm>
            <a:off x="5266875" y="2176272"/>
            <a:ext cx="554728" cy="2592324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label|29"/>
          <p:cNvSpPr txBox="1"/>
          <p:nvPr/>
        </p:nvSpPr>
        <p:spPr>
          <a:xfrm>
            <a:off x="5266875" y="1901952"/>
            <a:ext cx="5547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14</a:t>
            </a:r>
          </a:p>
        </p:txBody>
      </p:sp>
      <p:sp>
        <p:nvSpPr>
          <p:cNvPr id="31" name="cpe|exhibit|text|30"/>
          <p:cNvSpPr txBox="1"/>
          <p:nvPr/>
        </p:nvSpPr>
        <p:spPr>
          <a:xfrm>
            <a:off x="5266875" y="5687568"/>
            <a:ext cx="55472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Convenience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5858179" y="5494447"/>
            <a:ext cx="554728" cy="138257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fill|32"/>
          <p:cNvSpPr/>
          <p:nvPr/>
        </p:nvSpPr>
        <p:spPr>
          <a:xfrm>
            <a:off x="5858179" y="5183368"/>
            <a:ext cx="554728" cy="311079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fill|33"/>
          <p:cNvSpPr/>
          <p:nvPr/>
        </p:nvSpPr>
        <p:spPr>
          <a:xfrm>
            <a:off x="5858179" y="4768596"/>
            <a:ext cx="554728" cy="414772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fill|34"/>
          <p:cNvSpPr/>
          <p:nvPr/>
        </p:nvSpPr>
        <p:spPr>
          <a:xfrm>
            <a:off x="5858179" y="2176272"/>
            <a:ext cx="554728" cy="2592324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label|35"/>
          <p:cNvSpPr txBox="1"/>
          <p:nvPr/>
        </p:nvSpPr>
        <p:spPr>
          <a:xfrm>
            <a:off x="5858179" y="1901952"/>
            <a:ext cx="5547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14</a:t>
            </a:r>
          </a:p>
        </p:txBody>
      </p:sp>
      <p:sp>
        <p:nvSpPr>
          <p:cNvPr id="37" name="cpe|exhibit|text|36"/>
          <p:cNvSpPr txBox="1"/>
          <p:nvPr/>
        </p:nvSpPr>
        <p:spPr>
          <a:xfrm>
            <a:off x="5858179" y="5687568"/>
            <a:ext cx="55472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Online</a:t>
            </a:r>
          </a:p>
        </p:txBody>
      </p:sp>
      <p:sp>
        <p:nvSpPr>
          <p:cNvPr id="38" name="cpe|exhibit|label|37"/>
          <p:cNvSpPr txBox="1"/>
          <p:nvPr/>
        </p:nvSpPr>
        <p:spPr>
          <a:xfrm>
            <a:off x="640080" y="5212994"/>
            <a:ext cx="1505689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5%</a:t>
            </a:r>
          </a:p>
        </p:txBody>
      </p:sp>
      <p:sp>
        <p:nvSpPr>
          <p:cNvPr id="39" name="cpe|exhibit|label|38"/>
          <p:cNvSpPr txBox="1"/>
          <p:nvPr/>
        </p:nvSpPr>
        <p:spPr>
          <a:xfrm>
            <a:off x="2182345" y="5148804"/>
            <a:ext cx="2060417" cy="483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14%</a:t>
            </a:r>
          </a:p>
        </p:txBody>
      </p:sp>
      <p:sp>
        <p:nvSpPr>
          <p:cNvPr id="40" name="cpe|exhibit|label|39"/>
          <p:cNvSpPr txBox="1"/>
          <p:nvPr/>
        </p:nvSpPr>
        <p:spPr>
          <a:xfrm>
            <a:off x="4279338" y="5321625"/>
            <a:ext cx="950962" cy="3110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9%</a:t>
            </a:r>
          </a:p>
        </p:txBody>
      </p:sp>
      <p:sp>
        <p:nvSpPr>
          <p:cNvPr id="41" name="cpe|exhibit|label|40"/>
          <p:cNvSpPr txBox="1"/>
          <p:nvPr/>
        </p:nvSpPr>
        <p:spPr>
          <a:xfrm>
            <a:off x="5266875" y="5217932"/>
            <a:ext cx="554728" cy="4147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12%</a:t>
            </a:r>
          </a:p>
        </p:txBody>
      </p:sp>
      <p:sp>
        <p:nvSpPr>
          <p:cNvPr id="42" name="cpe|exhibit|label|41"/>
          <p:cNvSpPr txBox="1"/>
          <p:nvPr/>
        </p:nvSpPr>
        <p:spPr>
          <a:xfrm>
            <a:off x="5858179" y="5247559"/>
            <a:ext cx="554728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4%</a:t>
            </a:r>
          </a:p>
        </p:txBody>
      </p:sp>
      <p:sp>
        <p:nvSpPr>
          <p:cNvPr id="43" name="cpe|exhibit|marker|42"/>
          <p:cNvSpPr/>
          <p:nvPr/>
        </p:nvSpPr>
        <p:spPr>
          <a:xfrm>
            <a:off x="6595787" y="2240280"/>
            <a:ext cx="128016" cy="128016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6796955" y="2176272"/>
            <a:ext cx="102299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Alvora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6595787" y="2532888"/>
            <a:ext cx="128016" cy="128016"/>
          </a:xfrm>
          <a:prstGeom prst="rect">
            <a:avLst/>
          </a:prstGeom>
          <a:solidFill>
            <a:srgbClr val="CECEC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label|45"/>
          <p:cNvSpPr txBox="1"/>
          <p:nvPr/>
        </p:nvSpPr>
        <p:spPr>
          <a:xfrm>
            <a:off x="6796955" y="2468880"/>
            <a:ext cx="102299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Other players</a:t>
            </a:r>
          </a:p>
        </p:txBody>
      </p:sp>
      <p:cxnSp>
        <p:nvCxnSpPr>
          <p:cNvPr id="47" name="cpe|commentary|line|46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48" name="cpe|commentary|text|47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54% of Alvora sales come from </a:t>
            </a:r>
            <a:r>
              <a:rPr sz="1200" b="1">
                <a:solidFill>
                  <a:srgbClr val="222222"/>
                </a:solidFill>
                <a:latin typeface="Calibri"/>
              </a:rPr>
              <a:t>supermarkets</a:t>
            </a:r>
            <a:r>
              <a:rPr sz="1200" b="0">
                <a:solidFill>
                  <a:srgbClr val="222222"/>
                </a:solidFill>
                <a:latin typeface="Calibri"/>
              </a:rPr>
              <a:t>, a channel growing 2% a year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In </a:t>
            </a:r>
            <a:r>
              <a:rPr sz="1200" b="1">
                <a:solidFill>
                  <a:srgbClr val="222222"/>
                </a:solidFill>
                <a:latin typeface="Calibri"/>
              </a:rPr>
              <a:t>discount</a:t>
            </a:r>
            <a:r>
              <a:rPr sz="1200" b="0">
                <a:solidFill>
                  <a:srgbClr val="222222"/>
                </a:solidFill>
                <a:latin typeface="Calibri"/>
              </a:rPr>
              <a:t>, Competitor A holds 41% with a lower cost-to-serve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Online</a:t>
            </a:r>
            <a:r>
              <a:rPr sz="1200" b="0">
                <a:solidFill>
                  <a:srgbClr val="222222"/>
                </a:solidFill>
                <a:latin typeface="Calibri"/>
              </a:rPr>
              <a:t> share of 4% trails B and C, whose hub networks are in place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PORTFOLIO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11287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Alvora holds 14% of supermarkets but only 5% of discount, the segment driving growth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Retailer reports; consumer panel; team estimates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Market share by channel,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% of channel sales; width = channel size (€bn)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640080" y="5459882"/>
            <a:ext cx="1505689" cy="172822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640080" y="4042745"/>
            <a:ext cx="1505689" cy="1417137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640080" y="3627973"/>
            <a:ext cx="1505689" cy="414772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640080" y="2176272"/>
            <a:ext cx="1505689" cy="1451701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label|10"/>
          <p:cNvSpPr txBox="1"/>
          <p:nvPr/>
        </p:nvSpPr>
        <p:spPr>
          <a:xfrm>
            <a:off x="640080" y="1901952"/>
            <a:ext cx="150568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38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640080" y="5687568"/>
            <a:ext cx="1505689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Discount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2182345" y="5148804"/>
            <a:ext cx="2060417" cy="483900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fill|13"/>
          <p:cNvSpPr/>
          <p:nvPr/>
        </p:nvSpPr>
        <p:spPr>
          <a:xfrm>
            <a:off x="2182345" y="5010546"/>
            <a:ext cx="2060417" cy="138257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fill|14"/>
          <p:cNvSpPr/>
          <p:nvPr/>
        </p:nvSpPr>
        <p:spPr>
          <a:xfrm>
            <a:off x="2182345" y="4250131"/>
            <a:ext cx="2060417" cy="760415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fill|15"/>
          <p:cNvSpPr/>
          <p:nvPr/>
        </p:nvSpPr>
        <p:spPr>
          <a:xfrm>
            <a:off x="2182345" y="3627973"/>
            <a:ext cx="2060417" cy="622158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fill|16"/>
          <p:cNvSpPr/>
          <p:nvPr/>
        </p:nvSpPr>
        <p:spPr>
          <a:xfrm>
            <a:off x="2182345" y="2176272"/>
            <a:ext cx="2060417" cy="1451701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2182345" y="1901952"/>
            <a:ext cx="20604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52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2182345" y="5687568"/>
            <a:ext cx="2060417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Supermarkets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4279338" y="5321625"/>
            <a:ext cx="950962" cy="311079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fill|20"/>
          <p:cNvSpPr/>
          <p:nvPr/>
        </p:nvSpPr>
        <p:spPr>
          <a:xfrm>
            <a:off x="4279338" y="4803160"/>
            <a:ext cx="950962" cy="518465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fill|21"/>
          <p:cNvSpPr/>
          <p:nvPr/>
        </p:nvSpPr>
        <p:spPr>
          <a:xfrm>
            <a:off x="4279338" y="3731666"/>
            <a:ext cx="950962" cy="1071494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fill|22"/>
          <p:cNvSpPr/>
          <p:nvPr/>
        </p:nvSpPr>
        <p:spPr>
          <a:xfrm>
            <a:off x="4279338" y="2176272"/>
            <a:ext cx="950962" cy="1555394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4279338" y="1901952"/>
            <a:ext cx="95096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24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4279338" y="5687568"/>
            <a:ext cx="950962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Hypermarkets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5266875" y="5217932"/>
            <a:ext cx="554728" cy="414772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fill|26"/>
          <p:cNvSpPr/>
          <p:nvPr/>
        </p:nvSpPr>
        <p:spPr>
          <a:xfrm>
            <a:off x="5266875" y="5010546"/>
            <a:ext cx="554728" cy="207386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fill|27"/>
          <p:cNvSpPr/>
          <p:nvPr/>
        </p:nvSpPr>
        <p:spPr>
          <a:xfrm>
            <a:off x="5266875" y="4768596"/>
            <a:ext cx="554728" cy="241950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fill|28"/>
          <p:cNvSpPr/>
          <p:nvPr/>
        </p:nvSpPr>
        <p:spPr>
          <a:xfrm>
            <a:off x="5266875" y="2176272"/>
            <a:ext cx="554728" cy="2592324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label|29"/>
          <p:cNvSpPr txBox="1"/>
          <p:nvPr/>
        </p:nvSpPr>
        <p:spPr>
          <a:xfrm>
            <a:off x="5266875" y="1901952"/>
            <a:ext cx="5547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14</a:t>
            </a:r>
          </a:p>
        </p:txBody>
      </p:sp>
      <p:sp>
        <p:nvSpPr>
          <p:cNvPr id="31" name="cpe|exhibit|text|30"/>
          <p:cNvSpPr txBox="1"/>
          <p:nvPr/>
        </p:nvSpPr>
        <p:spPr>
          <a:xfrm>
            <a:off x="5266875" y="5687568"/>
            <a:ext cx="55472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Convenience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5858179" y="5494447"/>
            <a:ext cx="554728" cy="138257"/>
          </a:xfrm>
          <a:prstGeom prst="rect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fill|32"/>
          <p:cNvSpPr/>
          <p:nvPr/>
        </p:nvSpPr>
        <p:spPr>
          <a:xfrm>
            <a:off x="5858179" y="5183368"/>
            <a:ext cx="554728" cy="311079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fill|33"/>
          <p:cNvSpPr/>
          <p:nvPr/>
        </p:nvSpPr>
        <p:spPr>
          <a:xfrm>
            <a:off x="5858179" y="4768596"/>
            <a:ext cx="554728" cy="414772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fill|34"/>
          <p:cNvSpPr/>
          <p:nvPr/>
        </p:nvSpPr>
        <p:spPr>
          <a:xfrm>
            <a:off x="5858179" y="2176272"/>
            <a:ext cx="554728" cy="2592324"/>
          </a:xfrm>
          <a:prstGeom prst="rect">
            <a:avLst/>
          </a:prstGeom>
          <a:solidFill>
            <a:srgbClr val="CECECE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label|35"/>
          <p:cNvSpPr txBox="1"/>
          <p:nvPr/>
        </p:nvSpPr>
        <p:spPr>
          <a:xfrm>
            <a:off x="5858179" y="1901952"/>
            <a:ext cx="5547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14</a:t>
            </a:r>
          </a:p>
        </p:txBody>
      </p:sp>
      <p:sp>
        <p:nvSpPr>
          <p:cNvPr id="37" name="cpe|exhibit|text|36"/>
          <p:cNvSpPr txBox="1"/>
          <p:nvPr/>
        </p:nvSpPr>
        <p:spPr>
          <a:xfrm>
            <a:off x="5858179" y="5687568"/>
            <a:ext cx="55472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Online</a:t>
            </a:r>
          </a:p>
        </p:txBody>
      </p:sp>
      <p:sp>
        <p:nvSpPr>
          <p:cNvPr id="38" name="cpe|exhibit|label|37"/>
          <p:cNvSpPr txBox="1"/>
          <p:nvPr/>
        </p:nvSpPr>
        <p:spPr>
          <a:xfrm>
            <a:off x="640080" y="5212994"/>
            <a:ext cx="1505689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5%</a:t>
            </a:r>
          </a:p>
        </p:txBody>
      </p:sp>
      <p:sp>
        <p:nvSpPr>
          <p:cNvPr id="39" name="cpe|exhibit|label|38"/>
          <p:cNvSpPr txBox="1"/>
          <p:nvPr/>
        </p:nvSpPr>
        <p:spPr>
          <a:xfrm>
            <a:off x="2182345" y="5148804"/>
            <a:ext cx="2060417" cy="483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14%</a:t>
            </a:r>
          </a:p>
        </p:txBody>
      </p:sp>
      <p:sp>
        <p:nvSpPr>
          <p:cNvPr id="40" name="cpe|exhibit|label|39"/>
          <p:cNvSpPr txBox="1"/>
          <p:nvPr/>
        </p:nvSpPr>
        <p:spPr>
          <a:xfrm>
            <a:off x="4279338" y="5321625"/>
            <a:ext cx="950962" cy="3110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9%</a:t>
            </a:r>
          </a:p>
        </p:txBody>
      </p:sp>
      <p:sp>
        <p:nvSpPr>
          <p:cNvPr id="41" name="cpe|exhibit|label|40"/>
          <p:cNvSpPr txBox="1"/>
          <p:nvPr/>
        </p:nvSpPr>
        <p:spPr>
          <a:xfrm>
            <a:off x="5266875" y="5217932"/>
            <a:ext cx="554728" cy="4147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12%</a:t>
            </a:r>
          </a:p>
        </p:txBody>
      </p:sp>
      <p:sp>
        <p:nvSpPr>
          <p:cNvPr id="42" name="cpe|exhibit|label|41"/>
          <p:cNvSpPr txBox="1"/>
          <p:nvPr/>
        </p:nvSpPr>
        <p:spPr>
          <a:xfrm>
            <a:off x="5858179" y="5247559"/>
            <a:ext cx="554728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4%</a:t>
            </a:r>
          </a:p>
        </p:txBody>
      </p:sp>
      <p:sp>
        <p:nvSpPr>
          <p:cNvPr id="43" name="cpe|exhibit|marker|42"/>
          <p:cNvSpPr/>
          <p:nvPr/>
        </p:nvSpPr>
        <p:spPr>
          <a:xfrm>
            <a:off x="6595787" y="2240280"/>
            <a:ext cx="128016" cy="128016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6796955" y="2176272"/>
            <a:ext cx="102299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Alvora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6595787" y="2532888"/>
            <a:ext cx="128016" cy="128016"/>
          </a:xfrm>
          <a:prstGeom prst="rect">
            <a:avLst/>
          </a:prstGeom>
          <a:solidFill>
            <a:srgbClr val="CECEC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label|45"/>
          <p:cNvSpPr txBox="1"/>
          <p:nvPr/>
        </p:nvSpPr>
        <p:spPr>
          <a:xfrm>
            <a:off x="6796955" y="2468880"/>
            <a:ext cx="102299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Other players</a:t>
            </a:r>
          </a:p>
        </p:txBody>
      </p:sp>
      <p:cxnSp>
        <p:nvCxnSpPr>
          <p:cNvPr id="47" name="cpe|commentary|line|46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48" name="cpe|commentary|text|47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54% of Alvora sales come from </a:t>
            </a:r>
            <a:r>
              <a:rPr sz="1200" b="1">
                <a:solidFill>
                  <a:srgbClr val="222222"/>
                </a:solidFill>
                <a:latin typeface="Calibri"/>
              </a:rPr>
              <a:t>supermarkets</a:t>
            </a:r>
            <a:r>
              <a:rPr sz="1200" b="0">
                <a:solidFill>
                  <a:srgbClr val="222222"/>
                </a:solidFill>
                <a:latin typeface="Calibri"/>
              </a:rPr>
              <a:t>, a channel growing 2% a year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In </a:t>
            </a:r>
            <a:r>
              <a:rPr sz="1200" b="1">
                <a:solidFill>
                  <a:srgbClr val="222222"/>
                </a:solidFill>
                <a:latin typeface="Calibri"/>
              </a:rPr>
              <a:t>discount</a:t>
            </a:r>
            <a:r>
              <a:rPr sz="1200" b="0">
                <a:solidFill>
                  <a:srgbClr val="222222"/>
                </a:solidFill>
                <a:latin typeface="Calibri"/>
              </a:rPr>
              <a:t>, Competitor A holds 41% with a lower cost-to-serve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Online</a:t>
            </a:r>
            <a:r>
              <a:rPr sz="1200" b="0">
                <a:solidFill>
                  <a:srgbClr val="222222"/>
                </a:solidFill>
                <a:latin typeface="Calibri"/>
              </a:rPr>
              <a:t> share of 4% trails B and C, whose hub networks are in place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055631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6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EBITDA bridge 2024 to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640080" y="1901952"/>
          <a:ext cx="720730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40080" y="3580376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924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440891" y="299846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+52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241702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+31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3042514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−78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3843325" y="352442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−41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4644136" y="398323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−22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5444947" y="422943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−14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245758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7046570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857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1316627" y="3845552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2117439" y="3263639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2918250" y="2916729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3719061" y="378959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4519872" y="4248415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5320683" y="449460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121495" y="4651278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922306" y="4595325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sp>
        <p:nvSpPr>
          <p:cNvPr id="25" name="cpe|exhibit|marker|24"/>
          <p:cNvSpPr/>
          <p:nvPr/>
        </p:nvSpPr>
        <p:spPr>
          <a:xfrm>
            <a:off x="709480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7115969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7" name="cpe|commentary|line|26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28" name="cpe|commentary|text|27"/>
          <p:cNvSpPr txBox="1"/>
          <p:nvPr/>
        </p:nvSpPr>
        <p:spPr>
          <a:xfrm>
            <a:off x="8277149" y="1481328"/>
            <a:ext cx="327446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3A2F"/>
                </a:solidFill>
                <a:latin typeface="Calibri"/>
              </a:rPr>
              <a:t>Two categories explain the decline</a:t>
            </a:r>
          </a:p>
        </p:txBody>
      </p:sp>
      <p:sp>
        <p:nvSpPr>
          <p:cNvPr id="29" name="cpe|commentary|text|28"/>
          <p:cNvSpPr txBox="1"/>
          <p:nvPr/>
        </p:nvSpPr>
        <p:spPr>
          <a:xfrm>
            <a:off x="8277149" y="1796796"/>
            <a:ext cx="327446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Grocery (−€78M):</a:t>
            </a:r>
            <a:r>
              <a:rPr sz="1200" b="0">
                <a:solidFill>
                  <a:srgbClr val="222222"/>
                </a:solidFill>
                <a:latin typeface="Calibri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Convenience (−€41M):</a:t>
            </a:r>
            <a:r>
              <a:rPr sz="1200" b="0">
                <a:solidFill>
                  <a:srgbClr val="222222"/>
                </a:solidFill>
                <a:latin typeface="Calibri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Volume and price added €83M, not enough to offset cost inflation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055631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6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EBITDA bridge 2024 to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640080" y="1901952"/>
          <a:ext cx="720730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40080" y="3580376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924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440891" y="299846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+52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241702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+31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3042514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−78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3843325" y="352442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−41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4644136" y="398323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−22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5444947" y="422943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−14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245758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7046570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857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1316627" y="3845552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2117439" y="3263639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2918250" y="2916729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3719061" y="378959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4519872" y="4248415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5320683" y="449460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121495" y="4651278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922306" y="4595325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sp>
        <p:nvSpPr>
          <p:cNvPr id="25" name="cpe|exhibit|marker|24"/>
          <p:cNvSpPr/>
          <p:nvPr/>
        </p:nvSpPr>
        <p:spPr>
          <a:xfrm>
            <a:off x="709480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7115969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7" name="cpe|commentary|line|26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28" name="cpe|commentary|text|27"/>
          <p:cNvSpPr txBox="1"/>
          <p:nvPr/>
        </p:nvSpPr>
        <p:spPr>
          <a:xfrm>
            <a:off x="8277149" y="1481328"/>
            <a:ext cx="327446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3A2F"/>
                </a:solidFill>
                <a:latin typeface="Calibri"/>
              </a:rPr>
              <a:t>Two categories explain the decline</a:t>
            </a:r>
          </a:p>
        </p:txBody>
      </p:sp>
      <p:sp>
        <p:nvSpPr>
          <p:cNvPr id="29" name="cpe|commentary|text|28"/>
          <p:cNvSpPr txBox="1"/>
          <p:nvPr/>
        </p:nvSpPr>
        <p:spPr>
          <a:xfrm>
            <a:off x="8277149" y="1796796"/>
            <a:ext cx="327446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Grocery (−€78M):</a:t>
            </a:r>
            <a:r>
              <a:rPr sz="1400" b="0">
                <a:solidFill>
                  <a:srgbClr val="222222"/>
                </a:solidFill>
                <a:latin typeface="Calibri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Convenience (−€41M):</a:t>
            </a:r>
            <a:r>
              <a:rPr sz="1400" b="0">
                <a:solidFill>
                  <a:srgbClr val="222222"/>
                </a:solidFill>
                <a:latin typeface="Calibri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222222"/>
                </a:solidFill>
                <a:latin typeface="Calibri"/>
              </a:rPr>
              <a:t>Volume and price added €83M, not enough to offset cost inflation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055631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6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EBITDA bridge 2024 to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640080" y="1901952"/>
          <a:ext cx="720730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40080" y="3580376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924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440891" y="299846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+52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241702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+31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3042514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−78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3843325" y="352442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−41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4644136" y="398323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−22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5444947" y="422943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−14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245758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7046570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857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1316627" y="3845552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2117439" y="3263639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2918250" y="2916729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3719061" y="378959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4519872" y="4248415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5320683" y="449460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121495" y="4651278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922306" y="4595325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sp>
        <p:nvSpPr>
          <p:cNvPr id="25" name="cpe|exhibit|marker|24"/>
          <p:cNvSpPr/>
          <p:nvPr/>
        </p:nvSpPr>
        <p:spPr>
          <a:xfrm>
            <a:off x="709480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7115969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7" name="cpe|commentary|line|26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28" name="cpe|commentary|text|27"/>
          <p:cNvSpPr txBox="1"/>
          <p:nvPr/>
        </p:nvSpPr>
        <p:spPr>
          <a:xfrm>
            <a:off x="8277149" y="1481328"/>
            <a:ext cx="327446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3A2F"/>
                </a:solidFill>
                <a:latin typeface="Calibri"/>
              </a:rPr>
              <a:t>Two categories explain the decline</a:t>
            </a:r>
          </a:p>
        </p:txBody>
      </p:sp>
      <p:sp>
        <p:nvSpPr>
          <p:cNvPr id="29" name="cpe|commentary|text|28"/>
          <p:cNvSpPr txBox="1"/>
          <p:nvPr/>
        </p:nvSpPr>
        <p:spPr>
          <a:xfrm>
            <a:off x="8277149" y="1796796"/>
            <a:ext cx="327446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Grocery (−€78M):</a:t>
            </a:r>
            <a:r>
              <a:rPr sz="1200" b="0">
                <a:solidFill>
                  <a:srgbClr val="222222"/>
                </a:solidFill>
                <a:latin typeface="Calibri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Convenience (−€41M):</a:t>
            </a:r>
            <a:r>
              <a:rPr sz="1200" b="0">
                <a:solidFill>
                  <a:srgbClr val="222222"/>
                </a:solidFill>
                <a:latin typeface="Calibri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Volume and price added €83M, not enough to offset cost inflation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055631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6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EBITDA bridge 2024 to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640080" y="1901952"/>
          <a:ext cx="720730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40080" y="3580376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924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440891" y="299846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+52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241702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+31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3042514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−78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3843325" y="352442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−41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4644136" y="398323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−22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5444947" y="422943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−14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245758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7046570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857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1316627" y="3845552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2117439" y="3263639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2918250" y="2916729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3719061" y="378959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4519872" y="4248415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5320683" y="449460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121495" y="4651278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922306" y="4595325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sp>
        <p:nvSpPr>
          <p:cNvPr id="25" name="cpe|exhibit|marker|24"/>
          <p:cNvSpPr/>
          <p:nvPr/>
        </p:nvSpPr>
        <p:spPr>
          <a:xfrm>
            <a:off x="709480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7115969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7" name="cpe|commentary|line|26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28" name="cpe|commentary|text|27"/>
          <p:cNvSpPr txBox="1"/>
          <p:nvPr/>
        </p:nvSpPr>
        <p:spPr>
          <a:xfrm>
            <a:off x="8277149" y="1481328"/>
            <a:ext cx="327446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3A2F"/>
                </a:solidFill>
                <a:latin typeface="Calibri"/>
              </a:rPr>
              <a:t>Two categories explain the decline</a:t>
            </a:r>
          </a:p>
        </p:txBody>
      </p:sp>
      <p:sp>
        <p:nvSpPr>
          <p:cNvPr id="29" name="cpe|commentary|text|28"/>
          <p:cNvSpPr txBox="1"/>
          <p:nvPr/>
        </p:nvSpPr>
        <p:spPr>
          <a:xfrm>
            <a:off x="8277149" y="1796796"/>
            <a:ext cx="327446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Grocery (−€78M):</a:t>
            </a:r>
            <a:r>
              <a:rPr sz="1400" b="0">
                <a:solidFill>
                  <a:srgbClr val="222222"/>
                </a:solidFill>
                <a:latin typeface="Calibri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Convenience (−€41M):</a:t>
            </a:r>
            <a:r>
              <a:rPr sz="1400" b="0">
                <a:solidFill>
                  <a:srgbClr val="222222"/>
                </a:solidFill>
                <a:latin typeface="Calibri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222222"/>
                </a:solidFill>
                <a:latin typeface="Calibri"/>
              </a:rPr>
              <a:t>Volume and price added €83M, not enough to offset cost inflation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055631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6</a:t>
            </a:r>
          </a:p>
        </p:txBody>
      </p:sp>
      <p:cxnSp>
        <p:nvCxnSpPr>
          <p:cNvPr id="6" name="cpe|commentary|line|5"/>
          <p:cNvCxnSpPr/>
          <p:nvPr/>
        </p:nvCxnSpPr>
        <p:spPr>
          <a:xfrm>
            <a:off x="4143146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7" name="cpe|commentary|text|6"/>
          <p:cNvSpPr txBox="1"/>
          <p:nvPr/>
        </p:nvSpPr>
        <p:spPr>
          <a:xfrm>
            <a:off x="640080" y="1481328"/>
            <a:ext cx="327446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3A2F"/>
                </a:solidFill>
                <a:latin typeface="Calibri"/>
              </a:rPr>
              <a:t>Two categories explain the decline</a:t>
            </a:r>
          </a:p>
        </p:txBody>
      </p:sp>
      <p:sp>
        <p:nvSpPr>
          <p:cNvPr id="8" name="cpe|commentary|text|7"/>
          <p:cNvSpPr txBox="1"/>
          <p:nvPr/>
        </p:nvSpPr>
        <p:spPr>
          <a:xfrm>
            <a:off x="640080" y="1796796"/>
            <a:ext cx="327446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Grocery (−€78M):</a:t>
            </a:r>
            <a:r>
              <a:rPr sz="1200" b="0">
                <a:solidFill>
                  <a:srgbClr val="222222"/>
                </a:solidFill>
                <a:latin typeface="Calibri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Convenience (−€41M):</a:t>
            </a:r>
            <a:r>
              <a:rPr sz="1200" b="0">
                <a:solidFill>
                  <a:srgbClr val="222222"/>
                </a:solidFill>
                <a:latin typeface="Calibri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Volume and price added €83M, not enough to offset cost inflation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4344314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EBITDA bridge 2024 to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€M</a:t>
            </a:r>
          </a:p>
        </p:txBody>
      </p:sp>
      <p:graphicFrame>
        <p:nvGraphicFramePr>
          <p:cNvPr id="10" name="cpe|exhibit|chart|9"/>
          <p:cNvGraphicFramePr>
            <a:graphicFrameLocks noGrp="1"/>
          </p:cNvGraphicFramePr>
          <p:nvPr/>
        </p:nvGraphicFramePr>
        <p:xfrm>
          <a:off x="4344314" y="1901952"/>
          <a:ext cx="720730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cpe|exhibit|label|10"/>
          <p:cNvSpPr txBox="1"/>
          <p:nvPr/>
        </p:nvSpPr>
        <p:spPr>
          <a:xfrm>
            <a:off x="4344314" y="3580376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924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145126" y="299846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+52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5945937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+31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746748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−78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7547559" y="352442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−41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8348370" y="398323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−22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9149182" y="422943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−14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9949993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10750804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857</a:t>
            </a:r>
          </a:p>
        </p:txBody>
      </p:sp>
      <p:cxnSp>
        <p:nvCxnSpPr>
          <p:cNvPr id="20" name="cpe|exhibit|connector|19"/>
          <p:cNvCxnSpPr/>
          <p:nvPr/>
        </p:nvCxnSpPr>
        <p:spPr>
          <a:xfrm>
            <a:off x="5020862" y="3845552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5821673" y="326363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6622484" y="291672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7423295" y="378959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8224107" y="4248415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5" name="cpe|exhibit|connector|24"/>
          <p:cNvCxnSpPr/>
          <p:nvPr/>
        </p:nvCxnSpPr>
        <p:spPr>
          <a:xfrm>
            <a:off x="9024918" y="4494609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6" name="cpe|exhibit|connector|25"/>
          <p:cNvCxnSpPr/>
          <p:nvPr/>
        </p:nvCxnSpPr>
        <p:spPr>
          <a:xfrm>
            <a:off x="9825729" y="4651278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7" name="cpe|exhibit|connector|26"/>
          <p:cNvCxnSpPr/>
          <p:nvPr/>
        </p:nvCxnSpPr>
        <p:spPr>
          <a:xfrm>
            <a:off x="10626540" y="4595325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sp>
        <p:nvSpPr>
          <p:cNvPr id="28" name="cpe|exhibit|marker|27"/>
          <p:cNvSpPr/>
          <p:nvPr/>
        </p:nvSpPr>
        <p:spPr>
          <a:xfrm>
            <a:off x="4413714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10820204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055631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6</a:t>
            </a:r>
          </a:p>
        </p:txBody>
      </p:sp>
      <p:cxnSp>
        <p:nvCxnSpPr>
          <p:cNvPr id="6" name="cpe|commentary|line|5"/>
          <p:cNvCxnSpPr/>
          <p:nvPr/>
        </p:nvCxnSpPr>
        <p:spPr>
          <a:xfrm>
            <a:off x="4143146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7" name="cpe|commentary|text|6"/>
          <p:cNvSpPr txBox="1"/>
          <p:nvPr/>
        </p:nvSpPr>
        <p:spPr>
          <a:xfrm>
            <a:off x="640080" y="1481328"/>
            <a:ext cx="327446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3A2F"/>
                </a:solidFill>
                <a:latin typeface="Calibri"/>
              </a:rPr>
              <a:t>Two categories explain the decline</a:t>
            </a:r>
          </a:p>
        </p:txBody>
      </p:sp>
      <p:sp>
        <p:nvSpPr>
          <p:cNvPr id="8" name="cpe|commentary|text|7"/>
          <p:cNvSpPr txBox="1"/>
          <p:nvPr/>
        </p:nvSpPr>
        <p:spPr>
          <a:xfrm>
            <a:off x="640080" y="1796796"/>
            <a:ext cx="327446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Grocery (−€78M):</a:t>
            </a:r>
            <a:r>
              <a:rPr sz="1400" b="0">
                <a:solidFill>
                  <a:srgbClr val="222222"/>
                </a:solidFill>
                <a:latin typeface="Calibri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Convenience (−€41M):</a:t>
            </a:r>
            <a:r>
              <a:rPr sz="1400" b="0">
                <a:solidFill>
                  <a:srgbClr val="222222"/>
                </a:solidFill>
                <a:latin typeface="Calibri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222222"/>
                </a:solidFill>
                <a:latin typeface="Calibri"/>
              </a:rPr>
              <a:t>Volume and price added €83M, not enough to offset cost inflation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4344314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EBITDA bridge 2024 to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€M</a:t>
            </a:r>
          </a:p>
        </p:txBody>
      </p:sp>
      <p:graphicFrame>
        <p:nvGraphicFramePr>
          <p:cNvPr id="10" name="cpe|exhibit|chart|9"/>
          <p:cNvGraphicFramePr>
            <a:graphicFrameLocks noGrp="1"/>
          </p:cNvGraphicFramePr>
          <p:nvPr/>
        </p:nvGraphicFramePr>
        <p:xfrm>
          <a:off x="4344314" y="1901952"/>
          <a:ext cx="720730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cpe|exhibit|label|10"/>
          <p:cNvSpPr txBox="1"/>
          <p:nvPr/>
        </p:nvSpPr>
        <p:spPr>
          <a:xfrm>
            <a:off x="4344314" y="3580376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924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145126" y="299846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+52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5945937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+31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746748" y="265155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−78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7547559" y="352442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−41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8348370" y="398323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−22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9149182" y="4229433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−14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9949993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10750804" y="4330149"/>
            <a:ext cx="80081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857</a:t>
            </a:r>
          </a:p>
        </p:txBody>
      </p:sp>
      <p:cxnSp>
        <p:nvCxnSpPr>
          <p:cNvPr id="20" name="cpe|exhibit|connector|19"/>
          <p:cNvCxnSpPr/>
          <p:nvPr/>
        </p:nvCxnSpPr>
        <p:spPr>
          <a:xfrm>
            <a:off x="5020862" y="3845552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5821673" y="326363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6622484" y="291672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7423295" y="3789599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8224107" y="4248415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5" name="cpe|exhibit|connector|24"/>
          <p:cNvCxnSpPr/>
          <p:nvPr/>
        </p:nvCxnSpPr>
        <p:spPr>
          <a:xfrm>
            <a:off x="9024918" y="4494609"/>
            <a:ext cx="248527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6" name="cpe|exhibit|connector|25"/>
          <p:cNvCxnSpPr/>
          <p:nvPr/>
        </p:nvCxnSpPr>
        <p:spPr>
          <a:xfrm>
            <a:off x="9825729" y="4651278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7" name="cpe|exhibit|connector|26"/>
          <p:cNvCxnSpPr/>
          <p:nvPr/>
        </p:nvCxnSpPr>
        <p:spPr>
          <a:xfrm>
            <a:off x="10626540" y="4595325"/>
            <a:ext cx="248528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sp>
        <p:nvSpPr>
          <p:cNvPr id="28" name="cpe|exhibit|marker|27"/>
          <p:cNvSpPr/>
          <p:nvPr/>
        </p:nvSpPr>
        <p:spPr>
          <a:xfrm>
            <a:off x="4413714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10820204" y="5447191"/>
            <a:ext cx="662012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7309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Gross margin change by category and region, 2025 vs 2024</a:t>
            </a:r>
            <a:r>
              <a:rPr sz="1100" b="0">
                <a:solidFill>
                  <a:srgbClr val="222222"/>
                </a:solidFill>
                <a:latin typeface="Calibri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4" cy="320154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22349"/>
                <a:gridCol w="1422349"/>
                <a:gridCol w="1422349"/>
                <a:gridCol w="1422349"/>
                <a:gridCol w="1422349"/>
                <a:gridCol w="1422349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55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9D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C3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3C7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A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640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F5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CB6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FBFB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5CC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D0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D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E7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7309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Gross margin change by category and region, 2025 vs 2024</a:t>
            </a:r>
            <a:r>
              <a:rPr sz="1100" b="0">
                <a:solidFill>
                  <a:srgbClr val="222222"/>
                </a:solidFill>
                <a:latin typeface="Calibri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4" cy="350215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22349"/>
                <a:gridCol w="1422349"/>
                <a:gridCol w="1422349"/>
                <a:gridCol w="1422349"/>
                <a:gridCol w="1422349"/>
                <a:gridCol w="1422349"/>
              </a:tblGrid>
              <a:tr h="33032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55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9D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C3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3C7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A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640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F5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CB6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FBFB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5CC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D0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D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E7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7309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Gross margin change by category and region, 2025 vs 2024</a:t>
            </a:r>
            <a:r>
              <a:rPr sz="1100" b="0">
                <a:solidFill>
                  <a:srgbClr val="222222"/>
                </a:solidFill>
                <a:latin typeface="Calibri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4" cy="350215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22349"/>
                <a:gridCol w="1422349"/>
                <a:gridCol w="1422349"/>
                <a:gridCol w="1422349"/>
                <a:gridCol w="1422349"/>
                <a:gridCol w="1422349"/>
              </a:tblGrid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55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9D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C3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3C7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A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640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F5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CB6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FBFB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5CC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D0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D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E7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7309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Gross margin change by category and region, 2025 vs 2024</a:t>
            </a:r>
            <a:r>
              <a:rPr sz="1100" b="0">
                <a:solidFill>
                  <a:srgbClr val="222222"/>
                </a:solidFill>
                <a:latin typeface="Calibri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4" cy="320154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22349"/>
                <a:gridCol w="1422349"/>
                <a:gridCol w="1422349"/>
                <a:gridCol w="1422349"/>
                <a:gridCol w="1422349"/>
                <a:gridCol w="1422349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55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9D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C3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3C7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A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640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F5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CB6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FBFB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5CC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D0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D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E7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7309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Gross margin change by category and region, 2025 vs 2024</a:t>
            </a:r>
            <a:r>
              <a:rPr sz="1100" b="0">
                <a:solidFill>
                  <a:srgbClr val="222222"/>
                </a:solidFill>
                <a:latin typeface="Calibri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4" cy="350215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22349"/>
                <a:gridCol w="1422349"/>
                <a:gridCol w="1422349"/>
                <a:gridCol w="1422349"/>
                <a:gridCol w="1422349"/>
                <a:gridCol w="1422349"/>
              </a:tblGrid>
              <a:tr h="33032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55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9D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C3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3C7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A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640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F5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CB6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FBFB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5CC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D0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D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E7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7309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Gross margin change by category and region, 2025 vs 2024</a:t>
            </a:r>
            <a:r>
              <a:rPr sz="1100" b="0">
                <a:solidFill>
                  <a:srgbClr val="222222"/>
                </a:solidFill>
                <a:latin typeface="Calibri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4" cy="350215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22349"/>
                <a:gridCol w="1422349"/>
                <a:gridCol w="1422349"/>
                <a:gridCol w="1422349"/>
                <a:gridCol w="1422349"/>
                <a:gridCol w="1422349"/>
              </a:tblGrid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55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9D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C3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3C7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A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640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F5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CB6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FBFB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5CC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D0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D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E7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7309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Gross margin change by category and region, 2025 vs 2024</a:t>
            </a:r>
            <a:r>
              <a:rPr sz="1100" b="0">
                <a:solidFill>
                  <a:srgbClr val="222222"/>
                </a:solidFill>
                <a:latin typeface="Calibri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4" cy="320154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22349"/>
                <a:gridCol w="1422349"/>
                <a:gridCol w="1422349"/>
                <a:gridCol w="1422349"/>
                <a:gridCol w="1422349"/>
                <a:gridCol w="1422349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55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9D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C3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3C7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A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640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F5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CB6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FBFB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5CC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D0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D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E7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7309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Gross margin change by category and region, 2025 vs 2024</a:t>
            </a:r>
            <a:r>
              <a:rPr sz="1100" b="0">
                <a:solidFill>
                  <a:srgbClr val="222222"/>
                </a:solidFill>
                <a:latin typeface="Calibri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4" cy="350215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22349"/>
                <a:gridCol w="1422349"/>
                <a:gridCol w="1422349"/>
                <a:gridCol w="1422349"/>
                <a:gridCol w="1422349"/>
                <a:gridCol w="1422349"/>
              </a:tblGrid>
              <a:tr h="33032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55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9D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C3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3C7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A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640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F5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CB6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FBFB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5CC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D0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D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E7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7309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Gross margin change by category and region, 2025 vs 2024</a:t>
            </a:r>
            <a:r>
              <a:rPr sz="1100" b="0">
                <a:solidFill>
                  <a:srgbClr val="222222"/>
                </a:solidFill>
                <a:latin typeface="Calibri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4" cy="350215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22349"/>
                <a:gridCol w="1422349"/>
                <a:gridCol w="1422349"/>
                <a:gridCol w="1422349"/>
                <a:gridCol w="1422349"/>
                <a:gridCol w="1422349"/>
              </a:tblGrid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55B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9D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C3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3C7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AD9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640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AF53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CB6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DFBFB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5CC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D0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8D5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D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DE2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E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1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F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1E7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solidFill>
                      <a:srgbClr val="E6EAE8"/>
                    </a:solidFill>
                  </a:tcPr>
                </a:tc>
              </a:tr>
              <a:tr h="52368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B3A2F"/>
                      </a:solidFill>
                      <a:prstDash val="solid"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COMPETITION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17930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Alvora is stuck in the middle: priced above discounters without a clear experience edge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Customer survey 2025, n=4,000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628124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Customer perception,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index 0-1; bubble = revenue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777240" y="2267712"/>
            <a:ext cx="3026321" cy="1773936"/>
          </a:xfrm>
          <a:prstGeom prst="rect">
            <a:avLst/>
          </a:prstGeom>
          <a:noFill/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3803561" y="2267712"/>
            <a:ext cx="3026321" cy="1773936"/>
          </a:xfrm>
          <a:prstGeom prst="rect">
            <a:avLst/>
          </a:prstGeom>
          <a:noFill/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777240" y="4041648"/>
            <a:ext cx="3026321" cy="1773936"/>
          </a:xfrm>
          <a:prstGeom prst="rect">
            <a:avLst/>
          </a:prstGeom>
          <a:solidFill>
            <a:srgbClr val="F0F0F0"/>
          </a:solidFill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3803561" y="4041648"/>
            <a:ext cx="3026321" cy="1773936"/>
          </a:xfrm>
          <a:prstGeom prst="rect">
            <a:avLst/>
          </a:prstGeom>
          <a:noFill/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868680" y="2340864"/>
            <a:ext cx="284344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Experience-led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3895001" y="2340864"/>
            <a:ext cx="284344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Value leaders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868680" y="5504688"/>
            <a:ext cx="284344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Stuck in the middle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3895001" y="5504688"/>
            <a:ext cx="284344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Price-led</a:t>
            </a:r>
          </a:p>
        </p:txBody>
      </p:sp>
      <p:cxnSp>
        <p:nvCxnSpPr>
          <p:cNvPr id="15" name="cpe|exhibit|line|14"/>
          <p:cNvCxnSpPr/>
          <p:nvPr/>
        </p:nvCxnSpPr>
        <p:spPr>
          <a:xfrm>
            <a:off x="777240" y="5815584"/>
            <a:ext cx="6098362" cy="0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cxnSp>
        <p:nvCxnSpPr>
          <p:cNvPr id="16" name="cpe|exhibit|line|15"/>
          <p:cNvCxnSpPr/>
          <p:nvPr/>
        </p:nvCxnSpPr>
        <p:spPr>
          <a:xfrm flipV="1">
            <a:off x="777240" y="2221992"/>
            <a:ext cx="0" cy="3593592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sp>
        <p:nvSpPr>
          <p:cNvPr id="17" name="cpe|exhibit|text|16"/>
          <p:cNvSpPr txBox="1"/>
          <p:nvPr/>
        </p:nvSpPr>
        <p:spPr>
          <a:xfrm>
            <a:off x="777240" y="5870448"/>
            <a:ext cx="605264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Price perception (cheaper →)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731520" y="1938528"/>
            <a:ext cx="114186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↑ Store experience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4003943" y="3296595"/>
            <a:ext cx="567660" cy="567660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label|19"/>
          <p:cNvSpPr txBox="1"/>
          <p:nvPr/>
        </p:nvSpPr>
        <p:spPr>
          <a:xfrm>
            <a:off x="4608178" y="3470697"/>
            <a:ext cx="75966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Competitor B</a:t>
            </a:r>
          </a:p>
        </p:txBody>
      </p:sp>
      <p:sp>
        <p:nvSpPr>
          <p:cNvPr id="21" name="cpe|exhibit|marker|20"/>
          <p:cNvSpPr/>
          <p:nvPr/>
        </p:nvSpPr>
        <p:spPr>
          <a:xfrm>
            <a:off x="5713331" y="4340127"/>
            <a:ext cx="538362" cy="538362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label|21"/>
          <p:cNvSpPr txBox="1"/>
          <p:nvPr/>
        </p:nvSpPr>
        <p:spPr>
          <a:xfrm>
            <a:off x="4912684" y="4499580"/>
            <a:ext cx="7640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Competitor A</a:t>
            </a:r>
          </a:p>
        </p:txBody>
      </p:sp>
      <p:sp>
        <p:nvSpPr>
          <p:cNvPr id="23" name="cpe|exhibit|marker|22"/>
          <p:cNvSpPr/>
          <p:nvPr/>
        </p:nvSpPr>
        <p:spPr>
          <a:xfrm>
            <a:off x="2331484" y="2928610"/>
            <a:ext cx="523098" cy="523098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2891158" y="3080431"/>
            <a:ext cx="75831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Competitor C</a:t>
            </a:r>
          </a:p>
        </p:txBody>
      </p:sp>
      <p:sp>
        <p:nvSpPr>
          <p:cNvPr id="25" name="cpe|exhibit|marker|24"/>
          <p:cNvSpPr/>
          <p:nvPr/>
        </p:nvSpPr>
        <p:spPr>
          <a:xfrm>
            <a:off x="2950896" y="4007120"/>
            <a:ext cx="494801" cy="494801"/>
          </a:xfrm>
          <a:prstGeom prst="ellipse">
            <a:avLst/>
          </a:prstGeom>
          <a:solidFill>
            <a:srgbClr val="C8A24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label|25"/>
          <p:cNvSpPr txBox="1"/>
          <p:nvPr/>
        </p:nvSpPr>
        <p:spPr>
          <a:xfrm>
            <a:off x="3482274" y="4144792"/>
            <a:ext cx="40146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Calibri"/>
              </a:rPr>
              <a:t>Alvora</a:t>
            </a:r>
          </a:p>
        </p:txBody>
      </p:sp>
      <p:sp>
        <p:nvSpPr>
          <p:cNvPr id="27" name="cpe|exhibit|marker|26"/>
          <p:cNvSpPr/>
          <p:nvPr/>
        </p:nvSpPr>
        <p:spPr>
          <a:xfrm>
            <a:off x="4607658" y="2742003"/>
            <a:ext cx="328653" cy="328653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label|27"/>
          <p:cNvSpPr txBox="1"/>
          <p:nvPr/>
        </p:nvSpPr>
        <p:spPr>
          <a:xfrm>
            <a:off x="4972886" y="2796601"/>
            <a:ext cx="108431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Online pure-players</a:t>
            </a:r>
          </a:p>
        </p:txBody>
      </p:sp>
      <p:cxnSp>
        <p:nvCxnSpPr>
          <p:cNvPr id="29" name="cpe|commentary|line|28"/>
          <p:cNvCxnSpPr/>
          <p:nvPr/>
        </p:nvCxnSpPr>
        <p:spPr>
          <a:xfrm>
            <a:off x="7122490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30" name="cpe|commentary|text|29"/>
          <p:cNvSpPr txBox="1"/>
          <p:nvPr/>
        </p:nvSpPr>
        <p:spPr>
          <a:xfrm>
            <a:off x="7351090" y="1481328"/>
            <a:ext cx="4200525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Alvora's prices sit </a:t>
            </a:r>
            <a:r>
              <a:rPr sz="1200" b="1">
                <a:solidFill>
                  <a:srgbClr val="222222"/>
                </a:solidFill>
                <a:latin typeface="Calibri"/>
              </a:rPr>
              <a:t>8% above</a:t>
            </a:r>
            <a:r>
              <a:rPr sz="1200" b="0">
                <a:solidFill>
                  <a:srgbClr val="222222"/>
                </a:solidFill>
                <a:latin typeface="Calibri"/>
              </a:rPr>
              <a:t> Competitor A on a comparable basket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Its experience score trails B and C on freshness and queues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Winning back price perception needs a separate low-cost format, not deeper promotions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COMPETITION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17930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Alvora is stuck in the middle: priced above discounters without a clear experience edge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Customer survey 2025, n=4,000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Customer perception,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index 0-1; bubble = revenue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777240" y="2267712"/>
            <a:ext cx="3489350" cy="1773936"/>
          </a:xfrm>
          <a:prstGeom prst="rect">
            <a:avLst/>
          </a:prstGeom>
          <a:noFill/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4266590" y="2267712"/>
            <a:ext cx="3489350" cy="1773936"/>
          </a:xfrm>
          <a:prstGeom prst="rect">
            <a:avLst/>
          </a:prstGeom>
          <a:noFill/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777240" y="4041648"/>
            <a:ext cx="3489350" cy="1773936"/>
          </a:xfrm>
          <a:prstGeom prst="rect">
            <a:avLst/>
          </a:prstGeom>
          <a:solidFill>
            <a:srgbClr val="F0F0F0"/>
          </a:solidFill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4266590" y="4041648"/>
            <a:ext cx="3489350" cy="1773936"/>
          </a:xfrm>
          <a:prstGeom prst="rect">
            <a:avLst/>
          </a:prstGeom>
          <a:noFill/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868680" y="2340864"/>
            <a:ext cx="330647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Experience-led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4358030" y="2340864"/>
            <a:ext cx="330647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Value leaders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868680" y="5504688"/>
            <a:ext cx="330647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Stuck in the middle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4358030" y="5504688"/>
            <a:ext cx="330647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Price-led</a:t>
            </a:r>
          </a:p>
        </p:txBody>
      </p:sp>
      <p:cxnSp>
        <p:nvCxnSpPr>
          <p:cNvPr id="15" name="cpe|exhibit|line|14"/>
          <p:cNvCxnSpPr/>
          <p:nvPr/>
        </p:nvCxnSpPr>
        <p:spPr>
          <a:xfrm>
            <a:off x="777240" y="5815584"/>
            <a:ext cx="7024421" cy="0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cxnSp>
        <p:nvCxnSpPr>
          <p:cNvPr id="16" name="cpe|exhibit|line|15"/>
          <p:cNvCxnSpPr/>
          <p:nvPr/>
        </p:nvCxnSpPr>
        <p:spPr>
          <a:xfrm flipV="1">
            <a:off x="777240" y="2221992"/>
            <a:ext cx="0" cy="3593592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sp>
        <p:nvSpPr>
          <p:cNvPr id="17" name="cpe|exhibit|text|16"/>
          <p:cNvSpPr txBox="1"/>
          <p:nvPr/>
        </p:nvSpPr>
        <p:spPr>
          <a:xfrm>
            <a:off x="777240" y="5870448"/>
            <a:ext cx="69787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Price perception (cheaper →)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731520" y="1938528"/>
            <a:ext cx="114186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↑ Store experience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4541057" y="3296595"/>
            <a:ext cx="567660" cy="567660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label|19"/>
          <p:cNvSpPr txBox="1"/>
          <p:nvPr/>
        </p:nvSpPr>
        <p:spPr>
          <a:xfrm>
            <a:off x="5145292" y="3470697"/>
            <a:ext cx="75966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Competitor B</a:t>
            </a:r>
          </a:p>
        </p:txBody>
      </p:sp>
      <p:sp>
        <p:nvSpPr>
          <p:cNvPr id="21" name="cpe|exhibit|marker|20"/>
          <p:cNvSpPr/>
          <p:nvPr/>
        </p:nvSpPr>
        <p:spPr>
          <a:xfrm>
            <a:off x="6509742" y="4340127"/>
            <a:ext cx="538362" cy="538362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label|21"/>
          <p:cNvSpPr txBox="1"/>
          <p:nvPr/>
        </p:nvSpPr>
        <p:spPr>
          <a:xfrm>
            <a:off x="5709094" y="4499580"/>
            <a:ext cx="7640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Competitor A</a:t>
            </a:r>
          </a:p>
        </p:txBody>
      </p:sp>
      <p:sp>
        <p:nvSpPr>
          <p:cNvPr id="23" name="cpe|exhibit|marker|22"/>
          <p:cNvSpPr/>
          <p:nvPr/>
        </p:nvSpPr>
        <p:spPr>
          <a:xfrm>
            <a:off x="2609301" y="2928610"/>
            <a:ext cx="523098" cy="523098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3168975" y="3080431"/>
            <a:ext cx="75831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Competitor C</a:t>
            </a:r>
          </a:p>
        </p:txBody>
      </p:sp>
      <p:sp>
        <p:nvSpPr>
          <p:cNvPr id="25" name="cpe|exhibit|marker|24"/>
          <p:cNvSpPr/>
          <p:nvPr/>
        </p:nvSpPr>
        <p:spPr>
          <a:xfrm>
            <a:off x="3321320" y="4007120"/>
            <a:ext cx="494801" cy="494801"/>
          </a:xfrm>
          <a:prstGeom prst="ellipse">
            <a:avLst/>
          </a:prstGeom>
          <a:solidFill>
            <a:srgbClr val="C8A24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label|25"/>
          <p:cNvSpPr txBox="1"/>
          <p:nvPr/>
        </p:nvSpPr>
        <p:spPr>
          <a:xfrm>
            <a:off x="3852697" y="4144792"/>
            <a:ext cx="40146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Calibri"/>
              </a:rPr>
              <a:t>Alvora</a:t>
            </a:r>
          </a:p>
        </p:txBody>
      </p:sp>
      <p:sp>
        <p:nvSpPr>
          <p:cNvPr id="27" name="cpe|exhibit|marker|26"/>
          <p:cNvSpPr/>
          <p:nvPr/>
        </p:nvSpPr>
        <p:spPr>
          <a:xfrm>
            <a:off x="5218856" y="2742003"/>
            <a:ext cx="328653" cy="328653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label|27"/>
          <p:cNvSpPr txBox="1"/>
          <p:nvPr/>
        </p:nvSpPr>
        <p:spPr>
          <a:xfrm>
            <a:off x="5584085" y="2796601"/>
            <a:ext cx="108431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Online pure-players</a:t>
            </a:r>
          </a:p>
        </p:txBody>
      </p:sp>
      <p:cxnSp>
        <p:nvCxnSpPr>
          <p:cNvPr id="29" name="cpe|commentary|line|28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30" name="cpe|commentary|text|29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Alvora's prices sit </a:t>
            </a:r>
            <a:r>
              <a:rPr sz="1200" b="1">
                <a:solidFill>
                  <a:srgbClr val="222222"/>
                </a:solidFill>
                <a:latin typeface="Calibri"/>
              </a:rPr>
              <a:t>8% above</a:t>
            </a:r>
            <a:r>
              <a:rPr sz="1200" b="0">
                <a:solidFill>
                  <a:srgbClr val="222222"/>
                </a:solidFill>
                <a:latin typeface="Calibri"/>
              </a:rPr>
              <a:t> Competitor A on a comparable basket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Its experience score trails B and C on freshness and queues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Winning back price perception needs a separate low-cost format, not deeper promotions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COMPETITION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17930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Alvora is stuck in the middle: priced above discounters without a clear experience edge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Customer survey 2025, n=4,000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Customer perception, 2025</a:t>
            </a:r>
            <a:r>
              <a:rPr sz="1100" b="0">
                <a:solidFill>
                  <a:srgbClr val="222222"/>
                </a:solidFill>
                <a:latin typeface="Calibri"/>
              </a:rPr>
              <a:t>, index 0-1; bubble = revenue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777240" y="2267712"/>
            <a:ext cx="5341468" cy="1357884"/>
          </a:xfrm>
          <a:prstGeom prst="rect">
            <a:avLst/>
          </a:prstGeom>
          <a:noFill/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6118708" y="2267712"/>
            <a:ext cx="5341468" cy="1357884"/>
          </a:xfrm>
          <a:prstGeom prst="rect">
            <a:avLst/>
          </a:prstGeom>
          <a:noFill/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777240" y="3625596"/>
            <a:ext cx="5341468" cy="1357884"/>
          </a:xfrm>
          <a:prstGeom prst="rect">
            <a:avLst/>
          </a:prstGeom>
          <a:solidFill>
            <a:srgbClr val="F0F0F0"/>
          </a:solidFill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6118708" y="3625596"/>
            <a:ext cx="5341468" cy="1357884"/>
          </a:xfrm>
          <a:prstGeom prst="rect">
            <a:avLst/>
          </a:prstGeom>
          <a:noFill/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868680" y="2340864"/>
            <a:ext cx="515858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Experience-led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6210148" y="2340864"/>
            <a:ext cx="515858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Value leaders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868680" y="4672584"/>
            <a:ext cx="515858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3A2F"/>
                </a:solidFill>
                <a:latin typeface="Calibri"/>
              </a:rPr>
              <a:t>Stuck in the middle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6210148" y="4672584"/>
            <a:ext cx="515858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Price-led</a:t>
            </a:r>
          </a:p>
        </p:txBody>
      </p:sp>
      <p:cxnSp>
        <p:nvCxnSpPr>
          <p:cNvPr id="15" name="cpe|exhibit|line|14"/>
          <p:cNvCxnSpPr/>
          <p:nvPr/>
        </p:nvCxnSpPr>
        <p:spPr>
          <a:xfrm>
            <a:off x="777240" y="4983480"/>
            <a:ext cx="10728655" cy="0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cxnSp>
        <p:nvCxnSpPr>
          <p:cNvPr id="16" name="cpe|exhibit|line|15"/>
          <p:cNvCxnSpPr/>
          <p:nvPr/>
        </p:nvCxnSpPr>
        <p:spPr>
          <a:xfrm flipV="1">
            <a:off x="777240" y="2221992"/>
            <a:ext cx="0" cy="2761488"/>
          </a:xfrm>
          <a:prstGeom prst="line">
            <a:avLst/>
          </a:prstGeom>
          <a:ln w="9525">
            <a:solidFill>
              <a:srgbClr val="222222"/>
            </a:solidFill>
            <a:tailEnd type="triangle" w="med" len="med"/>
          </a:ln>
        </p:spPr>
      </p:cxnSp>
      <p:sp>
        <p:nvSpPr>
          <p:cNvPr id="17" name="cpe|exhibit|text|16"/>
          <p:cNvSpPr txBox="1"/>
          <p:nvPr/>
        </p:nvSpPr>
        <p:spPr>
          <a:xfrm>
            <a:off x="777240" y="5038344"/>
            <a:ext cx="106829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Price perception (cheaper →)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731520" y="1938528"/>
            <a:ext cx="114186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↑ Store experience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6756081" y="3055285"/>
            <a:ext cx="434523" cy="434523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label|19"/>
          <p:cNvSpPr txBox="1"/>
          <p:nvPr/>
        </p:nvSpPr>
        <p:spPr>
          <a:xfrm>
            <a:off x="7227180" y="3162818"/>
            <a:ext cx="75966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Competitor B</a:t>
            </a:r>
          </a:p>
        </p:txBody>
      </p:sp>
      <p:sp>
        <p:nvSpPr>
          <p:cNvPr id="21" name="cpe|exhibit|marker|20"/>
          <p:cNvSpPr/>
          <p:nvPr/>
        </p:nvSpPr>
        <p:spPr>
          <a:xfrm>
            <a:off x="9758516" y="3854071"/>
            <a:ext cx="412097" cy="412097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label|21"/>
          <p:cNvSpPr txBox="1"/>
          <p:nvPr/>
        </p:nvSpPr>
        <p:spPr>
          <a:xfrm>
            <a:off x="10207189" y="3950391"/>
            <a:ext cx="7640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Competitor A</a:t>
            </a:r>
          </a:p>
        </p:txBody>
      </p:sp>
      <p:sp>
        <p:nvSpPr>
          <p:cNvPr id="23" name="cpe|exhibit|marker|22"/>
          <p:cNvSpPr/>
          <p:nvPr/>
        </p:nvSpPr>
        <p:spPr>
          <a:xfrm>
            <a:off x="3781914" y="2773605"/>
            <a:ext cx="400413" cy="400413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4218903" y="2864084"/>
            <a:ext cx="75831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Competitor C</a:t>
            </a:r>
          </a:p>
        </p:txBody>
      </p:sp>
      <p:sp>
        <p:nvSpPr>
          <p:cNvPr id="25" name="cpe|exhibit|marker|24"/>
          <p:cNvSpPr/>
          <p:nvPr/>
        </p:nvSpPr>
        <p:spPr>
          <a:xfrm>
            <a:off x="4861038" y="3599166"/>
            <a:ext cx="378753" cy="378753"/>
          </a:xfrm>
          <a:prstGeom prst="ellipse">
            <a:avLst/>
          </a:prstGeom>
          <a:solidFill>
            <a:srgbClr val="C8A24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label|25"/>
          <p:cNvSpPr txBox="1"/>
          <p:nvPr/>
        </p:nvSpPr>
        <p:spPr>
          <a:xfrm>
            <a:off x="5276366" y="3678814"/>
            <a:ext cx="40146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Calibri"/>
              </a:rPr>
              <a:t>Alvora</a:t>
            </a:r>
          </a:p>
        </p:txBody>
      </p:sp>
      <p:sp>
        <p:nvSpPr>
          <p:cNvPr id="27" name="cpe|exhibit|marker|26"/>
          <p:cNvSpPr/>
          <p:nvPr/>
        </p:nvSpPr>
        <p:spPr>
          <a:xfrm>
            <a:off x="7702191" y="2630764"/>
            <a:ext cx="251572" cy="251572"/>
          </a:xfrm>
          <a:prstGeom prst="ellipse">
            <a:avLst/>
          </a:prstGeom>
          <a:solidFill>
            <a:srgbClr val="1B3A2F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label|27"/>
          <p:cNvSpPr txBox="1"/>
          <p:nvPr/>
        </p:nvSpPr>
        <p:spPr>
          <a:xfrm>
            <a:off x="7990339" y="2646822"/>
            <a:ext cx="108431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Online pure-players</a:t>
            </a:r>
          </a:p>
        </p:txBody>
      </p:sp>
      <p:cxnSp>
        <p:nvCxnSpPr>
          <p:cNvPr id="29" name="cpe|commentary|line|28"/>
          <p:cNvCxnSpPr/>
          <p:nvPr/>
        </p:nvCxnSpPr>
        <p:spPr>
          <a:xfrm>
            <a:off x="640080" y="5568696"/>
            <a:ext cx="10911535" cy="0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30" name="cpe|commentary|text|29"/>
          <p:cNvSpPr txBox="1"/>
          <p:nvPr/>
        </p:nvSpPr>
        <p:spPr>
          <a:xfrm>
            <a:off x="640080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Alvora's prices sit </a:t>
            </a:r>
            <a:r>
              <a:rPr sz="1200" b="1">
                <a:solidFill>
                  <a:srgbClr val="222222"/>
                </a:solidFill>
                <a:latin typeface="Calibri"/>
              </a:rPr>
              <a:t>8% above</a:t>
            </a:r>
            <a:r>
              <a:rPr sz="1200" b="0">
                <a:solidFill>
                  <a:srgbClr val="222222"/>
                </a:solidFill>
                <a:latin typeface="Calibri"/>
              </a:rPr>
              <a:t> Competitor A on a comparable basket</a:t>
            </a:r>
          </a:p>
        </p:txBody>
      </p:sp>
      <p:sp>
        <p:nvSpPr>
          <p:cNvPr id="31" name="cpe|commentary|text|30"/>
          <p:cNvSpPr txBox="1"/>
          <p:nvPr/>
        </p:nvSpPr>
        <p:spPr>
          <a:xfrm>
            <a:off x="4344314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Its experience score trails B and C on freshness and queues</a:t>
            </a:r>
          </a:p>
        </p:txBody>
      </p:sp>
      <p:sp>
        <p:nvSpPr>
          <p:cNvPr id="32" name="cpe|commentary|text|31"/>
          <p:cNvSpPr txBox="1"/>
          <p:nvPr/>
        </p:nvSpPr>
        <p:spPr>
          <a:xfrm>
            <a:off x="8048549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Winning back price perception needs a separate low-cost format, not deeper promotions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86168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640080" y="1481328"/>
            <a:ext cx="2103120" cy="90297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731520" y="148132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834640" y="1481328"/>
            <a:ext cx="1964360" cy="902970"/>
          </a:xfrm>
          <a:prstGeom prst="rect">
            <a:avLst/>
          </a:prstGeom>
          <a:solidFill>
            <a:srgbClr val="C8A24A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889504" y="1481328"/>
            <a:ext cx="185463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4872152" y="1481328"/>
            <a:ext cx="1964360" cy="90297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4927016" y="1481328"/>
            <a:ext cx="185463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6909664" y="1481328"/>
            <a:ext cx="1964360" cy="90297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6964528" y="1481328"/>
            <a:ext cx="185463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8947175" y="1481328"/>
            <a:ext cx="1964360" cy="902970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9002039" y="1481328"/>
            <a:ext cx="185463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640080" y="2475738"/>
            <a:ext cx="2103120" cy="90297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731520" y="247573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834640" y="2475738"/>
            <a:ext cx="2643530" cy="902970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889504" y="247573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5551322" y="2475738"/>
            <a:ext cx="2643530" cy="902970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5606186" y="247573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8268005" y="2475738"/>
            <a:ext cx="2643530" cy="902970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8322869" y="247573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640080" y="3470148"/>
            <a:ext cx="2103120" cy="90297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731520" y="347014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834640" y="3470148"/>
            <a:ext cx="2643530" cy="90297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889504" y="347014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5551322" y="3470148"/>
            <a:ext cx="2643530" cy="90297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5606186" y="347014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8268005" y="3470148"/>
            <a:ext cx="2643530" cy="902970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8322869" y="347014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640080" y="4464558"/>
            <a:ext cx="2103120" cy="90297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731520" y="446455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834640" y="4464558"/>
            <a:ext cx="2643530" cy="902970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889504" y="446455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5551322" y="4464558"/>
            <a:ext cx="2643530" cy="90297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5606186" y="446455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8268005" y="4464558"/>
            <a:ext cx="2643530" cy="90297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8322869" y="4464558"/>
            <a:ext cx="253380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10984687" y="1481328"/>
            <a:ext cx="566928" cy="3886200"/>
          </a:xfrm>
          <a:prstGeom prst="rect">
            <a:avLst/>
          </a:prstGeom>
          <a:solidFill>
            <a:srgbClr val="F4F4F4"/>
          </a:solidFill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10984687" y="1572768"/>
            <a:ext cx="566928" cy="370332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640080" y="5568696"/>
            <a:ext cx="10911535" cy="0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640080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New:</a:t>
            </a:r>
            <a:r>
              <a:rPr sz="1200" b="0">
                <a:solidFill>
                  <a:srgbClr val="222222"/>
                </a:solidFill>
                <a:latin typeface="Calibri"/>
              </a:rPr>
              <a:t> discount banner, private label, fulfilment hubs</a:t>
            </a:r>
          </a:p>
        </p:txBody>
      </p:sp>
      <p:sp>
        <p:nvSpPr>
          <p:cNvPr id="44" name="cpe|commentary|text|43"/>
          <p:cNvSpPr txBox="1"/>
          <p:nvPr/>
        </p:nvSpPr>
        <p:spPr>
          <a:xfrm>
            <a:off x="4344314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Changed:</a:t>
            </a:r>
            <a:r>
              <a:rPr sz="1200" b="0">
                <a:solidFill>
                  <a:srgbClr val="222222"/>
                </a:solidFill>
                <a:latin typeface="Calibri"/>
              </a:rPr>
              <a:t> pricing moves to the centre; category teams own margin</a:t>
            </a:r>
          </a:p>
        </p:txBody>
      </p:sp>
      <p:sp>
        <p:nvSpPr>
          <p:cNvPr id="45" name="cpe|commentary|text|44"/>
          <p:cNvSpPr txBox="1"/>
          <p:nvPr/>
        </p:nvSpPr>
        <p:spPr>
          <a:xfrm>
            <a:off x="8048549" y="5705856"/>
            <a:ext cx="350306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86168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640080" y="1481328"/>
            <a:ext cx="2103120" cy="888111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731520" y="1481328"/>
            <a:ext cx="1920240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834640" y="1481328"/>
            <a:ext cx="1964360" cy="888111"/>
          </a:xfrm>
          <a:prstGeom prst="rect">
            <a:avLst/>
          </a:prstGeom>
          <a:solidFill>
            <a:srgbClr val="C8A24A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889504" y="1481328"/>
            <a:ext cx="185463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4872152" y="1481328"/>
            <a:ext cx="1964360" cy="88811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4927016" y="1481328"/>
            <a:ext cx="185463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6909664" y="1481328"/>
            <a:ext cx="1964360" cy="88811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6964528" y="1481328"/>
            <a:ext cx="185463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8947175" y="1481328"/>
            <a:ext cx="1964360" cy="888111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9002039" y="1481328"/>
            <a:ext cx="185463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640080" y="2460879"/>
            <a:ext cx="2103120" cy="888111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731520" y="2460879"/>
            <a:ext cx="1920240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834640" y="2460879"/>
            <a:ext cx="2643530" cy="888111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889504" y="2460879"/>
            <a:ext cx="253380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5551322" y="2460879"/>
            <a:ext cx="2643530" cy="888111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5606186" y="2460879"/>
            <a:ext cx="253380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8268005" y="2460879"/>
            <a:ext cx="2643530" cy="888111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8322869" y="2460879"/>
            <a:ext cx="253380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640080" y="3440430"/>
            <a:ext cx="2103120" cy="888111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731520" y="3440430"/>
            <a:ext cx="1920240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834640" y="3440430"/>
            <a:ext cx="2643530" cy="88811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889504" y="3440430"/>
            <a:ext cx="253380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5551322" y="3440430"/>
            <a:ext cx="2643530" cy="88811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5606186" y="3440430"/>
            <a:ext cx="253380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8268005" y="3440430"/>
            <a:ext cx="2643530" cy="888111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8322869" y="3440430"/>
            <a:ext cx="253380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640080" y="4419981"/>
            <a:ext cx="2103120" cy="888111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731520" y="4419981"/>
            <a:ext cx="1920240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834640" y="4419981"/>
            <a:ext cx="2643530" cy="888111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889504" y="4419981"/>
            <a:ext cx="253380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5551322" y="4419981"/>
            <a:ext cx="2643530" cy="88811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5606186" y="4419981"/>
            <a:ext cx="253380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8268005" y="4419981"/>
            <a:ext cx="2643530" cy="88811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8322869" y="4419981"/>
            <a:ext cx="253380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10984687" y="1481328"/>
            <a:ext cx="566928" cy="3826764"/>
          </a:xfrm>
          <a:prstGeom prst="rect">
            <a:avLst/>
          </a:prstGeom>
          <a:solidFill>
            <a:srgbClr val="F4F4F4"/>
          </a:solidFill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10984687" y="1572768"/>
            <a:ext cx="566928" cy="364388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22222"/>
                </a:solidFill>
                <a:latin typeface="Calibri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640080" y="5509260"/>
            <a:ext cx="10911535" cy="0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640080" y="5646420"/>
            <a:ext cx="3503066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222"/>
                </a:solidFill>
                <a:latin typeface="Calibri"/>
              </a:rPr>
              <a:t>New:</a:t>
            </a:r>
            <a:r>
              <a:rPr sz="1400" b="0">
                <a:solidFill>
                  <a:srgbClr val="222222"/>
                </a:solidFill>
                <a:latin typeface="Calibri"/>
              </a:rPr>
              <a:t> discount banner, private label, fulfilment hubs</a:t>
            </a:r>
          </a:p>
        </p:txBody>
      </p:sp>
      <p:sp>
        <p:nvSpPr>
          <p:cNvPr id="44" name="cpe|commentary|text|43"/>
          <p:cNvSpPr txBox="1"/>
          <p:nvPr/>
        </p:nvSpPr>
        <p:spPr>
          <a:xfrm>
            <a:off x="4344314" y="5646420"/>
            <a:ext cx="3503066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222"/>
                </a:solidFill>
                <a:latin typeface="Calibri"/>
              </a:rPr>
              <a:t>Changed:</a:t>
            </a:r>
            <a:r>
              <a:rPr sz="1400" b="0">
                <a:solidFill>
                  <a:srgbClr val="222222"/>
                </a:solidFill>
                <a:latin typeface="Calibri"/>
              </a:rPr>
              <a:t> pricing moves to the centre; category teams own margin</a:t>
            </a:r>
          </a:p>
        </p:txBody>
      </p:sp>
      <p:sp>
        <p:nvSpPr>
          <p:cNvPr id="45" name="cpe|commentary|text|44"/>
          <p:cNvSpPr txBox="1"/>
          <p:nvPr/>
        </p:nvSpPr>
        <p:spPr>
          <a:xfrm>
            <a:off x="8048549" y="5646420"/>
            <a:ext cx="3503066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86168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640080" y="1481328"/>
            <a:ext cx="1441460" cy="1110996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731520" y="1481328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172980" y="1481328"/>
            <a:ext cx="1203716" cy="1110996"/>
          </a:xfrm>
          <a:prstGeom prst="rect">
            <a:avLst/>
          </a:prstGeom>
          <a:solidFill>
            <a:srgbClr val="C8A24A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227844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3449848" y="1481328"/>
            <a:ext cx="1203716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3504712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4726716" y="1481328"/>
            <a:ext cx="1203716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4781580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6003585" y="1481328"/>
            <a:ext cx="1203716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6058449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640080" y="2683764"/>
            <a:ext cx="1441460" cy="1110996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731520" y="2683764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172980" y="2683764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227844" y="2683764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3875471" y="2683764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3930335" y="2683764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5577962" y="2683764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5632826" y="2683764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640080" y="3886200"/>
            <a:ext cx="1441460" cy="1110996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731520" y="3886200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172980" y="3886200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227844" y="3886200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3875471" y="3886200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3930335" y="3886200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5577962" y="3886200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632826" y="3886200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640080" y="5088636"/>
            <a:ext cx="1441460" cy="1110996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731520" y="5088636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172980" y="5088636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227844" y="5088636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3875471" y="5088636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3930335" y="5088636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5577962" y="5088636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5632826" y="5088636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7280453" y="1481328"/>
            <a:ext cx="566928" cy="4718304"/>
          </a:xfrm>
          <a:prstGeom prst="rect">
            <a:avLst/>
          </a:prstGeom>
          <a:solidFill>
            <a:srgbClr val="F4F4F4"/>
          </a:solidFill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7280453" y="1572768"/>
            <a:ext cx="566928" cy="453542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New:</a:t>
            </a:r>
            <a:r>
              <a:rPr sz="1200" b="0">
                <a:solidFill>
                  <a:srgbClr val="222222"/>
                </a:solidFill>
                <a:latin typeface="Calibri"/>
              </a:rPr>
              <a:t> discount banner, private label, fulfilment hubs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Changed:</a:t>
            </a:r>
            <a:r>
              <a:rPr sz="1200" b="0">
                <a:solidFill>
                  <a:srgbClr val="222222"/>
                </a:solidFill>
                <a:latin typeface="Calibri"/>
              </a:rPr>
              <a:t> pricing moves to the centre; category teams own margin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86168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640080" y="1481328"/>
            <a:ext cx="1441460" cy="1110996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731520" y="1481328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172980" y="1481328"/>
            <a:ext cx="1203716" cy="1110996"/>
          </a:xfrm>
          <a:prstGeom prst="rect">
            <a:avLst/>
          </a:prstGeom>
          <a:solidFill>
            <a:srgbClr val="C8A24A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227844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3449848" y="1481328"/>
            <a:ext cx="1203716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3504712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4726716" y="1481328"/>
            <a:ext cx="1203716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4781580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6003585" y="1481328"/>
            <a:ext cx="1203716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6058449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640080" y="2683764"/>
            <a:ext cx="1441460" cy="1110996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731520" y="2683764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172980" y="2683764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227844" y="2683764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3875471" y="2683764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3930335" y="2683764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5577962" y="2683764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5632826" y="2683764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640080" y="3886200"/>
            <a:ext cx="1441460" cy="1110996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731520" y="3886200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172980" y="3886200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227844" y="3886200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3875471" y="3886200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3930335" y="3886200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5577962" y="3886200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632826" y="3886200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640080" y="5088636"/>
            <a:ext cx="1441460" cy="1110996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731520" y="5088636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172980" y="5088636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227844" y="5088636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3875471" y="5088636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3930335" y="5088636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5577962" y="5088636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5632826" y="5088636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7280453" y="1481328"/>
            <a:ext cx="566928" cy="4718304"/>
          </a:xfrm>
          <a:prstGeom prst="rect">
            <a:avLst/>
          </a:prstGeom>
          <a:solidFill>
            <a:srgbClr val="F4F4F4"/>
          </a:solidFill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7280453" y="1572768"/>
            <a:ext cx="566928" cy="453542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22222"/>
                </a:solidFill>
                <a:latin typeface="Calibri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New:</a:t>
            </a:r>
            <a:r>
              <a:rPr sz="1400" b="0">
                <a:solidFill>
                  <a:srgbClr val="222222"/>
                </a:solidFill>
                <a:latin typeface="Calibri"/>
              </a:rPr>
              <a:t> discount banner, private label, fulfilment hubs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Changed:</a:t>
            </a:r>
            <a:r>
              <a:rPr sz="1400" b="0">
                <a:solidFill>
                  <a:srgbClr val="222222"/>
                </a:solidFill>
                <a:latin typeface="Calibri"/>
              </a:rPr>
              <a:t> pricing moves to the centre; category teams own margin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222222"/>
                </a:solidFill>
                <a:latin typeface="Calibri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86168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640080" y="1481328"/>
            <a:ext cx="1441460" cy="1110996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731520" y="1481328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172980" y="1481328"/>
            <a:ext cx="1203716" cy="1110996"/>
          </a:xfrm>
          <a:prstGeom prst="rect">
            <a:avLst/>
          </a:prstGeom>
          <a:solidFill>
            <a:srgbClr val="C8A24A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227844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3449848" y="1481328"/>
            <a:ext cx="1203716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3504712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4726716" y="1481328"/>
            <a:ext cx="1203716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4781580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6003585" y="1481328"/>
            <a:ext cx="1203716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6058449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640080" y="2683764"/>
            <a:ext cx="1441460" cy="1110996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731520" y="2683764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172980" y="2683764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227844" y="2683764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3875471" y="2683764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3930335" y="2683764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5577962" y="2683764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5632826" y="2683764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640080" y="3886200"/>
            <a:ext cx="1441460" cy="1110996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731520" y="3886200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172980" y="3886200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227844" y="3886200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3875471" y="3886200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3930335" y="3886200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5577962" y="3886200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632826" y="3886200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640080" y="5088636"/>
            <a:ext cx="1441460" cy="1110996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731520" y="5088636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172980" y="5088636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227844" y="5088636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3875471" y="5088636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3930335" y="5088636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5577962" y="5088636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5632826" y="5088636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7280453" y="1481328"/>
            <a:ext cx="566928" cy="4718304"/>
          </a:xfrm>
          <a:prstGeom prst="rect">
            <a:avLst/>
          </a:prstGeom>
          <a:solidFill>
            <a:srgbClr val="F4F4F4"/>
          </a:solidFill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7280453" y="1572768"/>
            <a:ext cx="566928" cy="453542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222"/>
                </a:solidFill>
                <a:latin typeface="Calibri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New:</a:t>
            </a:r>
            <a:r>
              <a:rPr sz="1200" b="0">
                <a:solidFill>
                  <a:srgbClr val="222222"/>
                </a:solidFill>
                <a:latin typeface="Calibri"/>
              </a:rPr>
              <a:t> discount banner, private label, fulfilment hubs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222222"/>
                </a:solidFill>
                <a:latin typeface="Calibri"/>
              </a:rPr>
              <a:t>Changed:</a:t>
            </a:r>
            <a:r>
              <a:rPr sz="1200" b="0">
                <a:solidFill>
                  <a:srgbClr val="222222"/>
                </a:solidFill>
                <a:latin typeface="Calibri"/>
              </a:rPr>
              <a:t> pricing moves to the centre; category teams own margin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386168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640080" y="1481328"/>
            <a:ext cx="1441460" cy="1110996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731520" y="1481328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172980" y="1481328"/>
            <a:ext cx="1203716" cy="1110996"/>
          </a:xfrm>
          <a:prstGeom prst="rect">
            <a:avLst/>
          </a:prstGeom>
          <a:solidFill>
            <a:srgbClr val="C8A24A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227844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3449848" y="1481328"/>
            <a:ext cx="1203716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3504712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4726716" y="1481328"/>
            <a:ext cx="1203716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4781580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6003585" y="1481328"/>
            <a:ext cx="1203716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6058449" y="1481328"/>
            <a:ext cx="1093988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640080" y="2683764"/>
            <a:ext cx="1441460" cy="1110996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731520" y="2683764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172980" y="2683764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227844" y="2683764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3875471" y="2683764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3930335" y="2683764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5577962" y="2683764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5632826" y="2683764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640080" y="3886200"/>
            <a:ext cx="1441460" cy="1110996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731520" y="3886200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172980" y="3886200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227844" y="3886200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3875471" y="3886200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3930335" y="3886200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5577962" y="3886200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632826" y="3886200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640080" y="5088636"/>
            <a:ext cx="1441460" cy="1110996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731520" y="5088636"/>
            <a:ext cx="125858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172980" y="5088636"/>
            <a:ext cx="1629339" cy="1110996"/>
          </a:xfrm>
          <a:prstGeom prst="rect">
            <a:avLst/>
          </a:prstGeom>
          <a:solidFill>
            <a:srgbClr val="F0F0F0"/>
          </a:solidFill>
          <a:ln w="19050">
            <a:solidFill>
              <a:srgbClr val="C8A24A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227844" y="5088636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3875471" y="5088636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3930335" y="5088636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5577962" y="5088636"/>
            <a:ext cx="1629339" cy="11109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5632826" y="5088636"/>
            <a:ext cx="1519611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7280453" y="1481328"/>
            <a:ext cx="566928" cy="4718304"/>
          </a:xfrm>
          <a:prstGeom prst="rect">
            <a:avLst/>
          </a:prstGeom>
          <a:solidFill>
            <a:srgbClr val="F4F4F4"/>
          </a:solidFill>
          <a:ln w="6350">
            <a:solidFill>
              <a:srgbClr val="B8B8B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7280453" y="1572768"/>
            <a:ext cx="566928" cy="453542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22222"/>
                </a:solidFill>
                <a:latin typeface="Calibri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New:</a:t>
            </a:r>
            <a:r>
              <a:rPr sz="1400" b="0">
                <a:solidFill>
                  <a:srgbClr val="222222"/>
                </a:solidFill>
                <a:latin typeface="Calibri"/>
              </a:rPr>
              <a:t> discount banner, private label, fulfilment hubs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Changed:</a:t>
            </a:r>
            <a:r>
              <a:rPr sz="1400" b="0">
                <a:solidFill>
                  <a:srgbClr val="222222"/>
                </a:solidFill>
                <a:latin typeface="Calibri"/>
              </a:rPr>
              <a:t> pricing moves to the centre; category teams own margin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222222"/>
                </a:solidFill>
                <a:latin typeface="Calibri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ROADMAP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432386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 plan in three waves over 24 months secures quick margin wins before scaling the banner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10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3414296" y="1481328"/>
            <a:ext cx="3021777" cy="27432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3450872" y="1481328"/>
            <a:ext cx="294862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Wave 1: Fix margins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6472649" y="1481328"/>
            <a:ext cx="2002326" cy="27432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6509225" y="1481328"/>
            <a:ext cx="192917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Wave 2: Pilot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8511551" y="1481328"/>
            <a:ext cx="3021777" cy="27432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8548127" y="1481328"/>
            <a:ext cx="294862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Wave 3: Scale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3396008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Q1 26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4415459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Q2 26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5434910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Q3 26</a:t>
            </a:r>
          </a:p>
        </p:txBody>
      </p:sp>
      <p:sp>
        <p:nvSpPr>
          <p:cNvPr id="15" name="cpe|exhibit|text|14"/>
          <p:cNvSpPr txBox="1"/>
          <p:nvPr/>
        </p:nvSpPr>
        <p:spPr>
          <a:xfrm>
            <a:off x="6454361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Q4 26</a:t>
            </a:r>
          </a:p>
        </p:txBody>
      </p:sp>
      <p:sp>
        <p:nvSpPr>
          <p:cNvPr id="16" name="cpe|exhibit|text|15"/>
          <p:cNvSpPr txBox="1"/>
          <p:nvPr/>
        </p:nvSpPr>
        <p:spPr>
          <a:xfrm>
            <a:off x="7473812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Q1 27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8493263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Q2 27</a:t>
            </a:r>
          </a:p>
        </p:txBody>
      </p:sp>
      <p:sp>
        <p:nvSpPr>
          <p:cNvPr id="18" name="cpe|exhibit|text|17"/>
          <p:cNvSpPr txBox="1"/>
          <p:nvPr/>
        </p:nvSpPr>
        <p:spPr>
          <a:xfrm>
            <a:off x="9512714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Q3 27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10532164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Q4 27</a:t>
            </a:r>
          </a:p>
        </p:txBody>
      </p:sp>
      <p:cxnSp>
        <p:nvCxnSpPr>
          <p:cNvPr id="20" name="cpe|exhibit|line|19"/>
          <p:cNvCxnSpPr/>
          <p:nvPr/>
        </p:nvCxnSpPr>
        <p:spPr>
          <a:xfrm>
            <a:off x="640080" y="2121408"/>
            <a:ext cx="10911535" cy="0"/>
          </a:xfrm>
          <a:prstGeom prst="line">
            <a:avLst/>
          </a:prstGeom>
          <a:ln w="9525">
            <a:solidFill>
              <a:srgbClr val="1B3A2F"/>
            </a:solidFill>
          </a:ln>
        </p:spPr>
      </p:cxnSp>
      <p:cxnSp>
        <p:nvCxnSpPr>
          <p:cNvPr id="21" name="cpe|exhibit|line|20"/>
          <p:cNvCxnSpPr/>
          <p:nvPr/>
        </p:nvCxnSpPr>
        <p:spPr>
          <a:xfrm>
            <a:off x="4415459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2" name="cpe|exhibit|line|21"/>
          <p:cNvCxnSpPr/>
          <p:nvPr/>
        </p:nvCxnSpPr>
        <p:spPr>
          <a:xfrm>
            <a:off x="5434910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3" name="cpe|exhibit|line|22"/>
          <p:cNvCxnSpPr/>
          <p:nvPr/>
        </p:nvCxnSpPr>
        <p:spPr>
          <a:xfrm>
            <a:off x="6454361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4" name="cpe|exhibit|line|23"/>
          <p:cNvCxnSpPr/>
          <p:nvPr/>
        </p:nvCxnSpPr>
        <p:spPr>
          <a:xfrm>
            <a:off x="7473812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5" name="cpe|exhibit|line|24"/>
          <p:cNvCxnSpPr/>
          <p:nvPr/>
        </p:nvCxnSpPr>
        <p:spPr>
          <a:xfrm>
            <a:off x="8493263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6" name="cpe|exhibit|line|25"/>
          <p:cNvCxnSpPr/>
          <p:nvPr/>
        </p:nvCxnSpPr>
        <p:spPr>
          <a:xfrm>
            <a:off x="9512714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7" name="cpe|exhibit|line|26"/>
          <p:cNvCxnSpPr/>
          <p:nvPr/>
        </p:nvCxnSpPr>
        <p:spPr>
          <a:xfrm>
            <a:off x="10532164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3905734" y="2075688"/>
            <a:ext cx="0" cy="3447288"/>
          </a:xfrm>
          <a:prstGeom prst="line">
            <a:avLst/>
          </a:prstGeom>
          <a:ln w="9525">
            <a:solidFill>
              <a:srgbClr val="C8A24A"/>
            </a:solidFill>
            <a:prstDash val="dash"/>
          </a:ln>
        </p:spPr>
      </p:cxnSp>
      <p:sp>
        <p:nvSpPr>
          <p:cNvPr id="29" name="cpe|exhibit|label|28"/>
          <p:cNvSpPr txBox="1"/>
          <p:nvPr/>
        </p:nvSpPr>
        <p:spPr>
          <a:xfrm>
            <a:off x="3448534" y="554126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F6F6F"/>
                </a:solidFill>
                <a:latin typeface="Calibri"/>
              </a:rPr>
              <a:t>Today</a:t>
            </a:r>
          </a:p>
        </p:txBody>
      </p:sp>
      <p:sp>
        <p:nvSpPr>
          <p:cNvPr id="30" name="cpe|exhibit|text|29"/>
          <p:cNvSpPr txBox="1"/>
          <p:nvPr/>
        </p:nvSpPr>
        <p:spPr>
          <a:xfrm>
            <a:off x="640080" y="2121408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Pricing &amp; promo reset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3423440" y="2257471"/>
            <a:ext cx="3003489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3478304" y="2257471"/>
            <a:ext cx="2893761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Reset 1,200 SKUs</a:t>
            </a:r>
          </a:p>
        </p:txBody>
      </p:sp>
      <p:cxnSp>
        <p:nvCxnSpPr>
          <p:cNvPr id="33" name="cpe|exhibit|line|32"/>
          <p:cNvCxnSpPr/>
          <p:nvPr/>
        </p:nvCxnSpPr>
        <p:spPr>
          <a:xfrm>
            <a:off x="640080" y="2688336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34" name="cpe|exhibit|text|33"/>
          <p:cNvSpPr txBox="1"/>
          <p:nvPr/>
        </p:nvSpPr>
        <p:spPr>
          <a:xfrm>
            <a:off x="640080" y="2688336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Fresh &amp; food-to-go margins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3423440" y="2824399"/>
            <a:ext cx="4022939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3478304" y="2824399"/>
            <a:ext cx="3913211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Waste &amp; range</a:t>
            </a:r>
          </a:p>
        </p:txBody>
      </p:sp>
      <p:cxnSp>
        <p:nvCxnSpPr>
          <p:cNvPr id="37" name="cpe|exhibit|line|36"/>
          <p:cNvCxnSpPr/>
          <p:nvPr/>
        </p:nvCxnSpPr>
        <p:spPr>
          <a:xfrm>
            <a:off x="640080" y="3255264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38" name="cpe|exhibit|text|37"/>
          <p:cNvSpPr txBox="1"/>
          <p:nvPr/>
        </p:nvSpPr>
        <p:spPr>
          <a:xfrm>
            <a:off x="640080" y="3255264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Cost programme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4442891" y="3391327"/>
            <a:ext cx="6061841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4497755" y="3391327"/>
            <a:ext cx="5952113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Labour scheduling, energy</a:t>
            </a:r>
          </a:p>
        </p:txBody>
      </p:sp>
      <p:cxnSp>
        <p:nvCxnSpPr>
          <p:cNvPr id="41" name="cpe|exhibit|line|40"/>
          <p:cNvCxnSpPr/>
          <p:nvPr/>
        </p:nvCxnSpPr>
        <p:spPr>
          <a:xfrm>
            <a:off x="640080" y="3822192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42" name="cpe|exhibit|text|41"/>
          <p:cNvSpPr txBox="1"/>
          <p:nvPr/>
        </p:nvSpPr>
        <p:spPr>
          <a:xfrm>
            <a:off x="640080" y="3822192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Private label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5462342" y="3958255"/>
            <a:ext cx="6061841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5517206" y="3958255"/>
            <a:ext cx="5952113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25% → 35% of sales</a:t>
            </a:r>
          </a:p>
        </p:txBody>
      </p:sp>
      <p:cxnSp>
        <p:nvCxnSpPr>
          <p:cNvPr id="45" name="cpe|exhibit|line|44"/>
          <p:cNvCxnSpPr/>
          <p:nvPr/>
        </p:nvCxnSpPr>
        <p:spPr>
          <a:xfrm>
            <a:off x="640080" y="4389120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46" name="cpe|exhibit|text|45"/>
          <p:cNvSpPr txBox="1"/>
          <p:nvPr/>
        </p:nvSpPr>
        <p:spPr>
          <a:xfrm>
            <a:off x="640080" y="4389120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Discount banner</a:t>
            </a:r>
          </a:p>
        </p:txBody>
      </p:sp>
      <p:sp>
        <p:nvSpPr>
          <p:cNvPr id="47" name="cpe|exhibit|fill|46"/>
          <p:cNvSpPr/>
          <p:nvPr/>
        </p:nvSpPr>
        <p:spPr>
          <a:xfrm>
            <a:off x="6481793" y="4604553"/>
            <a:ext cx="1984038" cy="294803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text|47"/>
          <p:cNvSpPr txBox="1"/>
          <p:nvPr/>
        </p:nvSpPr>
        <p:spPr>
          <a:xfrm>
            <a:off x="6536657" y="4604553"/>
            <a:ext cx="1874310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Pilot 20 stores</a:t>
            </a:r>
          </a:p>
        </p:txBody>
      </p:sp>
      <p:sp>
        <p:nvSpPr>
          <p:cNvPr id="49" name="cpe|exhibit|fill|48"/>
          <p:cNvSpPr/>
          <p:nvPr/>
        </p:nvSpPr>
        <p:spPr>
          <a:xfrm>
            <a:off x="8520695" y="4604553"/>
            <a:ext cx="3003489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text|49"/>
          <p:cNvSpPr txBox="1"/>
          <p:nvPr/>
        </p:nvSpPr>
        <p:spPr>
          <a:xfrm>
            <a:off x="8703575" y="4604553"/>
            <a:ext cx="2765745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Roll out 150 stores</a:t>
            </a:r>
          </a:p>
        </p:txBody>
      </p:sp>
      <p:sp>
        <p:nvSpPr>
          <p:cNvPr id="51" name="cpe|exhibit|marker|50"/>
          <p:cNvSpPr/>
          <p:nvPr/>
        </p:nvSpPr>
        <p:spPr>
          <a:xfrm>
            <a:off x="8401823" y="4660514"/>
            <a:ext cx="182880" cy="182880"/>
          </a:xfrm>
          <a:prstGeom prst="diamond">
            <a:avLst/>
          </a:prstGeom>
          <a:solidFill>
            <a:srgbClr val="C8A24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cpe|exhibit|label|51"/>
          <p:cNvSpPr txBox="1"/>
          <p:nvPr/>
        </p:nvSpPr>
        <p:spPr>
          <a:xfrm>
            <a:off x="8199119" y="4403385"/>
            <a:ext cx="588288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22222"/>
                </a:solidFill>
                <a:latin typeface="Calibri"/>
              </a:rPr>
              <a:t>Go / no-go</a:t>
            </a:r>
          </a:p>
        </p:txBody>
      </p:sp>
      <p:cxnSp>
        <p:nvCxnSpPr>
          <p:cNvPr id="53" name="cpe|exhibit|line|52"/>
          <p:cNvCxnSpPr/>
          <p:nvPr/>
        </p:nvCxnSpPr>
        <p:spPr>
          <a:xfrm>
            <a:off x="640080" y="4956048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54" name="cpe|exhibit|text|53"/>
          <p:cNvSpPr txBox="1"/>
          <p:nvPr/>
        </p:nvSpPr>
        <p:spPr>
          <a:xfrm>
            <a:off x="640080" y="4956048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Online fulfilment hubs</a:t>
            </a:r>
          </a:p>
        </p:txBody>
      </p:sp>
      <p:sp>
        <p:nvSpPr>
          <p:cNvPr id="55" name="cpe|exhibit|fill|54"/>
          <p:cNvSpPr/>
          <p:nvPr/>
        </p:nvSpPr>
        <p:spPr>
          <a:xfrm>
            <a:off x="7501244" y="5092111"/>
            <a:ext cx="4022939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cpe|exhibit|text|55"/>
          <p:cNvSpPr txBox="1"/>
          <p:nvPr/>
        </p:nvSpPr>
        <p:spPr>
          <a:xfrm>
            <a:off x="7556108" y="5092111"/>
            <a:ext cx="3913211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2 hubs</a:t>
            </a:r>
          </a:p>
        </p:txBody>
      </p:sp>
      <p:cxnSp>
        <p:nvCxnSpPr>
          <p:cNvPr id="57" name="cpe|exhibit|line|56"/>
          <p:cNvCxnSpPr/>
          <p:nvPr/>
        </p:nvCxnSpPr>
        <p:spPr>
          <a:xfrm>
            <a:off x="640080" y="5522976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ROADMAP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432386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 plan in three waves over 24 months secures quick margin wins before scaling the banner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10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3414296" y="1481328"/>
            <a:ext cx="3021777" cy="27432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3450872" y="1481328"/>
            <a:ext cx="294862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Wave 1: Fix margins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6472649" y="1481328"/>
            <a:ext cx="2002326" cy="27432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6509225" y="1481328"/>
            <a:ext cx="192917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Wave 2: Pilot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8511551" y="1481328"/>
            <a:ext cx="3021777" cy="27432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8548127" y="1481328"/>
            <a:ext cx="294862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Wave 3: Scale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3396008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Q1 26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4415459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Q2 26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5434910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Q3 26</a:t>
            </a:r>
          </a:p>
        </p:txBody>
      </p:sp>
      <p:sp>
        <p:nvSpPr>
          <p:cNvPr id="15" name="cpe|exhibit|text|14"/>
          <p:cNvSpPr txBox="1"/>
          <p:nvPr/>
        </p:nvSpPr>
        <p:spPr>
          <a:xfrm>
            <a:off x="6454361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Q4 26</a:t>
            </a:r>
          </a:p>
        </p:txBody>
      </p:sp>
      <p:sp>
        <p:nvSpPr>
          <p:cNvPr id="16" name="cpe|exhibit|text|15"/>
          <p:cNvSpPr txBox="1"/>
          <p:nvPr/>
        </p:nvSpPr>
        <p:spPr>
          <a:xfrm>
            <a:off x="7473812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Q1 27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8493263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Q2 27</a:t>
            </a:r>
          </a:p>
        </p:txBody>
      </p:sp>
      <p:sp>
        <p:nvSpPr>
          <p:cNvPr id="18" name="cpe|exhibit|text|17"/>
          <p:cNvSpPr txBox="1"/>
          <p:nvPr/>
        </p:nvSpPr>
        <p:spPr>
          <a:xfrm>
            <a:off x="9512714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Q3 27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10532164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Q4 27</a:t>
            </a:r>
          </a:p>
        </p:txBody>
      </p:sp>
      <p:cxnSp>
        <p:nvCxnSpPr>
          <p:cNvPr id="20" name="cpe|exhibit|line|19"/>
          <p:cNvCxnSpPr/>
          <p:nvPr/>
        </p:nvCxnSpPr>
        <p:spPr>
          <a:xfrm>
            <a:off x="640080" y="2121408"/>
            <a:ext cx="10911535" cy="0"/>
          </a:xfrm>
          <a:prstGeom prst="line">
            <a:avLst/>
          </a:prstGeom>
          <a:ln w="9525">
            <a:solidFill>
              <a:srgbClr val="1B3A2F"/>
            </a:solidFill>
          </a:ln>
        </p:spPr>
      </p:cxnSp>
      <p:cxnSp>
        <p:nvCxnSpPr>
          <p:cNvPr id="21" name="cpe|exhibit|line|20"/>
          <p:cNvCxnSpPr/>
          <p:nvPr/>
        </p:nvCxnSpPr>
        <p:spPr>
          <a:xfrm>
            <a:off x="4415459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2" name="cpe|exhibit|line|21"/>
          <p:cNvCxnSpPr/>
          <p:nvPr/>
        </p:nvCxnSpPr>
        <p:spPr>
          <a:xfrm>
            <a:off x="5434910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3" name="cpe|exhibit|line|22"/>
          <p:cNvCxnSpPr/>
          <p:nvPr/>
        </p:nvCxnSpPr>
        <p:spPr>
          <a:xfrm>
            <a:off x="6454361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4" name="cpe|exhibit|line|23"/>
          <p:cNvCxnSpPr/>
          <p:nvPr/>
        </p:nvCxnSpPr>
        <p:spPr>
          <a:xfrm>
            <a:off x="7473812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5" name="cpe|exhibit|line|24"/>
          <p:cNvCxnSpPr/>
          <p:nvPr/>
        </p:nvCxnSpPr>
        <p:spPr>
          <a:xfrm>
            <a:off x="8493263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6" name="cpe|exhibit|line|25"/>
          <p:cNvCxnSpPr/>
          <p:nvPr/>
        </p:nvCxnSpPr>
        <p:spPr>
          <a:xfrm>
            <a:off x="9512714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7" name="cpe|exhibit|line|26"/>
          <p:cNvCxnSpPr/>
          <p:nvPr/>
        </p:nvCxnSpPr>
        <p:spPr>
          <a:xfrm>
            <a:off x="10532164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3905734" y="2075688"/>
            <a:ext cx="0" cy="3447288"/>
          </a:xfrm>
          <a:prstGeom prst="line">
            <a:avLst/>
          </a:prstGeom>
          <a:ln w="9525">
            <a:solidFill>
              <a:srgbClr val="C8A24A"/>
            </a:solidFill>
            <a:prstDash val="dash"/>
          </a:ln>
        </p:spPr>
      </p:cxnSp>
      <p:sp>
        <p:nvSpPr>
          <p:cNvPr id="29" name="cpe|exhibit|label|28"/>
          <p:cNvSpPr txBox="1"/>
          <p:nvPr/>
        </p:nvSpPr>
        <p:spPr>
          <a:xfrm>
            <a:off x="3448534" y="554126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F6F6F"/>
                </a:solidFill>
                <a:latin typeface="Calibri"/>
              </a:rPr>
              <a:t>Today</a:t>
            </a:r>
          </a:p>
        </p:txBody>
      </p:sp>
      <p:sp>
        <p:nvSpPr>
          <p:cNvPr id="30" name="cpe|exhibit|text|29"/>
          <p:cNvSpPr txBox="1"/>
          <p:nvPr/>
        </p:nvSpPr>
        <p:spPr>
          <a:xfrm>
            <a:off x="640080" y="2121408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Pricing &amp; promo reset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3423440" y="2257471"/>
            <a:ext cx="3003489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3478304" y="2257471"/>
            <a:ext cx="2893761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Reset 1,200 SKUs</a:t>
            </a:r>
          </a:p>
        </p:txBody>
      </p:sp>
      <p:cxnSp>
        <p:nvCxnSpPr>
          <p:cNvPr id="33" name="cpe|exhibit|line|32"/>
          <p:cNvCxnSpPr/>
          <p:nvPr/>
        </p:nvCxnSpPr>
        <p:spPr>
          <a:xfrm>
            <a:off x="640080" y="2688336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34" name="cpe|exhibit|text|33"/>
          <p:cNvSpPr txBox="1"/>
          <p:nvPr/>
        </p:nvSpPr>
        <p:spPr>
          <a:xfrm>
            <a:off x="640080" y="2688336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Fresh &amp; food-to-go margins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3423440" y="2824399"/>
            <a:ext cx="4022939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3478304" y="2824399"/>
            <a:ext cx="3913211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Waste &amp; range</a:t>
            </a:r>
          </a:p>
        </p:txBody>
      </p:sp>
      <p:cxnSp>
        <p:nvCxnSpPr>
          <p:cNvPr id="37" name="cpe|exhibit|line|36"/>
          <p:cNvCxnSpPr/>
          <p:nvPr/>
        </p:nvCxnSpPr>
        <p:spPr>
          <a:xfrm>
            <a:off x="640080" y="3255264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38" name="cpe|exhibit|text|37"/>
          <p:cNvSpPr txBox="1"/>
          <p:nvPr/>
        </p:nvSpPr>
        <p:spPr>
          <a:xfrm>
            <a:off x="640080" y="3255264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Cost programme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4442891" y="3391327"/>
            <a:ext cx="6061841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4497755" y="3391327"/>
            <a:ext cx="5952113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Labour scheduling, energy</a:t>
            </a:r>
          </a:p>
        </p:txBody>
      </p:sp>
      <p:cxnSp>
        <p:nvCxnSpPr>
          <p:cNvPr id="41" name="cpe|exhibit|line|40"/>
          <p:cNvCxnSpPr/>
          <p:nvPr/>
        </p:nvCxnSpPr>
        <p:spPr>
          <a:xfrm>
            <a:off x="640080" y="3822192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42" name="cpe|exhibit|text|41"/>
          <p:cNvSpPr txBox="1"/>
          <p:nvPr/>
        </p:nvSpPr>
        <p:spPr>
          <a:xfrm>
            <a:off x="640080" y="3822192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Private label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5462342" y="3958255"/>
            <a:ext cx="6061841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5517206" y="3958255"/>
            <a:ext cx="5952113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25% → 35% of sales</a:t>
            </a:r>
          </a:p>
        </p:txBody>
      </p:sp>
      <p:cxnSp>
        <p:nvCxnSpPr>
          <p:cNvPr id="45" name="cpe|exhibit|line|44"/>
          <p:cNvCxnSpPr/>
          <p:nvPr/>
        </p:nvCxnSpPr>
        <p:spPr>
          <a:xfrm>
            <a:off x="640080" y="4389120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46" name="cpe|exhibit|text|45"/>
          <p:cNvSpPr txBox="1"/>
          <p:nvPr/>
        </p:nvSpPr>
        <p:spPr>
          <a:xfrm>
            <a:off x="640080" y="4389120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Discount banner</a:t>
            </a:r>
          </a:p>
        </p:txBody>
      </p:sp>
      <p:sp>
        <p:nvSpPr>
          <p:cNvPr id="47" name="cpe|exhibit|fill|46"/>
          <p:cNvSpPr/>
          <p:nvPr/>
        </p:nvSpPr>
        <p:spPr>
          <a:xfrm>
            <a:off x="6481793" y="4604553"/>
            <a:ext cx="1984038" cy="294803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text|47"/>
          <p:cNvSpPr txBox="1"/>
          <p:nvPr/>
        </p:nvSpPr>
        <p:spPr>
          <a:xfrm>
            <a:off x="6536657" y="4604553"/>
            <a:ext cx="1874310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Pilot 20 stores</a:t>
            </a:r>
          </a:p>
        </p:txBody>
      </p:sp>
      <p:sp>
        <p:nvSpPr>
          <p:cNvPr id="49" name="cpe|exhibit|fill|48"/>
          <p:cNvSpPr/>
          <p:nvPr/>
        </p:nvSpPr>
        <p:spPr>
          <a:xfrm>
            <a:off x="8520695" y="4604553"/>
            <a:ext cx="3003489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text|49"/>
          <p:cNvSpPr txBox="1"/>
          <p:nvPr/>
        </p:nvSpPr>
        <p:spPr>
          <a:xfrm>
            <a:off x="8703575" y="4604553"/>
            <a:ext cx="2765745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Roll out 150 stores</a:t>
            </a:r>
          </a:p>
        </p:txBody>
      </p:sp>
      <p:sp>
        <p:nvSpPr>
          <p:cNvPr id="51" name="cpe|exhibit|marker|50"/>
          <p:cNvSpPr/>
          <p:nvPr/>
        </p:nvSpPr>
        <p:spPr>
          <a:xfrm>
            <a:off x="8401823" y="4660514"/>
            <a:ext cx="182880" cy="182880"/>
          </a:xfrm>
          <a:prstGeom prst="diamond">
            <a:avLst/>
          </a:prstGeom>
          <a:solidFill>
            <a:srgbClr val="C8A24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cpe|exhibit|label|51"/>
          <p:cNvSpPr txBox="1"/>
          <p:nvPr/>
        </p:nvSpPr>
        <p:spPr>
          <a:xfrm>
            <a:off x="8199119" y="4403385"/>
            <a:ext cx="588288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22222"/>
                </a:solidFill>
                <a:latin typeface="Calibri"/>
              </a:rPr>
              <a:t>Go / no-go</a:t>
            </a:r>
          </a:p>
        </p:txBody>
      </p:sp>
      <p:cxnSp>
        <p:nvCxnSpPr>
          <p:cNvPr id="53" name="cpe|exhibit|line|52"/>
          <p:cNvCxnSpPr/>
          <p:nvPr/>
        </p:nvCxnSpPr>
        <p:spPr>
          <a:xfrm>
            <a:off x="640080" y="4956048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54" name="cpe|exhibit|text|53"/>
          <p:cNvSpPr txBox="1"/>
          <p:nvPr/>
        </p:nvSpPr>
        <p:spPr>
          <a:xfrm>
            <a:off x="640080" y="4956048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Online fulfilment hubs</a:t>
            </a:r>
          </a:p>
        </p:txBody>
      </p:sp>
      <p:sp>
        <p:nvSpPr>
          <p:cNvPr id="55" name="cpe|exhibit|fill|54"/>
          <p:cNvSpPr/>
          <p:nvPr/>
        </p:nvSpPr>
        <p:spPr>
          <a:xfrm>
            <a:off x="7501244" y="5092111"/>
            <a:ext cx="4022939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cpe|exhibit|text|55"/>
          <p:cNvSpPr txBox="1"/>
          <p:nvPr/>
        </p:nvSpPr>
        <p:spPr>
          <a:xfrm>
            <a:off x="7556108" y="5092111"/>
            <a:ext cx="3913211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2 hubs</a:t>
            </a:r>
          </a:p>
        </p:txBody>
      </p:sp>
      <p:cxnSp>
        <p:nvCxnSpPr>
          <p:cNvPr id="57" name="cpe|exhibit|line|56"/>
          <p:cNvCxnSpPr/>
          <p:nvPr/>
        </p:nvCxnSpPr>
        <p:spPr>
          <a:xfrm>
            <a:off x="640080" y="5522976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ROADMAP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7432386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A plan in three waves over 24 months secures quick margin wins before scaling the banner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10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3414296" y="1481328"/>
            <a:ext cx="3021777" cy="27432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3450872" y="1481328"/>
            <a:ext cx="294862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Wave 1: Fix margins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6472649" y="1481328"/>
            <a:ext cx="2002326" cy="27432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6509225" y="1481328"/>
            <a:ext cx="192917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Wave 2: Pilot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8511551" y="1481328"/>
            <a:ext cx="3021777" cy="27432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8548127" y="1481328"/>
            <a:ext cx="294862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Wave 3: Scale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3396008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Q1 26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4415459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Q2 26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5434910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Q3 26</a:t>
            </a:r>
          </a:p>
        </p:txBody>
      </p:sp>
      <p:sp>
        <p:nvSpPr>
          <p:cNvPr id="15" name="cpe|exhibit|text|14"/>
          <p:cNvSpPr txBox="1"/>
          <p:nvPr/>
        </p:nvSpPr>
        <p:spPr>
          <a:xfrm>
            <a:off x="6454361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Q4 26</a:t>
            </a:r>
          </a:p>
        </p:txBody>
      </p:sp>
      <p:sp>
        <p:nvSpPr>
          <p:cNvPr id="16" name="cpe|exhibit|text|15"/>
          <p:cNvSpPr txBox="1"/>
          <p:nvPr/>
        </p:nvSpPr>
        <p:spPr>
          <a:xfrm>
            <a:off x="7473812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Q1 27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8493263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Q2 27</a:t>
            </a:r>
          </a:p>
        </p:txBody>
      </p:sp>
      <p:sp>
        <p:nvSpPr>
          <p:cNvPr id="18" name="cpe|exhibit|text|17"/>
          <p:cNvSpPr txBox="1"/>
          <p:nvPr/>
        </p:nvSpPr>
        <p:spPr>
          <a:xfrm>
            <a:off x="9512714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Q3 27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10532164" y="1828800"/>
            <a:ext cx="101945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F6F6F"/>
                </a:solidFill>
                <a:latin typeface="Calibri"/>
              </a:rPr>
              <a:t>Q4 27</a:t>
            </a:r>
          </a:p>
        </p:txBody>
      </p:sp>
      <p:cxnSp>
        <p:nvCxnSpPr>
          <p:cNvPr id="20" name="cpe|exhibit|line|19"/>
          <p:cNvCxnSpPr/>
          <p:nvPr/>
        </p:nvCxnSpPr>
        <p:spPr>
          <a:xfrm>
            <a:off x="640080" y="2121408"/>
            <a:ext cx="10911535" cy="0"/>
          </a:xfrm>
          <a:prstGeom prst="line">
            <a:avLst/>
          </a:prstGeom>
          <a:ln w="9525">
            <a:solidFill>
              <a:srgbClr val="1B3A2F"/>
            </a:solidFill>
          </a:ln>
        </p:spPr>
      </p:cxnSp>
      <p:cxnSp>
        <p:nvCxnSpPr>
          <p:cNvPr id="21" name="cpe|exhibit|line|20"/>
          <p:cNvCxnSpPr/>
          <p:nvPr/>
        </p:nvCxnSpPr>
        <p:spPr>
          <a:xfrm>
            <a:off x="4415459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2" name="cpe|exhibit|line|21"/>
          <p:cNvCxnSpPr/>
          <p:nvPr/>
        </p:nvCxnSpPr>
        <p:spPr>
          <a:xfrm>
            <a:off x="5434910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3" name="cpe|exhibit|line|22"/>
          <p:cNvCxnSpPr/>
          <p:nvPr/>
        </p:nvCxnSpPr>
        <p:spPr>
          <a:xfrm>
            <a:off x="6454361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4" name="cpe|exhibit|line|23"/>
          <p:cNvCxnSpPr/>
          <p:nvPr/>
        </p:nvCxnSpPr>
        <p:spPr>
          <a:xfrm>
            <a:off x="7473812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5" name="cpe|exhibit|line|24"/>
          <p:cNvCxnSpPr/>
          <p:nvPr/>
        </p:nvCxnSpPr>
        <p:spPr>
          <a:xfrm>
            <a:off x="8493263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6" name="cpe|exhibit|line|25"/>
          <p:cNvCxnSpPr/>
          <p:nvPr/>
        </p:nvCxnSpPr>
        <p:spPr>
          <a:xfrm>
            <a:off x="9512714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7" name="cpe|exhibit|line|26"/>
          <p:cNvCxnSpPr/>
          <p:nvPr/>
        </p:nvCxnSpPr>
        <p:spPr>
          <a:xfrm>
            <a:off x="10532164" y="2121408"/>
            <a:ext cx="0" cy="3401568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3905734" y="2075688"/>
            <a:ext cx="0" cy="3447288"/>
          </a:xfrm>
          <a:prstGeom prst="line">
            <a:avLst/>
          </a:prstGeom>
          <a:ln w="9525">
            <a:solidFill>
              <a:srgbClr val="C8A24A"/>
            </a:solidFill>
            <a:prstDash val="dash"/>
          </a:ln>
        </p:spPr>
      </p:cxnSp>
      <p:sp>
        <p:nvSpPr>
          <p:cNvPr id="29" name="cpe|exhibit|label|28"/>
          <p:cNvSpPr txBox="1"/>
          <p:nvPr/>
        </p:nvSpPr>
        <p:spPr>
          <a:xfrm>
            <a:off x="3448534" y="554126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F6F6F"/>
                </a:solidFill>
                <a:latin typeface="Calibri"/>
              </a:rPr>
              <a:t>Today</a:t>
            </a:r>
          </a:p>
        </p:txBody>
      </p:sp>
      <p:sp>
        <p:nvSpPr>
          <p:cNvPr id="30" name="cpe|exhibit|text|29"/>
          <p:cNvSpPr txBox="1"/>
          <p:nvPr/>
        </p:nvSpPr>
        <p:spPr>
          <a:xfrm>
            <a:off x="640080" y="2121408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Pricing &amp; promo reset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3423440" y="2257471"/>
            <a:ext cx="3003489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3478304" y="2257471"/>
            <a:ext cx="2893761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Reset 1,200 SKUs</a:t>
            </a:r>
          </a:p>
        </p:txBody>
      </p:sp>
      <p:cxnSp>
        <p:nvCxnSpPr>
          <p:cNvPr id="33" name="cpe|exhibit|line|32"/>
          <p:cNvCxnSpPr/>
          <p:nvPr/>
        </p:nvCxnSpPr>
        <p:spPr>
          <a:xfrm>
            <a:off x="640080" y="2688336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34" name="cpe|exhibit|text|33"/>
          <p:cNvSpPr txBox="1"/>
          <p:nvPr/>
        </p:nvSpPr>
        <p:spPr>
          <a:xfrm>
            <a:off x="640080" y="2688336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Fresh &amp; food-to-go margins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3423440" y="2824399"/>
            <a:ext cx="4022939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3478304" y="2824399"/>
            <a:ext cx="3913211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Waste &amp; range</a:t>
            </a:r>
          </a:p>
        </p:txBody>
      </p:sp>
      <p:cxnSp>
        <p:nvCxnSpPr>
          <p:cNvPr id="37" name="cpe|exhibit|line|36"/>
          <p:cNvCxnSpPr/>
          <p:nvPr/>
        </p:nvCxnSpPr>
        <p:spPr>
          <a:xfrm>
            <a:off x="640080" y="3255264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38" name="cpe|exhibit|text|37"/>
          <p:cNvSpPr txBox="1"/>
          <p:nvPr/>
        </p:nvSpPr>
        <p:spPr>
          <a:xfrm>
            <a:off x="640080" y="3255264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Cost programme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4442891" y="3391327"/>
            <a:ext cx="6061841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4497755" y="3391327"/>
            <a:ext cx="5952113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Labour scheduling, energy</a:t>
            </a:r>
          </a:p>
        </p:txBody>
      </p:sp>
      <p:cxnSp>
        <p:nvCxnSpPr>
          <p:cNvPr id="41" name="cpe|exhibit|line|40"/>
          <p:cNvCxnSpPr/>
          <p:nvPr/>
        </p:nvCxnSpPr>
        <p:spPr>
          <a:xfrm>
            <a:off x="640080" y="3822192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42" name="cpe|exhibit|text|41"/>
          <p:cNvSpPr txBox="1"/>
          <p:nvPr/>
        </p:nvSpPr>
        <p:spPr>
          <a:xfrm>
            <a:off x="640080" y="3822192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Private label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5462342" y="3958255"/>
            <a:ext cx="6061841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5517206" y="3958255"/>
            <a:ext cx="5952113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25% → 35% of sales</a:t>
            </a:r>
          </a:p>
        </p:txBody>
      </p:sp>
      <p:cxnSp>
        <p:nvCxnSpPr>
          <p:cNvPr id="45" name="cpe|exhibit|line|44"/>
          <p:cNvCxnSpPr/>
          <p:nvPr/>
        </p:nvCxnSpPr>
        <p:spPr>
          <a:xfrm>
            <a:off x="640080" y="4389120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46" name="cpe|exhibit|text|45"/>
          <p:cNvSpPr txBox="1"/>
          <p:nvPr/>
        </p:nvSpPr>
        <p:spPr>
          <a:xfrm>
            <a:off x="640080" y="4389120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Discount banner</a:t>
            </a:r>
          </a:p>
        </p:txBody>
      </p:sp>
      <p:sp>
        <p:nvSpPr>
          <p:cNvPr id="47" name="cpe|exhibit|fill|46"/>
          <p:cNvSpPr/>
          <p:nvPr/>
        </p:nvSpPr>
        <p:spPr>
          <a:xfrm>
            <a:off x="6481793" y="4604553"/>
            <a:ext cx="1984038" cy="294803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text|47"/>
          <p:cNvSpPr txBox="1"/>
          <p:nvPr/>
        </p:nvSpPr>
        <p:spPr>
          <a:xfrm>
            <a:off x="6536657" y="4604553"/>
            <a:ext cx="1874310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Calibri"/>
              </a:rPr>
              <a:t>Pilot 20 stores</a:t>
            </a:r>
          </a:p>
        </p:txBody>
      </p:sp>
      <p:sp>
        <p:nvSpPr>
          <p:cNvPr id="49" name="cpe|exhibit|fill|48"/>
          <p:cNvSpPr/>
          <p:nvPr/>
        </p:nvSpPr>
        <p:spPr>
          <a:xfrm>
            <a:off x="8520695" y="4604553"/>
            <a:ext cx="3003489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text|49"/>
          <p:cNvSpPr txBox="1"/>
          <p:nvPr/>
        </p:nvSpPr>
        <p:spPr>
          <a:xfrm>
            <a:off x="8703575" y="4604553"/>
            <a:ext cx="2765745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Roll out 150 stores</a:t>
            </a:r>
          </a:p>
        </p:txBody>
      </p:sp>
      <p:sp>
        <p:nvSpPr>
          <p:cNvPr id="51" name="cpe|exhibit|marker|50"/>
          <p:cNvSpPr/>
          <p:nvPr/>
        </p:nvSpPr>
        <p:spPr>
          <a:xfrm>
            <a:off x="8401823" y="4660514"/>
            <a:ext cx="182880" cy="182880"/>
          </a:xfrm>
          <a:prstGeom prst="diamond">
            <a:avLst/>
          </a:prstGeom>
          <a:solidFill>
            <a:srgbClr val="C8A24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cpe|exhibit|label|51"/>
          <p:cNvSpPr txBox="1"/>
          <p:nvPr/>
        </p:nvSpPr>
        <p:spPr>
          <a:xfrm>
            <a:off x="8199119" y="4403385"/>
            <a:ext cx="588288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22222"/>
                </a:solidFill>
                <a:latin typeface="Calibri"/>
              </a:rPr>
              <a:t>Go / no-go</a:t>
            </a:r>
          </a:p>
        </p:txBody>
      </p:sp>
      <p:cxnSp>
        <p:nvCxnSpPr>
          <p:cNvPr id="53" name="cpe|exhibit|line|52"/>
          <p:cNvCxnSpPr/>
          <p:nvPr/>
        </p:nvCxnSpPr>
        <p:spPr>
          <a:xfrm>
            <a:off x="640080" y="4956048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  <p:sp>
        <p:nvSpPr>
          <p:cNvPr id="54" name="cpe|exhibit|text|53"/>
          <p:cNvSpPr txBox="1"/>
          <p:nvPr/>
        </p:nvSpPr>
        <p:spPr>
          <a:xfrm>
            <a:off x="640080" y="4956048"/>
            <a:ext cx="261876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2222"/>
                </a:solidFill>
                <a:latin typeface="Calibri"/>
              </a:rPr>
              <a:t>Online fulfilment hubs</a:t>
            </a:r>
          </a:p>
        </p:txBody>
      </p:sp>
      <p:sp>
        <p:nvSpPr>
          <p:cNvPr id="55" name="cpe|exhibit|fill|54"/>
          <p:cNvSpPr/>
          <p:nvPr/>
        </p:nvSpPr>
        <p:spPr>
          <a:xfrm>
            <a:off x="7501244" y="5092111"/>
            <a:ext cx="4022939" cy="294803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cpe|exhibit|text|55"/>
          <p:cNvSpPr txBox="1"/>
          <p:nvPr/>
        </p:nvSpPr>
        <p:spPr>
          <a:xfrm>
            <a:off x="7556108" y="5092111"/>
            <a:ext cx="3913211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2 hubs</a:t>
            </a:r>
          </a:p>
        </p:txBody>
      </p:sp>
      <p:cxnSp>
        <p:nvCxnSpPr>
          <p:cNvPr id="57" name="cpe|exhibit|line|56"/>
          <p:cNvCxnSpPr/>
          <p:nvPr/>
        </p:nvCxnSpPr>
        <p:spPr>
          <a:xfrm>
            <a:off x="640080" y="5522976"/>
            <a:ext cx="10911535" cy="0"/>
          </a:xfrm>
          <a:prstGeom prst="line">
            <a:avLst/>
          </a:prstGeom>
          <a:ln w="6350">
            <a:solidFill>
              <a:srgbClr val="E4E4E4"/>
            </a:solidFill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VALUE AT STAKE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806451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Five initiatives adding €250M lift EBITDA to €1,067M by 2028, net of €40M market headwinds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Initiative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EBITDA 2025 to 2028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640080" y="1901952"/>
          <a:ext cx="10911535" cy="3502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40080" y="3957860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857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2004022" y="3605216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+60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3367964" y="3340734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+45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731906" y="2929316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+70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6095848" y="2606060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+55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7459790" y="2488512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+20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8823731" y="2488512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−40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10187673" y="2723608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1,067</a:t>
            </a:r>
          </a:p>
        </p:txBody>
      </p:sp>
      <p:cxnSp>
        <p:nvCxnSpPr>
          <p:cNvPr id="16" name="cpe|exhibit|connector|15"/>
          <p:cNvCxnSpPr/>
          <p:nvPr/>
        </p:nvCxnSpPr>
        <p:spPr>
          <a:xfrm>
            <a:off x="1792376" y="4223036"/>
            <a:ext cx="423292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3156318" y="3870392"/>
            <a:ext cx="423292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4520260" y="3605910"/>
            <a:ext cx="423292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5884201" y="3194492"/>
            <a:ext cx="423293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7248143" y="2871236"/>
            <a:ext cx="423293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8612085" y="2753688"/>
            <a:ext cx="423293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9976027" y="2988784"/>
            <a:ext cx="423292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sp>
        <p:nvSpPr>
          <p:cNvPr id="23" name="cpe|exhibit|marker|22"/>
          <p:cNvSpPr/>
          <p:nvPr/>
        </p:nvSpPr>
        <p:spPr>
          <a:xfrm>
            <a:off x="796862" y="4850735"/>
            <a:ext cx="1050378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10344455" y="4850735"/>
            <a:ext cx="1050378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takeaway|fill|24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takeaway|fill|25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takeaway|text|26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Cost and pricing levers deliver €130M of the uplift and are largely within management control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VALUE AT STAKE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806451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Five initiatives adding €250M lift EBITDA to €1,067M by 2028, net of €40M market headwinds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Initiative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EBITDA 2025 to 2028</a:t>
            </a:r>
            <a:r>
              <a:rPr sz="1100" b="0">
                <a:solidFill>
                  <a:srgbClr val="222222"/>
                </a:solidFill>
                <a:latin typeface="Calibri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640080" y="1901952"/>
          <a:ext cx="10911535" cy="3502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40080" y="3957860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857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2004022" y="3605216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+60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3367964" y="3340734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+45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731906" y="2929316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+70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6095848" y="2606060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+55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7459790" y="2488512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+20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8823731" y="2488512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−40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10187673" y="2723608"/>
            <a:ext cx="136394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1,067</a:t>
            </a:r>
          </a:p>
        </p:txBody>
      </p:sp>
      <p:cxnSp>
        <p:nvCxnSpPr>
          <p:cNvPr id="16" name="cpe|exhibit|connector|15"/>
          <p:cNvCxnSpPr/>
          <p:nvPr/>
        </p:nvCxnSpPr>
        <p:spPr>
          <a:xfrm>
            <a:off x="1792376" y="4223036"/>
            <a:ext cx="423292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3156318" y="3870392"/>
            <a:ext cx="423292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4520260" y="3605910"/>
            <a:ext cx="423292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5884201" y="3194492"/>
            <a:ext cx="423293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7248143" y="2871236"/>
            <a:ext cx="423293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8612085" y="2753688"/>
            <a:ext cx="423293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9976027" y="2988784"/>
            <a:ext cx="423292" cy="0"/>
          </a:xfrm>
          <a:prstGeom prst="line">
            <a:avLst/>
          </a:prstGeom>
          <a:ln w="6350">
            <a:solidFill>
              <a:srgbClr val="909090"/>
            </a:solidFill>
          </a:ln>
        </p:spPr>
      </p:cxnSp>
      <p:sp>
        <p:nvSpPr>
          <p:cNvPr id="23" name="cpe|exhibit|marker|22"/>
          <p:cNvSpPr/>
          <p:nvPr/>
        </p:nvSpPr>
        <p:spPr>
          <a:xfrm>
            <a:off x="796862" y="4850735"/>
            <a:ext cx="1050378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10344455" y="4850735"/>
            <a:ext cx="1050378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takeaway|fill|24"/>
          <p:cNvSpPr/>
          <p:nvPr/>
        </p:nvSpPr>
        <p:spPr>
          <a:xfrm>
            <a:off x="640080" y="5632704"/>
            <a:ext cx="10911535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takeaway|fill|25"/>
          <p:cNvSpPr/>
          <p:nvPr/>
        </p:nvSpPr>
        <p:spPr>
          <a:xfrm>
            <a:off x="640080" y="5632704"/>
            <a:ext cx="64008" cy="566928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takeaway|text|26"/>
          <p:cNvSpPr txBox="1"/>
          <p:nvPr/>
        </p:nvSpPr>
        <p:spPr>
          <a:xfrm>
            <a:off x="932688" y="5632704"/>
            <a:ext cx="1039032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3A2F"/>
                </a:solidFill>
                <a:latin typeface="Calibri"/>
              </a:rPr>
              <a:t>Cost and pricing levers deliver €130M of the uplift and are largely within management control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585702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7207300" cy="191452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694073"/>
                <a:gridCol w="800197"/>
                <a:gridCol w="753395"/>
                <a:gridCol w="753395"/>
              </a:tblGrid>
              <a:tr h="46405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351811" y="2488883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351811" y="2972372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351811" y="3455861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Wave 1 is self-funding by Q4 2026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585702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7207301" cy="349186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705864"/>
                <a:gridCol w="831297"/>
                <a:gridCol w="731950"/>
                <a:gridCol w="731950"/>
              </a:tblGrid>
              <a:tr h="716661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86067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86067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105384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362534" y="2930080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362534" y="3790760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362534" y="4748022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450" b="0">
                <a:solidFill>
                  <a:srgbClr val="222222"/>
                </a:solidFill>
                <a:latin typeface="Calibri"/>
              </a:rPr>
              <a:t>Wave 1 is self-funding by Q4 2026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450" b="0">
                <a:solidFill>
                  <a:srgbClr val="222222"/>
                </a:solidFill>
                <a:latin typeface="Calibri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585702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7207300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197440"/>
                <a:gridCol w="718009"/>
                <a:gridCol w="862447"/>
                <a:gridCol w="757158"/>
                <a:gridCol w="672246"/>
              </a:tblGrid>
              <a:tr h="80581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101536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123825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123825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392386" y="3096578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392386" y="4223385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392386" y="5461635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Wave 1 is self-funding by Q4 2026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585702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7207300" cy="191452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694073"/>
                <a:gridCol w="800197"/>
                <a:gridCol w="753395"/>
                <a:gridCol w="753395"/>
              </a:tblGrid>
              <a:tr h="46405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351811" y="2488883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351811" y="2972372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351811" y="3455861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Wave 1 is self-funding by Q4 2026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222222"/>
                </a:solidFill>
                <a:latin typeface="Calibri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585702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7207301" cy="349186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705864"/>
                <a:gridCol w="831297"/>
                <a:gridCol w="731950"/>
                <a:gridCol w="731950"/>
              </a:tblGrid>
              <a:tr h="716661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86067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86067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105384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362534" y="2930080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362534" y="3790760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362534" y="4748022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450" b="0">
                <a:solidFill>
                  <a:srgbClr val="222222"/>
                </a:solidFill>
                <a:latin typeface="Calibri"/>
              </a:rPr>
              <a:t>Wave 1 is self-funding by Q4 2026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450" b="0">
                <a:solidFill>
                  <a:srgbClr val="222222"/>
                </a:solidFill>
                <a:latin typeface="Calibri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585702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720730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7207300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197440"/>
                <a:gridCol w="718009"/>
                <a:gridCol w="862447"/>
                <a:gridCol w="757158"/>
                <a:gridCol w="672246"/>
              </a:tblGrid>
              <a:tr h="80581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101536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123825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123825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392386" y="3096578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392386" y="4223385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392386" y="5461635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8048549" y="1481328"/>
            <a:ext cx="0" cy="4718304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277149" y="1481328"/>
            <a:ext cx="327446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Wave 1 is self-funding by Q4 2026</a:t>
            </a:r>
          </a:p>
          <a:p>
            <a:pPr algn="l" marL="155448" indent="-155448">
              <a:lnSpc>
                <a:spcPct val="108000"/>
              </a:lnSpc>
              <a:buClr>
                <a:srgbClr val="222222"/>
              </a:buClr>
              <a:buSzPct val="100000"/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585702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5" cy="17510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1927985"/>
                <a:gridCol w="2034110"/>
                <a:gridCol w="1371600"/>
                <a:gridCol w="1371600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10746943" y="2325434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10746943" y="2808922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10746943" y="3292412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640080" y="5747004"/>
            <a:ext cx="10911535" cy="0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640080" y="5884164"/>
            <a:ext cx="535518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Wave 1 is self-funding by Q4 2026</a:t>
            </a:r>
          </a:p>
        </p:txBody>
      </p:sp>
      <p:sp>
        <p:nvSpPr>
          <p:cNvPr id="13" name="cpe|commentary|text|12"/>
          <p:cNvSpPr txBox="1"/>
          <p:nvPr/>
        </p:nvSpPr>
        <p:spPr>
          <a:xfrm>
            <a:off x="6196432" y="5884164"/>
            <a:ext cx="535518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222"/>
                </a:solidFill>
                <a:latin typeface="Calibri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585702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5" cy="329869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1918331"/>
                <a:gridCol w="2043764"/>
                <a:gridCol w="1371600"/>
                <a:gridCol w="1371600"/>
              </a:tblGrid>
              <a:tr h="52349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86067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86067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105384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10746943" y="2736914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10746943" y="3597592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10746943" y="4554855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640080" y="5709856"/>
            <a:ext cx="10911535" cy="0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640080" y="5847016"/>
            <a:ext cx="5355184" cy="352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22222"/>
                </a:solidFill>
                <a:latin typeface="Calibri"/>
              </a:rPr>
              <a:t>Wave 1 is self-funding by Q4 2026</a:t>
            </a:r>
          </a:p>
        </p:txBody>
      </p:sp>
      <p:sp>
        <p:nvSpPr>
          <p:cNvPr id="13" name="cpe|commentary|text|12"/>
          <p:cNvSpPr txBox="1"/>
          <p:nvPr/>
        </p:nvSpPr>
        <p:spPr>
          <a:xfrm>
            <a:off x="6196432" y="5847016"/>
            <a:ext cx="5355184" cy="352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22222"/>
                </a:solidFill>
                <a:latin typeface="Calibri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640080" y="274320"/>
            <a:ext cx="763807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6F6F"/>
                </a:solidFill>
                <a:latin typeface="Calibri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640080" y="475488"/>
            <a:ext cx="585702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3A2F"/>
                </a:solidFill>
                <a:latin typeface="Georgia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640080" y="6272784"/>
            <a:ext cx="853409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F6F6F"/>
                </a:solidFill>
                <a:latin typeface="Calibri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35705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640080" y="1481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Calibri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640080" y="1901952"/>
          <a:ext cx="10911535" cy="33467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1908677"/>
                <a:gridCol w="2053418"/>
                <a:gridCol w="1371600"/>
                <a:gridCol w="1371600"/>
              </a:tblGrid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B3A2F"/>
                      </a:solidFill>
                      <a:prstDash val="solid"/>
                    </a:lnB>
                    <a:noFill/>
                  </a:tcPr>
                </a:tc>
              </a:tr>
              <a:tr h="7726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99555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4E4E4"/>
                      </a:solidFill>
                      <a:prstDash val="solid"/>
                    </a:lnB>
                    <a:noFill/>
                  </a:tcPr>
                </a:tc>
              </a:tr>
              <a:tr h="99555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8B8B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10746943" y="2752344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10746943" y="3636454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10746943" y="4632007"/>
            <a:ext cx="237744" cy="237744"/>
          </a:xfrm>
          <a:prstGeom prst="ellipse">
            <a:avLst/>
          </a:prstGeom>
          <a:solidFill>
            <a:srgbClr val="2E6B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640080" y="5449824"/>
            <a:ext cx="10911535" cy="0"/>
          </a:xfrm>
          <a:prstGeom prst="line">
            <a:avLst/>
          </a:prstGeom>
          <a:ln w="9525">
            <a:solidFill>
              <a:srgbClr val="B8B8B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640080" y="5586984"/>
            <a:ext cx="5355184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22222"/>
                </a:solidFill>
                <a:latin typeface="Calibri"/>
              </a:rPr>
              <a:t>Wave 1 is self-funding by Q4 2026</a:t>
            </a:r>
          </a:p>
        </p:txBody>
      </p:sp>
      <p:sp>
        <p:nvSpPr>
          <p:cNvPr id="13" name="cpe|commentary|text|12"/>
          <p:cNvSpPr txBox="1"/>
          <p:nvPr/>
        </p:nvSpPr>
        <p:spPr>
          <a:xfrm>
            <a:off x="6196432" y="5586984"/>
            <a:ext cx="5355184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22222"/>
                </a:solidFill>
                <a:latin typeface="Calibri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strel">
      <a:dk1>
        <a:srgbClr val="222222"/>
      </a:dk1>
      <a:lt1>
        <a:srgbClr val="FFFFFF"/>
      </a:lt1>
      <a:dk2>
        <a:srgbClr val="1B3A2F"/>
      </a:dk2>
      <a:lt2>
        <a:srgbClr val="EEF2EE"/>
      </a:lt2>
      <a:accent1>
        <a:srgbClr val="2E6B4F"/>
      </a:accent1>
      <a:accent2>
        <a:srgbClr val="C8A24A"/>
      </a:accent2>
      <a:accent3>
        <a:srgbClr val="7FA88F"/>
      </a:accent3>
      <a:accent4>
        <a:srgbClr val="5B6770"/>
      </a:accent4>
      <a:accent5>
        <a:srgbClr val="A33A2B"/>
      </a:accent5>
      <a:accent6>
        <a:srgbClr val="3F8F5F"/>
      </a:accent6>
      <a:hlink>
        <a:srgbClr val="2E6B4F"/>
      </a:hlink>
      <a:folHlink>
        <a:srgbClr val="5B677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Repositioning Alvora for profitable growth</dc:title>
  <dc:subject>Alvora should reposition towards discount and fix category margins now to return EBITDA above €1bn by 2028</dc:subject>
  <dc:creator>Consulting Presentation Engine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