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4474"/>
          <c:h val="0.929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1B3A2F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ECECE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4E4E4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8B8B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C8A24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552"/>
          <c:w val="0.89348"/>
          <c:h val="0.8302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Alvora revenue (€bn)</c:v>
                </c:pt>
              </c:strCache>
            </c:strRef>
          </c:tx>
          <c:spPr>
            <a:solidFill>
              <a:srgbClr val="98A6A1"/>
            </a:solidFill>
          </c:spPr>
          <c:invertIfNegative val="0"/>
          <c:dPt>
            <c:idx val="3"/>
            <c:spPr>
              <a:solidFill>
                <a:srgbClr val="1B3A2F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12.7</c:v>
                </c:pt>
                <c:pt idx="2">
                  <c:v>13.2</c:v>
                </c:pt>
                <c:pt idx="3">
                  <c:v>13.6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4276"/>
          <c:w val="0.89348"/>
          <c:h val="0.888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Alvora growth</c:v>
                </c:pt>
              </c:strCache>
            </c:strRef>
          </c:tx>
          <c:spPr>
            <a:ln w="31750">
              <a:solidFill>
                <a:srgbClr val="1B3A2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6.7</c:v>
                </c:pt>
                <c:pt idx="2">
                  <c:v>3.9</c:v>
                </c:pt>
                <c:pt idx="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ln w="22225">
              <a:solidFill>
                <a:srgbClr val="90909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4.0</c:v>
                </c:pt>
                <c:pt idx="3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5"/>
          <c:min val="2.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62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157.0</c:v>
                </c:pt>
                <c:pt idx="2">
                  <c:v>217.0</c:v>
                </c:pt>
                <c:pt idx="3">
                  <c:v>262.0</c:v>
                </c:pt>
                <c:pt idx="4">
                  <c:v>332.0</c:v>
                </c:pt>
                <c:pt idx="5">
                  <c:v>387.0</c:v>
                </c:pt>
                <c:pt idx="6">
                  <c:v>367.0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157.0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367.0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</c:v>
                </c:pt>
                <c:pt idx="1">
                  <c:v>60.0</c:v>
                </c:pt>
                <c:pt idx="2">
                  <c:v>45.0</c:v>
                </c:pt>
                <c:pt idx="3">
                  <c:v>70.0</c:v>
                </c:pt>
                <c:pt idx="4">
                  <c:v>55.0</c:v>
                </c:pt>
                <c:pt idx="5">
                  <c:v>20.0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33A2B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40.0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board the whole answer on one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Alvora's growth has fallen below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 the EBITDA impact of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1B3A2F"/>
            </a:gs>
            <a:gs pos="100000">
              <a:srgbClr val="2E6B4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130425"/>
            <a:ext cx="1091153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406900"/>
            <a:ext cx="1091153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906713"/>
            <a:ext cx="1091153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600200"/>
            <a:ext cx="10911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1600200"/>
            <a:ext cx="10911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535113"/>
            <a:ext cx="109115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174875"/>
            <a:ext cx="109115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" y="1535113"/>
            <a:ext cx="109115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80" y="2174875"/>
            <a:ext cx="109115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3050"/>
            <a:ext cx="109115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73050"/>
            <a:ext cx="1091153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435100"/>
            <a:ext cx="109115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800600"/>
            <a:ext cx="109115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5367338"/>
            <a:ext cx="109115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0"/>
            <a:ext cx="1091153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080" y="274638"/>
            <a:ext cx="1091153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74638"/>
            <a:ext cx="1091153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74638"/>
            <a:ext cx="1091153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1091153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Kestrel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280" y="237744"/>
            <a:ext cx="1325880" cy="320040"/>
          </a:xfrm>
          <a:prstGeom prst="rect">
            <a:avLst/>
          </a:prstGeom>
        </p:spPr>
      </p:pic>
      <p:sp>
        <p:nvSpPr>
          <p:cNvPr id="3" name="Brand 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itle|text|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</a:rPr>
              <a:t>Repositioning Alvora for profitable growth</a:t>
            </a:r>
          </a:p>
        </p:txBody>
      </p:sp>
      <p:sp>
        <p:nvSpPr>
          <p:cNvPr id="3" name="cpe|subtitle|text|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100">
                <a:solidFill>
                  <a:srgbClr val="FFFFFF"/>
                </a:solidFill>
              </a:rPr>
              <a:t>Same deck spec, generated on the Kestrel Capital corporate template · Alvora Retail (fictitious)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can restore EBITDA to €1,067M by 2028 if it repositions towards discount now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2</a:t>
            </a:r>
          </a:p>
        </p:txBody>
      </p:sp>
      <p:sp>
        <p:nvSpPr>
          <p:cNvPr id="6" name="cpe|statements|text|5"/>
          <p:cNvSpPr txBox="1"/>
          <p:nvPr/>
        </p:nvSpPr>
        <p:spPr>
          <a:xfrm>
            <a:off x="640080" y="1517904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842"/>
                </a:solidFill>
                <a:latin typeface="Calibri"/>
              </a:rPr>
              <a:t>1</a:t>
            </a:r>
          </a:p>
        </p:txBody>
      </p:sp>
      <p:sp>
        <p:nvSpPr>
          <p:cNvPr id="7" name="cpe|statements|text|6"/>
          <p:cNvSpPr txBox="1"/>
          <p:nvPr/>
        </p:nvSpPr>
        <p:spPr>
          <a:xfrm>
            <a:off x="1143000" y="1517904"/>
            <a:ext cx="4143018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A2F"/>
                </a:solidFill>
                <a:latin typeface="Calibri"/>
              </a:rPr>
              <a:t>The market grows 4% a year, but discount and online capture 75% of it</a:t>
            </a:r>
          </a:p>
        </p:txBody>
      </p:sp>
      <p:sp>
        <p:nvSpPr>
          <p:cNvPr id="8" name="cpe|statements|text|7"/>
          <p:cNvSpPr txBox="1"/>
          <p:nvPr/>
        </p:nvSpPr>
        <p:spPr>
          <a:xfrm>
            <a:off x="5514618" y="1517904"/>
            <a:ext cx="6036997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Iberian grocery reached €142bn in 2025; discount (+7.8% CAGR) and online (+14.0%) outgrow supermarkets (+2.0%).</a:t>
            </a:r>
          </a:p>
        </p:txBody>
      </p:sp>
      <p:cxnSp>
        <p:nvCxnSpPr>
          <p:cNvPr id="9" name="cpe|statements|line|8"/>
          <p:cNvCxnSpPr/>
          <p:nvPr/>
        </p:nvCxnSpPr>
        <p:spPr>
          <a:xfrm>
            <a:off x="640080" y="2626614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10" name="cpe|statements|text|9"/>
          <p:cNvSpPr txBox="1"/>
          <p:nvPr/>
        </p:nvSpPr>
        <p:spPr>
          <a:xfrm>
            <a:off x="640080" y="2731770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842"/>
                </a:solidFill>
                <a:latin typeface="Calibri"/>
              </a:rPr>
              <a:t>2</a:t>
            </a:r>
          </a:p>
        </p:txBody>
      </p:sp>
      <p:sp>
        <p:nvSpPr>
          <p:cNvPr id="11" name="cpe|statements|text|10"/>
          <p:cNvSpPr txBox="1"/>
          <p:nvPr/>
        </p:nvSpPr>
        <p:spPr>
          <a:xfrm>
            <a:off x="1143000" y="2731770"/>
            <a:ext cx="4143018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A2F"/>
                </a:solidFill>
                <a:latin typeface="Calibri"/>
              </a:rPr>
              <a:t>Alvora is falling behind: growth of 3.0% is below the market for a second year</a:t>
            </a:r>
          </a:p>
        </p:txBody>
      </p:sp>
      <p:sp>
        <p:nvSpPr>
          <p:cNvPr id="12" name="cpe|statements|text|11"/>
          <p:cNvSpPr txBox="1"/>
          <p:nvPr/>
        </p:nvSpPr>
        <p:spPr>
          <a:xfrm>
            <a:off x="5514618" y="2731770"/>
            <a:ext cx="6036997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Its mix is 54% supermarkets and only 14% discount; share slipped to 9.6%.</a:t>
            </a:r>
          </a:p>
        </p:txBody>
      </p:sp>
      <p:cxnSp>
        <p:nvCxnSpPr>
          <p:cNvPr id="13" name="cpe|statements|line|12"/>
          <p:cNvCxnSpPr/>
          <p:nvPr/>
        </p:nvCxnSpPr>
        <p:spPr>
          <a:xfrm>
            <a:off x="640080" y="3840480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14" name="cpe|statements|text|13"/>
          <p:cNvSpPr txBox="1"/>
          <p:nvPr/>
        </p:nvSpPr>
        <p:spPr>
          <a:xfrm>
            <a:off x="640080" y="3945636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842"/>
                </a:solidFill>
                <a:latin typeface="Calibri"/>
              </a:rPr>
              <a:t>3</a:t>
            </a:r>
          </a:p>
        </p:txBody>
      </p:sp>
      <p:sp>
        <p:nvSpPr>
          <p:cNvPr id="15" name="cpe|statements|text|14"/>
          <p:cNvSpPr txBox="1"/>
          <p:nvPr/>
        </p:nvSpPr>
        <p:spPr>
          <a:xfrm>
            <a:off x="1143000" y="3945636"/>
            <a:ext cx="4143018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A2F"/>
                </a:solidFill>
                <a:latin typeface="Calibri"/>
              </a:rPr>
              <a:t>Margin erosion in grocery and convenience cut EBITDA by €67M in 2025</a:t>
            </a:r>
          </a:p>
        </p:txBody>
      </p:sp>
      <p:sp>
        <p:nvSpPr>
          <p:cNvPr id="16" name="cpe|statements|text|15"/>
          <p:cNvSpPr txBox="1"/>
          <p:nvPr/>
        </p:nvSpPr>
        <p:spPr>
          <a:xfrm>
            <a:off x="5514618" y="3945636"/>
            <a:ext cx="6036997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EBITDA fell to €857M (6.3% margin); fresh and food-to-go in Madrid and Catalonia explain most of the loss.</a:t>
            </a:r>
          </a:p>
        </p:txBody>
      </p:sp>
      <p:cxnSp>
        <p:nvCxnSpPr>
          <p:cNvPr id="17" name="cpe|statements|line|16"/>
          <p:cNvCxnSpPr/>
          <p:nvPr/>
        </p:nvCxnSpPr>
        <p:spPr>
          <a:xfrm>
            <a:off x="640080" y="505434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18" name="cpe|statements|text|17"/>
          <p:cNvSpPr txBox="1"/>
          <p:nvPr/>
        </p:nvSpPr>
        <p:spPr>
          <a:xfrm>
            <a:off x="640080" y="5159502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78842"/>
                </a:solidFill>
                <a:latin typeface="Calibri"/>
              </a:rPr>
              <a:t>4</a:t>
            </a:r>
          </a:p>
        </p:txBody>
      </p:sp>
      <p:sp>
        <p:nvSpPr>
          <p:cNvPr id="19" name="cpe|statements|text|18"/>
          <p:cNvSpPr txBox="1"/>
          <p:nvPr/>
        </p:nvSpPr>
        <p:spPr>
          <a:xfrm>
            <a:off x="1143000" y="5159502"/>
            <a:ext cx="4143018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A2F"/>
                </a:solidFill>
                <a:latin typeface="Calibri"/>
              </a:rPr>
              <a:t>A discount banner, a pricing reset and a cost programme add €250M by 2028</a:t>
            </a:r>
          </a:p>
        </p:txBody>
      </p:sp>
      <p:sp>
        <p:nvSpPr>
          <p:cNvPr id="20" name="cpe|statements|text|19"/>
          <p:cNvSpPr txBox="1"/>
          <p:nvPr/>
        </p:nvSpPr>
        <p:spPr>
          <a:xfrm>
            <a:off x="5514618" y="5159502"/>
            <a:ext cx="6036997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Three waves over 24 months; the board is asked to approve the banner pilot and the €85M programme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Iberian grocery market by channel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712153" y="2898830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121.3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929819" y="2793854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125.9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147485" y="2675186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131.1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365152" y="2554235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136.4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582818" y="2426439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142.0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3612" y="2741632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663612" y="3061124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663612" y="3494719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Hypermarkets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6663612" y="4361910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6663612" y="5388847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Discount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1320986" y="2316711"/>
            <a:ext cx="4870665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1320986" y="2316711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0" name="cpe|exhibit|label|19"/>
          <p:cNvSpPr txBox="1"/>
          <p:nvPr/>
        </p:nvSpPr>
        <p:spPr>
          <a:xfrm>
            <a:off x="3325449" y="2179551"/>
            <a:ext cx="8617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CAGR +4.0%</a:t>
            </a:r>
          </a:p>
        </p:txBody>
      </p:sp>
      <p:cxnSp>
        <p:nvCxnSpPr>
          <p:cNvPr id="21" name="cpe|commentary|line|2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2" name="cpe|commentary|text|21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What moves the market</a:t>
            </a:r>
          </a:p>
        </p:txBody>
      </p:sp>
      <p:sp>
        <p:nvSpPr>
          <p:cNvPr id="23" name="cpe|commentary|text|22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grows 7.8% a year on price-sensitive households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is small but compounding at 14%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 at 2%, below food inflation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Hypermarkets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shrink as trips move to proximity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PERFORMANCE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Alvora's growth slowed to 3.0% in 2025, below the market (4.1%) for the second year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640080" y="1481328"/>
            <a:ext cx="2426132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€13.6bn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640080" y="1995678"/>
            <a:ext cx="242613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6B4F"/>
                </a:solidFill>
                <a:latin typeface="Calibri"/>
              </a:rPr>
              <a:t>▲ +3.0% YoY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640080" y="220522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Revenue 2025</a:t>
            </a:r>
          </a:p>
        </p:txBody>
      </p:sp>
      <p:cxnSp>
        <p:nvCxnSpPr>
          <p:cNvPr id="9" name="cpe|kpis|line|8"/>
          <p:cNvCxnSpPr/>
          <p:nvPr/>
        </p:nvCxnSpPr>
        <p:spPr>
          <a:xfrm>
            <a:off x="3267380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0" name="cpe|kpis|text|9"/>
          <p:cNvSpPr txBox="1"/>
          <p:nvPr/>
        </p:nvSpPr>
        <p:spPr>
          <a:xfrm>
            <a:off x="3468548" y="1481328"/>
            <a:ext cx="2426132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6.3%</a:t>
            </a:r>
          </a:p>
        </p:txBody>
      </p:sp>
      <p:sp>
        <p:nvSpPr>
          <p:cNvPr id="11" name="cpe|kpis|text|10"/>
          <p:cNvSpPr txBox="1"/>
          <p:nvPr/>
        </p:nvSpPr>
        <p:spPr>
          <a:xfrm>
            <a:off x="3468548" y="1995678"/>
            <a:ext cx="242613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−0.7pp</a:t>
            </a:r>
          </a:p>
        </p:txBody>
      </p:sp>
      <p:sp>
        <p:nvSpPr>
          <p:cNvPr id="12" name="cpe|kpis|text|11"/>
          <p:cNvSpPr txBox="1"/>
          <p:nvPr/>
        </p:nvSpPr>
        <p:spPr>
          <a:xfrm>
            <a:off x="3468548" y="220522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EBITDA margin 2025</a:t>
            </a:r>
          </a:p>
        </p:txBody>
      </p:sp>
      <p:cxnSp>
        <p:nvCxnSpPr>
          <p:cNvPr id="13" name="cpe|kpis|line|12"/>
          <p:cNvCxnSpPr/>
          <p:nvPr/>
        </p:nvCxnSpPr>
        <p:spPr>
          <a:xfrm>
            <a:off x="6095848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4" name="cpe|kpis|text|13"/>
          <p:cNvSpPr txBox="1"/>
          <p:nvPr/>
        </p:nvSpPr>
        <p:spPr>
          <a:xfrm>
            <a:off x="6297016" y="1481328"/>
            <a:ext cx="2426132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9.6%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1995678"/>
            <a:ext cx="242613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−0.1pp</a:t>
            </a:r>
          </a:p>
        </p:txBody>
      </p:sp>
      <p:sp>
        <p:nvSpPr>
          <p:cNvPr id="16" name="cpe|kpis|text|15"/>
          <p:cNvSpPr txBox="1"/>
          <p:nvPr/>
        </p:nvSpPr>
        <p:spPr>
          <a:xfrm>
            <a:off x="6297016" y="220522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Market share 2025</a:t>
            </a:r>
          </a:p>
        </p:txBody>
      </p:sp>
      <p:cxnSp>
        <p:nvCxnSpPr>
          <p:cNvPr id="17" name="cpe|kpis|line|16"/>
          <p:cNvCxnSpPr/>
          <p:nvPr/>
        </p:nvCxnSpPr>
        <p:spPr>
          <a:xfrm>
            <a:off x="8924315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8" name="cpe|kpis|text|17"/>
          <p:cNvSpPr txBox="1"/>
          <p:nvPr/>
        </p:nvSpPr>
        <p:spPr>
          <a:xfrm>
            <a:off x="9125483" y="1481328"/>
            <a:ext cx="2426132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+1.2%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9125483" y="1995678"/>
            <a:ext cx="242613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−1.8pp vs 2024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9125483" y="220522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Like-for-like sales 2025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640080" y="2808671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Alvora revenue and growth vs market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€bn, % YoY</a:t>
            </a:r>
          </a:p>
        </p:txBody>
      </p:sp>
      <p:graphicFrame>
        <p:nvGraphicFramePr>
          <p:cNvPr id="22" name="cpe|exhibit|chart|21"/>
          <p:cNvGraphicFramePr>
            <a:graphicFrameLocks noGrp="1"/>
          </p:cNvGraphicFramePr>
          <p:nvPr/>
        </p:nvGraphicFramePr>
        <p:xfrm>
          <a:off x="640080" y="4408344"/>
          <a:ext cx="10911535" cy="179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3" name="cpe|exhibit|connector|22"/>
          <p:cNvCxnSpPr/>
          <p:nvPr/>
        </p:nvCxnSpPr>
        <p:spPr>
          <a:xfrm>
            <a:off x="6842453" y="4786729"/>
            <a:ext cx="2437304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842453" y="4786729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5" name="cpe|exhibit|label|24"/>
          <p:cNvSpPr txBox="1"/>
          <p:nvPr/>
        </p:nvSpPr>
        <p:spPr>
          <a:xfrm>
            <a:off x="7841264" y="4649569"/>
            <a:ext cx="439682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+3%</a:t>
            </a:r>
          </a:p>
        </p:txBody>
      </p:sp>
      <p:graphicFrame>
        <p:nvGraphicFramePr>
          <p:cNvPr id="26" name="cpe|exhibit|chart|25"/>
          <p:cNvGraphicFramePr>
            <a:graphicFrameLocks noGrp="1"/>
          </p:cNvGraphicFramePr>
          <p:nvPr/>
        </p:nvGraphicFramePr>
        <p:xfrm>
          <a:off x="640080" y="3229295"/>
          <a:ext cx="10911535" cy="10693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cpe|exhibit|label|26"/>
          <p:cNvSpPr txBox="1"/>
          <p:nvPr/>
        </p:nvSpPr>
        <p:spPr>
          <a:xfrm>
            <a:off x="9371197" y="3802449"/>
            <a:ext cx="218041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F6F6F"/>
                </a:solidFill>
                <a:latin typeface="Calibri"/>
              </a:rPr>
              <a:t>Market growth</a:t>
            </a:r>
          </a:p>
        </p:txBody>
      </p:sp>
      <p:sp>
        <p:nvSpPr>
          <p:cNvPr id="28" name="cpe|exhibit|label|27"/>
          <p:cNvSpPr txBox="1"/>
          <p:nvPr/>
        </p:nvSpPr>
        <p:spPr>
          <a:xfrm>
            <a:off x="9371197" y="4021905"/>
            <a:ext cx="218041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Alvora growth</a:t>
            </a:r>
          </a:p>
        </p:txBody>
      </p:sp>
      <p:sp>
        <p:nvSpPr>
          <p:cNvPr id="29" name="cpe|exhibit|label|28"/>
          <p:cNvSpPr txBox="1"/>
          <p:nvPr/>
        </p:nvSpPr>
        <p:spPr>
          <a:xfrm>
            <a:off x="1510647" y="320137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6.3%</a:t>
            </a:r>
          </a:p>
        </p:txBody>
      </p:sp>
      <p:sp>
        <p:nvSpPr>
          <p:cNvPr id="30" name="cpe|exhibit|label|29"/>
          <p:cNvSpPr txBox="1"/>
          <p:nvPr/>
        </p:nvSpPr>
        <p:spPr>
          <a:xfrm>
            <a:off x="1510647" y="36765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3.8%</a:t>
            </a:r>
          </a:p>
        </p:txBody>
      </p:sp>
      <p:sp>
        <p:nvSpPr>
          <p:cNvPr id="31" name="cpe|exhibit|label|30"/>
          <p:cNvSpPr txBox="1"/>
          <p:nvPr/>
        </p:nvSpPr>
        <p:spPr>
          <a:xfrm>
            <a:off x="3947950" y="31253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6.7%</a:t>
            </a:r>
          </a:p>
        </p:txBody>
      </p:sp>
      <p:sp>
        <p:nvSpPr>
          <p:cNvPr id="32" name="cpe|exhibit|label|31"/>
          <p:cNvSpPr txBox="1"/>
          <p:nvPr/>
        </p:nvSpPr>
        <p:spPr>
          <a:xfrm>
            <a:off x="3947950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4.1%</a:t>
            </a:r>
          </a:p>
        </p:txBody>
      </p:sp>
      <p:sp>
        <p:nvSpPr>
          <p:cNvPr id="33" name="cpe|exhibit|label|32"/>
          <p:cNvSpPr txBox="1"/>
          <p:nvPr/>
        </p:nvSpPr>
        <p:spPr>
          <a:xfrm>
            <a:off x="6385253" y="363857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4.0%</a:t>
            </a:r>
          </a:p>
        </p:txBody>
      </p:sp>
      <p:sp>
        <p:nvSpPr>
          <p:cNvPr id="34" name="cpe|exhibit|label|33"/>
          <p:cNvSpPr txBox="1"/>
          <p:nvPr/>
        </p:nvSpPr>
        <p:spPr>
          <a:xfrm>
            <a:off x="6385253" y="402334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3.9%</a:t>
            </a:r>
          </a:p>
        </p:txBody>
      </p:sp>
      <p:sp>
        <p:nvSpPr>
          <p:cNvPr id="35" name="cpe|exhibit|label|34"/>
          <p:cNvSpPr txBox="1"/>
          <p:nvPr/>
        </p:nvSpPr>
        <p:spPr>
          <a:xfrm>
            <a:off x="8822557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4.1%</a:t>
            </a:r>
          </a:p>
        </p:txBody>
      </p:sp>
      <p:sp>
        <p:nvSpPr>
          <p:cNvPr id="36" name="cpe|exhibit|label|35"/>
          <p:cNvSpPr txBox="1"/>
          <p:nvPr/>
        </p:nvSpPr>
        <p:spPr>
          <a:xfrm>
            <a:off x="8822557" y="419442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3.0%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Market share by channel,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4669384"/>
            <a:ext cx="2354735" cy="131216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640080" y="3593409"/>
            <a:ext cx="2354735" cy="107597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3278490"/>
            <a:ext cx="2354735" cy="31491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640080" y="2176272"/>
            <a:ext cx="2354735" cy="110221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640080" y="1901952"/>
            <a:ext cx="235473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640080" y="4855464"/>
            <a:ext cx="2354735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031391" y="4433194"/>
            <a:ext cx="3222268" cy="367406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3031391" y="4328221"/>
            <a:ext cx="3222268" cy="104973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3031391" y="3750869"/>
            <a:ext cx="3222268" cy="57735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3031391" y="3278490"/>
            <a:ext cx="3222268" cy="47237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3031391" y="2176272"/>
            <a:ext cx="3222268" cy="110221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3031391" y="1901952"/>
            <a:ext cx="322226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3031391" y="4855464"/>
            <a:ext cx="322226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290235" y="4564410"/>
            <a:ext cx="1487201" cy="236190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6290235" y="4170761"/>
            <a:ext cx="1487201" cy="39364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6290235" y="3357220"/>
            <a:ext cx="1487201" cy="81354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6290235" y="2176272"/>
            <a:ext cx="1487201" cy="118094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6290235" y="1901952"/>
            <a:ext cx="148720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6290235" y="4855464"/>
            <a:ext cx="1487201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7814012" y="4485681"/>
            <a:ext cx="867534" cy="314919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7814012" y="4328221"/>
            <a:ext cx="867534" cy="157460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7814012" y="4144518"/>
            <a:ext cx="867534" cy="183703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7814012" y="2176272"/>
            <a:ext cx="867534" cy="1968246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7814012" y="1901952"/>
            <a:ext cx="86753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7814012" y="4855464"/>
            <a:ext cx="86753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8718121" y="4695627"/>
            <a:ext cx="867534" cy="104973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8718121" y="4459437"/>
            <a:ext cx="867534" cy="236190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8718121" y="4144518"/>
            <a:ext cx="867534" cy="31491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8718121" y="2176272"/>
            <a:ext cx="867534" cy="1968246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8718121" y="1901952"/>
            <a:ext cx="86753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718121" y="4855464"/>
            <a:ext cx="86753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640080" y="4422496"/>
            <a:ext cx="2354735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3031391" y="4433194"/>
            <a:ext cx="3222268" cy="367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6290235" y="4317522"/>
            <a:ext cx="1487201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7814012" y="4485681"/>
            <a:ext cx="867534" cy="31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8718121" y="4448739"/>
            <a:ext cx="867534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9768535" y="2240280"/>
            <a:ext cx="128016" cy="12801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9969703" y="2176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9768535" y="2532888"/>
            <a:ext cx="128016" cy="128016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9969703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640080" y="556869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640080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54% of Alvora sales come from </a:t>
            </a: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, a channel growing 2% a year</a:t>
            </a:r>
          </a:p>
        </p:txBody>
      </p:sp>
      <p:sp>
        <p:nvSpPr>
          <p:cNvPr id="49" name="cpe|commentary|text|48"/>
          <p:cNvSpPr txBox="1"/>
          <p:nvPr/>
        </p:nvSpPr>
        <p:spPr>
          <a:xfrm>
            <a:off x="4344314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In </a:t>
            </a: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, Competitor A holds 41% with a lower cost-to-serve</a:t>
            </a:r>
          </a:p>
        </p:txBody>
      </p:sp>
      <p:sp>
        <p:nvSpPr>
          <p:cNvPr id="50" name="cpe|commentary|text|49"/>
          <p:cNvSpPr txBox="1"/>
          <p:nvPr/>
        </p:nvSpPr>
        <p:spPr>
          <a:xfrm>
            <a:off x="8048549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440891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241702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3042514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843325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44136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44947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45758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46570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316627" y="3845552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117439" y="326363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918250" y="291672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719061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519872" y="424841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20683" y="449460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1495" y="4651278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22306" y="459532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709480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15969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2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2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628124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Customer perception,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777240" y="2267712"/>
            <a:ext cx="3026321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3803561" y="2267712"/>
            <a:ext cx="3026321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777240" y="4041648"/>
            <a:ext cx="3026321" cy="1773936"/>
          </a:xfrm>
          <a:prstGeom prst="rect">
            <a:avLst/>
          </a:prstGeom>
          <a:solidFill>
            <a:srgbClr val="F0F0F0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3803561" y="4041648"/>
            <a:ext cx="3026321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68680" y="2340864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895001" y="2340864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868680" y="5504688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3895001" y="5504688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777240" y="5815584"/>
            <a:ext cx="6098362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777240" y="2221992"/>
            <a:ext cx="0" cy="3593592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777240" y="5870448"/>
            <a:ext cx="605264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731520" y="1938528"/>
            <a:ext cx="114186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4003943" y="3296595"/>
            <a:ext cx="567660" cy="567660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4608178" y="3470697"/>
            <a:ext cx="7596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5713331" y="4340127"/>
            <a:ext cx="538362" cy="538362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4912684" y="4499580"/>
            <a:ext cx="7640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2331484" y="2928610"/>
            <a:ext cx="523098" cy="523098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2891158" y="3080431"/>
            <a:ext cx="7583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2950896" y="4007120"/>
            <a:ext cx="494801" cy="494801"/>
          </a:xfrm>
          <a:prstGeom prst="ellipse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3482274" y="4144792"/>
            <a:ext cx="40146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4607658" y="2742003"/>
            <a:ext cx="328653" cy="328653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4972886" y="2796601"/>
            <a:ext cx="108431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7122490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7351090" y="1481328"/>
            <a:ext cx="4200525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Alvora's prices sit </a:t>
            </a:r>
            <a:r>
              <a:rPr sz="1200" b="1">
                <a:solidFill>
                  <a:srgbClr val="222222"/>
                </a:solidFill>
                <a:latin typeface="Calibri"/>
              </a:rPr>
              <a:t>8% above</a:t>
            </a:r>
            <a:r>
              <a:rPr sz="1200" b="0">
                <a:solidFill>
                  <a:srgbClr val="222222"/>
                </a:solidFill>
                <a:latin typeface="Calibri"/>
              </a:rPr>
              <a:t> Competitor A on a comparable basket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Its experience score trails B and C on freshness and queues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2103120" cy="90297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834640" y="1481328"/>
            <a:ext cx="1964360" cy="902970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889504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4872152" y="1481328"/>
            <a:ext cx="196436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4927016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6909664" y="1481328"/>
            <a:ext cx="196436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6964528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8947175" y="1481328"/>
            <a:ext cx="196436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9002039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475738"/>
            <a:ext cx="2103120" cy="90297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47573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834640" y="247573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889504" y="247573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51322" y="247573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606186" y="247573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8268005" y="247573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8322869" y="247573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470148"/>
            <a:ext cx="2103120" cy="90297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47014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834640" y="347014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889504" y="347014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5551322" y="347014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5606186" y="347014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8268005" y="347014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22869" y="347014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4464558"/>
            <a:ext cx="2103120" cy="90297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446455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834640" y="446455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889504" y="446455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5551322" y="446455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5606186" y="446455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8268005" y="446455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8322869" y="446455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10984687" y="1481328"/>
            <a:ext cx="566928" cy="3886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10984687" y="1572768"/>
            <a:ext cx="566928" cy="370332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640080" y="556869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640080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New:</a:t>
            </a:r>
            <a:r>
              <a:rPr sz="12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</p:txBody>
      </p:sp>
      <p:sp>
        <p:nvSpPr>
          <p:cNvPr id="44" name="cpe|commentary|text|43"/>
          <p:cNvSpPr txBox="1"/>
          <p:nvPr/>
        </p:nvSpPr>
        <p:spPr>
          <a:xfrm>
            <a:off x="4344314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2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</p:txBody>
      </p:sp>
      <p:sp>
        <p:nvSpPr>
          <p:cNvPr id="45" name="cpe|commentary|text|44"/>
          <p:cNvSpPr txBox="1"/>
          <p:nvPr/>
        </p:nvSpPr>
        <p:spPr>
          <a:xfrm>
            <a:off x="8048549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414296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450872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72649" y="1481328"/>
            <a:ext cx="2002326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509225" y="1481328"/>
            <a:ext cx="192917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11551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48127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396008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415459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434910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54361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73812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493263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1271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53216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640080" y="2121408"/>
            <a:ext cx="10911535" cy="0"/>
          </a:xfrm>
          <a:prstGeom prst="line">
            <a:avLst/>
          </a:prstGeom>
          <a:ln w="9525">
            <a:solidFill>
              <a:srgbClr val="1B3A2F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415459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434910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54361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73812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493263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12714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532164" y="2121408"/>
            <a:ext cx="0" cy="384048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905734" y="2075688"/>
            <a:ext cx="0" cy="3886200"/>
          </a:xfrm>
          <a:prstGeom prst="line">
            <a:avLst/>
          </a:prstGeom>
          <a:ln w="9525">
            <a:solidFill>
              <a:srgbClr val="C8A24A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448534" y="598017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F6F6F"/>
                </a:solidFill>
                <a:latin typeface="Calibri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640080" y="2121408"/>
            <a:ext cx="26187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423440" y="2275027"/>
            <a:ext cx="3003489" cy="33284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478304" y="2275027"/>
            <a:ext cx="2893761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640080" y="276148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640080" y="2761488"/>
            <a:ext cx="26187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423440" y="2915107"/>
            <a:ext cx="4022939" cy="33284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478304" y="2915107"/>
            <a:ext cx="3913211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640080" y="340156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640080" y="3401568"/>
            <a:ext cx="26187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442891" y="3555187"/>
            <a:ext cx="6061841" cy="33284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97755" y="3555187"/>
            <a:ext cx="5952113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640080" y="404164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640080" y="4041648"/>
            <a:ext cx="26187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62342" y="4195267"/>
            <a:ext cx="6061841" cy="33284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517206" y="4195267"/>
            <a:ext cx="5952113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640080" y="468172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640080" y="4681728"/>
            <a:ext cx="26187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81793" y="4924958"/>
            <a:ext cx="1984038" cy="332842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36657" y="4924958"/>
            <a:ext cx="1874310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20695" y="4924958"/>
            <a:ext cx="3003489" cy="33284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03575" y="4924958"/>
            <a:ext cx="2765745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01823" y="4999939"/>
            <a:ext cx="182880" cy="182880"/>
          </a:xfrm>
          <a:prstGeom prst="diamond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199119" y="4723790"/>
            <a:ext cx="58828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2222"/>
                </a:solidFill>
                <a:latin typeface="Calibri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640080" y="532180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640080" y="5321808"/>
            <a:ext cx="26187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01244" y="5475427"/>
            <a:ext cx="4022939" cy="332842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56108" y="5475427"/>
            <a:ext cx="3913211" cy="3328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640080" y="596188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AT STAKE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Five initiatives adding €250M lift EBITDA to €1,067M by 2028, net of €40M market headwinds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Initiative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2025 to 2028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1091153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957860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004022" y="3605216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+60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367964" y="3340734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+45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731906" y="2929316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+70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95848" y="2606060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+55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7459790" y="2488512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+20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823731" y="2488512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−40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187673" y="2723608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1,067</a:t>
            </a:r>
          </a:p>
        </p:txBody>
      </p:sp>
      <p:cxnSp>
        <p:nvCxnSpPr>
          <p:cNvPr id="16" name="cpe|exhibit|connector|15"/>
          <p:cNvCxnSpPr/>
          <p:nvPr/>
        </p:nvCxnSpPr>
        <p:spPr>
          <a:xfrm>
            <a:off x="1792376" y="4223036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3156318" y="3870392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520260" y="3605910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884201" y="3194492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248143" y="2871236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8612085" y="2753688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9976027" y="2988784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3" name="cpe|exhibit|marker|22"/>
          <p:cNvSpPr/>
          <p:nvPr/>
        </p:nvSpPr>
        <p:spPr>
          <a:xfrm>
            <a:off x="796862" y="4850735"/>
            <a:ext cx="1050378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10344455" y="4850735"/>
            <a:ext cx="1050378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takeaway|fill|24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takeaway|fill|25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takeaway|text|26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Cost and pricing levers deliver €130M of the uplift and are largely within management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946404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5" cy="32986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1918331"/>
                <a:gridCol w="2043764"/>
                <a:gridCol w="1371600"/>
                <a:gridCol w="137160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746943" y="2736914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746943" y="359759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746943" y="4554855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640080" y="570985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640080" y="5847016"/>
            <a:ext cx="535518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47016"/>
            <a:ext cx="535518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strel">
      <a:dk1>
        <a:srgbClr val="222222"/>
      </a:dk1>
      <a:lt1>
        <a:srgbClr val="FFFFFF"/>
      </a:lt1>
      <a:dk2>
        <a:srgbClr val="1B3A2F"/>
      </a:dk2>
      <a:lt2>
        <a:srgbClr val="EEF2EE"/>
      </a:lt2>
      <a:accent1>
        <a:srgbClr val="2E6B4F"/>
      </a:accent1>
      <a:accent2>
        <a:srgbClr val="C8A24A"/>
      </a:accent2>
      <a:accent3>
        <a:srgbClr val="7FA88F"/>
      </a:accent3>
      <a:accent4>
        <a:srgbClr val="5B6770"/>
      </a:accent4>
      <a:accent5>
        <a:srgbClr val="A33A2B"/>
      </a:accent5>
      <a:accent6>
        <a:srgbClr val="3F8F5F"/>
      </a:accent6>
      <a:hlink>
        <a:srgbClr val="2E6B4F"/>
      </a:hlink>
      <a:folHlink>
        <a:srgbClr val="5B677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Repositioning Alvora for profitable growth</dc:title>
  <dc:subject>Alvora should reposition towards discount and fix category margins now to return EBITDA above €1bn by 2028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