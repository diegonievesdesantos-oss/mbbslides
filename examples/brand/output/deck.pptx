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1064"/>
          <c:w val="0.84474"/>
          <c:h val="0.92926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Discount</c:v>
                </c:pt>
              </c:strCache>
            </c:strRef>
          </c:tx>
          <c:spPr>
            <a:solidFill>
              <a:srgbClr val="1B3A2F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28.2</c:v>
                </c:pt>
                <c:pt idx="1">
                  <c:v>30.4</c:v>
                </c:pt>
                <c:pt idx="2">
                  <c:v>32.8</c:v>
                </c:pt>
                <c:pt idx="3">
                  <c:v>35.3</c:v>
                </c:pt>
                <c:pt idx="4">
                  <c:v>38.0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Supermarkets</c:v>
                </c:pt>
              </c:strCache>
            </c:strRef>
          </c:tx>
          <c:spPr>
            <a:solidFill>
              <a:srgbClr val="CECECE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48.1</c:v>
                </c:pt>
                <c:pt idx="1">
                  <c:v>49.0</c:v>
                </c:pt>
                <c:pt idx="2">
                  <c:v>50.1</c:v>
                </c:pt>
                <c:pt idx="3">
                  <c:v>51.1</c:v>
                </c:pt>
                <c:pt idx="4">
                  <c:v>52.0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Hypermarkets</c:v>
                </c:pt>
              </c:strCache>
            </c:strRef>
          </c:tx>
          <c:spPr>
            <a:solidFill>
              <a:srgbClr val="E4E4E4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25.2</c:v>
                </c:pt>
                <c:pt idx="1">
                  <c:v>24.9</c:v>
                </c:pt>
                <c:pt idx="2">
                  <c:v>24.6</c:v>
                </c:pt>
                <c:pt idx="3">
                  <c:v>24.3</c:v>
                </c:pt>
                <c:pt idx="4">
                  <c:v>24.0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Convenience</c:v>
                </c:pt>
              </c:strCache>
            </c:strRef>
          </c:tx>
          <c:spPr>
            <a:solidFill>
              <a:srgbClr val="B8B8B8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11.5</c:v>
                </c:pt>
                <c:pt idx="1">
                  <c:v>12.1</c:v>
                </c:pt>
                <c:pt idx="2">
                  <c:v>12.7</c:v>
                </c:pt>
                <c:pt idx="3">
                  <c:v>13.3</c:v>
                </c:pt>
                <c:pt idx="4">
                  <c:v>14.0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C8A24A"/>
            </a:solidFill>
            <a:ln w="9525">
              <a:solidFill>
                <a:srgbClr val="FFFFFF"/>
              </a:solidFill>
            </a:ln>
          </c:spPr>
          <c:dLbls>
            <c:numFmt formatCode="#,##0.0;-#,##0.0" sourceLinked="0"/>
            <c:txPr>
              <a:bodyPr/>
              <a:lstStyle/>
              <a:p>
                <a:pPr>
                  <a:defRPr sz="105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8.3</c:v>
                </c:pt>
                <c:pt idx="1">
                  <c:v>9.5</c:v>
                </c:pt>
                <c:pt idx="2">
                  <c:v>10.9</c:v>
                </c:pt>
                <c:pt idx="3">
                  <c:v>12.4</c:v>
                </c:pt>
                <c:pt idx="4">
                  <c:v>14.0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5.0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552"/>
          <c:w val="0.89348"/>
          <c:h val="0.83027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Alvora revenue (€bn)</c:v>
                </c:pt>
              </c:strCache>
            </c:strRef>
          </c:tx>
          <c:spPr>
            <a:solidFill>
              <a:srgbClr val="98A6A1"/>
            </a:solidFill>
          </c:spPr>
          <c:invertIfNegative val="0"/>
          <c:dPt>
            <c:idx val="3"/>
            <c:spPr>
              <a:solidFill>
                <a:srgbClr val="1B3A2F"/>
              </a:solidFill>
            </c:spPr>
          </c:dPt>
          <c:dLbls>
            <c:numFmt formatCode="#,##0.0;-#,##0.0" sourceLinked="0"/>
            <c:txPr>
              <a:bodyPr/>
              <a:lstStyle/>
              <a:p>
                <a:pPr>
                  <a:defRPr sz="1100" b="0">
                    <a:solidFill>
                      <a:srgbClr val="222222"/>
                    </a:solidFill>
                    <a:latin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11.9</c:v>
                </c:pt>
                <c:pt idx="1">
                  <c:v>12.7</c:v>
                </c:pt>
                <c:pt idx="2">
                  <c:v>13.2</c:v>
                </c:pt>
                <c:pt idx="3">
                  <c:v>13.6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25"/>
          <c:min val="0.0"/>
        </c:scaling>
        <c:delete/>
        <c:axPos val="l"/>
        <c:majorTickMark val="none"/>
        <c:minorTickMark val="none"/>
        <c:tickLblPos val="nextTo"/>
        <c:crossAx val="-2068027336"/>
        <c:crosses val="autoZero"/>
        <c:majorUnit val="5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4276"/>
          <c:w val="0.89348"/>
          <c:h val="0.88883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Alvora growth</c:v>
                </c:pt>
              </c:strCache>
            </c:strRef>
          </c:tx>
          <c:spPr>
            <a:ln w="31750">
              <a:solidFill>
                <a:srgbClr val="1B3A2F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6.3</c:v>
                </c:pt>
                <c:pt idx="1">
                  <c:v>6.7</c:v>
                </c:pt>
                <c:pt idx="2">
                  <c:v>3.9</c:v>
                </c:pt>
                <c:pt idx="3">
                  <c:v>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Market growth</c:v>
                </c:pt>
              </c:strCache>
            </c:strRef>
          </c:tx>
          <c:spPr>
            <a:ln w="22225">
              <a:solidFill>
                <a:srgbClr val="90909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3.8</c:v>
                </c:pt>
                <c:pt idx="1">
                  <c:v>4.1</c:v>
                </c:pt>
                <c:pt idx="2">
                  <c:v>4.0</c:v>
                </c:pt>
                <c:pt idx="3">
                  <c:v>4.1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7.5"/>
          <c:min val="2.5"/>
        </c:scaling>
        <c:delete/>
        <c:axPos val="l"/>
        <c:majorTickMark val="none"/>
        <c:minorTickMark val="none"/>
        <c:tickLblPos val="nextTo"/>
        <c:crossAx val="2118791784"/>
        <c:crosses val="autoZero"/>
        <c:majorUnit val="1.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88532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</c:v>
                </c:pt>
                <c:pt idx="1">
                  <c:v>174.0</c:v>
                </c:pt>
                <c:pt idx="2">
                  <c:v>226.0</c:v>
                </c:pt>
                <c:pt idx="3">
                  <c:v>179.0</c:v>
                </c:pt>
                <c:pt idx="4">
                  <c:v>138.0</c:v>
                </c:pt>
                <c:pt idx="5">
                  <c:v>116.0</c:v>
                </c:pt>
                <c:pt idx="6">
                  <c:v>102.0</c:v>
                </c:pt>
                <c:pt idx="7">
                  <c:v>102.0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174.0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107.0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0.0</c:v>
                </c:pt>
                <c:pt idx="1">
                  <c:v>52.0</c:v>
                </c:pt>
                <c:pt idx="2">
                  <c:v>31.0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5.0</c:v>
                </c:pt>
                <c:pt idx="8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2E6B4F"/>
            </a:solidFill>
          </c:spPr>
          <c:dPt>
            <c:idx val="3"/>
            <c:spPr>
              <a:solidFill>
                <a:srgbClr val="C8A24A"/>
              </a:solidFill>
            </c:spPr>
          </c:dPt>
          <c:dPt>
            <c:idx val="4"/>
            <c:spPr>
              <a:solidFill>
                <a:srgbClr val="C8A24A"/>
              </a:solidFill>
            </c:spPr>
          </c:dPt>
          <c:cat>
            <c:strRef>
              <c:f>Sheet1!$A$2:$A$10</c:f>
              <c:strCache>
                <c:ptCount val="9"/>
                <c:pt idx="0">
                  <c:v>EBITDA 2024</c:v>
                </c:pt>
                <c:pt idx="1">
                  <c:v>Volume</c:v>
                </c:pt>
                <c:pt idx="2">
                  <c:v>Price / mix</c:v>
                </c:pt>
                <c:pt idx="3">
                  <c:v>Grocery margin</c:v>
                </c:pt>
                <c:pt idx="4">
                  <c:v>Convenience margin</c:v>
                </c:pt>
                <c:pt idx="5">
                  <c:v>Labour cost</c:v>
                </c:pt>
                <c:pt idx="6">
                  <c:v>Energy</c:v>
                </c:pt>
                <c:pt idx="7">
                  <c:v>Other</c:v>
                </c:pt>
                <c:pt idx="8">
                  <c:v>EBITDA 2025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78.0</c:v>
                </c:pt>
                <c:pt idx="4">
                  <c:v>41.0</c:v>
                </c:pt>
                <c:pt idx="5">
                  <c:v>22.0</c:v>
                </c:pt>
                <c:pt idx="6">
                  <c:v>14.0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date1904 val="0"/>
  <c:chart>
    <c:autoTitleDeleted val="1"/>
    <c:plotArea>
      <c:layout>
        <c:manualLayout>
          <c:layoutTarget val="inner"/>
          <c:xMode val="edge"/>
          <c:yMode val="edge"/>
          <c:x val="0.0"/>
          <c:y val="0.02"/>
          <c:w val="1.0"/>
          <c:h val="0.90624"/>
        </c:manualLayout>
      </c:layout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</c:v>
                </c:pt>
                <c:pt idx="1">
                  <c:v>157.0</c:v>
                </c:pt>
                <c:pt idx="2">
                  <c:v>217.0</c:v>
                </c:pt>
                <c:pt idx="3">
                  <c:v>262.0</c:v>
                </c:pt>
                <c:pt idx="4">
                  <c:v>332.0</c:v>
                </c:pt>
                <c:pt idx="5">
                  <c:v>387.0</c:v>
                </c:pt>
                <c:pt idx="6">
                  <c:v>367.0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B3A2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157.0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367.0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2E6B4F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</c:v>
                </c:pt>
                <c:pt idx="1">
                  <c:v>60.0</c:v>
                </c:pt>
                <c:pt idx="2">
                  <c:v>45.0</c:v>
                </c:pt>
                <c:pt idx="3">
                  <c:v>70.0</c:v>
                </c:pt>
                <c:pt idx="4">
                  <c:v>55.0</c:v>
                </c:pt>
                <c:pt idx="5">
                  <c:v>20.0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A33A2B"/>
            </a:solidFill>
          </c:spPr>
          <c:cat>
            <c:strRef>
              <c:f>Sheet1!$A$2:$A$9</c:f>
              <c:strCache>
                <c:ptCount val="8"/>
                <c:pt idx="0">
                  <c:v>EBITDA 2025</c:v>
                </c:pt>
                <c:pt idx="1">
                  <c:v>Pricing &amp; promo</c:v>
                </c:pt>
                <c:pt idx="2">
                  <c:v>Private label</c:v>
                </c:pt>
                <c:pt idx="3">
                  <c:v>Cost programme</c:v>
                </c:pt>
                <c:pt idx="4">
                  <c:v>Discount banner</c:v>
                </c:pt>
                <c:pt idx="5">
                  <c:v>Online hubs</c:v>
                </c:pt>
                <c:pt idx="6">
                  <c:v>Market headwinds</c:v>
                </c:pt>
                <c:pt idx="7">
                  <c:v>EBITDA 2028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40.0</c:v>
                </c:pt>
                <c:pt idx="7">
                  <c:v>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B8B8B8"/>
            </a:solidFill>
          </a:ln>
        </c:spPr>
        <c:txPr>
          <a:bodyPr/>
          <a:lstStyle/>
          <a:p>
            <a:pPr>
              <a:defRPr sz="1000" b="0">
                <a:solidFill>
                  <a:srgbClr val="222222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majorUnit val="100.0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the board the whole answer on one page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where market growth is coming from The market added €20.7bn in four years; €15.5bn went to discount and online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Alvora's growth has fallen below the market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Alvora is weakest where the market grows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what drove the EBITDA decline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Locate the margin erosion by category and region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Alvora's competitive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target operating model and what changes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implementation plan and its sequencing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Quantify the EBITDA impact of the plan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ask explicit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gradFill>
          <a:gsLst>
            <a:gs pos="0">
              <a:srgbClr val="1B3A2F"/>
            </a:gs>
            <a:gs pos="100000">
              <a:srgbClr val="2E6B4F"/>
            </a:gs>
          </a:gsLst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130425"/>
            <a:ext cx="10911535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406900"/>
            <a:ext cx="1091153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2906713"/>
            <a:ext cx="1091153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1600200"/>
            <a:ext cx="1091153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" y="1535113"/>
            <a:ext cx="1091153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80" y="2174875"/>
            <a:ext cx="1091153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73050"/>
            <a:ext cx="10911535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73050"/>
            <a:ext cx="1091153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435100"/>
            <a:ext cx="10911535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800600"/>
            <a:ext cx="1091153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5367338"/>
            <a:ext cx="1091153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0"/>
            <a:ext cx="10911535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0"/>
            <a:ext cx="10911535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74638"/>
            <a:ext cx="10911535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74638"/>
            <a:ext cx="1091153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00200"/>
            <a:ext cx="1091153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Kestrel logo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41280" y="237744"/>
            <a:ext cx="1325880" cy="320040"/>
          </a:xfrm>
          <a:prstGeom prst="rect">
            <a:avLst/>
          </a:prstGeom>
        </p:spPr>
      </p:pic>
      <p:sp>
        <p:nvSpPr>
          <p:cNvPr id="3" name="Brand bar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text|fill|1"/>
          <p:cNvSpPr/>
          <p:nvPr/>
        </p:nvSpPr>
        <p:spPr>
          <a:xfrm>
            <a:off x="640080" y="2148840"/>
            <a:ext cx="822960" cy="6400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cpe|text|text|2"/>
          <p:cNvSpPr txBox="1"/>
          <p:nvPr/>
        </p:nvSpPr>
        <p:spPr>
          <a:xfrm>
            <a:off x="640080" y="2377440"/>
            <a:ext cx="9059418" cy="1737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1B3A2F"/>
                </a:solidFill>
                <a:latin typeface="Georgia"/>
              </a:rPr>
              <a:t>Repositioning Alvora for profitable growth</a:t>
            </a:r>
          </a:p>
        </p:txBody>
      </p:sp>
      <p:sp>
        <p:nvSpPr>
          <p:cNvPr id="4" name="cpe|text|text|3"/>
          <p:cNvSpPr txBox="1"/>
          <p:nvPr/>
        </p:nvSpPr>
        <p:spPr>
          <a:xfrm>
            <a:off x="640080" y="4160520"/>
            <a:ext cx="813335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6F6F6F"/>
                </a:solidFill>
                <a:latin typeface="Calibri"/>
              </a:rPr>
              <a:t>Same deck spec, generated on the Kestrel Capital corporate template</a:t>
            </a:r>
          </a:p>
        </p:txBody>
      </p:sp>
      <p:sp>
        <p:nvSpPr>
          <p:cNvPr id="5" name="cpe|text|text|4"/>
          <p:cNvSpPr txBox="1"/>
          <p:nvPr/>
        </p:nvSpPr>
        <p:spPr>
          <a:xfrm>
            <a:off x="640080" y="5989320"/>
            <a:ext cx="8133359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Alvora Retail (fictitious)   |   October 2026   |   Illustrative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can restore EBITDA to €1,067M by 2028 if it repositions towards discount now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2</a:t>
            </a:r>
          </a:p>
        </p:txBody>
      </p:sp>
      <p:sp>
        <p:nvSpPr>
          <p:cNvPr id="6" name="cpe|statements|text|5"/>
          <p:cNvSpPr txBox="1"/>
          <p:nvPr/>
        </p:nvSpPr>
        <p:spPr>
          <a:xfrm>
            <a:off x="640080" y="1517904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1</a:t>
            </a:r>
          </a:p>
        </p:txBody>
      </p:sp>
      <p:sp>
        <p:nvSpPr>
          <p:cNvPr id="7" name="cpe|statements|text|6"/>
          <p:cNvSpPr txBox="1"/>
          <p:nvPr/>
        </p:nvSpPr>
        <p:spPr>
          <a:xfrm>
            <a:off x="1143000" y="1517904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The market grows 4% a year, but discount and online capture 75% of it</a:t>
            </a:r>
          </a:p>
        </p:txBody>
      </p:sp>
      <p:sp>
        <p:nvSpPr>
          <p:cNvPr id="8" name="cpe|statements|text|7"/>
          <p:cNvSpPr txBox="1"/>
          <p:nvPr/>
        </p:nvSpPr>
        <p:spPr>
          <a:xfrm>
            <a:off x="5514618" y="1517904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Iberian grocery reached €142bn in 2025; discount (+7.8% CAGR) and online (+14.0%) outgrow supermarkets (+2.0%).</a:t>
            </a:r>
          </a:p>
        </p:txBody>
      </p:sp>
      <p:cxnSp>
        <p:nvCxnSpPr>
          <p:cNvPr id="9" name="cpe|statements|line|8"/>
          <p:cNvCxnSpPr/>
          <p:nvPr/>
        </p:nvCxnSpPr>
        <p:spPr>
          <a:xfrm>
            <a:off x="640080" y="262661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0" name="cpe|statements|text|9"/>
          <p:cNvSpPr txBox="1"/>
          <p:nvPr/>
        </p:nvSpPr>
        <p:spPr>
          <a:xfrm>
            <a:off x="640080" y="273177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2</a:t>
            </a:r>
          </a:p>
        </p:txBody>
      </p:sp>
      <p:sp>
        <p:nvSpPr>
          <p:cNvPr id="11" name="cpe|statements|text|10"/>
          <p:cNvSpPr txBox="1"/>
          <p:nvPr/>
        </p:nvSpPr>
        <p:spPr>
          <a:xfrm>
            <a:off x="1143000" y="2731770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Alvora is falling behind: growth of 3.0% is below the market for a second year</a:t>
            </a:r>
          </a:p>
        </p:txBody>
      </p:sp>
      <p:sp>
        <p:nvSpPr>
          <p:cNvPr id="12" name="cpe|statements|text|11"/>
          <p:cNvSpPr txBox="1"/>
          <p:nvPr/>
        </p:nvSpPr>
        <p:spPr>
          <a:xfrm>
            <a:off x="5514618" y="2731770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Its mix is 54% supermarkets and only 14% discount; share slipped to 9.6%.</a:t>
            </a:r>
          </a:p>
        </p:txBody>
      </p:sp>
      <p:cxnSp>
        <p:nvCxnSpPr>
          <p:cNvPr id="13" name="cpe|statements|line|12"/>
          <p:cNvCxnSpPr/>
          <p:nvPr/>
        </p:nvCxnSpPr>
        <p:spPr>
          <a:xfrm>
            <a:off x="640080" y="384048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4" name="cpe|statements|text|13"/>
          <p:cNvSpPr txBox="1"/>
          <p:nvPr/>
        </p:nvSpPr>
        <p:spPr>
          <a:xfrm>
            <a:off x="640080" y="3945636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3</a:t>
            </a:r>
          </a:p>
        </p:txBody>
      </p:sp>
      <p:sp>
        <p:nvSpPr>
          <p:cNvPr id="15" name="cpe|statements|text|14"/>
          <p:cNvSpPr txBox="1"/>
          <p:nvPr/>
        </p:nvSpPr>
        <p:spPr>
          <a:xfrm>
            <a:off x="1143000" y="3945636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Margin erosion in grocery and convenience cut EBITDA by €67M in 2025</a:t>
            </a:r>
          </a:p>
        </p:txBody>
      </p:sp>
      <p:sp>
        <p:nvSpPr>
          <p:cNvPr id="16" name="cpe|statements|text|15"/>
          <p:cNvSpPr txBox="1"/>
          <p:nvPr/>
        </p:nvSpPr>
        <p:spPr>
          <a:xfrm>
            <a:off x="5514618" y="3945636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EBITDA fell to €857M (6.3% margin); fresh and food-to-go in Madrid and Catalonia explain most of the loss.</a:t>
            </a:r>
          </a:p>
        </p:txBody>
      </p:sp>
      <p:cxnSp>
        <p:nvCxnSpPr>
          <p:cNvPr id="17" name="cpe|statements|line|16"/>
          <p:cNvCxnSpPr/>
          <p:nvPr/>
        </p:nvCxnSpPr>
        <p:spPr>
          <a:xfrm>
            <a:off x="640080" y="505434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18" name="cpe|statements|text|17"/>
          <p:cNvSpPr txBox="1"/>
          <p:nvPr/>
        </p:nvSpPr>
        <p:spPr>
          <a:xfrm>
            <a:off x="640080" y="5159502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A78842"/>
                </a:solidFill>
                <a:latin typeface="Calibri"/>
              </a:rPr>
              <a:t>4</a:t>
            </a:r>
          </a:p>
        </p:txBody>
      </p:sp>
      <p:sp>
        <p:nvSpPr>
          <p:cNvPr id="19" name="cpe|statements|text|18"/>
          <p:cNvSpPr txBox="1"/>
          <p:nvPr/>
        </p:nvSpPr>
        <p:spPr>
          <a:xfrm>
            <a:off x="1143000" y="5159502"/>
            <a:ext cx="4143018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3A2F"/>
                </a:solidFill>
                <a:latin typeface="Calibri"/>
              </a:rPr>
              <a:t>A discount banner, a pricing reset and a cost programme add €250M by 2028</a:t>
            </a:r>
          </a:p>
        </p:txBody>
      </p:sp>
      <p:sp>
        <p:nvSpPr>
          <p:cNvPr id="20" name="cpe|statements|text|19"/>
          <p:cNvSpPr txBox="1"/>
          <p:nvPr/>
        </p:nvSpPr>
        <p:spPr>
          <a:xfrm>
            <a:off x="5514618" y="5159502"/>
            <a:ext cx="6036997" cy="10035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Three waves over 24 months; the board is asked to approve the banner pilot and the €85M programme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MARKET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Discount and online captured 75% of Iberian grocery growth since 2021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National statistics; retailer reports; team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3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Iberian grocery market by channel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712153" y="2898830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121.3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929819" y="2793854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125.9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147485" y="2675186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131.1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365152" y="2554235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136.4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5582818" y="2426439"/>
            <a:ext cx="1217666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142.0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6663612" y="2741632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6663612" y="3061124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663612" y="3494719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Hypermarkets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6663612" y="4361910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7" name="cpe|exhibit|label|16"/>
          <p:cNvSpPr txBox="1"/>
          <p:nvPr/>
        </p:nvSpPr>
        <p:spPr>
          <a:xfrm>
            <a:off x="6663612" y="5388847"/>
            <a:ext cx="118376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Discount</a:t>
            </a:r>
          </a:p>
        </p:txBody>
      </p:sp>
      <p:cxnSp>
        <p:nvCxnSpPr>
          <p:cNvPr id="18" name="cpe|exhibit|connector|17"/>
          <p:cNvCxnSpPr/>
          <p:nvPr/>
        </p:nvCxnSpPr>
        <p:spPr>
          <a:xfrm>
            <a:off x="1320986" y="2316711"/>
            <a:ext cx="4870665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1320986" y="2316711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0" name="cpe|exhibit|label|19"/>
          <p:cNvSpPr txBox="1"/>
          <p:nvPr/>
        </p:nvSpPr>
        <p:spPr>
          <a:xfrm>
            <a:off x="3325449" y="2179551"/>
            <a:ext cx="861739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CAGR +4.0%</a:t>
            </a:r>
          </a:p>
        </p:txBody>
      </p:sp>
      <p:cxnSp>
        <p:nvCxnSpPr>
          <p:cNvPr id="21" name="cpe|commentary|line|20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2" name="cpe|commentary|text|21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What moves the market</a:t>
            </a:r>
          </a:p>
        </p:txBody>
      </p:sp>
      <p:sp>
        <p:nvSpPr>
          <p:cNvPr id="23" name="cpe|commentary|text|22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grows 7.8% a year on price-sensitive households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is small but compounding at 14% a year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grow at 2%, below food inflation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Hypermarkets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 shrink as trips move to proximity formats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PERFORMANCE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Alvora's growth slowed to 3.0% in 2025, below the market (4.1%) for the second year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accounts; market model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4</a:t>
            </a:r>
          </a:p>
        </p:txBody>
      </p:sp>
      <p:sp>
        <p:nvSpPr>
          <p:cNvPr id="6" name="cpe|kpis|text|5"/>
          <p:cNvSpPr txBox="1"/>
          <p:nvPr/>
        </p:nvSpPr>
        <p:spPr>
          <a:xfrm>
            <a:off x="640080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€13.6bn</a:t>
            </a:r>
          </a:p>
        </p:txBody>
      </p:sp>
      <p:sp>
        <p:nvSpPr>
          <p:cNvPr id="7" name="cpe|kpis|text|6"/>
          <p:cNvSpPr txBox="1"/>
          <p:nvPr/>
        </p:nvSpPr>
        <p:spPr>
          <a:xfrm>
            <a:off x="640080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6B4F"/>
                </a:solidFill>
                <a:latin typeface="Calibri"/>
              </a:rPr>
              <a:t>▲ +3.0% YoY</a:t>
            </a:r>
          </a:p>
        </p:txBody>
      </p:sp>
      <p:sp>
        <p:nvSpPr>
          <p:cNvPr id="8" name="cpe|kpis|text|7"/>
          <p:cNvSpPr txBox="1"/>
          <p:nvPr/>
        </p:nvSpPr>
        <p:spPr>
          <a:xfrm>
            <a:off x="640080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Revenue 2025</a:t>
            </a:r>
          </a:p>
        </p:txBody>
      </p:sp>
      <p:cxnSp>
        <p:nvCxnSpPr>
          <p:cNvPr id="9" name="cpe|kpis|line|8"/>
          <p:cNvCxnSpPr/>
          <p:nvPr/>
        </p:nvCxnSpPr>
        <p:spPr>
          <a:xfrm>
            <a:off x="3267380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0" name="cpe|kpis|text|9"/>
          <p:cNvSpPr txBox="1"/>
          <p:nvPr/>
        </p:nvSpPr>
        <p:spPr>
          <a:xfrm>
            <a:off x="3468548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11" name="cpe|kpis|text|10"/>
          <p:cNvSpPr txBox="1"/>
          <p:nvPr/>
        </p:nvSpPr>
        <p:spPr>
          <a:xfrm>
            <a:off x="3468548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−0.7pp</a:t>
            </a:r>
          </a:p>
        </p:txBody>
      </p:sp>
      <p:sp>
        <p:nvSpPr>
          <p:cNvPr id="12" name="cpe|kpis|text|11"/>
          <p:cNvSpPr txBox="1"/>
          <p:nvPr/>
        </p:nvSpPr>
        <p:spPr>
          <a:xfrm>
            <a:off x="3468548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EBITDA margin 2025</a:t>
            </a:r>
          </a:p>
        </p:txBody>
      </p:sp>
      <p:cxnSp>
        <p:nvCxnSpPr>
          <p:cNvPr id="13" name="cpe|kpis|line|12"/>
          <p:cNvCxnSpPr/>
          <p:nvPr/>
        </p:nvCxnSpPr>
        <p:spPr>
          <a:xfrm>
            <a:off x="6095848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4" name="cpe|kpis|text|13"/>
          <p:cNvSpPr txBox="1"/>
          <p:nvPr/>
        </p:nvSpPr>
        <p:spPr>
          <a:xfrm>
            <a:off x="6297016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9.6%</a:t>
            </a:r>
          </a:p>
        </p:txBody>
      </p:sp>
      <p:sp>
        <p:nvSpPr>
          <p:cNvPr id="15" name="cpe|kpis|text|14"/>
          <p:cNvSpPr txBox="1"/>
          <p:nvPr/>
        </p:nvSpPr>
        <p:spPr>
          <a:xfrm>
            <a:off x="6297016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−0.1pp</a:t>
            </a:r>
          </a:p>
        </p:txBody>
      </p:sp>
      <p:sp>
        <p:nvSpPr>
          <p:cNvPr id="16" name="cpe|kpis|text|15"/>
          <p:cNvSpPr txBox="1"/>
          <p:nvPr/>
        </p:nvSpPr>
        <p:spPr>
          <a:xfrm>
            <a:off x="6297016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Market share 2025</a:t>
            </a:r>
          </a:p>
        </p:txBody>
      </p:sp>
      <p:cxnSp>
        <p:nvCxnSpPr>
          <p:cNvPr id="17" name="cpe|kpis|line|16"/>
          <p:cNvCxnSpPr/>
          <p:nvPr/>
        </p:nvCxnSpPr>
        <p:spPr>
          <a:xfrm>
            <a:off x="8924315" y="1527048"/>
            <a:ext cx="0" cy="1034735"/>
          </a:xfrm>
          <a:prstGeom prst="line">
            <a:avLst/>
          </a:prstGeom>
          <a:ln w="9525">
            <a:solidFill>
              <a:srgbClr val="E4E4E4"/>
            </a:solidFill>
          </a:ln>
        </p:spPr>
      </p:cxnSp>
      <p:sp>
        <p:nvSpPr>
          <p:cNvPr id="18" name="cpe|kpis|text|17"/>
          <p:cNvSpPr txBox="1"/>
          <p:nvPr/>
        </p:nvSpPr>
        <p:spPr>
          <a:xfrm>
            <a:off x="9125483" y="1481328"/>
            <a:ext cx="2426132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B3A2F"/>
                </a:solidFill>
                <a:latin typeface="Calibri"/>
              </a:rPr>
              <a:t>+1.2%</a:t>
            </a:r>
          </a:p>
        </p:txBody>
      </p:sp>
      <p:sp>
        <p:nvSpPr>
          <p:cNvPr id="19" name="cpe|kpis|text|18"/>
          <p:cNvSpPr txBox="1"/>
          <p:nvPr/>
        </p:nvSpPr>
        <p:spPr>
          <a:xfrm>
            <a:off x="9125483" y="2048256"/>
            <a:ext cx="2426132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33A2B"/>
                </a:solidFill>
                <a:latin typeface="Calibri"/>
              </a:rPr>
              <a:t>▼ −1.8pp vs 2024</a:t>
            </a:r>
          </a:p>
        </p:txBody>
      </p:sp>
      <p:sp>
        <p:nvSpPr>
          <p:cNvPr id="20" name="cpe|kpis|text|19"/>
          <p:cNvSpPr txBox="1"/>
          <p:nvPr/>
        </p:nvSpPr>
        <p:spPr>
          <a:xfrm>
            <a:off x="9125483" y="2304288"/>
            <a:ext cx="2426132" cy="2091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Like-for-like sales 2025</a:t>
            </a:r>
          </a:p>
        </p:txBody>
      </p:sp>
      <p:sp>
        <p:nvSpPr>
          <p:cNvPr id="21" name="cpe|exhibit|text|20"/>
          <p:cNvSpPr txBox="1"/>
          <p:nvPr/>
        </p:nvSpPr>
        <p:spPr>
          <a:xfrm>
            <a:off x="640080" y="2808671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Alvora revenue and growth vs market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€bn, % YoY</a:t>
            </a:r>
          </a:p>
        </p:txBody>
      </p:sp>
      <p:graphicFrame>
        <p:nvGraphicFramePr>
          <p:cNvPr id="22" name="cpe|exhibit|chart|21"/>
          <p:cNvGraphicFramePr>
            <a:graphicFrameLocks noGrp="1"/>
          </p:cNvGraphicFramePr>
          <p:nvPr/>
        </p:nvGraphicFramePr>
        <p:xfrm>
          <a:off x="640080" y="4408344"/>
          <a:ext cx="10911535" cy="1791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3" name="cpe|exhibit|connector|22"/>
          <p:cNvCxnSpPr/>
          <p:nvPr/>
        </p:nvCxnSpPr>
        <p:spPr>
          <a:xfrm>
            <a:off x="6842453" y="4786729"/>
            <a:ext cx="2437304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842453" y="4786729"/>
            <a:ext cx="0" cy="91440"/>
          </a:xfrm>
          <a:prstGeom prst="line">
            <a:avLst/>
          </a:prstGeom>
          <a:ln w="9525">
            <a:solidFill>
              <a:srgbClr val="222222"/>
            </a:solidFill>
          </a:ln>
        </p:spPr>
      </p:cxnSp>
      <p:sp>
        <p:nvSpPr>
          <p:cNvPr id="25" name="cpe|exhibit|label|24"/>
          <p:cNvSpPr txBox="1"/>
          <p:nvPr/>
        </p:nvSpPr>
        <p:spPr>
          <a:xfrm>
            <a:off x="7841264" y="4649569"/>
            <a:ext cx="439682" cy="27432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+3%</a:t>
            </a:r>
          </a:p>
        </p:txBody>
      </p:sp>
      <p:graphicFrame>
        <p:nvGraphicFramePr>
          <p:cNvPr id="26" name="cpe|exhibit|chart|25"/>
          <p:cNvGraphicFramePr>
            <a:graphicFrameLocks noGrp="1"/>
          </p:cNvGraphicFramePr>
          <p:nvPr/>
        </p:nvGraphicFramePr>
        <p:xfrm>
          <a:off x="640080" y="3229295"/>
          <a:ext cx="10911535" cy="10693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cpe|exhibit|label|26"/>
          <p:cNvSpPr txBox="1"/>
          <p:nvPr/>
        </p:nvSpPr>
        <p:spPr>
          <a:xfrm>
            <a:off x="9371197" y="3802449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F6F6F"/>
                </a:solidFill>
                <a:latin typeface="Calibri"/>
              </a:rPr>
              <a:t>Market growth</a:t>
            </a:r>
          </a:p>
        </p:txBody>
      </p:sp>
      <p:sp>
        <p:nvSpPr>
          <p:cNvPr id="28" name="cpe|exhibit|label|27"/>
          <p:cNvSpPr txBox="1"/>
          <p:nvPr/>
        </p:nvSpPr>
        <p:spPr>
          <a:xfrm>
            <a:off x="9371197" y="4021905"/>
            <a:ext cx="2180419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Alvora growth</a:t>
            </a:r>
          </a:p>
        </p:txBody>
      </p:sp>
      <p:sp>
        <p:nvSpPr>
          <p:cNvPr id="29" name="cpe|exhibit|label|28"/>
          <p:cNvSpPr txBox="1"/>
          <p:nvPr/>
        </p:nvSpPr>
        <p:spPr>
          <a:xfrm>
            <a:off x="1510647" y="3201371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6.3%</a:t>
            </a:r>
          </a:p>
        </p:txBody>
      </p:sp>
      <p:sp>
        <p:nvSpPr>
          <p:cNvPr id="30" name="cpe|exhibit|label|29"/>
          <p:cNvSpPr txBox="1"/>
          <p:nvPr/>
        </p:nvSpPr>
        <p:spPr>
          <a:xfrm>
            <a:off x="1510647" y="3676596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3.8%</a:t>
            </a:r>
          </a:p>
        </p:txBody>
      </p:sp>
      <p:sp>
        <p:nvSpPr>
          <p:cNvPr id="31" name="cpe|exhibit|label|30"/>
          <p:cNvSpPr txBox="1"/>
          <p:nvPr/>
        </p:nvSpPr>
        <p:spPr>
          <a:xfrm>
            <a:off x="3947950" y="3125335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6.7%</a:t>
            </a:r>
          </a:p>
        </p:txBody>
      </p:sp>
      <p:sp>
        <p:nvSpPr>
          <p:cNvPr id="32" name="cpe|exhibit|label|31"/>
          <p:cNvSpPr txBox="1"/>
          <p:nvPr/>
        </p:nvSpPr>
        <p:spPr>
          <a:xfrm>
            <a:off x="3947950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3" name="cpe|exhibit|label|32"/>
          <p:cNvSpPr txBox="1"/>
          <p:nvPr/>
        </p:nvSpPr>
        <p:spPr>
          <a:xfrm>
            <a:off x="6385253" y="3638578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4.0%</a:t>
            </a:r>
          </a:p>
        </p:txBody>
      </p:sp>
      <p:sp>
        <p:nvSpPr>
          <p:cNvPr id="34" name="cpe|exhibit|label|33"/>
          <p:cNvSpPr txBox="1"/>
          <p:nvPr/>
        </p:nvSpPr>
        <p:spPr>
          <a:xfrm>
            <a:off x="6385253" y="402334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3.9%</a:t>
            </a:r>
          </a:p>
        </p:txBody>
      </p:sp>
      <p:sp>
        <p:nvSpPr>
          <p:cNvPr id="35" name="cpe|exhibit|label|34"/>
          <p:cNvSpPr txBox="1"/>
          <p:nvPr/>
        </p:nvSpPr>
        <p:spPr>
          <a:xfrm>
            <a:off x="8822557" y="3619569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F6F6F"/>
                </a:solidFill>
                <a:latin typeface="Calibri"/>
              </a:rPr>
              <a:t>4.1%</a:t>
            </a:r>
          </a:p>
        </p:txBody>
      </p:sp>
      <p:sp>
        <p:nvSpPr>
          <p:cNvPr id="36" name="cpe|exhibit|label|35"/>
          <p:cNvSpPr txBox="1"/>
          <p:nvPr/>
        </p:nvSpPr>
        <p:spPr>
          <a:xfrm>
            <a:off x="8822557" y="4194427"/>
            <a:ext cx="9144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B3A2F"/>
                </a:solidFill>
                <a:latin typeface="Calibri"/>
              </a:rPr>
              <a:t>3.0%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PORTFOLIO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holds 14% of supermarkets but only 5% of discount, the segment driving growth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Retailer reports; consumer panel; team estimates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5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Market share by channel,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% of channel sales; width = channel size (€bn)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640080" y="4669384"/>
            <a:ext cx="2354735" cy="13121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40080" y="3593409"/>
            <a:ext cx="2354735" cy="1075974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640080" y="3278490"/>
            <a:ext cx="2354735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40080" y="2176272"/>
            <a:ext cx="2354735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label|10"/>
          <p:cNvSpPr txBox="1"/>
          <p:nvPr/>
        </p:nvSpPr>
        <p:spPr>
          <a:xfrm>
            <a:off x="640080" y="1901952"/>
            <a:ext cx="2354735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38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40080" y="4855464"/>
            <a:ext cx="2354735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Discount</a:t>
            </a:r>
          </a:p>
        </p:txBody>
      </p:sp>
      <p:sp>
        <p:nvSpPr>
          <p:cNvPr id="13" name="cpe|exhibit|fill|12"/>
          <p:cNvSpPr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cpe|exhibit|fill|13"/>
          <p:cNvSpPr/>
          <p:nvPr/>
        </p:nvSpPr>
        <p:spPr>
          <a:xfrm>
            <a:off x="3031391" y="4328221"/>
            <a:ext cx="3222268" cy="10497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fill|14"/>
          <p:cNvSpPr/>
          <p:nvPr/>
        </p:nvSpPr>
        <p:spPr>
          <a:xfrm>
            <a:off x="3031391" y="3750869"/>
            <a:ext cx="3222268" cy="57735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cpe|exhibit|fill|15"/>
          <p:cNvSpPr/>
          <p:nvPr/>
        </p:nvSpPr>
        <p:spPr>
          <a:xfrm>
            <a:off x="3031391" y="3278490"/>
            <a:ext cx="3222268" cy="47237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fill|16"/>
          <p:cNvSpPr/>
          <p:nvPr/>
        </p:nvSpPr>
        <p:spPr>
          <a:xfrm>
            <a:off x="3031391" y="2176272"/>
            <a:ext cx="3222268" cy="110221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cpe|exhibit|label|17"/>
          <p:cNvSpPr txBox="1"/>
          <p:nvPr/>
        </p:nvSpPr>
        <p:spPr>
          <a:xfrm>
            <a:off x="3031391" y="1901952"/>
            <a:ext cx="322226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52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3031391" y="4855464"/>
            <a:ext cx="3222268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Supermarkets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6290235" y="4564410"/>
            <a:ext cx="1487201" cy="236190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fill|20"/>
          <p:cNvSpPr/>
          <p:nvPr/>
        </p:nvSpPr>
        <p:spPr>
          <a:xfrm>
            <a:off x="6290235" y="4170761"/>
            <a:ext cx="1487201" cy="39364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fill|21"/>
          <p:cNvSpPr/>
          <p:nvPr/>
        </p:nvSpPr>
        <p:spPr>
          <a:xfrm>
            <a:off x="6290235" y="3357220"/>
            <a:ext cx="1487201" cy="813542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fill|22"/>
          <p:cNvSpPr/>
          <p:nvPr/>
        </p:nvSpPr>
        <p:spPr>
          <a:xfrm>
            <a:off x="6290235" y="2176272"/>
            <a:ext cx="1487201" cy="1180948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6290235" y="1901952"/>
            <a:ext cx="148720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24</a:t>
            </a:r>
          </a:p>
        </p:txBody>
      </p:sp>
      <p:sp>
        <p:nvSpPr>
          <p:cNvPr id="25" name="cpe|exhibit|text|24"/>
          <p:cNvSpPr txBox="1"/>
          <p:nvPr/>
        </p:nvSpPr>
        <p:spPr>
          <a:xfrm>
            <a:off x="6290235" y="4855464"/>
            <a:ext cx="1487201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Hypermarkets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fill|26"/>
          <p:cNvSpPr/>
          <p:nvPr/>
        </p:nvSpPr>
        <p:spPr>
          <a:xfrm>
            <a:off x="7814012" y="4328221"/>
            <a:ext cx="867534" cy="15746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fill|27"/>
          <p:cNvSpPr/>
          <p:nvPr/>
        </p:nvSpPr>
        <p:spPr>
          <a:xfrm>
            <a:off x="7814012" y="4144518"/>
            <a:ext cx="867534" cy="183703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fill|28"/>
          <p:cNvSpPr/>
          <p:nvPr/>
        </p:nvSpPr>
        <p:spPr>
          <a:xfrm>
            <a:off x="7814012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cpe|exhibit|label|29"/>
          <p:cNvSpPr txBox="1"/>
          <p:nvPr/>
        </p:nvSpPr>
        <p:spPr>
          <a:xfrm>
            <a:off x="7814012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1" name="cpe|exhibit|text|30"/>
          <p:cNvSpPr txBox="1"/>
          <p:nvPr/>
        </p:nvSpPr>
        <p:spPr>
          <a:xfrm>
            <a:off x="7814012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Convenience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8718121" y="4695627"/>
            <a:ext cx="867534" cy="104973"/>
          </a:xfrm>
          <a:prstGeom prst="rect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fill|32"/>
          <p:cNvSpPr/>
          <p:nvPr/>
        </p:nvSpPr>
        <p:spPr>
          <a:xfrm>
            <a:off x="8718121" y="4459437"/>
            <a:ext cx="867534" cy="236190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cpe|exhibit|fill|33"/>
          <p:cNvSpPr/>
          <p:nvPr/>
        </p:nvSpPr>
        <p:spPr>
          <a:xfrm>
            <a:off x="8718121" y="4144518"/>
            <a:ext cx="867534" cy="314919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fill|34"/>
          <p:cNvSpPr/>
          <p:nvPr/>
        </p:nvSpPr>
        <p:spPr>
          <a:xfrm>
            <a:off x="8718121" y="2176272"/>
            <a:ext cx="867534" cy="1968246"/>
          </a:xfrm>
          <a:prstGeom prst="rect">
            <a:avLst/>
          </a:prstGeom>
          <a:solidFill>
            <a:srgbClr val="CECECE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label|35"/>
          <p:cNvSpPr txBox="1"/>
          <p:nvPr/>
        </p:nvSpPr>
        <p:spPr>
          <a:xfrm>
            <a:off x="8718121" y="1901952"/>
            <a:ext cx="867534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14</a:t>
            </a:r>
          </a:p>
        </p:txBody>
      </p:sp>
      <p:sp>
        <p:nvSpPr>
          <p:cNvPr id="37" name="cpe|exhibit|text|36"/>
          <p:cNvSpPr txBox="1"/>
          <p:nvPr/>
        </p:nvSpPr>
        <p:spPr>
          <a:xfrm>
            <a:off x="8718121" y="4855464"/>
            <a:ext cx="867534" cy="5120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Online</a:t>
            </a:r>
          </a:p>
        </p:txBody>
      </p:sp>
      <p:sp>
        <p:nvSpPr>
          <p:cNvPr id="38" name="cpe|exhibit|label|37"/>
          <p:cNvSpPr txBox="1"/>
          <p:nvPr/>
        </p:nvSpPr>
        <p:spPr>
          <a:xfrm>
            <a:off x="640080" y="4422496"/>
            <a:ext cx="2354735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5%</a:t>
            </a:r>
          </a:p>
        </p:txBody>
      </p:sp>
      <p:sp>
        <p:nvSpPr>
          <p:cNvPr id="39" name="cpe|exhibit|label|38"/>
          <p:cNvSpPr txBox="1"/>
          <p:nvPr/>
        </p:nvSpPr>
        <p:spPr>
          <a:xfrm>
            <a:off x="3031391" y="4433194"/>
            <a:ext cx="3222268" cy="36740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14%</a:t>
            </a:r>
          </a:p>
        </p:txBody>
      </p:sp>
      <p:sp>
        <p:nvSpPr>
          <p:cNvPr id="40" name="cpe|exhibit|label|39"/>
          <p:cNvSpPr txBox="1"/>
          <p:nvPr/>
        </p:nvSpPr>
        <p:spPr>
          <a:xfrm>
            <a:off x="6290235" y="4317522"/>
            <a:ext cx="1487201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9%</a:t>
            </a:r>
          </a:p>
        </p:txBody>
      </p:sp>
      <p:sp>
        <p:nvSpPr>
          <p:cNvPr id="41" name="cpe|exhibit|label|40"/>
          <p:cNvSpPr txBox="1"/>
          <p:nvPr/>
        </p:nvSpPr>
        <p:spPr>
          <a:xfrm>
            <a:off x="7814012" y="4485681"/>
            <a:ext cx="867534" cy="31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42" name="cpe|exhibit|label|41"/>
          <p:cNvSpPr txBox="1"/>
          <p:nvPr/>
        </p:nvSpPr>
        <p:spPr>
          <a:xfrm>
            <a:off x="8718121" y="4448739"/>
            <a:ext cx="867534" cy="228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4%</a:t>
            </a:r>
          </a:p>
        </p:txBody>
      </p:sp>
      <p:sp>
        <p:nvSpPr>
          <p:cNvPr id="43" name="cpe|exhibit|marker|42"/>
          <p:cNvSpPr/>
          <p:nvPr/>
        </p:nvSpPr>
        <p:spPr>
          <a:xfrm>
            <a:off x="9768535" y="2240280"/>
            <a:ext cx="128016" cy="128016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label|43"/>
          <p:cNvSpPr txBox="1"/>
          <p:nvPr/>
        </p:nvSpPr>
        <p:spPr>
          <a:xfrm>
            <a:off x="9969703" y="2176272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Alvora</a:t>
            </a:r>
          </a:p>
        </p:txBody>
      </p:sp>
      <p:sp>
        <p:nvSpPr>
          <p:cNvPr id="45" name="cpe|exhibit|marker|44"/>
          <p:cNvSpPr/>
          <p:nvPr/>
        </p:nvSpPr>
        <p:spPr>
          <a:xfrm>
            <a:off x="9768535" y="2532888"/>
            <a:ext cx="128016" cy="128016"/>
          </a:xfrm>
          <a:prstGeom prst="rect">
            <a:avLst/>
          </a:prstGeom>
          <a:solidFill>
            <a:srgbClr val="CECECE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cpe|exhibit|label|45"/>
          <p:cNvSpPr txBox="1"/>
          <p:nvPr/>
        </p:nvSpPr>
        <p:spPr>
          <a:xfrm>
            <a:off x="9969703" y="24688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Other players</a:t>
            </a:r>
          </a:p>
        </p:txBody>
      </p:sp>
      <p:cxnSp>
        <p:nvCxnSpPr>
          <p:cNvPr id="47" name="cpe|commentary|line|46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8" name="cpe|commentary|text|47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54% of Alvora sales come from </a:t>
            </a:r>
            <a:r>
              <a:rPr sz="1200" b="1">
                <a:solidFill>
                  <a:srgbClr val="222222"/>
                </a:solidFill>
                <a:latin typeface="Calibri"/>
              </a:rPr>
              <a:t>supermarkets</a:t>
            </a:r>
            <a:r>
              <a:rPr sz="1200" b="0">
                <a:solidFill>
                  <a:srgbClr val="222222"/>
                </a:solidFill>
                <a:latin typeface="Calibri"/>
              </a:rPr>
              <a:t>, a channel growing 2% a year</a:t>
            </a:r>
          </a:p>
        </p:txBody>
      </p:sp>
      <p:sp>
        <p:nvSpPr>
          <p:cNvPr id="49" name="cpe|commentary|text|48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In </a:t>
            </a:r>
            <a:r>
              <a:rPr sz="1200" b="1">
                <a:solidFill>
                  <a:srgbClr val="222222"/>
                </a:solidFill>
                <a:latin typeface="Calibri"/>
              </a:rPr>
              <a:t>discount</a:t>
            </a:r>
            <a:r>
              <a:rPr sz="1200" b="0">
                <a:solidFill>
                  <a:srgbClr val="222222"/>
                </a:solidFill>
                <a:latin typeface="Calibri"/>
              </a:rPr>
              <a:t>, Competitor A holds 41% with a lower cost-to-serve</a:t>
            </a:r>
          </a:p>
        </p:txBody>
      </p:sp>
      <p:sp>
        <p:nvSpPr>
          <p:cNvPr id="50" name="cpe|commentary|text|49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Online</a:t>
            </a:r>
            <a:r>
              <a:rPr sz="1200" b="0">
                <a:solidFill>
                  <a:srgbClr val="222222"/>
                </a:solidFill>
                <a:latin typeface="Calibri"/>
              </a:rPr>
              <a:t> share of 4% trails B and C, whose hub networks are in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Margin erosion in grocery and convenience (€119M) pushed EBITDA down to €857M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management accounts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6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7207301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bridge 2024 to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7207301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580376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924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1440891" y="299846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+52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2241702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+31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3042514" y="265155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−78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3843325" y="352442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−41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4644136" y="398323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−22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5444947" y="4229433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−14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6245758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</a:t>
            </a:r>
          </a:p>
        </p:txBody>
      </p:sp>
      <p:sp>
        <p:nvSpPr>
          <p:cNvPr id="16" name="cpe|exhibit|label|15"/>
          <p:cNvSpPr txBox="1"/>
          <p:nvPr/>
        </p:nvSpPr>
        <p:spPr>
          <a:xfrm>
            <a:off x="7046570" y="4330149"/>
            <a:ext cx="800811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cxnSp>
        <p:nvCxnSpPr>
          <p:cNvPr id="17" name="cpe|exhibit|connector|16"/>
          <p:cNvCxnSpPr/>
          <p:nvPr/>
        </p:nvCxnSpPr>
        <p:spPr>
          <a:xfrm>
            <a:off x="1316627" y="3845552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2117439" y="326363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2918250" y="2916729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3719061" y="378959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4519872" y="4248415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5320683" y="4494609"/>
            <a:ext cx="248528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3" name="cpe|exhibit|connector|22"/>
          <p:cNvCxnSpPr/>
          <p:nvPr/>
        </p:nvCxnSpPr>
        <p:spPr>
          <a:xfrm>
            <a:off x="6121495" y="4651278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4" name="cpe|exhibit|connector|23"/>
          <p:cNvCxnSpPr/>
          <p:nvPr/>
        </p:nvCxnSpPr>
        <p:spPr>
          <a:xfrm>
            <a:off x="6922306" y="4595325"/>
            <a:ext cx="248527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5" name="cpe|exhibit|marker|24"/>
          <p:cNvSpPr/>
          <p:nvPr/>
        </p:nvSpPr>
        <p:spPr>
          <a:xfrm>
            <a:off x="709480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marker|25"/>
          <p:cNvSpPr/>
          <p:nvPr/>
        </p:nvSpPr>
        <p:spPr>
          <a:xfrm>
            <a:off x="7115969" y="5447191"/>
            <a:ext cx="662012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27" name="cpe|commentary|line|26"/>
          <p:cNvCxnSpPr/>
          <p:nvPr/>
        </p:nvCxnSpPr>
        <p:spPr>
          <a:xfrm>
            <a:off x="8048549" y="1481328"/>
            <a:ext cx="0" cy="4718304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28" name="cpe|commentary|text|27"/>
          <p:cNvSpPr txBox="1"/>
          <p:nvPr/>
        </p:nvSpPr>
        <p:spPr>
          <a:xfrm>
            <a:off x="8277149" y="1481328"/>
            <a:ext cx="3274466" cy="196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B3A2F"/>
                </a:solidFill>
                <a:latin typeface="Calibri"/>
              </a:rPr>
              <a:t>Two categories explain the decline</a:t>
            </a:r>
          </a:p>
        </p:txBody>
      </p:sp>
      <p:sp>
        <p:nvSpPr>
          <p:cNvPr id="29" name="cpe|commentary|text|28"/>
          <p:cNvSpPr txBox="1"/>
          <p:nvPr/>
        </p:nvSpPr>
        <p:spPr>
          <a:xfrm>
            <a:off x="8277149" y="1796796"/>
            <a:ext cx="3274466" cy="44028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Grocery (−€78M):</a:t>
            </a:r>
            <a:r>
              <a:rPr sz="1200" b="0">
                <a:solidFill>
                  <a:srgbClr val="222222"/>
                </a:solidFill>
                <a:latin typeface="Calibri"/>
              </a:rPr>
              <a:t> promo intensity up 3pp to match discounters</a:t>
            </a:r>
          </a:p>
          <a:p>
            <a:pPr algn="l" marL="155448" indent="-155448">
              <a:lnSpc>
                <a:spcPct val="108000"/>
              </a:lnSpc>
              <a:spcAft>
                <a:spcPts val="800"/>
              </a:spcAft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1">
                <a:solidFill>
                  <a:srgbClr val="222222"/>
                </a:solidFill>
                <a:latin typeface="Calibri"/>
              </a:rPr>
              <a:t>Convenience (−€41M):</a:t>
            </a:r>
            <a:r>
              <a:rPr sz="1200" b="0">
                <a:solidFill>
                  <a:srgbClr val="222222"/>
                </a:solidFill>
                <a:latin typeface="Calibri"/>
              </a:rPr>
              <a:t> food-to-go waste doubled after the range extension</a:t>
            </a:r>
          </a:p>
          <a:p>
            <a:pPr algn="l" marL="155448" indent="-155448">
              <a:lnSpc>
                <a:spcPct val="108000"/>
              </a:lnSpc>
              <a:buClr>
                <a:srgbClr val="222222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222222"/>
                </a:solidFill>
                <a:latin typeface="Calibri"/>
              </a:rPr>
              <a:t>Volume and price added €83M, not enough to offset cost inflation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PROFITABILITY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erosion concentrates in fresh and food-to-go, above all in Madrid and Catalonia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Alvora category P&amp;L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7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Gross margin change by category and region, 2025 vs 2024</a:t>
            </a:r>
            <a:r>
              <a:rPr sz="1100" b="0">
                <a:solidFill>
                  <a:srgbClr val="222222"/>
                </a:solidFill>
                <a:latin typeface="Calibri"/>
              </a:rPr>
              <a:t>, pp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4" cy="3201543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77440"/>
                <a:gridCol w="1422349"/>
                <a:gridCol w="1422349"/>
                <a:gridCol w="1422349"/>
                <a:gridCol w="1422349"/>
                <a:gridCol w="1422349"/>
                <a:gridCol w="1422349"/>
              </a:tblGrid>
              <a:tr h="30060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Madrid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Catalonia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Andalusia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Valencia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Portugal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Fresh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55B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−2.6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9D67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C3B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3C7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AD9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Food-to-go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640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FFFFFF"/>
                          </a:solidFill>
                          <a:latin typeface="Calibri"/>
                        </a:rPr>
                        <a:t>−3.1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AF53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CB6B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−1.2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DFBFB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−0.9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5CC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Ambient grocery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−0.8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D0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−0.7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8D5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DE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DE2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Drinks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E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1EB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Household &amp; personal care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0.1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F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BEE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1E7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solidFill>
                      <a:srgbClr val="E6EAE8"/>
                    </a:solidFill>
                  </a:tcPr>
                </a:tc>
              </a:tr>
              <a:tr h="483489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−1.4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−0.3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−0.2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12382" cap="flat">
                      <a:solidFill>
                        <a:srgbClr val="1B3A2F"/>
                      </a:solidFill>
                      <a:prstDash val="solid"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takeaway|fill|7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takeaway|fill|8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takeaway|text|9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Fixing fresh and food-to-go in two regions addresses about two thirds of the margin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COMPETITION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Alvora is stuck in the middle: priced above discounters without a clear experience edge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Customer survey 2025, n=4,000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8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Customer perception, 2025</a:t>
            </a:r>
            <a:r>
              <a:rPr sz="1100" b="0">
                <a:solidFill>
                  <a:srgbClr val="222222"/>
                </a:solidFill>
                <a:latin typeface="Calibri"/>
              </a:rPr>
              <a:t>, index 0-1; bubble = revenue</a:t>
            </a:r>
          </a:p>
        </p:txBody>
      </p:sp>
      <p:sp>
        <p:nvSpPr>
          <p:cNvPr id="7" name="cpe|exhibit|fill|6"/>
          <p:cNvSpPr/>
          <p:nvPr/>
        </p:nvSpPr>
        <p:spPr>
          <a:xfrm>
            <a:off x="777240" y="2267712"/>
            <a:ext cx="5341468" cy="1357884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cpe|exhibit|fill|7"/>
          <p:cNvSpPr/>
          <p:nvPr/>
        </p:nvSpPr>
        <p:spPr>
          <a:xfrm>
            <a:off x="6118708" y="2267712"/>
            <a:ext cx="5341468" cy="1357884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fill|8"/>
          <p:cNvSpPr/>
          <p:nvPr/>
        </p:nvSpPr>
        <p:spPr>
          <a:xfrm>
            <a:off x="777240" y="3625596"/>
            <a:ext cx="5341468" cy="1357884"/>
          </a:xfrm>
          <a:prstGeom prst="rect">
            <a:avLst/>
          </a:prstGeom>
          <a:solidFill>
            <a:srgbClr val="F0F0F0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fill|9"/>
          <p:cNvSpPr/>
          <p:nvPr/>
        </p:nvSpPr>
        <p:spPr>
          <a:xfrm>
            <a:off x="6118708" y="3625596"/>
            <a:ext cx="5341468" cy="1357884"/>
          </a:xfrm>
          <a:prstGeom prst="rect">
            <a:avLst/>
          </a:prstGeom>
          <a:noFill/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68680" y="234086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Experience-led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6210148" y="234086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leaders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868680" y="467258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B3A2F"/>
                </a:solidFill>
                <a:latin typeface="Calibri"/>
              </a:rPr>
              <a:t>Stuck in the middle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6210148" y="4672584"/>
            <a:ext cx="51585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Price-led</a:t>
            </a:r>
          </a:p>
        </p:txBody>
      </p:sp>
      <p:cxnSp>
        <p:nvCxnSpPr>
          <p:cNvPr id="15" name="cpe|exhibit|line|14"/>
          <p:cNvCxnSpPr/>
          <p:nvPr/>
        </p:nvCxnSpPr>
        <p:spPr>
          <a:xfrm>
            <a:off x="777240" y="4983480"/>
            <a:ext cx="10728655" cy="0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cxnSp>
        <p:nvCxnSpPr>
          <p:cNvPr id="16" name="cpe|exhibit|line|15"/>
          <p:cNvCxnSpPr/>
          <p:nvPr/>
        </p:nvCxnSpPr>
        <p:spPr>
          <a:xfrm flipV="1">
            <a:off x="777240" y="2221992"/>
            <a:ext cx="0" cy="2761488"/>
          </a:xfrm>
          <a:prstGeom prst="line">
            <a:avLst/>
          </a:prstGeom>
          <a:ln w="9525">
            <a:solidFill>
              <a:srgbClr val="222222"/>
            </a:solidFill>
            <a:tailEnd type="triangle" w="med" len="med"/>
          </a:ln>
        </p:spPr>
      </p:cxnSp>
      <p:sp>
        <p:nvSpPr>
          <p:cNvPr id="17" name="cpe|exhibit|text|16"/>
          <p:cNvSpPr txBox="1"/>
          <p:nvPr/>
        </p:nvSpPr>
        <p:spPr>
          <a:xfrm>
            <a:off x="777240" y="5038344"/>
            <a:ext cx="106829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Price perception (cheaper →)</a:t>
            </a:r>
          </a:p>
        </p:txBody>
      </p:sp>
      <p:sp>
        <p:nvSpPr>
          <p:cNvPr id="18" name="cpe|exhibit|label|17"/>
          <p:cNvSpPr txBox="1"/>
          <p:nvPr/>
        </p:nvSpPr>
        <p:spPr>
          <a:xfrm>
            <a:off x="731520" y="1938528"/>
            <a:ext cx="114186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↑ Store experience</a:t>
            </a:r>
          </a:p>
        </p:txBody>
      </p:sp>
      <p:sp>
        <p:nvSpPr>
          <p:cNvPr id="19" name="cpe|exhibit|marker|18"/>
          <p:cNvSpPr/>
          <p:nvPr/>
        </p:nvSpPr>
        <p:spPr>
          <a:xfrm>
            <a:off x="6756081" y="3055285"/>
            <a:ext cx="434523" cy="434523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cpe|exhibit|label|19"/>
          <p:cNvSpPr txBox="1"/>
          <p:nvPr/>
        </p:nvSpPr>
        <p:spPr>
          <a:xfrm>
            <a:off x="7227180" y="3162818"/>
            <a:ext cx="75966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B</a:t>
            </a:r>
          </a:p>
        </p:txBody>
      </p:sp>
      <p:sp>
        <p:nvSpPr>
          <p:cNvPr id="21" name="cpe|exhibit|marker|20"/>
          <p:cNvSpPr/>
          <p:nvPr/>
        </p:nvSpPr>
        <p:spPr>
          <a:xfrm>
            <a:off x="9758516" y="3854071"/>
            <a:ext cx="412097" cy="412097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cpe|exhibit|label|21"/>
          <p:cNvSpPr txBox="1"/>
          <p:nvPr/>
        </p:nvSpPr>
        <p:spPr>
          <a:xfrm>
            <a:off x="10207189" y="3950391"/>
            <a:ext cx="764072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A</a:t>
            </a:r>
          </a:p>
        </p:txBody>
      </p:sp>
      <p:sp>
        <p:nvSpPr>
          <p:cNvPr id="23" name="cpe|exhibit|marker|22"/>
          <p:cNvSpPr/>
          <p:nvPr/>
        </p:nvSpPr>
        <p:spPr>
          <a:xfrm>
            <a:off x="3781914" y="2773605"/>
            <a:ext cx="400413" cy="400413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label|23"/>
          <p:cNvSpPr txBox="1"/>
          <p:nvPr/>
        </p:nvSpPr>
        <p:spPr>
          <a:xfrm>
            <a:off x="4218903" y="2864084"/>
            <a:ext cx="75831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Competitor C</a:t>
            </a:r>
          </a:p>
        </p:txBody>
      </p:sp>
      <p:sp>
        <p:nvSpPr>
          <p:cNvPr id="25" name="cpe|exhibit|marker|24"/>
          <p:cNvSpPr/>
          <p:nvPr/>
        </p:nvSpPr>
        <p:spPr>
          <a:xfrm>
            <a:off x="4861038" y="3599166"/>
            <a:ext cx="378753" cy="378753"/>
          </a:xfrm>
          <a:prstGeom prst="ellipse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exhibit|label|25"/>
          <p:cNvSpPr txBox="1"/>
          <p:nvPr/>
        </p:nvSpPr>
        <p:spPr>
          <a:xfrm>
            <a:off x="5276366" y="3678814"/>
            <a:ext cx="401467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2222"/>
                </a:solidFill>
                <a:latin typeface="Calibri"/>
              </a:rPr>
              <a:t>Alvora</a:t>
            </a:r>
          </a:p>
        </p:txBody>
      </p:sp>
      <p:sp>
        <p:nvSpPr>
          <p:cNvPr id="27" name="cpe|exhibit|marker|26"/>
          <p:cNvSpPr/>
          <p:nvPr/>
        </p:nvSpPr>
        <p:spPr>
          <a:xfrm>
            <a:off x="7702191" y="2630764"/>
            <a:ext cx="251572" cy="251572"/>
          </a:xfrm>
          <a:prstGeom prst="ellipse">
            <a:avLst/>
          </a:prstGeom>
          <a:solidFill>
            <a:srgbClr val="1B3A2F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cpe|exhibit|label|27"/>
          <p:cNvSpPr txBox="1"/>
          <p:nvPr/>
        </p:nvSpPr>
        <p:spPr>
          <a:xfrm>
            <a:off x="7990339" y="2646822"/>
            <a:ext cx="108431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Online pure-players</a:t>
            </a:r>
          </a:p>
        </p:txBody>
      </p:sp>
      <p:cxnSp>
        <p:nvCxnSpPr>
          <p:cNvPr id="29" name="cpe|commentary|line|28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30" name="cpe|commentary|text|29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Alvora's prices sit </a:t>
            </a:r>
            <a:r>
              <a:rPr sz="1200" b="1">
                <a:solidFill>
                  <a:srgbClr val="222222"/>
                </a:solidFill>
                <a:latin typeface="Calibri"/>
              </a:rPr>
              <a:t>8% above</a:t>
            </a:r>
            <a:r>
              <a:rPr sz="1200" b="0">
                <a:solidFill>
                  <a:srgbClr val="222222"/>
                </a:solidFill>
                <a:latin typeface="Calibri"/>
              </a:rPr>
              <a:t> Competitor A on a comparable basket</a:t>
            </a:r>
          </a:p>
        </p:txBody>
      </p:sp>
      <p:sp>
        <p:nvSpPr>
          <p:cNvPr id="31" name="cpe|commentary|text|30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Its experience score trails B and C on freshness and queues</a:t>
            </a:r>
          </a:p>
        </p:txBody>
      </p:sp>
      <p:sp>
        <p:nvSpPr>
          <p:cNvPr id="32" name="cpe|commentary|text|31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Winning back price perception needs a separate low-cost format, not deeper promotions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OPERATING MODEL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target model adds a discount banner and central pricing to fund the growth moves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Team analysis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9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640080" y="1481328"/>
            <a:ext cx="2103120" cy="90297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731520" y="148132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Propositions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2834640" y="1481328"/>
            <a:ext cx="1964360" cy="902970"/>
          </a:xfrm>
          <a:prstGeom prst="rect">
            <a:avLst/>
          </a:prstGeom>
          <a:solidFill>
            <a:srgbClr val="C8A24A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2889504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4872152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4927016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Supermarkets</a:t>
            </a:r>
          </a:p>
        </p:txBody>
      </p:sp>
      <p:sp>
        <p:nvSpPr>
          <p:cNvPr id="12" name="cpe|exhibit|fill|11"/>
          <p:cNvSpPr/>
          <p:nvPr/>
        </p:nvSpPr>
        <p:spPr>
          <a:xfrm>
            <a:off x="6909664" y="1481328"/>
            <a:ext cx="196436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cpe|exhibit|text|12"/>
          <p:cNvSpPr txBox="1"/>
          <p:nvPr/>
        </p:nvSpPr>
        <p:spPr>
          <a:xfrm>
            <a:off x="6964528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Convenience</a:t>
            </a:r>
          </a:p>
        </p:txBody>
      </p:sp>
      <p:sp>
        <p:nvSpPr>
          <p:cNvPr id="14" name="cpe|exhibit|fill|13"/>
          <p:cNvSpPr/>
          <p:nvPr/>
        </p:nvSpPr>
        <p:spPr>
          <a:xfrm>
            <a:off x="8947175" y="1481328"/>
            <a:ext cx="196436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cpe|exhibit|text|14"/>
          <p:cNvSpPr txBox="1"/>
          <p:nvPr/>
        </p:nvSpPr>
        <p:spPr>
          <a:xfrm>
            <a:off x="9002039" y="1481328"/>
            <a:ext cx="185463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Online</a:t>
            </a:r>
          </a:p>
        </p:txBody>
      </p:sp>
      <p:sp>
        <p:nvSpPr>
          <p:cNvPr id="16" name="cpe|exhibit|fill|15"/>
          <p:cNvSpPr/>
          <p:nvPr/>
        </p:nvSpPr>
        <p:spPr>
          <a:xfrm>
            <a:off x="640080" y="247573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cpe|exhibit|text|16"/>
          <p:cNvSpPr txBox="1"/>
          <p:nvPr/>
        </p:nvSpPr>
        <p:spPr>
          <a:xfrm>
            <a:off x="731520" y="247573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18" name="cpe|exhibit|fill|17"/>
          <p:cNvSpPr/>
          <p:nvPr/>
        </p:nvSpPr>
        <p:spPr>
          <a:xfrm>
            <a:off x="2834640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cpe|exhibit|text|18"/>
          <p:cNvSpPr txBox="1"/>
          <p:nvPr/>
        </p:nvSpPr>
        <p:spPr>
          <a:xfrm>
            <a:off x="2889504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Central pricing &amp; promo</a:t>
            </a:r>
          </a:p>
        </p:txBody>
      </p:sp>
      <p:sp>
        <p:nvSpPr>
          <p:cNvPr id="20" name="cpe|exhibit|fill|19"/>
          <p:cNvSpPr/>
          <p:nvPr/>
        </p:nvSpPr>
        <p:spPr>
          <a:xfrm>
            <a:off x="5551322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cpe|exhibit|text|20"/>
          <p:cNvSpPr txBox="1"/>
          <p:nvPr/>
        </p:nvSpPr>
        <p:spPr>
          <a:xfrm>
            <a:off x="5606186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Category management</a:t>
            </a:r>
          </a:p>
        </p:txBody>
      </p:sp>
      <p:sp>
        <p:nvSpPr>
          <p:cNvPr id="22" name="cpe|exhibit|fill|21"/>
          <p:cNvSpPr/>
          <p:nvPr/>
        </p:nvSpPr>
        <p:spPr>
          <a:xfrm>
            <a:off x="8268005" y="247573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cpe|exhibit|text|22"/>
          <p:cNvSpPr txBox="1"/>
          <p:nvPr/>
        </p:nvSpPr>
        <p:spPr>
          <a:xfrm>
            <a:off x="8322869" y="247573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24" name="cpe|exhibit|fill|23"/>
          <p:cNvSpPr/>
          <p:nvPr/>
        </p:nvSpPr>
        <p:spPr>
          <a:xfrm>
            <a:off x="640080" y="347014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exhibit|text|24"/>
          <p:cNvSpPr txBox="1"/>
          <p:nvPr/>
        </p:nvSpPr>
        <p:spPr>
          <a:xfrm>
            <a:off x="731520" y="347014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Operations</a:t>
            </a:r>
          </a:p>
        </p:txBody>
      </p:sp>
      <p:sp>
        <p:nvSpPr>
          <p:cNvPr id="26" name="cpe|exhibit|fill|25"/>
          <p:cNvSpPr/>
          <p:nvPr/>
        </p:nvSpPr>
        <p:spPr>
          <a:xfrm>
            <a:off x="2834640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exhibit|text|26"/>
          <p:cNvSpPr txBox="1"/>
          <p:nvPr/>
        </p:nvSpPr>
        <p:spPr>
          <a:xfrm>
            <a:off x="2889504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Stores</a:t>
            </a:r>
          </a:p>
        </p:txBody>
      </p:sp>
      <p:sp>
        <p:nvSpPr>
          <p:cNvPr id="28" name="cpe|exhibit|fill|27"/>
          <p:cNvSpPr/>
          <p:nvPr/>
        </p:nvSpPr>
        <p:spPr>
          <a:xfrm>
            <a:off x="5551322" y="347014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cpe|exhibit|text|28"/>
          <p:cNvSpPr txBox="1"/>
          <p:nvPr/>
        </p:nvSpPr>
        <p:spPr>
          <a:xfrm>
            <a:off x="5606186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Supply chain</a:t>
            </a:r>
          </a:p>
        </p:txBody>
      </p:sp>
      <p:sp>
        <p:nvSpPr>
          <p:cNvPr id="30" name="cpe|exhibit|fill|29"/>
          <p:cNvSpPr/>
          <p:nvPr/>
        </p:nvSpPr>
        <p:spPr>
          <a:xfrm>
            <a:off x="8268005" y="347014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cpe|exhibit|text|30"/>
          <p:cNvSpPr txBox="1"/>
          <p:nvPr/>
        </p:nvSpPr>
        <p:spPr>
          <a:xfrm>
            <a:off x="8322869" y="347014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Fulfilment hubs</a:t>
            </a:r>
          </a:p>
        </p:txBody>
      </p:sp>
      <p:sp>
        <p:nvSpPr>
          <p:cNvPr id="32" name="cpe|exhibit|fill|31"/>
          <p:cNvSpPr/>
          <p:nvPr/>
        </p:nvSpPr>
        <p:spPr>
          <a:xfrm>
            <a:off x="640080" y="4464558"/>
            <a:ext cx="2103120" cy="902970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cpe|exhibit|text|32"/>
          <p:cNvSpPr txBox="1"/>
          <p:nvPr/>
        </p:nvSpPr>
        <p:spPr>
          <a:xfrm>
            <a:off x="731520" y="4464558"/>
            <a:ext cx="1920240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Enablers</a:t>
            </a:r>
          </a:p>
        </p:txBody>
      </p:sp>
      <p:sp>
        <p:nvSpPr>
          <p:cNvPr id="34" name="cpe|exhibit|fill|33"/>
          <p:cNvSpPr/>
          <p:nvPr/>
        </p:nvSpPr>
        <p:spPr>
          <a:xfrm>
            <a:off x="2834640" y="4464558"/>
            <a:ext cx="2643530" cy="902970"/>
          </a:xfrm>
          <a:prstGeom prst="rect">
            <a:avLst/>
          </a:prstGeom>
          <a:solidFill>
            <a:srgbClr val="F0F0F0"/>
          </a:solidFill>
          <a:ln w="19050">
            <a:solidFill>
              <a:srgbClr val="C8A24A"/>
            </a:solidFill>
            <a:prstDash val="dash"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cpe|exhibit|text|34"/>
          <p:cNvSpPr txBox="1"/>
          <p:nvPr/>
        </p:nvSpPr>
        <p:spPr>
          <a:xfrm>
            <a:off x="2889504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Data &amp; analytics</a:t>
            </a:r>
          </a:p>
        </p:txBody>
      </p:sp>
      <p:sp>
        <p:nvSpPr>
          <p:cNvPr id="36" name="cpe|exhibit|fill|35"/>
          <p:cNvSpPr/>
          <p:nvPr/>
        </p:nvSpPr>
        <p:spPr>
          <a:xfrm>
            <a:off x="5551322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cpe|exhibit|text|36"/>
          <p:cNvSpPr txBox="1"/>
          <p:nvPr/>
        </p:nvSpPr>
        <p:spPr>
          <a:xfrm>
            <a:off x="5606186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Technology</a:t>
            </a:r>
          </a:p>
        </p:txBody>
      </p:sp>
      <p:sp>
        <p:nvSpPr>
          <p:cNvPr id="38" name="cpe|exhibit|fill|37"/>
          <p:cNvSpPr/>
          <p:nvPr/>
        </p:nvSpPr>
        <p:spPr>
          <a:xfrm>
            <a:off x="8268005" y="4464558"/>
            <a:ext cx="2643530" cy="90297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cpe|exhibit|text|38"/>
          <p:cNvSpPr txBox="1"/>
          <p:nvPr/>
        </p:nvSpPr>
        <p:spPr>
          <a:xfrm>
            <a:off x="8322869" y="4464558"/>
            <a:ext cx="2533802" cy="90297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People &amp; capabilities</a:t>
            </a:r>
          </a:p>
        </p:txBody>
      </p:sp>
      <p:sp>
        <p:nvSpPr>
          <p:cNvPr id="40" name="cpe|exhibit|fill|39"/>
          <p:cNvSpPr/>
          <p:nvPr/>
        </p:nvSpPr>
        <p:spPr>
          <a:xfrm>
            <a:off x="10984687" y="1481328"/>
            <a:ext cx="566928" cy="3886200"/>
          </a:xfrm>
          <a:prstGeom prst="rect">
            <a:avLst/>
          </a:prstGeom>
          <a:solidFill>
            <a:srgbClr val="F4F4F4"/>
          </a:solidFill>
          <a:ln w="6350">
            <a:solidFill>
              <a:srgbClr val="B8B8B8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cpe|exhibit|vtext|40"/>
          <p:cNvSpPr txBox="1"/>
          <p:nvPr/>
        </p:nvSpPr>
        <p:spPr>
          <a:xfrm>
            <a:off x="10984687" y="1572768"/>
            <a:ext cx="566928" cy="3703320"/>
          </a:xfrm>
          <a:prstGeom prst="rect">
            <a:avLst/>
          </a:prstGeom>
          <a:noFill/>
        </p:spPr>
        <p:txBody>
          <a:bodyPr wrap="square" lIns="0" rIns="0" tIns="0" bIns="0" anchor="ctr" vert="vert27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Transformation office</a:t>
            </a:r>
          </a:p>
        </p:txBody>
      </p:sp>
      <p:cxnSp>
        <p:nvCxnSpPr>
          <p:cNvPr id="42" name="cpe|commentary|line|41"/>
          <p:cNvCxnSpPr/>
          <p:nvPr/>
        </p:nvCxnSpPr>
        <p:spPr>
          <a:xfrm>
            <a:off x="640080" y="556869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43" name="cpe|commentary|text|42"/>
          <p:cNvSpPr txBox="1"/>
          <p:nvPr/>
        </p:nvSpPr>
        <p:spPr>
          <a:xfrm>
            <a:off x="640080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New:</a:t>
            </a:r>
            <a:r>
              <a:rPr sz="1200" b="0">
                <a:solidFill>
                  <a:srgbClr val="222222"/>
                </a:solidFill>
                <a:latin typeface="Calibri"/>
              </a:rPr>
              <a:t> discount banner, private label, fulfilment hubs</a:t>
            </a:r>
          </a:p>
        </p:txBody>
      </p:sp>
      <p:sp>
        <p:nvSpPr>
          <p:cNvPr id="44" name="cpe|commentary|text|43"/>
          <p:cNvSpPr txBox="1"/>
          <p:nvPr/>
        </p:nvSpPr>
        <p:spPr>
          <a:xfrm>
            <a:off x="4344314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2222"/>
                </a:solidFill>
                <a:latin typeface="Calibri"/>
              </a:rPr>
              <a:t>Changed:</a:t>
            </a:r>
            <a:r>
              <a:rPr sz="1200" b="0">
                <a:solidFill>
                  <a:srgbClr val="222222"/>
                </a:solidFill>
                <a:latin typeface="Calibri"/>
              </a:rPr>
              <a:t> pricing moves to the centre; category teams own margin</a:t>
            </a:r>
          </a:p>
        </p:txBody>
      </p:sp>
      <p:sp>
        <p:nvSpPr>
          <p:cNvPr id="45" name="cpe|commentary|text|44"/>
          <p:cNvSpPr txBox="1"/>
          <p:nvPr/>
        </p:nvSpPr>
        <p:spPr>
          <a:xfrm>
            <a:off x="8048549" y="5705856"/>
            <a:ext cx="3503066" cy="4937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Calibri"/>
              </a:rPr>
              <a:t>A transformation office steers the programme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ROADMAP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A plan in three waves over 24 months secures quick margin wins before scaling the banner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10</a:t>
            </a:r>
          </a:p>
        </p:txBody>
      </p:sp>
      <p:sp>
        <p:nvSpPr>
          <p:cNvPr id="6" name="cpe|exhibit|fill|5"/>
          <p:cNvSpPr/>
          <p:nvPr/>
        </p:nvSpPr>
        <p:spPr>
          <a:xfrm>
            <a:off x="3414296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cpe|exhibit|text|6"/>
          <p:cNvSpPr txBox="1"/>
          <p:nvPr/>
        </p:nvSpPr>
        <p:spPr>
          <a:xfrm>
            <a:off x="3450872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1: Fix margins</a:t>
            </a:r>
          </a:p>
        </p:txBody>
      </p:sp>
      <p:sp>
        <p:nvSpPr>
          <p:cNvPr id="8" name="cpe|exhibit|fill|7"/>
          <p:cNvSpPr/>
          <p:nvPr/>
        </p:nvSpPr>
        <p:spPr>
          <a:xfrm>
            <a:off x="6472649" y="1481328"/>
            <a:ext cx="2002326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text|8"/>
          <p:cNvSpPr txBox="1"/>
          <p:nvPr/>
        </p:nvSpPr>
        <p:spPr>
          <a:xfrm>
            <a:off x="6509225" y="1481328"/>
            <a:ext cx="192917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2: Pilot</a:t>
            </a:r>
          </a:p>
        </p:txBody>
      </p:sp>
      <p:sp>
        <p:nvSpPr>
          <p:cNvPr id="10" name="cpe|exhibit|fill|9"/>
          <p:cNvSpPr/>
          <p:nvPr/>
        </p:nvSpPr>
        <p:spPr>
          <a:xfrm>
            <a:off x="8511551" y="1481328"/>
            <a:ext cx="3021777" cy="274320"/>
          </a:xfrm>
          <a:prstGeom prst="rect">
            <a:avLst/>
          </a:prstGeom>
          <a:solidFill>
            <a:srgbClr val="1B3A2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pe|exhibit|text|10"/>
          <p:cNvSpPr txBox="1"/>
          <p:nvPr/>
        </p:nvSpPr>
        <p:spPr>
          <a:xfrm>
            <a:off x="8548127" y="1481328"/>
            <a:ext cx="294862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Wave 3: Scale</a:t>
            </a:r>
          </a:p>
        </p:txBody>
      </p:sp>
      <p:sp>
        <p:nvSpPr>
          <p:cNvPr id="12" name="cpe|exhibit|text|11"/>
          <p:cNvSpPr txBox="1"/>
          <p:nvPr/>
        </p:nvSpPr>
        <p:spPr>
          <a:xfrm>
            <a:off x="3396008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26</a:t>
            </a:r>
          </a:p>
        </p:txBody>
      </p:sp>
      <p:sp>
        <p:nvSpPr>
          <p:cNvPr id="13" name="cpe|exhibit|text|12"/>
          <p:cNvSpPr txBox="1"/>
          <p:nvPr/>
        </p:nvSpPr>
        <p:spPr>
          <a:xfrm>
            <a:off x="4415459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26</a:t>
            </a:r>
          </a:p>
        </p:txBody>
      </p:sp>
      <p:sp>
        <p:nvSpPr>
          <p:cNvPr id="14" name="cpe|exhibit|text|13"/>
          <p:cNvSpPr txBox="1"/>
          <p:nvPr/>
        </p:nvSpPr>
        <p:spPr>
          <a:xfrm>
            <a:off x="5434910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26</a:t>
            </a:r>
          </a:p>
        </p:txBody>
      </p:sp>
      <p:sp>
        <p:nvSpPr>
          <p:cNvPr id="15" name="cpe|exhibit|text|14"/>
          <p:cNvSpPr txBox="1"/>
          <p:nvPr/>
        </p:nvSpPr>
        <p:spPr>
          <a:xfrm>
            <a:off x="6454361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26</a:t>
            </a:r>
          </a:p>
        </p:txBody>
      </p:sp>
      <p:sp>
        <p:nvSpPr>
          <p:cNvPr id="16" name="cpe|exhibit|text|15"/>
          <p:cNvSpPr txBox="1"/>
          <p:nvPr/>
        </p:nvSpPr>
        <p:spPr>
          <a:xfrm>
            <a:off x="7473812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Q1 27</a:t>
            </a:r>
          </a:p>
        </p:txBody>
      </p:sp>
      <p:sp>
        <p:nvSpPr>
          <p:cNvPr id="17" name="cpe|exhibit|text|16"/>
          <p:cNvSpPr txBox="1"/>
          <p:nvPr/>
        </p:nvSpPr>
        <p:spPr>
          <a:xfrm>
            <a:off x="8493263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Q2 27</a:t>
            </a:r>
          </a:p>
        </p:txBody>
      </p:sp>
      <p:sp>
        <p:nvSpPr>
          <p:cNvPr id="18" name="cpe|exhibit|text|17"/>
          <p:cNvSpPr txBox="1"/>
          <p:nvPr/>
        </p:nvSpPr>
        <p:spPr>
          <a:xfrm>
            <a:off x="951271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Q3 27</a:t>
            </a:r>
          </a:p>
        </p:txBody>
      </p:sp>
      <p:sp>
        <p:nvSpPr>
          <p:cNvPr id="19" name="cpe|exhibit|text|18"/>
          <p:cNvSpPr txBox="1"/>
          <p:nvPr/>
        </p:nvSpPr>
        <p:spPr>
          <a:xfrm>
            <a:off x="10532164" y="1828800"/>
            <a:ext cx="1019451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6F6F6F"/>
                </a:solidFill>
                <a:latin typeface="Calibri"/>
              </a:rPr>
              <a:t>Q4 27</a:t>
            </a:r>
          </a:p>
        </p:txBody>
      </p:sp>
      <p:cxnSp>
        <p:nvCxnSpPr>
          <p:cNvPr id="20" name="cpe|exhibit|line|19"/>
          <p:cNvCxnSpPr/>
          <p:nvPr/>
        </p:nvCxnSpPr>
        <p:spPr>
          <a:xfrm>
            <a:off x="640080" y="2121408"/>
            <a:ext cx="10911535" cy="0"/>
          </a:xfrm>
          <a:prstGeom prst="line">
            <a:avLst/>
          </a:prstGeom>
          <a:ln w="9525">
            <a:solidFill>
              <a:srgbClr val="1B3A2F"/>
            </a:solidFill>
          </a:ln>
        </p:spPr>
      </p:cxnSp>
      <p:cxnSp>
        <p:nvCxnSpPr>
          <p:cNvPr id="21" name="cpe|exhibit|line|20"/>
          <p:cNvCxnSpPr/>
          <p:nvPr/>
        </p:nvCxnSpPr>
        <p:spPr>
          <a:xfrm>
            <a:off x="4415459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2" name="cpe|exhibit|line|21"/>
          <p:cNvCxnSpPr/>
          <p:nvPr/>
        </p:nvCxnSpPr>
        <p:spPr>
          <a:xfrm>
            <a:off x="5434910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3" name="cpe|exhibit|line|22"/>
          <p:cNvCxnSpPr/>
          <p:nvPr/>
        </p:nvCxnSpPr>
        <p:spPr>
          <a:xfrm>
            <a:off x="6454361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4" name="cpe|exhibit|line|23"/>
          <p:cNvCxnSpPr/>
          <p:nvPr/>
        </p:nvCxnSpPr>
        <p:spPr>
          <a:xfrm>
            <a:off x="7473812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5" name="cpe|exhibit|line|24"/>
          <p:cNvCxnSpPr/>
          <p:nvPr/>
        </p:nvCxnSpPr>
        <p:spPr>
          <a:xfrm>
            <a:off x="8493263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6" name="cpe|exhibit|line|25"/>
          <p:cNvCxnSpPr/>
          <p:nvPr/>
        </p:nvCxnSpPr>
        <p:spPr>
          <a:xfrm>
            <a:off x="951271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7" name="cpe|exhibit|line|26"/>
          <p:cNvCxnSpPr/>
          <p:nvPr/>
        </p:nvCxnSpPr>
        <p:spPr>
          <a:xfrm>
            <a:off x="10532164" y="2121408"/>
            <a:ext cx="0" cy="3401568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cxnSp>
        <p:nvCxnSpPr>
          <p:cNvPr id="28" name="cpe|exhibit|connector|27"/>
          <p:cNvCxnSpPr/>
          <p:nvPr/>
        </p:nvCxnSpPr>
        <p:spPr>
          <a:xfrm>
            <a:off x="3905734" y="2075688"/>
            <a:ext cx="0" cy="3447288"/>
          </a:xfrm>
          <a:prstGeom prst="line">
            <a:avLst/>
          </a:prstGeom>
          <a:ln w="9525">
            <a:solidFill>
              <a:srgbClr val="C8A24A"/>
            </a:solidFill>
            <a:prstDash val="dash"/>
          </a:ln>
        </p:spPr>
      </p:cxnSp>
      <p:sp>
        <p:nvSpPr>
          <p:cNvPr id="29" name="cpe|exhibit|label|28"/>
          <p:cNvSpPr txBox="1"/>
          <p:nvPr/>
        </p:nvSpPr>
        <p:spPr>
          <a:xfrm>
            <a:off x="3448534" y="554126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6F6F6F"/>
                </a:solidFill>
                <a:latin typeface="Calibri"/>
              </a:rPr>
              <a:t>Today</a:t>
            </a:r>
          </a:p>
        </p:txBody>
      </p:sp>
      <p:sp>
        <p:nvSpPr>
          <p:cNvPr id="30" name="cpe|exhibit|text|29"/>
          <p:cNvSpPr txBox="1"/>
          <p:nvPr/>
        </p:nvSpPr>
        <p:spPr>
          <a:xfrm>
            <a:off x="640080" y="212140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Pricing &amp; promo reset</a:t>
            </a:r>
          </a:p>
        </p:txBody>
      </p:sp>
      <p:sp>
        <p:nvSpPr>
          <p:cNvPr id="31" name="cpe|exhibit|fill|30"/>
          <p:cNvSpPr/>
          <p:nvPr/>
        </p:nvSpPr>
        <p:spPr>
          <a:xfrm>
            <a:off x="3423440" y="2257471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cpe|exhibit|text|31"/>
          <p:cNvSpPr txBox="1"/>
          <p:nvPr/>
        </p:nvSpPr>
        <p:spPr>
          <a:xfrm>
            <a:off x="3478304" y="2257471"/>
            <a:ext cx="289376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Reset 1,200 SKUs</a:t>
            </a:r>
          </a:p>
        </p:txBody>
      </p:sp>
      <p:cxnSp>
        <p:nvCxnSpPr>
          <p:cNvPr id="33" name="cpe|exhibit|line|32"/>
          <p:cNvCxnSpPr/>
          <p:nvPr/>
        </p:nvCxnSpPr>
        <p:spPr>
          <a:xfrm>
            <a:off x="640080" y="268833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4" name="cpe|exhibit|text|33"/>
          <p:cNvSpPr txBox="1"/>
          <p:nvPr/>
        </p:nvSpPr>
        <p:spPr>
          <a:xfrm>
            <a:off x="640080" y="2688336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Fresh &amp; food-to-go margins</a:t>
            </a:r>
          </a:p>
        </p:txBody>
      </p:sp>
      <p:sp>
        <p:nvSpPr>
          <p:cNvPr id="35" name="cpe|exhibit|fill|34"/>
          <p:cNvSpPr/>
          <p:nvPr/>
        </p:nvSpPr>
        <p:spPr>
          <a:xfrm>
            <a:off x="3423440" y="2824399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cpe|exhibit|text|35"/>
          <p:cNvSpPr txBox="1"/>
          <p:nvPr/>
        </p:nvSpPr>
        <p:spPr>
          <a:xfrm>
            <a:off x="3478304" y="2824399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Waste &amp; range</a:t>
            </a:r>
          </a:p>
        </p:txBody>
      </p:sp>
      <p:cxnSp>
        <p:nvCxnSpPr>
          <p:cNvPr id="37" name="cpe|exhibit|line|36"/>
          <p:cNvCxnSpPr/>
          <p:nvPr/>
        </p:nvCxnSpPr>
        <p:spPr>
          <a:xfrm>
            <a:off x="640080" y="3255264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38" name="cpe|exhibit|text|37"/>
          <p:cNvSpPr txBox="1"/>
          <p:nvPr/>
        </p:nvSpPr>
        <p:spPr>
          <a:xfrm>
            <a:off x="640080" y="3255264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Cost programme</a:t>
            </a:r>
          </a:p>
        </p:txBody>
      </p:sp>
      <p:sp>
        <p:nvSpPr>
          <p:cNvPr id="39" name="cpe|exhibit|fill|38"/>
          <p:cNvSpPr/>
          <p:nvPr/>
        </p:nvSpPr>
        <p:spPr>
          <a:xfrm>
            <a:off x="4442891" y="3391327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cpe|exhibit|text|39"/>
          <p:cNvSpPr txBox="1"/>
          <p:nvPr/>
        </p:nvSpPr>
        <p:spPr>
          <a:xfrm>
            <a:off x="4497755" y="3391327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Labour scheduling, energy</a:t>
            </a:r>
          </a:p>
        </p:txBody>
      </p:sp>
      <p:cxnSp>
        <p:nvCxnSpPr>
          <p:cNvPr id="41" name="cpe|exhibit|line|40"/>
          <p:cNvCxnSpPr/>
          <p:nvPr/>
        </p:nvCxnSpPr>
        <p:spPr>
          <a:xfrm>
            <a:off x="640080" y="3822192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2" name="cpe|exhibit|text|41"/>
          <p:cNvSpPr txBox="1"/>
          <p:nvPr/>
        </p:nvSpPr>
        <p:spPr>
          <a:xfrm>
            <a:off x="640080" y="3822192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Private label</a:t>
            </a:r>
          </a:p>
        </p:txBody>
      </p:sp>
      <p:sp>
        <p:nvSpPr>
          <p:cNvPr id="43" name="cpe|exhibit|fill|42"/>
          <p:cNvSpPr/>
          <p:nvPr/>
        </p:nvSpPr>
        <p:spPr>
          <a:xfrm>
            <a:off x="5462342" y="3958255"/>
            <a:ext cx="6061841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cpe|exhibit|text|43"/>
          <p:cNvSpPr txBox="1"/>
          <p:nvPr/>
        </p:nvSpPr>
        <p:spPr>
          <a:xfrm>
            <a:off x="5517206" y="3958255"/>
            <a:ext cx="5952113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25% → 35% of sales</a:t>
            </a:r>
          </a:p>
        </p:txBody>
      </p:sp>
      <p:cxnSp>
        <p:nvCxnSpPr>
          <p:cNvPr id="45" name="cpe|exhibit|line|44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46" name="cpe|exhibit|text|45"/>
          <p:cNvSpPr txBox="1"/>
          <p:nvPr/>
        </p:nvSpPr>
        <p:spPr>
          <a:xfrm>
            <a:off x="640080" y="4389120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Discount banner</a:t>
            </a:r>
          </a:p>
        </p:txBody>
      </p:sp>
      <p:sp>
        <p:nvSpPr>
          <p:cNvPr id="47" name="cpe|exhibit|fill|46"/>
          <p:cNvSpPr/>
          <p:nvPr/>
        </p:nvSpPr>
        <p:spPr>
          <a:xfrm>
            <a:off x="6481793" y="4604553"/>
            <a:ext cx="1984038" cy="294803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cpe|exhibit|text|47"/>
          <p:cNvSpPr txBox="1"/>
          <p:nvPr/>
        </p:nvSpPr>
        <p:spPr>
          <a:xfrm>
            <a:off x="6536657" y="4604553"/>
            <a:ext cx="1874310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22222"/>
                </a:solidFill>
                <a:latin typeface="Calibri"/>
              </a:rPr>
              <a:t>Pilot 20 stores</a:t>
            </a:r>
          </a:p>
        </p:txBody>
      </p:sp>
      <p:sp>
        <p:nvSpPr>
          <p:cNvPr id="49" name="cpe|exhibit|fill|48"/>
          <p:cNvSpPr/>
          <p:nvPr/>
        </p:nvSpPr>
        <p:spPr>
          <a:xfrm>
            <a:off x="8520695" y="4604553"/>
            <a:ext cx="300348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cpe|exhibit|text|49"/>
          <p:cNvSpPr txBox="1"/>
          <p:nvPr/>
        </p:nvSpPr>
        <p:spPr>
          <a:xfrm>
            <a:off x="8703575" y="4604553"/>
            <a:ext cx="2765745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Roll out 150 stores</a:t>
            </a:r>
          </a:p>
        </p:txBody>
      </p:sp>
      <p:sp>
        <p:nvSpPr>
          <p:cNvPr id="51" name="cpe|exhibit|marker|50"/>
          <p:cNvSpPr/>
          <p:nvPr/>
        </p:nvSpPr>
        <p:spPr>
          <a:xfrm>
            <a:off x="8401823" y="4660514"/>
            <a:ext cx="182880" cy="182880"/>
          </a:xfrm>
          <a:prstGeom prst="diamond">
            <a:avLst/>
          </a:prstGeom>
          <a:solidFill>
            <a:srgbClr val="C8A24A"/>
          </a:solidFill>
          <a:ln w="9525">
            <a:solidFill>
              <a:srgbClr val="FFFFFF"/>
            </a:solidFill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cpe|exhibit|label|51"/>
          <p:cNvSpPr txBox="1"/>
          <p:nvPr/>
        </p:nvSpPr>
        <p:spPr>
          <a:xfrm>
            <a:off x="8199119" y="4403385"/>
            <a:ext cx="588288" cy="182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22222"/>
                </a:solidFill>
                <a:latin typeface="Calibri"/>
              </a:rPr>
              <a:t>Go / no-go</a:t>
            </a:r>
          </a:p>
        </p:txBody>
      </p:sp>
      <p:cxnSp>
        <p:nvCxnSpPr>
          <p:cNvPr id="53" name="cpe|exhibit|line|52"/>
          <p:cNvCxnSpPr/>
          <p:nvPr/>
        </p:nvCxnSpPr>
        <p:spPr>
          <a:xfrm>
            <a:off x="640080" y="4956048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  <p:sp>
        <p:nvSpPr>
          <p:cNvPr id="54" name="cpe|exhibit|text|53"/>
          <p:cNvSpPr txBox="1"/>
          <p:nvPr/>
        </p:nvSpPr>
        <p:spPr>
          <a:xfrm>
            <a:off x="640080" y="4956048"/>
            <a:ext cx="261876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222222"/>
                </a:solidFill>
                <a:latin typeface="Calibri"/>
              </a:rPr>
              <a:t>Online fulfilment hubs</a:t>
            </a:r>
          </a:p>
        </p:txBody>
      </p:sp>
      <p:sp>
        <p:nvSpPr>
          <p:cNvPr id="55" name="cpe|exhibit|fill|54"/>
          <p:cNvSpPr/>
          <p:nvPr/>
        </p:nvSpPr>
        <p:spPr>
          <a:xfrm>
            <a:off x="7501244" y="5092111"/>
            <a:ext cx="4022939" cy="294803"/>
          </a:xfrm>
          <a:prstGeom prst="rect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cpe|exhibit|text|55"/>
          <p:cNvSpPr txBox="1"/>
          <p:nvPr/>
        </p:nvSpPr>
        <p:spPr>
          <a:xfrm>
            <a:off x="7556108" y="5092111"/>
            <a:ext cx="3913211" cy="29480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2 hubs</a:t>
            </a:r>
          </a:p>
        </p:txBody>
      </p:sp>
      <p:cxnSp>
        <p:nvCxnSpPr>
          <p:cNvPr id="57" name="cpe|exhibit|line|56"/>
          <p:cNvCxnSpPr/>
          <p:nvPr/>
        </p:nvCxnSpPr>
        <p:spPr>
          <a:xfrm>
            <a:off x="640080" y="5522976"/>
            <a:ext cx="10911535" cy="0"/>
          </a:xfrm>
          <a:prstGeom prst="line">
            <a:avLst/>
          </a:prstGeom>
          <a:ln w="6350">
            <a:solidFill>
              <a:srgbClr val="E4E4E4"/>
            </a:solidFill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VALUE AT STAKE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Five initiatives adding €250M lift EBITDA to €1,067M by 2028, net of €40M market headwinds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Initiative business cases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11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EBITDA 2025 to 2028</a:t>
            </a:r>
            <a:r>
              <a:rPr sz="1100" b="0">
                <a:solidFill>
                  <a:srgbClr val="222222"/>
                </a:solidFill>
                <a:latin typeface="Calibri"/>
              </a:rPr>
              <a:t>, €M</a:t>
            </a:r>
          </a:p>
        </p:txBody>
      </p:sp>
      <p:graphicFrame>
        <p:nvGraphicFramePr>
          <p:cNvPr id="7" name="cpe|exhibit|chart|6"/>
          <p:cNvGraphicFramePr>
            <a:graphicFrameLocks noGrp="1"/>
          </p:cNvGraphicFramePr>
          <p:nvPr/>
        </p:nvGraphicFramePr>
        <p:xfrm>
          <a:off x="640080" y="1901952"/>
          <a:ext cx="10911535" cy="3502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cpe|exhibit|label|7"/>
          <p:cNvSpPr txBox="1"/>
          <p:nvPr/>
        </p:nvSpPr>
        <p:spPr>
          <a:xfrm>
            <a:off x="640080" y="39578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857</a:t>
            </a:r>
          </a:p>
        </p:txBody>
      </p:sp>
      <p:sp>
        <p:nvSpPr>
          <p:cNvPr id="9" name="cpe|exhibit|label|8"/>
          <p:cNvSpPr txBox="1"/>
          <p:nvPr/>
        </p:nvSpPr>
        <p:spPr>
          <a:xfrm>
            <a:off x="2004022" y="36052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+60</a:t>
            </a:r>
          </a:p>
        </p:txBody>
      </p:sp>
      <p:sp>
        <p:nvSpPr>
          <p:cNvPr id="10" name="cpe|exhibit|label|9"/>
          <p:cNvSpPr txBox="1"/>
          <p:nvPr/>
        </p:nvSpPr>
        <p:spPr>
          <a:xfrm>
            <a:off x="3367964" y="3340734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+45</a:t>
            </a:r>
          </a:p>
        </p:txBody>
      </p:sp>
      <p:sp>
        <p:nvSpPr>
          <p:cNvPr id="11" name="cpe|exhibit|label|10"/>
          <p:cNvSpPr txBox="1"/>
          <p:nvPr/>
        </p:nvSpPr>
        <p:spPr>
          <a:xfrm>
            <a:off x="4731906" y="2929316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+70</a:t>
            </a:r>
          </a:p>
        </p:txBody>
      </p:sp>
      <p:sp>
        <p:nvSpPr>
          <p:cNvPr id="12" name="cpe|exhibit|label|11"/>
          <p:cNvSpPr txBox="1"/>
          <p:nvPr/>
        </p:nvSpPr>
        <p:spPr>
          <a:xfrm>
            <a:off x="6095848" y="2606060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+55</a:t>
            </a:r>
          </a:p>
        </p:txBody>
      </p:sp>
      <p:sp>
        <p:nvSpPr>
          <p:cNvPr id="13" name="cpe|exhibit|label|12"/>
          <p:cNvSpPr txBox="1"/>
          <p:nvPr/>
        </p:nvSpPr>
        <p:spPr>
          <a:xfrm>
            <a:off x="7459790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+20</a:t>
            </a:r>
          </a:p>
        </p:txBody>
      </p:sp>
      <p:sp>
        <p:nvSpPr>
          <p:cNvPr id="14" name="cpe|exhibit|label|13"/>
          <p:cNvSpPr txBox="1"/>
          <p:nvPr/>
        </p:nvSpPr>
        <p:spPr>
          <a:xfrm>
            <a:off x="8823731" y="2488512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222222"/>
                </a:solidFill>
                <a:latin typeface="Calibri"/>
              </a:rPr>
              <a:t>−40</a:t>
            </a:r>
          </a:p>
        </p:txBody>
      </p:sp>
      <p:sp>
        <p:nvSpPr>
          <p:cNvPr id="15" name="cpe|exhibit|label|14"/>
          <p:cNvSpPr txBox="1"/>
          <p:nvPr/>
        </p:nvSpPr>
        <p:spPr>
          <a:xfrm>
            <a:off x="10187673" y="2723608"/>
            <a:ext cx="1363942" cy="237744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1,067</a:t>
            </a:r>
          </a:p>
        </p:txBody>
      </p:sp>
      <p:cxnSp>
        <p:nvCxnSpPr>
          <p:cNvPr id="16" name="cpe|exhibit|connector|15"/>
          <p:cNvCxnSpPr/>
          <p:nvPr/>
        </p:nvCxnSpPr>
        <p:spPr>
          <a:xfrm>
            <a:off x="1792376" y="4223036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7" name="cpe|exhibit|connector|16"/>
          <p:cNvCxnSpPr/>
          <p:nvPr/>
        </p:nvCxnSpPr>
        <p:spPr>
          <a:xfrm>
            <a:off x="3156318" y="3870392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8" name="cpe|exhibit|connector|17"/>
          <p:cNvCxnSpPr/>
          <p:nvPr/>
        </p:nvCxnSpPr>
        <p:spPr>
          <a:xfrm>
            <a:off x="4520260" y="3605910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19" name="cpe|exhibit|connector|18"/>
          <p:cNvCxnSpPr/>
          <p:nvPr/>
        </p:nvCxnSpPr>
        <p:spPr>
          <a:xfrm>
            <a:off x="5884201" y="3194492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0" name="cpe|exhibit|connector|19"/>
          <p:cNvCxnSpPr/>
          <p:nvPr/>
        </p:nvCxnSpPr>
        <p:spPr>
          <a:xfrm>
            <a:off x="7248143" y="2871236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1" name="cpe|exhibit|connector|20"/>
          <p:cNvCxnSpPr/>
          <p:nvPr/>
        </p:nvCxnSpPr>
        <p:spPr>
          <a:xfrm>
            <a:off x="8612085" y="2753688"/>
            <a:ext cx="423293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cxnSp>
        <p:nvCxnSpPr>
          <p:cNvPr id="22" name="cpe|exhibit|connector|21"/>
          <p:cNvCxnSpPr/>
          <p:nvPr/>
        </p:nvCxnSpPr>
        <p:spPr>
          <a:xfrm>
            <a:off x="9976027" y="2988784"/>
            <a:ext cx="423292" cy="0"/>
          </a:xfrm>
          <a:prstGeom prst="line">
            <a:avLst/>
          </a:prstGeom>
          <a:ln w="6350">
            <a:solidFill>
              <a:srgbClr val="909090"/>
            </a:solidFill>
          </a:ln>
        </p:spPr>
      </p:cxnSp>
      <p:sp>
        <p:nvSpPr>
          <p:cNvPr id="23" name="cpe|exhibit|marker|22"/>
          <p:cNvSpPr/>
          <p:nvPr/>
        </p:nvSpPr>
        <p:spPr>
          <a:xfrm>
            <a:off x="796862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cpe|exhibit|marker|23"/>
          <p:cNvSpPr/>
          <p:nvPr/>
        </p:nvSpPr>
        <p:spPr>
          <a:xfrm>
            <a:off x="10344455" y="4850735"/>
            <a:ext cx="1050378" cy="82296"/>
          </a:xfrm>
          <a:prstGeom prst="parallelogram">
            <a:avLst/>
          </a:prstGeom>
          <a:solidFill>
            <a:srgbClr val="FFFFF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cpe|takeaway|fill|24"/>
          <p:cNvSpPr/>
          <p:nvPr/>
        </p:nvSpPr>
        <p:spPr>
          <a:xfrm>
            <a:off x="640080" y="5632704"/>
            <a:ext cx="10911535" cy="566928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cpe|takeaway|fill|25"/>
          <p:cNvSpPr/>
          <p:nvPr/>
        </p:nvSpPr>
        <p:spPr>
          <a:xfrm>
            <a:off x="640080" y="5632704"/>
            <a:ext cx="64008" cy="566928"/>
          </a:xfrm>
          <a:prstGeom prst="rect">
            <a:avLst/>
          </a:prstGeom>
          <a:solidFill>
            <a:srgbClr val="C8A24A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cpe|takeaway|text|26"/>
          <p:cNvSpPr txBox="1"/>
          <p:nvPr/>
        </p:nvSpPr>
        <p:spPr>
          <a:xfrm>
            <a:off x="932688" y="5632704"/>
            <a:ext cx="10390327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3A2F"/>
                </a:solidFill>
                <a:latin typeface="Calibri"/>
              </a:rPr>
              <a:t>Cost and pricing levers deliver €130M of the uplift and are largely within management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pe|chrome|text|1"/>
          <p:cNvSpPr txBox="1"/>
          <p:nvPr/>
        </p:nvSpPr>
        <p:spPr>
          <a:xfrm>
            <a:off x="640080" y="274320"/>
            <a:ext cx="7638075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F6F6F"/>
                </a:solidFill>
                <a:latin typeface="Calibri"/>
              </a:rPr>
              <a:t>DECISIONS</a:t>
            </a:r>
          </a:p>
        </p:txBody>
      </p:sp>
      <p:sp>
        <p:nvSpPr>
          <p:cNvPr id="3" name="cpe|chrome|text|2"/>
          <p:cNvSpPr txBox="1"/>
          <p:nvPr/>
        </p:nvSpPr>
        <p:spPr>
          <a:xfrm>
            <a:off x="640080" y="475488"/>
            <a:ext cx="9464040" cy="7863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B3A2F"/>
                </a:solidFill>
                <a:latin typeface="Georgia"/>
              </a:rPr>
              <a:t>The board is asked to approve three decisions to start Wave 1 in January</a:t>
            </a:r>
          </a:p>
        </p:txBody>
      </p:sp>
      <p:sp>
        <p:nvSpPr>
          <p:cNvPr id="4" name="cpe|chrome|text|3"/>
          <p:cNvSpPr txBox="1"/>
          <p:nvPr/>
        </p:nvSpPr>
        <p:spPr>
          <a:xfrm>
            <a:off x="640080" y="6272784"/>
            <a:ext cx="8534095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F6F6F"/>
                </a:solidFill>
                <a:latin typeface="Calibri"/>
              </a:rPr>
              <a:t>Source: Programme plan (illustrative)</a:t>
            </a:r>
          </a:p>
        </p:txBody>
      </p:sp>
      <p:sp>
        <p:nvSpPr>
          <p:cNvPr id="5" name="cpe|chrome|text|4"/>
          <p:cNvSpPr txBox="1"/>
          <p:nvPr/>
        </p:nvSpPr>
        <p:spPr>
          <a:xfrm>
            <a:off x="9357055" y="6272784"/>
            <a:ext cx="2194560" cy="402336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F6F6F"/>
                </a:solidFill>
                <a:latin typeface="Calibri"/>
              </a:rPr>
              <a:t>Illustrative data   12</a:t>
            </a:r>
          </a:p>
        </p:txBody>
      </p:sp>
      <p:sp>
        <p:nvSpPr>
          <p:cNvPr id="6" name="cpe|exhibit|text|5"/>
          <p:cNvSpPr txBox="1"/>
          <p:nvPr/>
        </p:nvSpPr>
        <p:spPr>
          <a:xfrm>
            <a:off x="640080" y="1481328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2222"/>
                </a:solidFill>
                <a:latin typeface="Calibri"/>
              </a:rPr>
              <a:t>Decisions requested today</a:t>
            </a:r>
          </a:p>
        </p:txBody>
      </p:sp>
      <p:graphicFrame>
        <p:nvGraphicFramePr>
          <p:cNvPr id="7" name="cpe|exhibit|table|6"/>
          <p:cNvGraphicFramePr>
            <a:graphicFrameLocks noGrp="1"/>
          </p:cNvGraphicFramePr>
          <p:nvPr/>
        </p:nvGraphicFramePr>
        <p:xfrm>
          <a:off x="640080" y="1901952"/>
          <a:ext cx="10911535" cy="329869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206240"/>
                <a:gridCol w="1918331"/>
                <a:gridCol w="2043764"/>
                <a:gridCol w="1371600"/>
                <a:gridCol w="1371600"/>
              </a:tblGrid>
              <a:tr h="52349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Timing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EBITDA 2028 (€M)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382" cap="flat">
                      <a:solidFill>
                        <a:srgbClr val="1B3A2F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pricing &amp; promo reset across 1,200 SKUs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CCO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860679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discount banner pilot in 20 stores (€18M capex)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CEO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Q4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 cap="flat">
                      <a:solidFill>
                        <a:srgbClr val="E4E4E4"/>
                      </a:solidFill>
                      <a:prstDash val="solid"/>
                    </a:lnB>
                    <a:noFill/>
                  </a:tcPr>
                </a:tc>
              </a:tr>
              <a:tr h="105384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Approve €85M programme budget and transformation office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CFO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41148" marB="41148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>
                      <a:solidFill>
                        <a:srgbClr val="B8B8B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cpe|exhibit|marker|7"/>
          <p:cNvSpPr/>
          <p:nvPr/>
        </p:nvSpPr>
        <p:spPr>
          <a:xfrm>
            <a:off x="10746943" y="2736914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cpe|exhibit|marker|8"/>
          <p:cNvSpPr/>
          <p:nvPr/>
        </p:nvSpPr>
        <p:spPr>
          <a:xfrm>
            <a:off x="10746943" y="3597592"/>
            <a:ext cx="237744" cy="237744"/>
          </a:xfrm>
          <a:prstGeom prst="ellipse">
            <a:avLst/>
          </a:prstGeom>
          <a:solidFill>
            <a:srgbClr val="D98E04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cpe|exhibit|marker|9"/>
          <p:cNvSpPr/>
          <p:nvPr/>
        </p:nvSpPr>
        <p:spPr>
          <a:xfrm>
            <a:off x="10746943" y="4554855"/>
            <a:ext cx="237744" cy="237744"/>
          </a:xfrm>
          <a:prstGeom prst="ellipse">
            <a:avLst/>
          </a:prstGeom>
          <a:solidFill>
            <a:srgbClr val="2E6B4F"/>
          </a:solidFill>
          <a:ln>
            <a:noFill/>
          </a:ln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pe|commentary|line|10"/>
          <p:cNvCxnSpPr/>
          <p:nvPr/>
        </p:nvCxnSpPr>
        <p:spPr>
          <a:xfrm>
            <a:off x="640080" y="5709856"/>
            <a:ext cx="10911535" cy="0"/>
          </a:xfrm>
          <a:prstGeom prst="line">
            <a:avLst/>
          </a:prstGeom>
          <a:ln w="9525">
            <a:solidFill>
              <a:srgbClr val="B8B8B8"/>
            </a:solidFill>
          </a:ln>
        </p:spPr>
      </p:cxnSp>
      <p:sp>
        <p:nvSpPr>
          <p:cNvPr id="12" name="cpe|commentary|text|11"/>
          <p:cNvSpPr txBox="1"/>
          <p:nvPr/>
        </p:nvSpPr>
        <p:spPr>
          <a:xfrm>
            <a:off x="640080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Wave 1 is self-funding by Q4 2026</a:t>
            </a:r>
          </a:p>
        </p:txBody>
      </p:sp>
      <p:sp>
        <p:nvSpPr>
          <p:cNvPr id="13" name="cpe|commentary|text|12"/>
          <p:cNvSpPr txBox="1"/>
          <p:nvPr/>
        </p:nvSpPr>
        <p:spPr>
          <a:xfrm>
            <a:off x="6196432" y="5847016"/>
            <a:ext cx="5355184" cy="3526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222222"/>
                </a:solidFill>
                <a:latin typeface="Calibri"/>
              </a:rPr>
              <a:t>The go / no-go on the banner comes back to the board in Q2 2027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estrel">
      <a:dk1>
        <a:srgbClr val="222222"/>
      </a:dk1>
      <a:lt1>
        <a:srgbClr val="FFFFFF"/>
      </a:lt1>
      <a:dk2>
        <a:srgbClr val="1B3A2F"/>
      </a:dk2>
      <a:lt2>
        <a:srgbClr val="EEF2EE"/>
      </a:lt2>
      <a:accent1>
        <a:srgbClr val="2E6B4F"/>
      </a:accent1>
      <a:accent2>
        <a:srgbClr val="C8A24A"/>
      </a:accent2>
      <a:accent3>
        <a:srgbClr val="7FA88F"/>
      </a:accent3>
      <a:accent4>
        <a:srgbClr val="5B6770"/>
      </a:accent4>
      <a:accent5>
        <a:srgbClr val="A33A2B"/>
      </a:accent5>
      <a:accent6>
        <a:srgbClr val="3F8F5F"/>
      </a:accent6>
      <a:hlink>
        <a:srgbClr val="2E6B4F"/>
      </a:hlink>
      <a:folHlink>
        <a:srgbClr val="5B6770"/>
      </a:folHlink>
    </a:clrScheme>
    <a:fontScheme name="Office">
      <a:majorFont>
        <a:latin typeface="Georg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Repositioning Alvora for profitable growth</dc:title>
  <dc:subject>Alvora should reposition towards discount and fix category margins now to return EBITDA above €1bn by 2028</dc:subject>
  <dc:creator>Consulting Presentation Engine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