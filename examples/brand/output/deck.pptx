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1064"/>
          <c:w val="0.84474"/>
          <c:h val="0.92926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Discount</c:v>
                </c:pt>
              </c:strCache>
            </c:strRef>
          </c:tx>
          <c:spPr>
            <a:solidFill>
              <a:srgbClr val="1B3A2F"/>
            </a:solidFill>
            <a:ln w="9525">
              <a:solidFill>
                <a:srgbClr val="FFFFFF"/>
              </a:solidFill>
            </a:ln>
          </c:spPr>
          <c:dLbls>
            <c:numFmt formatCode="#,##0.0;-#,##0.0" sourceLinked="0"/>
            <c:txPr>
              <a:bodyPr/>
              <a:lstStyle/>
              <a:p>
                <a:pPr>
                  <a:defRPr sz="1050" b="0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28.2</c:v>
                </c:pt>
                <c:pt idx="1">
                  <c:v>30.4</c:v>
                </c:pt>
                <c:pt idx="2">
                  <c:v>32.8</c:v>
                </c:pt>
                <c:pt idx="3">
                  <c:v>35.3</c:v>
                </c:pt>
                <c:pt idx="4">
                  <c:v>38.0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Supermarkets</c:v>
                </c:pt>
              </c:strCache>
            </c:strRef>
          </c:tx>
          <c:spPr>
            <a:solidFill>
              <a:srgbClr val="CECECE"/>
            </a:solidFill>
            <a:ln w="9525">
              <a:solidFill>
                <a:srgbClr val="FFFFFF"/>
              </a:solidFill>
            </a:ln>
          </c:spPr>
          <c:dLbls>
            <c:numFmt formatCode="#,##0.0;-#,##0.0" sourceLinked="0"/>
            <c:txPr>
              <a:bodyPr/>
              <a:lstStyle/>
              <a:p>
                <a:pPr>
                  <a:defRPr sz="1050" b="0">
                    <a:solidFill>
                      <a:srgbClr val="222222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48.1</c:v>
                </c:pt>
                <c:pt idx="1">
                  <c:v>49.0</c:v>
                </c:pt>
                <c:pt idx="2">
                  <c:v>50.1</c:v>
                </c:pt>
                <c:pt idx="3">
                  <c:v>51.1</c:v>
                </c:pt>
                <c:pt idx="4">
                  <c:v>52.0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Hypermarkets</c:v>
                </c:pt>
              </c:strCache>
            </c:strRef>
          </c:tx>
          <c:spPr>
            <a:solidFill>
              <a:srgbClr val="E4E4E4"/>
            </a:solidFill>
            <a:ln w="9525">
              <a:solidFill>
                <a:srgbClr val="FFFFFF"/>
              </a:solidFill>
            </a:ln>
          </c:spPr>
          <c:dLbls>
            <c:numFmt formatCode="#,##0.0;-#,##0.0" sourceLinked="0"/>
            <c:txPr>
              <a:bodyPr/>
              <a:lstStyle/>
              <a:p>
                <a:pPr>
                  <a:defRPr sz="1050" b="0">
                    <a:solidFill>
                      <a:srgbClr val="222222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25.2</c:v>
                </c:pt>
                <c:pt idx="1">
                  <c:v>24.9</c:v>
                </c:pt>
                <c:pt idx="2">
                  <c:v>24.6</c:v>
                </c:pt>
                <c:pt idx="3">
                  <c:v>24.3</c:v>
                </c:pt>
                <c:pt idx="4">
                  <c:v>24.0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Convenience</c:v>
                </c:pt>
              </c:strCache>
            </c:strRef>
          </c:tx>
          <c:spPr>
            <a:solidFill>
              <a:srgbClr val="B8B8B8"/>
            </a:solidFill>
            <a:ln w="9525">
              <a:solidFill>
                <a:srgbClr val="FFFFFF"/>
              </a:solidFill>
            </a:ln>
          </c:spPr>
          <c:dLbls>
            <c:numFmt formatCode="#,##0.0;-#,##0.0" sourceLinked="0"/>
            <c:txPr>
              <a:bodyPr/>
              <a:lstStyle/>
              <a:p>
                <a:pPr>
                  <a:defRPr sz="1050" b="0">
                    <a:solidFill>
                      <a:srgbClr val="222222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11.5</c:v>
                </c:pt>
                <c:pt idx="1">
                  <c:v>12.1</c:v>
                </c:pt>
                <c:pt idx="2">
                  <c:v>12.7</c:v>
                </c:pt>
                <c:pt idx="3">
                  <c:v>13.3</c:v>
                </c:pt>
                <c:pt idx="4">
                  <c:v>14.0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C8A24A"/>
            </a:solidFill>
            <a:ln w="9525">
              <a:solidFill>
                <a:srgbClr val="FFFFFF"/>
              </a:solidFill>
            </a:ln>
          </c:spPr>
          <c:dLbls>
            <c:numFmt formatCode="#,##0.0;-#,##0.0" sourceLinked="0"/>
            <c:txPr>
              <a:bodyPr/>
              <a:lstStyle/>
              <a:p>
                <a:pPr>
                  <a:defRPr sz="1050" b="0">
                    <a:solidFill>
                      <a:srgbClr val="222222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8.3</c:v>
                </c:pt>
                <c:pt idx="1">
                  <c:v>9.5</c:v>
                </c:pt>
                <c:pt idx="2">
                  <c:v>10.9</c:v>
                </c:pt>
                <c:pt idx="3">
                  <c:v>12.4</c:v>
                </c:pt>
                <c:pt idx="4">
                  <c:v>14.0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8B8B8"/>
            </a:solidFill>
          </a:ln>
        </c:spPr>
        <c:txPr>
          <a:bodyPr/>
          <a:lstStyle/>
          <a:p>
            <a:pPr>
              <a:defRPr sz="1000" b="0">
                <a:solidFill>
                  <a:srgbClr val="222222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75.0"/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  <c:majorUnit val="50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2552"/>
          <c:w val="0.89348"/>
          <c:h val="0.83027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Alvora revenue (€bn)</c:v>
                </c:pt>
              </c:strCache>
            </c:strRef>
          </c:tx>
          <c:spPr>
            <a:solidFill>
              <a:srgbClr val="98A6A1"/>
            </a:solidFill>
          </c:spPr>
          <c:invertIfNegative val="0"/>
          <c:dPt>
            <c:idx val="3"/>
            <c:spPr>
              <a:solidFill>
                <a:srgbClr val="1B3A2F"/>
              </a:solidFill>
            </c:spPr>
          </c:dPt>
          <c:dLbls>
            <c:numFmt formatCode="#,##0.0;-#,##0.0" sourceLinked="0"/>
            <c:txPr>
              <a:bodyPr/>
              <a:lstStyle/>
              <a:p>
                <a:pPr>
                  <a:defRPr sz="1100" b="0">
                    <a:solidFill>
                      <a:srgbClr val="222222"/>
                    </a:solidFill>
                    <a:latin typeface="Calibr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11.9</c:v>
                </c:pt>
                <c:pt idx="1">
                  <c:v>12.7</c:v>
                </c:pt>
                <c:pt idx="2">
                  <c:v>13.2</c:v>
                </c:pt>
                <c:pt idx="3">
                  <c:v>13.6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8B8B8"/>
            </a:solidFill>
          </a:ln>
        </c:spPr>
        <c:txPr>
          <a:bodyPr/>
          <a:lstStyle/>
          <a:p>
            <a:pPr>
              <a:defRPr sz="1000" b="0">
                <a:solidFill>
                  <a:srgbClr val="222222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25"/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  <c:majorUnit val="5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4276"/>
          <c:w val="0.89348"/>
          <c:h val="0.88883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Alvora growth</c:v>
                </c:pt>
              </c:strCache>
            </c:strRef>
          </c:tx>
          <c:spPr>
            <a:ln w="31750">
              <a:solidFill>
                <a:srgbClr val="1B3A2F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6.3</c:v>
                </c:pt>
                <c:pt idx="1">
                  <c:v>6.7</c:v>
                </c:pt>
                <c:pt idx="2">
                  <c:v>3.9</c:v>
                </c:pt>
                <c:pt idx="3">
                  <c:v>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Market growth</c:v>
                </c:pt>
              </c:strCache>
            </c:strRef>
          </c:tx>
          <c:spPr>
            <a:ln w="22225">
              <a:solidFill>
                <a:srgbClr val="909090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3.8</c:v>
                </c:pt>
                <c:pt idx="1">
                  <c:v>4.1</c:v>
                </c:pt>
                <c:pt idx="2">
                  <c:v>4.0</c:v>
                </c:pt>
                <c:pt idx="3">
                  <c:v>4.1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/>
        <c:axPos val="b"/>
        <c:majorTickMark val="none"/>
        <c:minorTickMark val="none"/>
        <c:tickLblPos val="low"/>
        <c:spPr>
          <a:ln w="9525">
            <a:solidFill>
              <a:srgbClr val="B8B8B8"/>
            </a:solidFill>
          </a:ln>
        </c:spPr>
        <c:txPr>
          <a:bodyPr/>
          <a:lstStyle/>
          <a:p>
            <a:pPr>
              <a:defRPr sz="1000" b="0">
                <a:solidFill>
                  <a:srgbClr val="222222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7.5"/>
          <c:min val="2.5"/>
        </c:scaling>
        <c:delete/>
        <c:axPos val="l"/>
        <c:majorTickMark val="none"/>
        <c:minorTickMark val="none"/>
        <c:tickLblPos val="nextTo"/>
        <c:crossAx val="2118791784"/>
        <c:crosses val="autoZero"/>
        <c:majorUnit val="1.0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"/>
          <c:y val="0.02"/>
          <c:w val="1.0"/>
          <c:h val="0.88532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EBITDA 2024</c:v>
                </c:pt>
                <c:pt idx="1">
                  <c:v>Volume</c:v>
                </c:pt>
                <c:pt idx="2">
                  <c:v>Price / mix</c:v>
                </c:pt>
                <c:pt idx="3">
                  <c:v>Grocery margin</c:v>
                </c:pt>
                <c:pt idx="4">
                  <c:v>Convenience margin</c:v>
                </c:pt>
                <c:pt idx="5">
                  <c:v>Labour cost</c:v>
                </c:pt>
                <c:pt idx="6">
                  <c:v>Energy</c:v>
                </c:pt>
                <c:pt idx="7">
                  <c:v>Other</c:v>
                </c:pt>
                <c:pt idx="8">
                  <c:v>EBITDA 2025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</c:v>
                </c:pt>
                <c:pt idx="1">
                  <c:v>174.0</c:v>
                </c:pt>
                <c:pt idx="2">
                  <c:v>226.0</c:v>
                </c:pt>
                <c:pt idx="3">
                  <c:v>179.0</c:v>
                </c:pt>
                <c:pt idx="4">
                  <c:v>138.0</c:v>
                </c:pt>
                <c:pt idx="5">
                  <c:v>116.0</c:v>
                </c:pt>
                <c:pt idx="6">
                  <c:v>102.0</c:v>
                </c:pt>
                <c:pt idx="7">
                  <c:v>102.0</c:v>
                </c:pt>
                <c:pt idx="8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1B3A2F"/>
            </a:solidFill>
          </c:spPr>
          <c:cat>
            <c:strRef>
              <c:f>Sheet1!$A$2:$A$10</c:f>
              <c:strCache>
                <c:ptCount val="9"/>
                <c:pt idx="0">
                  <c:v>EBITDA 2024</c:v>
                </c:pt>
                <c:pt idx="1">
                  <c:v>Volume</c:v>
                </c:pt>
                <c:pt idx="2">
                  <c:v>Price / mix</c:v>
                </c:pt>
                <c:pt idx="3">
                  <c:v>Grocery margin</c:v>
                </c:pt>
                <c:pt idx="4">
                  <c:v>Convenience margin</c:v>
                </c:pt>
                <c:pt idx="5">
                  <c:v>Labour cost</c:v>
                </c:pt>
                <c:pt idx="6">
                  <c:v>Energy</c:v>
                </c:pt>
                <c:pt idx="7">
                  <c:v>Other</c:v>
                </c:pt>
                <c:pt idx="8">
                  <c:v>EBITDA 2025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174.0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107.0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2E6B4F"/>
            </a:solidFill>
          </c:spPr>
          <c:dPt>
            <c:idx val="3"/>
            <c:spPr>
              <a:solidFill>
                <a:srgbClr val="C8A24A"/>
              </a:solidFill>
            </c:spPr>
          </c:dPt>
          <c:dPt>
            <c:idx val="4"/>
            <c:spPr>
              <a:solidFill>
                <a:srgbClr val="C8A24A"/>
              </a:solidFill>
            </c:spPr>
          </c:dPt>
          <c:cat>
            <c:strRef>
              <c:f>Sheet1!$A$2:$A$10</c:f>
              <c:strCache>
                <c:ptCount val="9"/>
                <c:pt idx="0">
                  <c:v>EBITDA 2024</c:v>
                </c:pt>
                <c:pt idx="1">
                  <c:v>Volume</c:v>
                </c:pt>
                <c:pt idx="2">
                  <c:v>Price / mix</c:v>
                </c:pt>
                <c:pt idx="3">
                  <c:v>Grocery margin</c:v>
                </c:pt>
                <c:pt idx="4">
                  <c:v>Convenience margin</c:v>
                </c:pt>
                <c:pt idx="5">
                  <c:v>Labour cost</c:v>
                </c:pt>
                <c:pt idx="6">
                  <c:v>Energy</c:v>
                </c:pt>
                <c:pt idx="7">
                  <c:v>Other</c:v>
                </c:pt>
                <c:pt idx="8">
                  <c:v>EBITDA 2025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0.0</c:v>
                </c:pt>
                <c:pt idx="1">
                  <c:v>52.0</c:v>
                </c:pt>
                <c:pt idx="2">
                  <c:v>31.0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5.0</c:v>
                </c:pt>
                <c:pt idx="8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2E6B4F"/>
            </a:solidFill>
          </c:spPr>
          <c:dPt>
            <c:idx val="3"/>
            <c:spPr>
              <a:solidFill>
                <a:srgbClr val="C8A24A"/>
              </a:solidFill>
            </c:spPr>
          </c:dPt>
          <c:dPt>
            <c:idx val="4"/>
            <c:spPr>
              <a:solidFill>
                <a:srgbClr val="C8A24A"/>
              </a:solidFill>
            </c:spPr>
          </c:dPt>
          <c:cat>
            <c:strRef>
              <c:f>Sheet1!$A$2:$A$10</c:f>
              <c:strCache>
                <c:ptCount val="9"/>
                <c:pt idx="0">
                  <c:v>EBITDA 2024</c:v>
                </c:pt>
                <c:pt idx="1">
                  <c:v>Volume</c:v>
                </c:pt>
                <c:pt idx="2">
                  <c:v>Price / mix</c:v>
                </c:pt>
                <c:pt idx="3">
                  <c:v>Grocery margin</c:v>
                </c:pt>
                <c:pt idx="4">
                  <c:v>Convenience margin</c:v>
                </c:pt>
                <c:pt idx="5">
                  <c:v>Labour cost</c:v>
                </c:pt>
                <c:pt idx="6">
                  <c:v>Energy</c:v>
                </c:pt>
                <c:pt idx="7">
                  <c:v>Other</c:v>
                </c:pt>
                <c:pt idx="8">
                  <c:v>EBITDA 2025</c:v>
                </c:pt>
              </c:strCache>
            </c: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78.0</c:v>
                </c:pt>
                <c:pt idx="4">
                  <c:v>41.0</c:v>
                </c:pt>
                <c:pt idx="5">
                  <c:v>22.0</c:v>
                </c:pt>
                <c:pt idx="6">
                  <c:v>14.0</c:v>
                </c:pt>
                <c:pt idx="7">
                  <c:v>0.0</c:v>
                </c:pt>
                <c:pt idx="8">
                  <c:v>0.0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8B8B8"/>
            </a:solidFill>
          </a:ln>
        </c:spPr>
        <c:txPr>
          <a:bodyPr/>
          <a:lstStyle/>
          <a:p>
            <a:pPr>
              <a:defRPr sz="1000" b="0">
                <a:solidFill>
                  <a:srgbClr val="222222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4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  <c:majorUnit val="100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"/>
          <c:y val="0.02"/>
          <c:w val="1.0"/>
          <c:h val="0.90624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Sheet1!$A$2:$A$9</c:f>
              <c:strCache>
                <c:ptCount val="8"/>
                <c:pt idx="0">
                  <c:v>EBITDA 2025</c:v>
                </c:pt>
                <c:pt idx="1">
                  <c:v>Pricing &amp; promo</c:v>
                </c:pt>
                <c:pt idx="2">
                  <c:v>Private label</c:v>
                </c:pt>
                <c:pt idx="3">
                  <c:v>Cost programme</c:v>
                </c:pt>
                <c:pt idx="4">
                  <c:v>Discount banner</c:v>
                </c:pt>
                <c:pt idx="5">
                  <c:v>Online hubs</c:v>
                </c:pt>
                <c:pt idx="6">
                  <c:v>Market headwinds</c:v>
                </c:pt>
                <c:pt idx="7">
                  <c:v>EBITDA 2028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0.0</c:v>
                </c:pt>
                <c:pt idx="1">
                  <c:v>157.0</c:v>
                </c:pt>
                <c:pt idx="2">
                  <c:v>217.0</c:v>
                </c:pt>
                <c:pt idx="3">
                  <c:v>262.0</c:v>
                </c:pt>
                <c:pt idx="4">
                  <c:v>332.0</c:v>
                </c:pt>
                <c:pt idx="5">
                  <c:v>387.0</c:v>
                </c:pt>
                <c:pt idx="6">
                  <c:v>367.0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1B3A2F"/>
            </a:solidFill>
          </c:spPr>
          <c:cat>
            <c:strRef>
              <c:f>Sheet1!$A$2:$A$9</c:f>
              <c:strCache>
                <c:ptCount val="8"/>
                <c:pt idx="0">
                  <c:v>EBITDA 2025</c:v>
                </c:pt>
                <c:pt idx="1">
                  <c:v>Pricing &amp; promo</c:v>
                </c:pt>
                <c:pt idx="2">
                  <c:v>Private label</c:v>
                </c:pt>
                <c:pt idx="3">
                  <c:v>Cost programme</c:v>
                </c:pt>
                <c:pt idx="4">
                  <c:v>Discount banner</c:v>
                </c:pt>
                <c:pt idx="5">
                  <c:v>Online hubs</c:v>
                </c:pt>
                <c:pt idx="6">
                  <c:v>Market headwinds</c:v>
                </c:pt>
                <c:pt idx="7">
                  <c:v>EBITDA 2028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157.0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367.0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2E6B4F"/>
            </a:solidFill>
          </c:spPr>
          <c:cat>
            <c:strRef>
              <c:f>Sheet1!$A$2:$A$9</c:f>
              <c:strCache>
                <c:ptCount val="8"/>
                <c:pt idx="0">
                  <c:v>EBITDA 2025</c:v>
                </c:pt>
                <c:pt idx="1">
                  <c:v>Pricing &amp; promo</c:v>
                </c:pt>
                <c:pt idx="2">
                  <c:v>Private label</c:v>
                </c:pt>
                <c:pt idx="3">
                  <c:v>Cost programme</c:v>
                </c:pt>
                <c:pt idx="4">
                  <c:v>Discount banner</c:v>
                </c:pt>
                <c:pt idx="5">
                  <c:v>Online hubs</c:v>
                </c:pt>
                <c:pt idx="6">
                  <c:v>Market headwinds</c:v>
                </c:pt>
                <c:pt idx="7">
                  <c:v>EBITDA 2028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0.0</c:v>
                </c:pt>
                <c:pt idx="1">
                  <c:v>60.0</c:v>
                </c:pt>
                <c:pt idx="2">
                  <c:v>45.0</c:v>
                </c:pt>
                <c:pt idx="3">
                  <c:v>70.0</c:v>
                </c:pt>
                <c:pt idx="4">
                  <c:v>55.0</c:v>
                </c:pt>
                <c:pt idx="5">
                  <c:v>20.0</c:v>
                </c:pt>
                <c:pt idx="6">
                  <c:v>0.0</c:v>
                </c:pt>
                <c:pt idx="7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A33A2B"/>
            </a:solidFill>
          </c:spPr>
          <c:cat>
            <c:strRef>
              <c:f>Sheet1!$A$2:$A$9</c:f>
              <c:strCache>
                <c:ptCount val="8"/>
                <c:pt idx="0">
                  <c:v>EBITDA 2025</c:v>
                </c:pt>
                <c:pt idx="1">
                  <c:v>Pricing &amp; promo</c:v>
                </c:pt>
                <c:pt idx="2">
                  <c:v>Private label</c:v>
                </c:pt>
                <c:pt idx="3">
                  <c:v>Cost programme</c:v>
                </c:pt>
                <c:pt idx="4">
                  <c:v>Discount banner</c:v>
                </c:pt>
                <c:pt idx="5">
                  <c:v>Online hubs</c:v>
                </c:pt>
                <c:pt idx="6">
                  <c:v>Market headwinds</c:v>
                </c:pt>
                <c:pt idx="7">
                  <c:v>EBITDA 2028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40.0</c:v>
                </c:pt>
                <c:pt idx="7">
                  <c:v>0.0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8B8B8"/>
            </a:solidFill>
          </a:ln>
        </c:spPr>
        <c:txPr>
          <a:bodyPr/>
          <a:lstStyle/>
          <a:p>
            <a:pPr>
              <a:defRPr sz="1000" b="0">
                <a:solidFill>
                  <a:srgbClr val="222222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4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  <c:majorUnit val="100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the board the whole answer on one page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where market growth is coming from The market added €20.7bn in four years; €15.5bn went to discount and online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that Alvora's growth has fallen below the market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that Alvora is weakest where the market grows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what drove the EBITDA decline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Locate the margin erosion by category and region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Alvora's competitive position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Describe the target operating model and what changes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implementation plan and its sequencing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Quantify the EBITDA impact of the plan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the ask explicit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gradFill>
          <a:gsLst>
            <a:gs pos="0">
              <a:srgbClr val="1B3A2F"/>
            </a:gs>
            <a:gs pos="100000">
              <a:srgbClr val="2E6B4F"/>
            </a:gs>
          </a:gsLst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080" y="2130425"/>
            <a:ext cx="10911535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11535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0"/>
            <a:ext cx="10911535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406900"/>
            <a:ext cx="10911535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2906713"/>
            <a:ext cx="10911535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11535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0080" y="1600200"/>
            <a:ext cx="1091153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0080" y="1600200"/>
            <a:ext cx="1091153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11535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535113"/>
            <a:ext cx="1091153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0080" y="2174875"/>
            <a:ext cx="1091153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" y="1535113"/>
            <a:ext cx="1091153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0080" y="2174875"/>
            <a:ext cx="1091153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11535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73050"/>
            <a:ext cx="10911535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273050"/>
            <a:ext cx="10911535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0080" y="1435100"/>
            <a:ext cx="10911535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800600"/>
            <a:ext cx="10911535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0080" y="5367338"/>
            <a:ext cx="10911535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11535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40080" y="0"/>
            <a:ext cx="10911535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0080" y="274638"/>
            <a:ext cx="10911535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40080" y="274638"/>
            <a:ext cx="10911535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0080" y="274638"/>
            <a:ext cx="1091153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00200"/>
            <a:ext cx="1091153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2" name="Kestrel logo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241280" y="237744"/>
            <a:ext cx="1325880" cy="320040"/>
          </a:xfrm>
          <a:prstGeom prst="rect">
            <a:avLst/>
          </a:prstGeom>
        </p:spPr>
      </p:pic>
      <p:sp>
        <p:nvSpPr>
          <p:cNvPr id="3" name="Brand bar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1B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title|text|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>
                <a:solidFill>
                  <a:srgbClr val="FFFFFF"/>
                </a:solidFill>
              </a:rPr>
              <a:t>Repositioning Alvora for profitable growth</a:t>
            </a:r>
          </a:p>
        </p:txBody>
      </p:sp>
      <p:sp>
        <p:nvSpPr>
          <p:cNvPr id="3" name="cpe|subtitle|text|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3100">
                <a:solidFill>
                  <a:srgbClr val="FFFFFF"/>
                </a:solidFill>
              </a:rPr>
              <a:t>Same deck spec, generated on the Kestrel Capital corporate template · Alvora Retail (fictitious) ·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640080" y="274320"/>
            <a:ext cx="7638075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F6F6F"/>
                </a:solidFill>
                <a:latin typeface="Calibri"/>
              </a:rPr>
              <a:t>EXECUTIVE SUMMARY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640080" y="475488"/>
            <a:ext cx="9464040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B3A2F"/>
                </a:solidFill>
                <a:latin typeface="Georgia"/>
              </a:rPr>
              <a:t>Alvora can restore EBITDA to €1,067M by 2028 if it repositions towards discount now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640080" y="6272784"/>
            <a:ext cx="853409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F6F6F"/>
                </a:solidFill>
                <a:latin typeface="Calibri"/>
              </a:rPr>
              <a:t>Source: Alvora management accounts; market model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35705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F6F6F"/>
                </a:solidFill>
                <a:latin typeface="Calibri"/>
              </a:rPr>
              <a:t>Illustrative data   2</a:t>
            </a:r>
          </a:p>
        </p:txBody>
      </p:sp>
      <p:sp>
        <p:nvSpPr>
          <p:cNvPr id="6" name="cpe|statements|text|5"/>
          <p:cNvSpPr txBox="1"/>
          <p:nvPr/>
        </p:nvSpPr>
        <p:spPr>
          <a:xfrm>
            <a:off x="640080" y="1517904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A78842"/>
                </a:solidFill>
                <a:latin typeface="Calibri"/>
              </a:rPr>
              <a:t>1</a:t>
            </a:r>
          </a:p>
        </p:txBody>
      </p:sp>
      <p:sp>
        <p:nvSpPr>
          <p:cNvPr id="7" name="cpe|statements|text|6"/>
          <p:cNvSpPr txBox="1"/>
          <p:nvPr/>
        </p:nvSpPr>
        <p:spPr>
          <a:xfrm>
            <a:off x="1143000" y="1517904"/>
            <a:ext cx="4143018" cy="10035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3A2F"/>
                </a:solidFill>
                <a:latin typeface="Calibri"/>
              </a:rPr>
              <a:t>The market grows 4% a year, but discount and online capture 75% of it</a:t>
            </a:r>
          </a:p>
        </p:txBody>
      </p:sp>
      <p:sp>
        <p:nvSpPr>
          <p:cNvPr id="8" name="cpe|statements|text|7"/>
          <p:cNvSpPr txBox="1"/>
          <p:nvPr/>
        </p:nvSpPr>
        <p:spPr>
          <a:xfrm>
            <a:off x="5514618" y="1517904"/>
            <a:ext cx="6036997" cy="10035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Iberian grocery reached €142bn in 2025; discount (+7.8% CAGR) and online (+14.0%) outgrow supermarkets (+2.0%).</a:t>
            </a:r>
          </a:p>
        </p:txBody>
      </p:sp>
      <p:cxnSp>
        <p:nvCxnSpPr>
          <p:cNvPr id="9" name="cpe|statements|line|8"/>
          <p:cNvCxnSpPr/>
          <p:nvPr/>
        </p:nvCxnSpPr>
        <p:spPr>
          <a:xfrm>
            <a:off x="640080" y="2626614"/>
            <a:ext cx="10911535" cy="0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sp>
        <p:nvSpPr>
          <p:cNvPr id="10" name="cpe|statements|text|9"/>
          <p:cNvSpPr txBox="1"/>
          <p:nvPr/>
        </p:nvSpPr>
        <p:spPr>
          <a:xfrm>
            <a:off x="640080" y="273177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A78842"/>
                </a:solidFill>
                <a:latin typeface="Calibri"/>
              </a:rPr>
              <a:t>2</a:t>
            </a:r>
          </a:p>
        </p:txBody>
      </p:sp>
      <p:sp>
        <p:nvSpPr>
          <p:cNvPr id="11" name="cpe|statements|text|10"/>
          <p:cNvSpPr txBox="1"/>
          <p:nvPr/>
        </p:nvSpPr>
        <p:spPr>
          <a:xfrm>
            <a:off x="1143000" y="2731770"/>
            <a:ext cx="4143018" cy="10035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3A2F"/>
                </a:solidFill>
                <a:latin typeface="Calibri"/>
              </a:rPr>
              <a:t>Alvora is falling behind: growth of 3.0% is below the market for a second year</a:t>
            </a:r>
          </a:p>
        </p:txBody>
      </p:sp>
      <p:sp>
        <p:nvSpPr>
          <p:cNvPr id="12" name="cpe|statements|text|11"/>
          <p:cNvSpPr txBox="1"/>
          <p:nvPr/>
        </p:nvSpPr>
        <p:spPr>
          <a:xfrm>
            <a:off x="5514618" y="2731770"/>
            <a:ext cx="6036997" cy="10035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Its mix is 54% supermarkets and only 14% discount; share slipped to 9.6%.</a:t>
            </a:r>
          </a:p>
        </p:txBody>
      </p:sp>
      <p:cxnSp>
        <p:nvCxnSpPr>
          <p:cNvPr id="13" name="cpe|statements|line|12"/>
          <p:cNvCxnSpPr/>
          <p:nvPr/>
        </p:nvCxnSpPr>
        <p:spPr>
          <a:xfrm>
            <a:off x="640080" y="3840480"/>
            <a:ext cx="10911535" cy="0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sp>
        <p:nvSpPr>
          <p:cNvPr id="14" name="cpe|statements|text|13"/>
          <p:cNvSpPr txBox="1"/>
          <p:nvPr/>
        </p:nvSpPr>
        <p:spPr>
          <a:xfrm>
            <a:off x="640080" y="3945636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A78842"/>
                </a:solidFill>
                <a:latin typeface="Calibri"/>
              </a:rPr>
              <a:t>3</a:t>
            </a:r>
          </a:p>
        </p:txBody>
      </p:sp>
      <p:sp>
        <p:nvSpPr>
          <p:cNvPr id="15" name="cpe|statements|text|14"/>
          <p:cNvSpPr txBox="1"/>
          <p:nvPr/>
        </p:nvSpPr>
        <p:spPr>
          <a:xfrm>
            <a:off x="1143000" y="3945636"/>
            <a:ext cx="4143018" cy="10035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3A2F"/>
                </a:solidFill>
                <a:latin typeface="Calibri"/>
              </a:rPr>
              <a:t>Margin erosion in grocery and convenience cut EBITDA by €67M in 2025</a:t>
            </a:r>
          </a:p>
        </p:txBody>
      </p:sp>
      <p:sp>
        <p:nvSpPr>
          <p:cNvPr id="16" name="cpe|statements|text|15"/>
          <p:cNvSpPr txBox="1"/>
          <p:nvPr/>
        </p:nvSpPr>
        <p:spPr>
          <a:xfrm>
            <a:off x="5514618" y="3945636"/>
            <a:ext cx="6036997" cy="10035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EBITDA fell to €857M (6.3% margin); fresh and food-to-go in Madrid and Catalonia explain most of the loss.</a:t>
            </a:r>
          </a:p>
        </p:txBody>
      </p:sp>
      <p:cxnSp>
        <p:nvCxnSpPr>
          <p:cNvPr id="17" name="cpe|statements|line|16"/>
          <p:cNvCxnSpPr/>
          <p:nvPr/>
        </p:nvCxnSpPr>
        <p:spPr>
          <a:xfrm>
            <a:off x="640080" y="5054346"/>
            <a:ext cx="10911535" cy="0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sp>
        <p:nvSpPr>
          <p:cNvPr id="18" name="cpe|statements|text|17"/>
          <p:cNvSpPr txBox="1"/>
          <p:nvPr/>
        </p:nvSpPr>
        <p:spPr>
          <a:xfrm>
            <a:off x="640080" y="5159502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A78842"/>
                </a:solidFill>
                <a:latin typeface="Calibri"/>
              </a:rPr>
              <a:t>4</a:t>
            </a:r>
          </a:p>
        </p:txBody>
      </p:sp>
      <p:sp>
        <p:nvSpPr>
          <p:cNvPr id="19" name="cpe|statements|text|18"/>
          <p:cNvSpPr txBox="1"/>
          <p:nvPr/>
        </p:nvSpPr>
        <p:spPr>
          <a:xfrm>
            <a:off x="1143000" y="5159502"/>
            <a:ext cx="4143018" cy="10035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3A2F"/>
                </a:solidFill>
                <a:latin typeface="Calibri"/>
              </a:rPr>
              <a:t>A discount banner, a pricing reset and a cost programme add €250M by 2028</a:t>
            </a:r>
          </a:p>
        </p:txBody>
      </p:sp>
      <p:sp>
        <p:nvSpPr>
          <p:cNvPr id="20" name="cpe|statements|text|19"/>
          <p:cNvSpPr txBox="1"/>
          <p:nvPr/>
        </p:nvSpPr>
        <p:spPr>
          <a:xfrm>
            <a:off x="5514618" y="5159502"/>
            <a:ext cx="6036997" cy="10035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Three waves over 24 months; the board is asked to approve the banner pilot and the €85M programme budget.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640080" y="274320"/>
            <a:ext cx="7638075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F6F6F"/>
                </a:solidFill>
                <a:latin typeface="Calibri"/>
              </a:rPr>
              <a:t>MARKET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640080" y="475488"/>
            <a:ext cx="9464040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B3A2F"/>
                </a:solidFill>
                <a:latin typeface="Georgia"/>
              </a:rPr>
              <a:t>Discount and online captured 75% of Iberian grocery growth since 2021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640080" y="6272784"/>
            <a:ext cx="853409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F6F6F"/>
                </a:solidFill>
                <a:latin typeface="Calibri"/>
              </a:rPr>
              <a:t>Source: National statistics; retailer reports; team market model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35705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F6F6F"/>
                </a:solidFill>
                <a:latin typeface="Calibri"/>
              </a:rPr>
              <a:t>Illustrative data   3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640080" y="1481328"/>
            <a:ext cx="720730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Iberian grocery market by channel</a:t>
            </a:r>
            <a:r>
              <a:rPr sz="1100" b="0">
                <a:solidFill>
                  <a:srgbClr val="222222"/>
                </a:solidFill>
                <a:latin typeface="Calibri"/>
              </a:rPr>
              <a:t>, €bn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640080" y="1901952"/>
          <a:ext cx="7207301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pe|exhibit|label|7"/>
          <p:cNvSpPr txBox="1"/>
          <p:nvPr/>
        </p:nvSpPr>
        <p:spPr>
          <a:xfrm>
            <a:off x="712153" y="2898830"/>
            <a:ext cx="1217666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121.3</a:t>
            </a:r>
          </a:p>
        </p:txBody>
      </p:sp>
      <p:sp>
        <p:nvSpPr>
          <p:cNvPr id="9" name="cpe|exhibit|label|8"/>
          <p:cNvSpPr txBox="1"/>
          <p:nvPr/>
        </p:nvSpPr>
        <p:spPr>
          <a:xfrm>
            <a:off x="1929819" y="2793854"/>
            <a:ext cx="1217666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125.9</a:t>
            </a:r>
          </a:p>
        </p:txBody>
      </p:sp>
      <p:sp>
        <p:nvSpPr>
          <p:cNvPr id="10" name="cpe|exhibit|label|9"/>
          <p:cNvSpPr txBox="1"/>
          <p:nvPr/>
        </p:nvSpPr>
        <p:spPr>
          <a:xfrm>
            <a:off x="3147485" y="2675186"/>
            <a:ext cx="1217666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131.1</a:t>
            </a:r>
          </a:p>
        </p:txBody>
      </p:sp>
      <p:sp>
        <p:nvSpPr>
          <p:cNvPr id="11" name="cpe|exhibit|label|10"/>
          <p:cNvSpPr txBox="1"/>
          <p:nvPr/>
        </p:nvSpPr>
        <p:spPr>
          <a:xfrm>
            <a:off x="4365152" y="2554235"/>
            <a:ext cx="1217666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136.4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5582818" y="2426439"/>
            <a:ext cx="1217666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142.0</a:t>
            </a:r>
          </a:p>
        </p:txBody>
      </p:sp>
      <p:sp>
        <p:nvSpPr>
          <p:cNvPr id="13" name="cpe|exhibit|label|12"/>
          <p:cNvSpPr txBox="1"/>
          <p:nvPr/>
        </p:nvSpPr>
        <p:spPr>
          <a:xfrm>
            <a:off x="6663612" y="2741632"/>
            <a:ext cx="1183769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Online</a:t>
            </a:r>
          </a:p>
        </p:txBody>
      </p:sp>
      <p:sp>
        <p:nvSpPr>
          <p:cNvPr id="14" name="cpe|exhibit|label|13"/>
          <p:cNvSpPr txBox="1"/>
          <p:nvPr/>
        </p:nvSpPr>
        <p:spPr>
          <a:xfrm>
            <a:off x="6663612" y="3061124"/>
            <a:ext cx="1183769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Convenience</a:t>
            </a:r>
          </a:p>
        </p:txBody>
      </p:sp>
      <p:sp>
        <p:nvSpPr>
          <p:cNvPr id="15" name="cpe|exhibit|label|14"/>
          <p:cNvSpPr txBox="1"/>
          <p:nvPr/>
        </p:nvSpPr>
        <p:spPr>
          <a:xfrm>
            <a:off x="6663612" y="3494719"/>
            <a:ext cx="1183769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Hypermarkets</a:t>
            </a:r>
          </a:p>
        </p:txBody>
      </p:sp>
      <p:sp>
        <p:nvSpPr>
          <p:cNvPr id="16" name="cpe|exhibit|label|15"/>
          <p:cNvSpPr txBox="1"/>
          <p:nvPr/>
        </p:nvSpPr>
        <p:spPr>
          <a:xfrm>
            <a:off x="6663612" y="4361910"/>
            <a:ext cx="1183769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Supermarkets</a:t>
            </a:r>
          </a:p>
        </p:txBody>
      </p:sp>
      <p:sp>
        <p:nvSpPr>
          <p:cNvPr id="17" name="cpe|exhibit|label|16"/>
          <p:cNvSpPr txBox="1"/>
          <p:nvPr/>
        </p:nvSpPr>
        <p:spPr>
          <a:xfrm>
            <a:off x="6663612" y="5388847"/>
            <a:ext cx="1183769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Discount</a:t>
            </a:r>
          </a:p>
        </p:txBody>
      </p:sp>
      <p:cxnSp>
        <p:nvCxnSpPr>
          <p:cNvPr id="18" name="cpe|exhibit|connector|17"/>
          <p:cNvCxnSpPr/>
          <p:nvPr/>
        </p:nvCxnSpPr>
        <p:spPr>
          <a:xfrm>
            <a:off x="1320986" y="2316711"/>
            <a:ext cx="4870665" cy="0"/>
          </a:xfrm>
          <a:prstGeom prst="line">
            <a:avLst/>
          </a:prstGeom>
          <a:ln w="9525">
            <a:solidFill>
              <a:srgbClr val="222222"/>
            </a:solidFill>
            <a:tailEnd type="triangle" w="med" len="med"/>
          </a:ln>
        </p:spPr>
      </p:cxnSp>
      <p:cxnSp>
        <p:nvCxnSpPr>
          <p:cNvPr id="19" name="cpe|exhibit|connector|18"/>
          <p:cNvCxnSpPr/>
          <p:nvPr/>
        </p:nvCxnSpPr>
        <p:spPr>
          <a:xfrm>
            <a:off x="1320986" y="2316711"/>
            <a:ext cx="0" cy="91440"/>
          </a:xfrm>
          <a:prstGeom prst="line">
            <a:avLst/>
          </a:prstGeom>
          <a:ln w="9525">
            <a:solidFill>
              <a:srgbClr val="222222"/>
            </a:solidFill>
          </a:ln>
        </p:spPr>
      </p:cxnSp>
      <p:sp>
        <p:nvSpPr>
          <p:cNvPr id="20" name="cpe|exhibit|label|19"/>
          <p:cNvSpPr txBox="1"/>
          <p:nvPr/>
        </p:nvSpPr>
        <p:spPr>
          <a:xfrm>
            <a:off x="3325449" y="2179551"/>
            <a:ext cx="861739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22222"/>
                </a:solidFill>
                <a:latin typeface="Calibri"/>
              </a:rPr>
              <a:t>CAGR +4.0%</a:t>
            </a:r>
          </a:p>
        </p:txBody>
      </p:sp>
      <p:cxnSp>
        <p:nvCxnSpPr>
          <p:cNvPr id="21" name="cpe|commentary|line|20"/>
          <p:cNvCxnSpPr/>
          <p:nvPr/>
        </p:nvCxnSpPr>
        <p:spPr>
          <a:xfrm>
            <a:off x="8048549" y="1481328"/>
            <a:ext cx="0" cy="4718304"/>
          </a:xfrm>
          <a:prstGeom prst="line">
            <a:avLst/>
          </a:prstGeom>
          <a:ln w="9525">
            <a:solidFill>
              <a:srgbClr val="B8B8B8"/>
            </a:solidFill>
          </a:ln>
        </p:spPr>
      </p:cxnSp>
      <p:sp>
        <p:nvSpPr>
          <p:cNvPr id="22" name="cpe|commentary|text|21"/>
          <p:cNvSpPr txBox="1"/>
          <p:nvPr/>
        </p:nvSpPr>
        <p:spPr>
          <a:xfrm>
            <a:off x="8277149" y="1481328"/>
            <a:ext cx="3274466" cy="196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B3A2F"/>
                </a:solidFill>
                <a:latin typeface="Calibri"/>
              </a:rPr>
              <a:t>What moves the market</a:t>
            </a:r>
          </a:p>
        </p:txBody>
      </p:sp>
      <p:sp>
        <p:nvSpPr>
          <p:cNvPr id="23" name="cpe|commentary|text|22"/>
          <p:cNvSpPr txBox="1"/>
          <p:nvPr/>
        </p:nvSpPr>
        <p:spPr>
          <a:xfrm>
            <a:off x="8277149" y="1796796"/>
            <a:ext cx="3274466" cy="44028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222222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222222"/>
                </a:solidFill>
                <a:latin typeface="Calibri"/>
              </a:rPr>
              <a:t>Discount</a:t>
            </a:r>
            <a:r>
              <a:rPr sz="1200" b="0">
                <a:solidFill>
                  <a:srgbClr val="222222"/>
                </a:solidFill>
                <a:latin typeface="Calibri"/>
              </a:rPr>
              <a:t> grows 7.8% a year on price-sensitive households</a:t>
            </a:r>
          </a:p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222222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222222"/>
                </a:solidFill>
                <a:latin typeface="Calibri"/>
              </a:rPr>
              <a:t>Online</a:t>
            </a:r>
            <a:r>
              <a:rPr sz="1200" b="0">
                <a:solidFill>
                  <a:srgbClr val="222222"/>
                </a:solidFill>
                <a:latin typeface="Calibri"/>
              </a:rPr>
              <a:t> is small but compounding at 14% a year</a:t>
            </a:r>
          </a:p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222222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222222"/>
                </a:solidFill>
                <a:latin typeface="Calibri"/>
              </a:rPr>
              <a:t>Supermarkets</a:t>
            </a:r>
            <a:r>
              <a:rPr sz="1200" b="0">
                <a:solidFill>
                  <a:srgbClr val="222222"/>
                </a:solidFill>
                <a:latin typeface="Calibri"/>
              </a:rPr>
              <a:t> grow at 2%, below food inflation</a:t>
            </a:r>
          </a:p>
          <a:p>
            <a:pPr algn="l" marL="155448" indent="-155448">
              <a:lnSpc>
                <a:spcPct val="108000"/>
              </a:lnSpc>
              <a:buClr>
                <a:srgbClr val="222222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222222"/>
                </a:solidFill>
                <a:latin typeface="Calibri"/>
              </a:rPr>
              <a:t>Hypermarkets</a:t>
            </a:r>
            <a:r>
              <a:rPr sz="1200" b="0">
                <a:solidFill>
                  <a:srgbClr val="222222"/>
                </a:solidFill>
                <a:latin typeface="Calibri"/>
              </a:rPr>
              <a:t> shrink as trips move to proximity formats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640080" y="274320"/>
            <a:ext cx="7638075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F6F6F"/>
                </a:solidFill>
                <a:latin typeface="Calibri"/>
              </a:rPr>
              <a:t>PERFORMANCE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640080" y="475488"/>
            <a:ext cx="9464040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B3A2F"/>
                </a:solidFill>
                <a:latin typeface="Georgia"/>
              </a:rPr>
              <a:t>Alvora's growth slowed to 3.0% in 2025, below the market (4.1%) for the second year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640080" y="6272784"/>
            <a:ext cx="853409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F6F6F"/>
                </a:solidFill>
                <a:latin typeface="Calibri"/>
              </a:rPr>
              <a:t>Source: Alvora management accounts; market model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35705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F6F6F"/>
                </a:solidFill>
                <a:latin typeface="Calibri"/>
              </a:rPr>
              <a:t>Illustrative data   4</a:t>
            </a:r>
          </a:p>
        </p:txBody>
      </p:sp>
      <p:sp>
        <p:nvSpPr>
          <p:cNvPr id="6" name="cpe|kpis|text|5"/>
          <p:cNvSpPr txBox="1"/>
          <p:nvPr/>
        </p:nvSpPr>
        <p:spPr>
          <a:xfrm>
            <a:off x="640080" y="1481328"/>
            <a:ext cx="2426132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3A2F"/>
                </a:solidFill>
                <a:latin typeface="Calibri"/>
              </a:rPr>
              <a:t>€13.6bn</a:t>
            </a:r>
          </a:p>
        </p:txBody>
      </p:sp>
      <p:sp>
        <p:nvSpPr>
          <p:cNvPr id="7" name="cpe|kpis|text|6"/>
          <p:cNvSpPr txBox="1"/>
          <p:nvPr/>
        </p:nvSpPr>
        <p:spPr>
          <a:xfrm>
            <a:off x="640080" y="2048256"/>
            <a:ext cx="242613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6B4F"/>
                </a:solidFill>
                <a:latin typeface="Calibri"/>
              </a:rPr>
              <a:t>▲ +3.0% YoY</a:t>
            </a:r>
          </a:p>
        </p:txBody>
      </p:sp>
      <p:sp>
        <p:nvSpPr>
          <p:cNvPr id="8" name="cpe|kpis|text|7"/>
          <p:cNvSpPr txBox="1"/>
          <p:nvPr/>
        </p:nvSpPr>
        <p:spPr>
          <a:xfrm>
            <a:off x="640080" y="2304288"/>
            <a:ext cx="2426132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F6F6F"/>
                </a:solidFill>
                <a:latin typeface="Calibri"/>
              </a:rPr>
              <a:t>Revenue 2025</a:t>
            </a:r>
          </a:p>
        </p:txBody>
      </p:sp>
      <p:cxnSp>
        <p:nvCxnSpPr>
          <p:cNvPr id="9" name="cpe|kpis|line|8"/>
          <p:cNvCxnSpPr/>
          <p:nvPr/>
        </p:nvCxnSpPr>
        <p:spPr>
          <a:xfrm>
            <a:off x="3267380" y="1527048"/>
            <a:ext cx="0" cy="1034735"/>
          </a:xfrm>
          <a:prstGeom prst="line">
            <a:avLst/>
          </a:prstGeom>
          <a:ln w="9525">
            <a:solidFill>
              <a:srgbClr val="E4E4E4"/>
            </a:solidFill>
          </a:ln>
        </p:spPr>
      </p:cxnSp>
      <p:sp>
        <p:nvSpPr>
          <p:cNvPr id="10" name="cpe|kpis|text|9"/>
          <p:cNvSpPr txBox="1"/>
          <p:nvPr/>
        </p:nvSpPr>
        <p:spPr>
          <a:xfrm>
            <a:off x="3468548" y="1481328"/>
            <a:ext cx="2426132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3A2F"/>
                </a:solidFill>
                <a:latin typeface="Calibri"/>
              </a:rPr>
              <a:t>6.3%</a:t>
            </a:r>
          </a:p>
        </p:txBody>
      </p:sp>
      <p:sp>
        <p:nvSpPr>
          <p:cNvPr id="11" name="cpe|kpis|text|10"/>
          <p:cNvSpPr txBox="1"/>
          <p:nvPr/>
        </p:nvSpPr>
        <p:spPr>
          <a:xfrm>
            <a:off x="3468548" y="2048256"/>
            <a:ext cx="242613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33A2B"/>
                </a:solidFill>
                <a:latin typeface="Calibri"/>
              </a:rPr>
              <a:t>▼ −0.7pp</a:t>
            </a:r>
          </a:p>
        </p:txBody>
      </p:sp>
      <p:sp>
        <p:nvSpPr>
          <p:cNvPr id="12" name="cpe|kpis|text|11"/>
          <p:cNvSpPr txBox="1"/>
          <p:nvPr/>
        </p:nvSpPr>
        <p:spPr>
          <a:xfrm>
            <a:off x="3468548" y="2304288"/>
            <a:ext cx="2426132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F6F6F"/>
                </a:solidFill>
                <a:latin typeface="Calibri"/>
              </a:rPr>
              <a:t>EBITDA margin 2025</a:t>
            </a:r>
          </a:p>
        </p:txBody>
      </p:sp>
      <p:cxnSp>
        <p:nvCxnSpPr>
          <p:cNvPr id="13" name="cpe|kpis|line|12"/>
          <p:cNvCxnSpPr/>
          <p:nvPr/>
        </p:nvCxnSpPr>
        <p:spPr>
          <a:xfrm>
            <a:off x="6095848" y="1527048"/>
            <a:ext cx="0" cy="1034735"/>
          </a:xfrm>
          <a:prstGeom prst="line">
            <a:avLst/>
          </a:prstGeom>
          <a:ln w="9525">
            <a:solidFill>
              <a:srgbClr val="E4E4E4"/>
            </a:solidFill>
          </a:ln>
        </p:spPr>
      </p:cxnSp>
      <p:sp>
        <p:nvSpPr>
          <p:cNvPr id="14" name="cpe|kpis|text|13"/>
          <p:cNvSpPr txBox="1"/>
          <p:nvPr/>
        </p:nvSpPr>
        <p:spPr>
          <a:xfrm>
            <a:off x="6297016" y="1481328"/>
            <a:ext cx="2426132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3A2F"/>
                </a:solidFill>
                <a:latin typeface="Calibri"/>
              </a:rPr>
              <a:t>9.6%</a:t>
            </a:r>
          </a:p>
        </p:txBody>
      </p:sp>
      <p:sp>
        <p:nvSpPr>
          <p:cNvPr id="15" name="cpe|kpis|text|14"/>
          <p:cNvSpPr txBox="1"/>
          <p:nvPr/>
        </p:nvSpPr>
        <p:spPr>
          <a:xfrm>
            <a:off x="6297016" y="2048256"/>
            <a:ext cx="242613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33A2B"/>
                </a:solidFill>
                <a:latin typeface="Calibri"/>
              </a:rPr>
              <a:t>▼ −0.1pp</a:t>
            </a:r>
          </a:p>
        </p:txBody>
      </p:sp>
      <p:sp>
        <p:nvSpPr>
          <p:cNvPr id="16" name="cpe|kpis|text|15"/>
          <p:cNvSpPr txBox="1"/>
          <p:nvPr/>
        </p:nvSpPr>
        <p:spPr>
          <a:xfrm>
            <a:off x="6297016" y="2304288"/>
            <a:ext cx="2426132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F6F6F"/>
                </a:solidFill>
                <a:latin typeface="Calibri"/>
              </a:rPr>
              <a:t>Market share 2025</a:t>
            </a:r>
          </a:p>
        </p:txBody>
      </p:sp>
      <p:cxnSp>
        <p:nvCxnSpPr>
          <p:cNvPr id="17" name="cpe|kpis|line|16"/>
          <p:cNvCxnSpPr/>
          <p:nvPr/>
        </p:nvCxnSpPr>
        <p:spPr>
          <a:xfrm>
            <a:off x="8924315" y="1527048"/>
            <a:ext cx="0" cy="1034735"/>
          </a:xfrm>
          <a:prstGeom prst="line">
            <a:avLst/>
          </a:prstGeom>
          <a:ln w="9525">
            <a:solidFill>
              <a:srgbClr val="E4E4E4"/>
            </a:solidFill>
          </a:ln>
        </p:spPr>
      </p:cxnSp>
      <p:sp>
        <p:nvSpPr>
          <p:cNvPr id="18" name="cpe|kpis|text|17"/>
          <p:cNvSpPr txBox="1"/>
          <p:nvPr/>
        </p:nvSpPr>
        <p:spPr>
          <a:xfrm>
            <a:off x="9125483" y="1481328"/>
            <a:ext cx="2426132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3A2F"/>
                </a:solidFill>
                <a:latin typeface="Calibri"/>
              </a:rPr>
              <a:t>+1.2%</a:t>
            </a:r>
          </a:p>
        </p:txBody>
      </p:sp>
      <p:sp>
        <p:nvSpPr>
          <p:cNvPr id="19" name="cpe|kpis|text|18"/>
          <p:cNvSpPr txBox="1"/>
          <p:nvPr/>
        </p:nvSpPr>
        <p:spPr>
          <a:xfrm>
            <a:off x="9125483" y="2048256"/>
            <a:ext cx="242613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33A2B"/>
                </a:solidFill>
                <a:latin typeface="Calibri"/>
              </a:rPr>
              <a:t>▼ −1.8pp vs 2024</a:t>
            </a:r>
          </a:p>
        </p:txBody>
      </p:sp>
      <p:sp>
        <p:nvSpPr>
          <p:cNvPr id="20" name="cpe|kpis|text|19"/>
          <p:cNvSpPr txBox="1"/>
          <p:nvPr/>
        </p:nvSpPr>
        <p:spPr>
          <a:xfrm>
            <a:off x="9125483" y="2304288"/>
            <a:ext cx="2426132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F6F6F"/>
                </a:solidFill>
                <a:latin typeface="Calibri"/>
              </a:rPr>
              <a:t>Like-for-like sales 2025</a:t>
            </a:r>
          </a:p>
        </p:txBody>
      </p:sp>
      <p:sp>
        <p:nvSpPr>
          <p:cNvPr id="21" name="cpe|exhibit|text|20"/>
          <p:cNvSpPr txBox="1"/>
          <p:nvPr/>
        </p:nvSpPr>
        <p:spPr>
          <a:xfrm>
            <a:off x="640080" y="2808671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Alvora revenue and growth vs market</a:t>
            </a:r>
            <a:r>
              <a:rPr sz="1100" b="0">
                <a:solidFill>
                  <a:srgbClr val="222222"/>
                </a:solidFill>
                <a:latin typeface="Calibri"/>
              </a:rPr>
              <a:t>, €bn, % YoY</a:t>
            </a:r>
          </a:p>
        </p:txBody>
      </p:sp>
      <p:graphicFrame>
        <p:nvGraphicFramePr>
          <p:cNvPr id="22" name="cpe|exhibit|chart|21"/>
          <p:cNvGraphicFramePr>
            <a:graphicFrameLocks noGrp="1"/>
          </p:cNvGraphicFramePr>
          <p:nvPr/>
        </p:nvGraphicFramePr>
        <p:xfrm>
          <a:off x="640080" y="4408344"/>
          <a:ext cx="10911535" cy="179128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23" name="cpe|exhibit|connector|22"/>
          <p:cNvCxnSpPr/>
          <p:nvPr/>
        </p:nvCxnSpPr>
        <p:spPr>
          <a:xfrm>
            <a:off x="6842453" y="4786729"/>
            <a:ext cx="2437304" cy="0"/>
          </a:xfrm>
          <a:prstGeom prst="line">
            <a:avLst/>
          </a:prstGeom>
          <a:ln w="9525">
            <a:solidFill>
              <a:srgbClr val="222222"/>
            </a:solidFill>
            <a:tailEnd type="triangle" w="med" len="med"/>
          </a:ln>
        </p:spPr>
      </p:cxnSp>
      <p:cxnSp>
        <p:nvCxnSpPr>
          <p:cNvPr id="24" name="cpe|exhibit|connector|23"/>
          <p:cNvCxnSpPr/>
          <p:nvPr/>
        </p:nvCxnSpPr>
        <p:spPr>
          <a:xfrm>
            <a:off x="6842453" y="4786729"/>
            <a:ext cx="0" cy="91440"/>
          </a:xfrm>
          <a:prstGeom prst="line">
            <a:avLst/>
          </a:prstGeom>
          <a:ln w="9525">
            <a:solidFill>
              <a:srgbClr val="222222"/>
            </a:solidFill>
          </a:ln>
        </p:spPr>
      </p:cxnSp>
      <p:sp>
        <p:nvSpPr>
          <p:cNvPr id="25" name="cpe|exhibit|label|24"/>
          <p:cNvSpPr txBox="1"/>
          <p:nvPr/>
        </p:nvSpPr>
        <p:spPr>
          <a:xfrm>
            <a:off x="7841264" y="4649569"/>
            <a:ext cx="439682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22222"/>
                </a:solidFill>
                <a:latin typeface="Calibri"/>
              </a:rPr>
              <a:t>+3%</a:t>
            </a:r>
          </a:p>
        </p:txBody>
      </p:sp>
      <p:graphicFrame>
        <p:nvGraphicFramePr>
          <p:cNvPr id="26" name="cpe|exhibit|chart|25"/>
          <p:cNvGraphicFramePr>
            <a:graphicFrameLocks noGrp="1"/>
          </p:cNvGraphicFramePr>
          <p:nvPr/>
        </p:nvGraphicFramePr>
        <p:xfrm>
          <a:off x="640080" y="3229295"/>
          <a:ext cx="10911535" cy="1069321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cpe|exhibit|label|26"/>
          <p:cNvSpPr txBox="1"/>
          <p:nvPr/>
        </p:nvSpPr>
        <p:spPr>
          <a:xfrm>
            <a:off x="9371197" y="3802449"/>
            <a:ext cx="2180419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F6F6F"/>
                </a:solidFill>
                <a:latin typeface="Calibri"/>
              </a:rPr>
              <a:t>Market growth</a:t>
            </a:r>
          </a:p>
        </p:txBody>
      </p:sp>
      <p:sp>
        <p:nvSpPr>
          <p:cNvPr id="28" name="cpe|exhibit|label|27"/>
          <p:cNvSpPr txBox="1"/>
          <p:nvPr/>
        </p:nvSpPr>
        <p:spPr>
          <a:xfrm>
            <a:off x="9371197" y="4021905"/>
            <a:ext cx="2180419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B3A2F"/>
                </a:solidFill>
                <a:latin typeface="Calibri"/>
              </a:rPr>
              <a:t>Alvora growth</a:t>
            </a:r>
          </a:p>
        </p:txBody>
      </p:sp>
      <p:sp>
        <p:nvSpPr>
          <p:cNvPr id="29" name="cpe|exhibit|label|28"/>
          <p:cNvSpPr txBox="1"/>
          <p:nvPr/>
        </p:nvSpPr>
        <p:spPr>
          <a:xfrm>
            <a:off x="1510647" y="3201371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B3A2F"/>
                </a:solidFill>
                <a:latin typeface="Calibri"/>
              </a:rPr>
              <a:t>6.3%</a:t>
            </a:r>
          </a:p>
        </p:txBody>
      </p:sp>
      <p:sp>
        <p:nvSpPr>
          <p:cNvPr id="30" name="cpe|exhibit|label|29"/>
          <p:cNvSpPr txBox="1"/>
          <p:nvPr/>
        </p:nvSpPr>
        <p:spPr>
          <a:xfrm>
            <a:off x="1510647" y="367659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F6F6F"/>
                </a:solidFill>
                <a:latin typeface="Calibri"/>
              </a:rPr>
              <a:t>3.8%</a:t>
            </a:r>
          </a:p>
        </p:txBody>
      </p:sp>
      <p:sp>
        <p:nvSpPr>
          <p:cNvPr id="31" name="cpe|exhibit|label|30"/>
          <p:cNvSpPr txBox="1"/>
          <p:nvPr/>
        </p:nvSpPr>
        <p:spPr>
          <a:xfrm>
            <a:off x="3947950" y="3125335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B3A2F"/>
                </a:solidFill>
                <a:latin typeface="Calibri"/>
              </a:rPr>
              <a:t>6.7%</a:t>
            </a:r>
          </a:p>
        </p:txBody>
      </p:sp>
      <p:sp>
        <p:nvSpPr>
          <p:cNvPr id="32" name="cpe|exhibit|label|31"/>
          <p:cNvSpPr txBox="1"/>
          <p:nvPr/>
        </p:nvSpPr>
        <p:spPr>
          <a:xfrm>
            <a:off x="3947950" y="3619569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F6F6F"/>
                </a:solidFill>
                <a:latin typeface="Calibri"/>
              </a:rPr>
              <a:t>4.1%</a:t>
            </a:r>
          </a:p>
        </p:txBody>
      </p:sp>
      <p:sp>
        <p:nvSpPr>
          <p:cNvPr id="33" name="cpe|exhibit|label|32"/>
          <p:cNvSpPr txBox="1"/>
          <p:nvPr/>
        </p:nvSpPr>
        <p:spPr>
          <a:xfrm>
            <a:off x="6385253" y="3638578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F6F6F"/>
                </a:solidFill>
                <a:latin typeface="Calibri"/>
              </a:rPr>
              <a:t>4.0%</a:t>
            </a:r>
          </a:p>
        </p:txBody>
      </p:sp>
      <p:sp>
        <p:nvSpPr>
          <p:cNvPr id="34" name="cpe|exhibit|label|33"/>
          <p:cNvSpPr txBox="1"/>
          <p:nvPr/>
        </p:nvSpPr>
        <p:spPr>
          <a:xfrm>
            <a:off x="6385253" y="4023347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B3A2F"/>
                </a:solidFill>
                <a:latin typeface="Calibri"/>
              </a:rPr>
              <a:t>3.9%</a:t>
            </a:r>
          </a:p>
        </p:txBody>
      </p:sp>
      <p:sp>
        <p:nvSpPr>
          <p:cNvPr id="35" name="cpe|exhibit|label|34"/>
          <p:cNvSpPr txBox="1"/>
          <p:nvPr/>
        </p:nvSpPr>
        <p:spPr>
          <a:xfrm>
            <a:off x="8822557" y="3619569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F6F6F"/>
                </a:solidFill>
                <a:latin typeface="Calibri"/>
              </a:rPr>
              <a:t>4.1%</a:t>
            </a:r>
          </a:p>
        </p:txBody>
      </p:sp>
      <p:sp>
        <p:nvSpPr>
          <p:cNvPr id="36" name="cpe|exhibit|label|35"/>
          <p:cNvSpPr txBox="1"/>
          <p:nvPr/>
        </p:nvSpPr>
        <p:spPr>
          <a:xfrm>
            <a:off x="8822557" y="4194427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B3A2F"/>
                </a:solidFill>
                <a:latin typeface="Calibri"/>
              </a:rPr>
              <a:t>3.0%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640080" y="274320"/>
            <a:ext cx="7638075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F6F6F"/>
                </a:solidFill>
                <a:latin typeface="Calibri"/>
              </a:rPr>
              <a:t>PORTFOLIO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640080" y="475488"/>
            <a:ext cx="9464040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B3A2F"/>
                </a:solidFill>
                <a:latin typeface="Georgia"/>
              </a:rPr>
              <a:t>Alvora holds 14% of supermarkets but only 5% of discount, the segment driving growth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640080" y="6272784"/>
            <a:ext cx="853409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F6F6F"/>
                </a:solidFill>
                <a:latin typeface="Calibri"/>
              </a:rPr>
              <a:t>Source: Retailer reports; consumer panel; team estimates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35705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F6F6F"/>
                </a:solidFill>
                <a:latin typeface="Calibri"/>
              </a:rPr>
              <a:t>Illustrative data   5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640080" y="1481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Market share by channel, 2025</a:t>
            </a:r>
            <a:r>
              <a:rPr sz="1100" b="0">
                <a:solidFill>
                  <a:srgbClr val="222222"/>
                </a:solidFill>
                <a:latin typeface="Calibri"/>
              </a:rPr>
              <a:t>, % of channel sales; width = channel size (€bn)</a:t>
            </a:r>
          </a:p>
        </p:txBody>
      </p:sp>
      <p:sp>
        <p:nvSpPr>
          <p:cNvPr id="7" name="cpe|exhibit|fill|6"/>
          <p:cNvSpPr/>
          <p:nvPr/>
        </p:nvSpPr>
        <p:spPr>
          <a:xfrm>
            <a:off x="640080" y="4669384"/>
            <a:ext cx="2354735" cy="131216"/>
          </a:xfrm>
          <a:prstGeom prst="rect">
            <a:avLst/>
          </a:prstGeom>
          <a:solidFill>
            <a:srgbClr val="1B3A2F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cpe|exhibit|fill|7"/>
          <p:cNvSpPr/>
          <p:nvPr/>
        </p:nvSpPr>
        <p:spPr>
          <a:xfrm>
            <a:off x="640080" y="3593409"/>
            <a:ext cx="2354735" cy="1075974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fill|8"/>
          <p:cNvSpPr/>
          <p:nvPr/>
        </p:nvSpPr>
        <p:spPr>
          <a:xfrm>
            <a:off x="640080" y="3278490"/>
            <a:ext cx="2354735" cy="314919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exhibit|fill|9"/>
          <p:cNvSpPr/>
          <p:nvPr/>
        </p:nvSpPr>
        <p:spPr>
          <a:xfrm>
            <a:off x="640080" y="2176272"/>
            <a:ext cx="2354735" cy="1102218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label|10"/>
          <p:cNvSpPr txBox="1"/>
          <p:nvPr/>
        </p:nvSpPr>
        <p:spPr>
          <a:xfrm>
            <a:off x="640080" y="1901952"/>
            <a:ext cx="2354735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38</a:t>
            </a:r>
          </a:p>
        </p:txBody>
      </p:sp>
      <p:sp>
        <p:nvSpPr>
          <p:cNvPr id="12" name="cpe|exhibit|text|11"/>
          <p:cNvSpPr txBox="1"/>
          <p:nvPr/>
        </p:nvSpPr>
        <p:spPr>
          <a:xfrm>
            <a:off x="640080" y="4855464"/>
            <a:ext cx="2354735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Discount</a:t>
            </a:r>
          </a:p>
        </p:txBody>
      </p:sp>
      <p:sp>
        <p:nvSpPr>
          <p:cNvPr id="13" name="cpe|exhibit|fill|12"/>
          <p:cNvSpPr/>
          <p:nvPr/>
        </p:nvSpPr>
        <p:spPr>
          <a:xfrm>
            <a:off x="3031391" y="4433194"/>
            <a:ext cx="3222268" cy="367406"/>
          </a:xfrm>
          <a:prstGeom prst="rect">
            <a:avLst/>
          </a:prstGeom>
          <a:solidFill>
            <a:srgbClr val="1B3A2F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cpe|exhibit|fill|13"/>
          <p:cNvSpPr/>
          <p:nvPr/>
        </p:nvSpPr>
        <p:spPr>
          <a:xfrm>
            <a:off x="3031391" y="4328221"/>
            <a:ext cx="3222268" cy="104973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cpe|exhibit|fill|14"/>
          <p:cNvSpPr/>
          <p:nvPr/>
        </p:nvSpPr>
        <p:spPr>
          <a:xfrm>
            <a:off x="3031391" y="3750869"/>
            <a:ext cx="3222268" cy="577352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cpe|exhibit|fill|15"/>
          <p:cNvSpPr/>
          <p:nvPr/>
        </p:nvSpPr>
        <p:spPr>
          <a:xfrm>
            <a:off x="3031391" y="3278490"/>
            <a:ext cx="3222268" cy="472379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cpe|exhibit|fill|16"/>
          <p:cNvSpPr/>
          <p:nvPr/>
        </p:nvSpPr>
        <p:spPr>
          <a:xfrm>
            <a:off x="3031391" y="2176272"/>
            <a:ext cx="3222268" cy="1102218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cpe|exhibit|label|17"/>
          <p:cNvSpPr txBox="1"/>
          <p:nvPr/>
        </p:nvSpPr>
        <p:spPr>
          <a:xfrm>
            <a:off x="3031391" y="1901952"/>
            <a:ext cx="322226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52</a:t>
            </a:r>
          </a:p>
        </p:txBody>
      </p:sp>
      <p:sp>
        <p:nvSpPr>
          <p:cNvPr id="19" name="cpe|exhibit|text|18"/>
          <p:cNvSpPr txBox="1"/>
          <p:nvPr/>
        </p:nvSpPr>
        <p:spPr>
          <a:xfrm>
            <a:off x="3031391" y="4855464"/>
            <a:ext cx="3222268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Supermarkets</a:t>
            </a:r>
          </a:p>
        </p:txBody>
      </p:sp>
      <p:sp>
        <p:nvSpPr>
          <p:cNvPr id="20" name="cpe|exhibit|fill|19"/>
          <p:cNvSpPr/>
          <p:nvPr/>
        </p:nvSpPr>
        <p:spPr>
          <a:xfrm>
            <a:off x="6290235" y="4564410"/>
            <a:ext cx="1487201" cy="236190"/>
          </a:xfrm>
          <a:prstGeom prst="rect">
            <a:avLst/>
          </a:prstGeom>
          <a:solidFill>
            <a:srgbClr val="1B3A2F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cpe|exhibit|fill|20"/>
          <p:cNvSpPr/>
          <p:nvPr/>
        </p:nvSpPr>
        <p:spPr>
          <a:xfrm>
            <a:off x="6290235" y="4170761"/>
            <a:ext cx="1487201" cy="393649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cpe|exhibit|fill|21"/>
          <p:cNvSpPr/>
          <p:nvPr/>
        </p:nvSpPr>
        <p:spPr>
          <a:xfrm>
            <a:off x="6290235" y="3357220"/>
            <a:ext cx="1487201" cy="813542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cpe|exhibit|fill|22"/>
          <p:cNvSpPr/>
          <p:nvPr/>
        </p:nvSpPr>
        <p:spPr>
          <a:xfrm>
            <a:off x="6290235" y="2176272"/>
            <a:ext cx="1487201" cy="1180948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cpe|exhibit|label|23"/>
          <p:cNvSpPr txBox="1"/>
          <p:nvPr/>
        </p:nvSpPr>
        <p:spPr>
          <a:xfrm>
            <a:off x="6290235" y="1901952"/>
            <a:ext cx="1487201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24</a:t>
            </a:r>
          </a:p>
        </p:txBody>
      </p:sp>
      <p:sp>
        <p:nvSpPr>
          <p:cNvPr id="25" name="cpe|exhibit|text|24"/>
          <p:cNvSpPr txBox="1"/>
          <p:nvPr/>
        </p:nvSpPr>
        <p:spPr>
          <a:xfrm>
            <a:off x="6290235" y="4855464"/>
            <a:ext cx="1487201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Hypermarkets</a:t>
            </a:r>
          </a:p>
        </p:txBody>
      </p:sp>
      <p:sp>
        <p:nvSpPr>
          <p:cNvPr id="26" name="cpe|exhibit|fill|25"/>
          <p:cNvSpPr/>
          <p:nvPr/>
        </p:nvSpPr>
        <p:spPr>
          <a:xfrm>
            <a:off x="7814012" y="4485681"/>
            <a:ext cx="867534" cy="314919"/>
          </a:xfrm>
          <a:prstGeom prst="rect">
            <a:avLst/>
          </a:prstGeom>
          <a:solidFill>
            <a:srgbClr val="1B3A2F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cpe|exhibit|fill|26"/>
          <p:cNvSpPr/>
          <p:nvPr/>
        </p:nvSpPr>
        <p:spPr>
          <a:xfrm>
            <a:off x="7814012" y="4328221"/>
            <a:ext cx="867534" cy="157460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cpe|exhibit|fill|27"/>
          <p:cNvSpPr/>
          <p:nvPr/>
        </p:nvSpPr>
        <p:spPr>
          <a:xfrm>
            <a:off x="7814012" y="4144518"/>
            <a:ext cx="867534" cy="183703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cpe|exhibit|fill|28"/>
          <p:cNvSpPr/>
          <p:nvPr/>
        </p:nvSpPr>
        <p:spPr>
          <a:xfrm>
            <a:off x="7814012" y="2176272"/>
            <a:ext cx="867534" cy="1968246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cpe|exhibit|label|29"/>
          <p:cNvSpPr txBox="1"/>
          <p:nvPr/>
        </p:nvSpPr>
        <p:spPr>
          <a:xfrm>
            <a:off x="7814012" y="1901952"/>
            <a:ext cx="867534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14</a:t>
            </a:r>
          </a:p>
        </p:txBody>
      </p:sp>
      <p:sp>
        <p:nvSpPr>
          <p:cNvPr id="31" name="cpe|exhibit|text|30"/>
          <p:cNvSpPr txBox="1"/>
          <p:nvPr/>
        </p:nvSpPr>
        <p:spPr>
          <a:xfrm>
            <a:off x="7814012" y="4855464"/>
            <a:ext cx="867534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Convenience</a:t>
            </a:r>
          </a:p>
        </p:txBody>
      </p:sp>
      <p:sp>
        <p:nvSpPr>
          <p:cNvPr id="32" name="cpe|exhibit|fill|31"/>
          <p:cNvSpPr/>
          <p:nvPr/>
        </p:nvSpPr>
        <p:spPr>
          <a:xfrm>
            <a:off x="8718121" y="4695627"/>
            <a:ext cx="867534" cy="104973"/>
          </a:xfrm>
          <a:prstGeom prst="rect">
            <a:avLst/>
          </a:prstGeom>
          <a:solidFill>
            <a:srgbClr val="1B3A2F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cpe|exhibit|fill|32"/>
          <p:cNvSpPr/>
          <p:nvPr/>
        </p:nvSpPr>
        <p:spPr>
          <a:xfrm>
            <a:off x="8718121" y="4459437"/>
            <a:ext cx="867534" cy="236190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cpe|exhibit|fill|33"/>
          <p:cNvSpPr/>
          <p:nvPr/>
        </p:nvSpPr>
        <p:spPr>
          <a:xfrm>
            <a:off x="8718121" y="4144518"/>
            <a:ext cx="867534" cy="314919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cpe|exhibit|fill|34"/>
          <p:cNvSpPr/>
          <p:nvPr/>
        </p:nvSpPr>
        <p:spPr>
          <a:xfrm>
            <a:off x="8718121" y="2176272"/>
            <a:ext cx="867534" cy="1968246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cpe|exhibit|label|35"/>
          <p:cNvSpPr txBox="1"/>
          <p:nvPr/>
        </p:nvSpPr>
        <p:spPr>
          <a:xfrm>
            <a:off x="8718121" y="1901952"/>
            <a:ext cx="867534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14</a:t>
            </a:r>
          </a:p>
        </p:txBody>
      </p:sp>
      <p:sp>
        <p:nvSpPr>
          <p:cNvPr id="37" name="cpe|exhibit|text|36"/>
          <p:cNvSpPr txBox="1"/>
          <p:nvPr/>
        </p:nvSpPr>
        <p:spPr>
          <a:xfrm>
            <a:off x="8718121" y="4855464"/>
            <a:ext cx="867534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Online</a:t>
            </a:r>
          </a:p>
        </p:txBody>
      </p:sp>
      <p:sp>
        <p:nvSpPr>
          <p:cNvPr id="38" name="cpe|exhibit|label|37"/>
          <p:cNvSpPr txBox="1"/>
          <p:nvPr/>
        </p:nvSpPr>
        <p:spPr>
          <a:xfrm>
            <a:off x="640080" y="4422496"/>
            <a:ext cx="2354735" cy="2286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B3A2F"/>
                </a:solidFill>
                <a:latin typeface="Calibri"/>
              </a:rPr>
              <a:t>5%</a:t>
            </a:r>
          </a:p>
        </p:txBody>
      </p:sp>
      <p:sp>
        <p:nvSpPr>
          <p:cNvPr id="39" name="cpe|exhibit|label|38"/>
          <p:cNvSpPr txBox="1"/>
          <p:nvPr/>
        </p:nvSpPr>
        <p:spPr>
          <a:xfrm>
            <a:off x="3031391" y="4433194"/>
            <a:ext cx="3222268" cy="3674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14%</a:t>
            </a:r>
          </a:p>
        </p:txBody>
      </p:sp>
      <p:sp>
        <p:nvSpPr>
          <p:cNvPr id="40" name="cpe|exhibit|label|39"/>
          <p:cNvSpPr txBox="1"/>
          <p:nvPr/>
        </p:nvSpPr>
        <p:spPr>
          <a:xfrm>
            <a:off x="6290235" y="4317522"/>
            <a:ext cx="1487201" cy="2286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B3A2F"/>
                </a:solidFill>
                <a:latin typeface="Calibri"/>
              </a:rPr>
              <a:t>9%</a:t>
            </a:r>
          </a:p>
        </p:txBody>
      </p:sp>
      <p:sp>
        <p:nvSpPr>
          <p:cNvPr id="41" name="cpe|exhibit|label|40"/>
          <p:cNvSpPr txBox="1"/>
          <p:nvPr/>
        </p:nvSpPr>
        <p:spPr>
          <a:xfrm>
            <a:off x="7814012" y="4485681"/>
            <a:ext cx="867534" cy="31491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12%</a:t>
            </a:r>
          </a:p>
        </p:txBody>
      </p:sp>
      <p:sp>
        <p:nvSpPr>
          <p:cNvPr id="42" name="cpe|exhibit|label|41"/>
          <p:cNvSpPr txBox="1"/>
          <p:nvPr/>
        </p:nvSpPr>
        <p:spPr>
          <a:xfrm>
            <a:off x="8718121" y="4448739"/>
            <a:ext cx="867534" cy="2286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B3A2F"/>
                </a:solidFill>
                <a:latin typeface="Calibri"/>
              </a:rPr>
              <a:t>4%</a:t>
            </a:r>
          </a:p>
        </p:txBody>
      </p:sp>
      <p:sp>
        <p:nvSpPr>
          <p:cNvPr id="43" name="cpe|exhibit|marker|42"/>
          <p:cNvSpPr/>
          <p:nvPr/>
        </p:nvSpPr>
        <p:spPr>
          <a:xfrm>
            <a:off x="9768535" y="2240280"/>
            <a:ext cx="128016" cy="128016"/>
          </a:xfrm>
          <a:prstGeom prst="rect">
            <a:avLst/>
          </a:prstGeom>
          <a:solidFill>
            <a:srgbClr val="1B3A2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cpe|exhibit|label|43"/>
          <p:cNvSpPr txBox="1"/>
          <p:nvPr/>
        </p:nvSpPr>
        <p:spPr>
          <a:xfrm>
            <a:off x="9969703" y="217627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Alvora</a:t>
            </a:r>
          </a:p>
        </p:txBody>
      </p:sp>
      <p:sp>
        <p:nvSpPr>
          <p:cNvPr id="45" name="cpe|exhibit|marker|44"/>
          <p:cNvSpPr/>
          <p:nvPr/>
        </p:nvSpPr>
        <p:spPr>
          <a:xfrm>
            <a:off x="9768535" y="2532888"/>
            <a:ext cx="128016" cy="128016"/>
          </a:xfrm>
          <a:prstGeom prst="rect">
            <a:avLst/>
          </a:prstGeom>
          <a:solidFill>
            <a:srgbClr val="CECEC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cpe|exhibit|label|45"/>
          <p:cNvSpPr txBox="1"/>
          <p:nvPr/>
        </p:nvSpPr>
        <p:spPr>
          <a:xfrm>
            <a:off x="9969703" y="246888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Other players</a:t>
            </a:r>
          </a:p>
        </p:txBody>
      </p:sp>
      <p:cxnSp>
        <p:nvCxnSpPr>
          <p:cNvPr id="47" name="cpe|commentary|line|46"/>
          <p:cNvCxnSpPr/>
          <p:nvPr/>
        </p:nvCxnSpPr>
        <p:spPr>
          <a:xfrm>
            <a:off x="640080" y="5568696"/>
            <a:ext cx="10911535" cy="0"/>
          </a:xfrm>
          <a:prstGeom prst="line">
            <a:avLst/>
          </a:prstGeom>
          <a:ln w="9525">
            <a:solidFill>
              <a:srgbClr val="B8B8B8"/>
            </a:solidFill>
          </a:ln>
        </p:spPr>
      </p:cxnSp>
      <p:sp>
        <p:nvSpPr>
          <p:cNvPr id="48" name="cpe|commentary|text|47"/>
          <p:cNvSpPr txBox="1"/>
          <p:nvPr/>
        </p:nvSpPr>
        <p:spPr>
          <a:xfrm>
            <a:off x="640080" y="5705856"/>
            <a:ext cx="350306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54% of Alvora sales come from </a:t>
            </a:r>
            <a:r>
              <a:rPr sz="1200" b="1">
                <a:solidFill>
                  <a:srgbClr val="222222"/>
                </a:solidFill>
                <a:latin typeface="Calibri"/>
              </a:rPr>
              <a:t>supermarkets</a:t>
            </a:r>
            <a:r>
              <a:rPr sz="1200" b="0">
                <a:solidFill>
                  <a:srgbClr val="222222"/>
                </a:solidFill>
                <a:latin typeface="Calibri"/>
              </a:rPr>
              <a:t>, a channel growing 2% a year</a:t>
            </a:r>
          </a:p>
        </p:txBody>
      </p:sp>
      <p:sp>
        <p:nvSpPr>
          <p:cNvPr id="49" name="cpe|commentary|text|48"/>
          <p:cNvSpPr txBox="1"/>
          <p:nvPr/>
        </p:nvSpPr>
        <p:spPr>
          <a:xfrm>
            <a:off x="4344314" y="5705856"/>
            <a:ext cx="350306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In </a:t>
            </a:r>
            <a:r>
              <a:rPr sz="1200" b="1">
                <a:solidFill>
                  <a:srgbClr val="222222"/>
                </a:solidFill>
                <a:latin typeface="Calibri"/>
              </a:rPr>
              <a:t>discount</a:t>
            </a:r>
            <a:r>
              <a:rPr sz="1200" b="0">
                <a:solidFill>
                  <a:srgbClr val="222222"/>
                </a:solidFill>
                <a:latin typeface="Calibri"/>
              </a:rPr>
              <a:t>, Competitor A holds 41% with a lower cost-to-serve</a:t>
            </a:r>
          </a:p>
        </p:txBody>
      </p:sp>
      <p:sp>
        <p:nvSpPr>
          <p:cNvPr id="50" name="cpe|commentary|text|49"/>
          <p:cNvSpPr txBox="1"/>
          <p:nvPr/>
        </p:nvSpPr>
        <p:spPr>
          <a:xfrm>
            <a:off x="8048549" y="5705856"/>
            <a:ext cx="350306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2222"/>
                </a:solidFill>
                <a:latin typeface="Calibri"/>
              </a:rPr>
              <a:t>Online</a:t>
            </a:r>
            <a:r>
              <a:rPr sz="1200" b="0">
                <a:solidFill>
                  <a:srgbClr val="222222"/>
                </a:solidFill>
                <a:latin typeface="Calibri"/>
              </a:rPr>
              <a:t> share of 4% trails B and C, whose hub networks are in place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640080" y="274320"/>
            <a:ext cx="7638075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F6F6F"/>
                </a:solidFill>
                <a:latin typeface="Calibri"/>
              </a:rPr>
              <a:t>PROFITABILITY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640080" y="475488"/>
            <a:ext cx="9464040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B3A2F"/>
                </a:solidFill>
                <a:latin typeface="Georgia"/>
              </a:rPr>
              <a:t>Margin erosion in grocery and convenience (€119M) pushed EBITDA down to €857M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640080" y="6272784"/>
            <a:ext cx="853409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F6F6F"/>
                </a:solidFill>
                <a:latin typeface="Calibri"/>
              </a:rPr>
              <a:t>Source: Alvora management accounts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35705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F6F6F"/>
                </a:solidFill>
                <a:latin typeface="Calibri"/>
              </a:rPr>
              <a:t>Illustrative data   6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640080" y="1481328"/>
            <a:ext cx="720730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EBITDA bridge 2024 to 2025</a:t>
            </a:r>
            <a:r>
              <a:rPr sz="1100" b="0">
                <a:solidFill>
                  <a:srgbClr val="222222"/>
                </a:solidFill>
                <a:latin typeface="Calibri"/>
              </a:rPr>
              <a:t>, €M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640080" y="1901952"/>
          <a:ext cx="7207301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pe|exhibit|label|7"/>
          <p:cNvSpPr txBox="1"/>
          <p:nvPr/>
        </p:nvSpPr>
        <p:spPr>
          <a:xfrm>
            <a:off x="640080" y="3580376"/>
            <a:ext cx="80081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924</a:t>
            </a:r>
          </a:p>
        </p:txBody>
      </p:sp>
      <p:sp>
        <p:nvSpPr>
          <p:cNvPr id="9" name="cpe|exhibit|label|8"/>
          <p:cNvSpPr txBox="1"/>
          <p:nvPr/>
        </p:nvSpPr>
        <p:spPr>
          <a:xfrm>
            <a:off x="1440891" y="2998463"/>
            <a:ext cx="80081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+52</a:t>
            </a:r>
          </a:p>
        </p:txBody>
      </p:sp>
      <p:sp>
        <p:nvSpPr>
          <p:cNvPr id="10" name="cpe|exhibit|label|9"/>
          <p:cNvSpPr txBox="1"/>
          <p:nvPr/>
        </p:nvSpPr>
        <p:spPr>
          <a:xfrm>
            <a:off x="2241702" y="2651553"/>
            <a:ext cx="80081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+31</a:t>
            </a:r>
          </a:p>
        </p:txBody>
      </p:sp>
      <p:sp>
        <p:nvSpPr>
          <p:cNvPr id="11" name="cpe|exhibit|label|10"/>
          <p:cNvSpPr txBox="1"/>
          <p:nvPr/>
        </p:nvSpPr>
        <p:spPr>
          <a:xfrm>
            <a:off x="3042514" y="2651553"/>
            <a:ext cx="80081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−78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3843325" y="3524423"/>
            <a:ext cx="80081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−41</a:t>
            </a:r>
          </a:p>
        </p:txBody>
      </p:sp>
      <p:sp>
        <p:nvSpPr>
          <p:cNvPr id="13" name="cpe|exhibit|label|12"/>
          <p:cNvSpPr txBox="1"/>
          <p:nvPr/>
        </p:nvSpPr>
        <p:spPr>
          <a:xfrm>
            <a:off x="4644136" y="3983239"/>
            <a:ext cx="80081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−22</a:t>
            </a:r>
          </a:p>
        </p:txBody>
      </p:sp>
      <p:sp>
        <p:nvSpPr>
          <p:cNvPr id="14" name="cpe|exhibit|label|13"/>
          <p:cNvSpPr txBox="1"/>
          <p:nvPr/>
        </p:nvSpPr>
        <p:spPr>
          <a:xfrm>
            <a:off x="5444947" y="4229433"/>
            <a:ext cx="80081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−14</a:t>
            </a:r>
          </a:p>
        </p:txBody>
      </p:sp>
      <p:sp>
        <p:nvSpPr>
          <p:cNvPr id="15" name="cpe|exhibit|label|14"/>
          <p:cNvSpPr txBox="1"/>
          <p:nvPr/>
        </p:nvSpPr>
        <p:spPr>
          <a:xfrm>
            <a:off x="6245758" y="4330149"/>
            <a:ext cx="80081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+5</a:t>
            </a:r>
          </a:p>
        </p:txBody>
      </p:sp>
      <p:sp>
        <p:nvSpPr>
          <p:cNvPr id="16" name="cpe|exhibit|label|15"/>
          <p:cNvSpPr txBox="1"/>
          <p:nvPr/>
        </p:nvSpPr>
        <p:spPr>
          <a:xfrm>
            <a:off x="7046570" y="4330149"/>
            <a:ext cx="80081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857</a:t>
            </a:r>
          </a:p>
        </p:txBody>
      </p:sp>
      <p:cxnSp>
        <p:nvCxnSpPr>
          <p:cNvPr id="17" name="cpe|exhibit|connector|16"/>
          <p:cNvCxnSpPr/>
          <p:nvPr/>
        </p:nvCxnSpPr>
        <p:spPr>
          <a:xfrm>
            <a:off x="1316627" y="3845552"/>
            <a:ext cx="248528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cxnSp>
        <p:nvCxnSpPr>
          <p:cNvPr id="18" name="cpe|exhibit|connector|17"/>
          <p:cNvCxnSpPr/>
          <p:nvPr/>
        </p:nvCxnSpPr>
        <p:spPr>
          <a:xfrm>
            <a:off x="2117439" y="3263639"/>
            <a:ext cx="248527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cxnSp>
        <p:nvCxnSpPr>
          <p:cNvPr id="19" name="cpe|exhibit|connector|18"/>
          <p:cNvCxnSpPr/>
          <p:nvPr/>
        </p:nvCxnSpPr>
        <p:spPr>
          <a:xfrm>
            <a:off x="2918250" y="2916729"/>
            <a:ext cx="248527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cxnSp>
        <p:nvCxnSpPr>
          <p:cNvPr id="20" name="cpe|exhibit|connector|19"/>
          <p:cNvCxnSpPr/>
          <p:nvPr/>
        </p:nvCxnSpPr>
        <p:spPr>
          <a:xfrm>
            <a:off x="3719061" y="3789599"/>
            <a:ext cx="248528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cxnSp>
        <p:nvCxnSpPr>
          <p:cNvPr id="21" name="cpe|exhibit|connector|20"/>
          <p:cNvCxnSpPr/>
          <p:nvPr/>
        </p:nvCxnSpPr>
        <p:spPr>
          <a:xfrm>
            <a:off x="4519872" y="4248415"/>
            <a:ext cx="248528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cxnSp>
        <p:nvCxnSpPr>
          <p:cNvPr id="22" name="cpe|exhibit|connector|21"/>
          <p:cNvCxnSpPr/>
          <p:nvPr/>
        </p:nvCxnSpPr>
        <p:spPr>
          <a:xfrm>
            <a:off x="5320683" y="4494609"/>
            <a:ext cx="248528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cxnSp>
        <p:nvCxnSpPr>
          <p:cNvPr id="23" name="cpe|exhibit|connector|22"/>
          <p:cNvCxnSpPr/>
          <p:nvPr/>
        </p:nvCxnSpPr>
        <p:spPr>
          <a:xfrm>
            <a:off x="6121495" y="4651278"/>
            <a:ext cx="248527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cxnSp>
        <p:nvCxnSpPr>
          <p:cNvPr id="24" name="cpe|exhibit|connector|23"/>
          <p:cNvCxnSpPr/>
          <p:nvPr/>
        </p:nvCxnSpPr>
        <p:spPr>
          <a:xfrm>
            <a:off x="6922306" y="4595325"/>
            <a:ext cx="248527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sp>
        <p:nvSpPr>
          <p:cNvPr id="25" name="cpe|exhibit|marker|24"/>
          <p:cNvSpPr/>
          <p:nvPr/>
        </p:nvSpPr>
        <p:spPr>
          <a:xfrm>
            <a:off x="709480" y="5447191"/>
            <a:ext cx="662012" cy="82296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exhibit|marker|25"/>
          <p:cNvSpPr/>
          <p:nvPr/>
        </p:nvSpPr>
        <p:spPr>
          <a:xfrm>
            <a:off x="7115969" y="5447191"/>
            <a:ext cx="662012" cy="82296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27" name="cpe|commentary|line|26"/>
          <p:cNvCxnSpPr/>
          <p:nvPr/>
        </p:nvCxnSpPr>
        <p:spPr>
          <a:xfrm>
            <a:off x="8048549" y="1481328"/>
            <a:ext cx="0" cy="4718304"/>
          </a:xfrm>
          <a:prstGeom prst="line">
            <a:avLst/>
          </a:prstGeom>
          <a:ln w="9525">
            <a:solidFill>
              <a:srgbClr val="B8B8B8"/>
            </a:solidFill>
          </a:ln>
        </p:spPr>
      </p:cxnSp>
      <p:sp>
        <p:nvSpPr>
          <p:cNvPr id="28" name="cpe|commentary|text|27"/>
          <p:cNvSpPr txBox="1"/>
          <p:nvPr/>
        </p:nvSpPr>
        <p:spPr>
          <a:xfrm>
            <a:off x="8277149" y="1481328"/>
            <a:ext cx="3274466" cy="196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B3A2F"/>
                </a:solidFill>
                <a:latin typeface="Calibri"/>
              </a:rPr>
              <a:t>Two categories explain the decline</a:t>
            </a:r>
          </a:p>
        </p:txBody>
      </p:sp>
      <p:sp>
        <p:nvSpPr>
          <p:cNvPr id="29" name="cpe|commentary|text|28"/>
          <p:cNvSpPr txBox="1"/>
          <p:nvPr/>
        </p:nvSpPr>
        <p:spPr>
          <a:xfrm>
            <a:off x="8277149" y="1796796"/>
            <a:ext cx="3274466" cy="44028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222222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222222"/>
                </a:solidFill>
                <a:latin typeface="Calibri"/>
              </a:rPr>
              <a:t>Grocery (−€78M):</a:t>
            </a:r>
            <a:r>
              <a:rPr sz="1200" b="0">
                <a:solidFill>
                  <a:srgbClr val="222222"/>
                </a:solidFill>
                <a:latin typeface="Calibri"/>
              </a:rPr>
              <a:t> promo intensity up 3pp to match discounters</a:t>
            </a:r>
          </a:p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222222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222222"/>
                </a:solidFill>
                <a:latin typeface="Calibri"/>
              </a:rPr>
              <a:t>Convenience (−€41M):</a:t>
            </a:r>
            <a:r>
              <a:rPr sz="1200" b="0">
                <a:solidFill>
                  <a:srgbClr val="222222"/>
                </a:solidFill>
                <a:latin typeface="Calibri"/>
              </a:rPr>
              <a:t> food-to-go waste doubled after the range extension</a:t>
            </a:r>
          </a:p>
          <a:p>
            <a:pPr algn="l" marL="155448" indent="-155448">
              <a:lnSpc>
                <a:spcPct val="108000"/>
              </a:lnSpc>
              <a:buClr>
                <a:srgbClr val="222222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222222"/>
                </a:solidFill>
                <a:latin typeface="Calibri"/>
              </a:rPr>
              <a:t>Volume and price added €83M, not enough to offset cost inflation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640080" y="274320"/>
            <a:ext cx="7638075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F6F6F"/>
                </a:solidFill>
                <a:latin typeface="Calibri"/>
              </a:rPr>
              <a:t>PROFITABILITY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640080" y="475488"/>
            <a:ext cx="9464040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B3A2F"/>
                </a:solidFill>
                <a:latin typeface="Georgia"/>
              </a:rPr>
              <a:t>The erosion concentrates in fresh and food-to-go, above all in Madrid and Catalonia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640080" y="6272784"/>
            <a:ext cx="853409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F6F6F"/>
                </a:solidFill>
                <a:latin typeface="Calibri"/>
              </a:rPr>
              <a:t>Source: Alvora category P&amp;L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35705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F6F6F"/>
                </a:solidFill>
                <a:latin typeface="Calibri"/>
              </a:rPr>
              <a:t>Illustrative data   7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640080" y="1481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Gross margin change by category and region, 2025 vs 2024</a:t>
            </a:r>
            <a:r>
              <a:rPr sz="1100" b="0">
                <a:solidFill>
                  <a:srgbClr val="222222"/>
                </a:solidFill>
                <a:latin typeface="Calibri"/>
              </a:rPr>
              <a:t>, pp</a:t>
            </a:r>
          </a:p>
        </p:txBody>
      </p:sp>
      <p:graphicFrame>
        <p:nvGraphicFramePr>
          <p:cNvPr id="7" name="cpe|exhibit|table|6"/>
          <p:cNvGraphicFramePr>
            <a:graphicFrameLocks noGrp="1"/>
          </p:cNvGraphicFramePr>
          <p:nvPr/>
        </p:nvGraphicFramePr>
        <p:xfrm>
          <a:off x="640080" y="1901952"/>
          <a:ext cx="10911534" cy="3201543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77440"/>
                <a:gridCol w="1422349"/>
                <a:gridCol w="1422349"/>
                <a:gridCol w="1422349"/>
                <a:gridCol w="1422349"/>
                <a:gridCol w="1422349"/>
                <a:gridCol w="1422349"/>
              </a:tblGrid>
              <a:tr h="300609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B3A2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Madrid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B3A2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Catalonia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B3A2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Andalusia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B3A2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Valencia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B3A2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North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B3A2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Portugal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B3A2F"/>
                      </a:solidFill>
                      <a:prstDash val="solid"/>
                    </a:lnB>
                    <a:noFill/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Fresh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−2.9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A55B4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−2.6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9D67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−1.1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1C3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−1.0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3C7C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−0.6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AD9D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−0.4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DE2E1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Food-to-go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−3.4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A640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−3.1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AF53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−1.4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DCB6B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−1.2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DFBFB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−0.9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5CC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−0.7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8D5D2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Ambient grocery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−0.8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6D0C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−0.7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8D5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−0.5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BD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−0.4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DE2E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−0.3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FE7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F1EBEA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Drinks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−0.3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FE7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F1EB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0.1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FF1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BEE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0.1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FF1F0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Household &amp; personal care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BEE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0.1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FF1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0.3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6EA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BEE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0.4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1E7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0.3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6EAE8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B3A2F"/>
                      </a:solidFill>
                      <a:prstDash val="solid"/>
                    </a:lnT>
                    <a:lnB w="9525" cap="flat">
                      <a:solidFill>
                        <a:srgbClr val="B8B8B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−1.6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B3A2F"/>
                      </a:solidFill>
                      <a:prstDash val="solid"/>
                    </a:lnT>
                    <a:lnB w="9525" cap="flat">
                      <a:solidFill>
                        <a:srgbClr val="B8B8B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−1.4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B3A2F"/>
                      </a:solidFill>
                      <a:prstDash val="solid"/>
                    </a:lnT>
                    <a:lnB w="9525" cap="flat">
                      <a:solidFill>
                        <a:srgbClr val="B8B8B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−0.6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B3A2F"/>
                      </a:solidFill>
                      <a:prstDash val="solid"/>
                    </a:lnT>
                    <a:lnB w="9525" cap="flat">
                      <a:solidFill>
                        <a:srgbClr val="B8B8B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−0.5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B3A2F"/>
                      </a:solidFill>
                      <a:prstDash val="solid"/>
                    </a:lnT>
                    <a:lnB w="9525" cap="flat">
                      <a:solidFill>
                        <a:srgbClr val="B8B8B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−0.3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B3A2F"/>
                      </a:solidFill>
                      <a:prstDash val="solid"/>
                    </a:lnT>
                    <a:lnB w="9525" cap="flat">
                      <a:solidFill>
                        <a:srgbClr val="B8B8B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−0.2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B3A2F"/>
                      </a:solidFill>
                      <a:prstDash val="solid"/>
                    </a:lnT>
                    <a:lnB w="9525" cap="flat">
                      <a:solidFill>
                        <a:srgbClr val="B8B8B8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cpe|takeaway|fill|7"/>
          <p:cNvSpPr/>
          <p:nvPr/>
        </p:nvSpPr>
        <p:spPr>
          <a:xfrm>
            <a:off x="640080" y="5632704"/>
            <a:ext cx="10911535" cy="5669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takeaway|fill|8"/>
          <p:cNvSpPr/>
          <p:nvPr/>
        </p:nvSpPr>
        <p:spPr>
          <a:xfrm>
            <a:off x="640080" y="5632704"/>
            <a:ext cx="64008" cy="566928"/>
          </a:xfrm>
          <a:prstGeom prst="rect">
            <a:avLst/>
          </a:prstGeom>
          <a:solidFill>
            <a:srgbClr val="C8A24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takeaway|text|9"/>
          <p:cNvSpPr txBox="1"/>
          <p:nvPr/>
        </p:nvSpPr>
        <p:spPr>
          <a:xfrm>
            <a:off x="932688" y="5632704"/>
            <a:ext cx="10390327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B3A2F"/>
                </a:solidFill>
                <a:latin typeface="Calibri"/>
              </a:rPr>
              <a:t>Fixing fresh and food-to-go in two regions addresses about two thirds of the margin gap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640080" y="274320"/>
            <a:ext cx="7638075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F6F6F"/>
                </a:solidFill>
                <a:latin typeface="Calibri"/>
              </a:rPr>
              <a:t>COMPETITION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640080" y="475488"/>
            <a:ext cx="9464040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B3A2F"/>
                </a:solidFill>
                <a:latin typeface="Georgia"/>
              </a:rPr>
              <a:t>Alvora is stuck in the middle: priced above discounters without a clear experience edge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640080" y="6272784"/>
            <a:ext cx="853409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F6F6F"/>
                </a:solidFill>
                <a:latin typeface="Calibri"/>
              </a:rPr>
              <a:t>Source: Customer survey 2025, n=4,000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35705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F6F6F"/>
                </a:solidFill>
                <a:latin typeface="Calibri"/>
              </a:rPr>
              <a:t>Illustrative data   8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640080" y="1481328"/>
            <a:ext cx="628124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Customer perception, 2025</a:t>
            </a:r>
            <a:r>
              <a:rPr sz="1100" b="0">
                <a:solidFill>
                  <a:srgbClr val="222222"/>
                </a:solidFill>
                <a:latin typeface="Calibri"/>
              </a:rPr>
              <a:t>, index 0-1; bubble = revenue</a:t>
            </a:r>
          </a:p>
        </p:txBody>
      </p:sp>
      <p:sp>
        <p:nvSpPr>
          <p:cNvPr id="7" name="cpe|exhibit|fill|6"/>
          <p:cNvSpPr/>
          <p:nvPr/>
        </p:nvSpPr>
        <p:spPr>
          <a:xfrm>
            <a:off x="777240" y="2267712"/>
            <a:ext cx="3026321" cy="1773936"/>
          </a:xfrm>
          <a:prstGeom prst="rect">
            <a:avLst/>
          </a:prstGeom>
          <a:noFill/>
          <a:ln w="6350">
            <a:solidFill>
              <a:srgbClr val="B8B8B8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cpe|exhibit|fill|7"/>
          <p:cNvSpPr/>
          <p:nvPr/>
        </p:nvSpPr>
        <p:spPr>
          <a:xfrm>
            <a:off x="3803561" y="2267712"/>
            <a:ext cx="3026321" cy="1773936"/>
          </a:xfrm>
          <a:prstGeom prst="rect">
            <a:avLst/>
          </a:prstGeom>
          <a:noFill/>
          <a:ln w="6350">
            <a:solidFill>
              <a:srgbClr val="B8B8B8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fill|8"/>
          <p:cNvSpPr/>
          <p:nvPr/>
        </p:nvSpPr>
        <p:spPr>
          <a:xfrm>
            <a:off x="777240" y="4041648"/>
            <a:ext cx="3026321" cy="1773936"/>
          </a:xfrm>
          <a:prstGeom prst="rect">
            <a:avLst/>
          </a:prstGeom>
          <a:solidFill>
            <a:srgbClr val="F0F0F0"/>
          </a:solidFill>
          <a:ln w="6350">
            <a:solidFill>
              <a:srgbClr val="B8B8B8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exhibit|fill|9"/>
          <p:cNvSpPr/>
          <p:nvPr/>
        </p:nvSpPr>
        <p:spPr>
          <a:xfrm>
            <a:off x="3803561" y="4041648"/>
            <a:ext cx="3026321" cy="1773936"/>
          </a:xfrm>
          <a:prstGeom prst="rect">
            <a:avLst/>
          </a:prstGeom>
          <a:noFill/>
          <a:ln w="6350">
            <a:solidFill>
              <a:srgbClr val="B8B8B8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text|10"/>
          <p:cNvSpPr txBox="1"/>
          <p:nvPr/>
        </p:nvSpPr>
        <p:spPr>
          <a:xfrm>
            <a:off x="868680" y="2340864"/>
            <a:ext cx="2843441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F6F6F"/>
                </a:solidFill>
                <a:latin typeface="Calibri"/>
              </a:rPr>
              <a:t>Experience-led</a:t>
            </a:r>
          </a:p>
        </p:txBody>
      </p:sp>
      <p:sp>
        <p:nvSpPr>
          <p:cNvPr id="12" name="cpe|exhibit|text|11"/>
          <p:cNvSpPr txBox="1"/>
          <p:nvPr/>
        </p:nvSpPr>
        <p:spPr>
          <a:xfrm>
            <a:off x="3895001" y="2340864"/>
            <a:ext cx="2843441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6F6F6F"/>
                </a:solidFill>
                <a:latin typeface="Calibri"/>
              </a:rPr>
              <a:t>Value leaders</a:t>
            </a:r>
          </a:p>
        </p:txBody>
      </p:sp>
      <p:sp>
        <p:nvSpPr>
          <p:cNvPr id="13" name="cpe|exhibit|text|12"/>
          <p:cNvSpPr txBox="1"/>
          <p:nvPr/>
        </p:nvSpPr>
        <p:spPr>
          <a:xfrm>
            <a:off x="868680" y="5504688"/>
            <a:ext cx="2843441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B3A2F"/>
                </a:solidFill>
                <a:latin typeface="Calibri"/>
              </a:rPr>
              <a:t>Stuck in the middle</a:t>
            </a:r>
          </a:p>
        </p:txBody>
      </p:sp>
      <p:sp>
        <p:nvSpPr>
          <p:cNvPr id="14" name="cpe|exhibit|text|13"/>
          <p:cNvSpPr txBox="1"/>
          <p:nvPr/>
        </p:nvSpPr>
        <p:spPr>
          <a:xfrm>
            <a:off x="3895001" y="5504688"/>
            <a:ext cx="2843441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6F6F6F"/>
                </a:solidFill>
                <a:latin typeface="Calibri"/>
              </a:rPr>
              <a:t>Price-led</a:t>
            </a:r>
          </a:p>
        </p:txBody>
      </p:sp>
      <p:cxnSp>
        <p:nvCxnSpPr>
          <p:cNvPr id="15" name="cpe|exhibit|line|14"/>
          <p:cNvCxnSpPr/>
          <p:nvPr/>
        </p:nvCxnSpPr>
        <p:spPr>
          <a:xfrm>
            <a:off x="777240" y="5815584"/>
            <a:ext cx="6098362" cy="0"/>
          </a:xfrm>
          <a:prstGeom prst="line">
            <a:avLst/>
          </a:prstGeom>
          <a:ln w="9525">
            <a:solidFill>
              <a:srgbClr val="222222"/>
            </a:solidFill>
            <a:tailEnd type="triangle" w="med" len="med"/>
          </a:ln>
        </p:spPr>
      </p:cxnSp>
      <p:cxnSp>
        <p:nvCxnSpPr>
          <p:cNvPr id="16" name="cpe|exhibit|line|15"/>
          <p:cNvCxnSpPr/>
          <p:nvPr/>
        </p:nvCxnSpPr>
        <p:spPr>
          <a:xfrm flipV="1">
            <a:off x="777240" y="2221992"/>
            <a:ext cx="0" cy="3593592"/>
          </a:xfrm>
          <a:prstGeom prst="line">
            <a:avLst/>
          </a:prstGeom>
          <a:ln w="9525">
            <a:solidFill>
              <a:srgbClr val="222222"/>
            </a:solidFill>
            <a:tailEnd type="triangle" w="med" len="med"/>
          </a:ln>
        </p:spPr>
      </p:cxnSp>
      <p:sp>
        <p:nvSpPr>
          <p:cNvPr id="17" name="cpe|exhibit|text|16"/>
          <p:cNvSpPr txBox="1"/>
          <p:nvPr/>
        </p:nvSpPr>
        <p:spPr>
          <a:xfrm>
            <a:off x="777240" y="5870448"/>
            <a:ext cx="605264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Price perception (cheaper →)</a:t>
            </a:r>
          </a:p>
        </p:txBody>
      </p:sp>
      <p:sp>
        <p:nvSpPr>
          <p:cNvPr id="18" name="cpe|exhibit|label|17"/>
          <p:cNvSpPr txBox="1"/>
          <p:nvPr/>
        </p:nvSpPr>
        <p:spPr>
          <a:xfrm>
            <a:off x="731520" y="1938528"/>
            <a:ext cx="1141869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↑ Store experience</a:t>
            </a:r>
          </a:p>
        </p:txBody>
      </p:sp>
      <p:sp>
        <p:nvSpPr>
          <p:cNvPr id="19" name="cpe|exhibit|marker|18"/>
          <p:cNvSpPr/>
          <p:nvPr/>
        </p:nvSpPr>
        <p:spPr>
          <a:xfrm>
            <a:off x="4003943" y="3296595"/>
            <a:ext cx="567660" cy="567660"/>
          </a:xfrm>
          <a:prstGeom prst="ellipse">
            <a:avLst/>
          </a:prstGeom>
          <a:solidFill>
            <a:srgbClr val="1B3A2F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cpe|exhibit|label|19"/>
          <p:cNvSpPr txBox="1"/>
          <p:nvPr/>
        </p:nvSpPr>
        <p:spPr>
          <a:xfrm>
            <a:off x="4608178" y="3470697"/>
            <a:ext cx="75966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222222"/>
                </a:solidFill>
                <a:latin typeface="Calibri"/>
              </a:rPr>
              <a:t>Competitor B</a:t>
            </a:r>
          </a:p>
        </p:txBody>
      </p:sp>
      <p:sp>
        <p:nvSpPr>
          <p:cNvPr id="21" name="cpe|exhibit|marker|20"/>
          <p:cNvSpPr/>
          <p:nvPr/>
        </p:nvSpPr>
        <p:spPr>
          <a:xfrm>
            <a:off x="5713331" y="4340127"/>
            <a:ext cx="538362" cy="538362"/>
          </a:xfrm>
          <a:prstGeom prst="ellipse">
            <a:avLst/>
          </a:prstGeom>
          <a:solidFill>
            <a:srgbClr val="1B3A2F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cpe|exhibit|label|21"/>
          <p:cNvSpPr txBox="1"/>
          <p:nvPr/>
        </p:nvSpPr>
        <p:spPr>
          <a:xfrm>
            <a:off x="4912684" y="4499580"/>
            <a:ext cx="764072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222222"/>
                </a:solidFill>
                <a:latin typeface="Calibri"/>
              </a:rPr>
              <a:t>Competitor A</a:t>
            </a:r>
          </a:p>
        </p:txBody>
      </p:sp>
      <p:sp>
        <p:nvSpPr>
          <p:cNvPr id="23" name="cpe|exhibit|marker|22"/>
          <p:cNvSpPr/>
          <p:nvPr/>
        </p:nvSpPr>
        <p:spPr>
          <a:xfrm>
            <a:off x="2331484" y="2928610"/>
            <a:ext cx="523098" cy="523098"/>
          </a:xfrm>
          <a:prstGeom prst="ellipse">
            <a:avLst/>
          </a:prstGeom>
          <a:solidFill>
            <a:srgbClr val="1B3A2F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cpe|exhibit|label|23"/>
          <p:cNvSpPr txBox="1"/>
          <p:nvPr/>
        </p:nvSpPr>
        <p:spPr>
          <a:xfrm>
            <a:off x="2891158" y="3080431"/>
            <a:ext cx="758317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222222"/>
                </a:solidFill>
                <a:latin typeface="Calibri"/>
              </a:rPr>
              <a:t>Competitor C</a:t>
            </a:r>
          </a:p>
        </p:txBody>
      </p:sp>
      <p:sp>
        <p:nvSpPr>
          <p:cNvPr id="25" name="cpe|exhibit|marker|24"/>
          <p:cNvSpPr/>
          <p:nvPr/>
        </p:nvSpPr>
        <p:spPr>
          <a:xfrm>
            <a:off x="2950896" y="4007120"/>
            <a:ext cx="494801" cy="494801"/>
          </a:xfrm>
          <a:prstGeom prst="ellipse">
            <a:avLst/>
          </a:prstGeom>
          <a:solidFill>
            <a:srgbClr val="C8A24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exhibit|label|25"/>
          <p:cNvSpPr txBox="1"/>
          <p:nvPr/>
        </p:nvSpPr>
        <p:spPr>
          <a:xfrm>
            <a:off x="3482274" y="4144792"/>
            <a:ext cx="401467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2222"/>
                </a:solidFill>
                <a:latin typeface="Calibri"/>
              </a:rPr>
              <a:t>Alvora</a:t>
            </a:r>
          </a:p>
        </p:txBody>
      </p:sp>
      <p:sp>
        <p:nvSpPr>
          <p:cNvPr id="27" name="cpe|exhibit|marker|26"/>
          <p:cNvSpPr/>
          <p:nvPr/>
        </p:nvSpPr>
        <p:spPr>
          <a:xfrm>
            <a:off x="4607658" y="2742003"/>
            <a:ext cx="328653" cy="328653"/>
          </a:xfrm>
          <a:prstGeom prst="ellipse">
            <a:avLst/>
          </a:prstGeom>
          <a:solidFill>
            <a:srgbClr val="1B3A2F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cpe|exhibit|label|27"/>
          <p:cNvSpPr txBox="1"/>
          <p:nvPr/>
        </p:nvSpPr>
        <p:spPr>
          <a:xfrm>
            <a:off x="4972886" y="2796601"/>
            <a:ext cx="108431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222222"/>
                </a:solidFill>
                <a:latin typeface="Calibri"/>
              </a:rPr>
              <a:t>Online pure-players</a:t>
            </a:r>
          </a:p>
        </p:txBody>
      </p:sp>
      <p:cxnSp>
        <p:nvCxnSpPr>
          <p:cNvPr id="29" name="cpe|commentary|line|28"/>
          <p:cNvCxnSpPr/>
          <p:nvPr/>
        </p:nvCxnSpPr>
        <p:spPr>
          <a:xfrm>
            <a:off x="7122490" y="1481328"/>
            <a:ext cx="0" cy="4718304"/>
          </a:xfrm>
          <a:prstGeom prst="line">
            <a:avLst/>
          </a:prstGeom>
          <a:ln w="9525">
            <a:solidFill>
              <a:srgbClr val="B8B8B8"/>
            </a:solidFill>
          </a:ln>
        </p:spPr>
      </p:cxnSp>
      <p:sp>
        <p:nvSpPr>
          <p:cNvPr id="30" name="cpe|commentary|text|29"/>
          <p:cNvSpPr txBox="1"/>
          <p:nvPr/>
        </p:nvSpPr>
        <p:spPr>
          <a:xfrm>
            <a:off x="7351090" y="1481328"/>
            <a:ext cx="4200525" cy="4718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222222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222222"/>
                </a:solidFill>
                <a:latin typeface="Calibri"/>
              </a:rPr>
              <a:t>Alvora's prices sit </a:t>
            </a:r>
            <a:r>
              <a:rPr sz="1200" b="1">
                <a:solidFill>
                  <a:srgbClr val="222222"/>
                </a:solidFill>
                <a:latin typeface="Calibri"/>
              </a:rPr>
              <a:t>8% above</a:t>
            </a:r>
            <a:r>
              <a:rPr sz="1200" b="0">
                <a:solidFill>
                  <a:srgbClr val="222222"/>
                </a:solidFill>
                <a:latin typeface="Calibri"/>
              </a:rPr>
              <a:t> Competitor A on a comparable basket</a:t>
            </a:r>
          </a:p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222222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222222"/>
                </a:solidFill>
                <a:latin typeface="Calibri"/>
              </a:rPr>
              <a:t>Its experience score trails B and C on freshness and queues</a:t>
            </a:r>
          </a:p>
          <a:p>
            <a:pPr algn="l" marL="155448" indent="-155448">
              <a:lnSpc>
                <a:spcPct val="108000"/>
              </a:lnSpc>
              <a:buClr>
                <a:srgbClr val="222222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222222"/>
                </a:solidFill>
                <a:latin typeface="Calibri"/>
              </a:rPr>
              <a:t>Winning back price perception needs a separate low-cost format, not deeper promotions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640080" y="274320"/>
            <a:ext cx="7638075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F6F6F"/>
                </a:solidFill>
                <a:latin typeface="Calibri"/>
              </a:rPr>
              <a:t>OPERATING MODEL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640080" y="475488"/>
            <a:ext cx="9464040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B3A2F"/>
                </a:solidFill>
                <a:latin typeface="Georgia"/>
              </a:rPr>
              <a:t>The target model adds a discount banner and central pricing to fund the growth moves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640080" y="6272784"/>
            <a:ext cx="853409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F6F6F"/>
                </a:solidFill>
                <a:latin typeface="Calibri"/>
              </a:rPr>
              <a:t>Source: Team analysis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35705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F6F6F"/>
                </a:solidFill>
                <a:latin typeface="Calibri"/>
              </a:rPr>
              <a:t>Illustrative data   9</a:t>
            </a:r>
          </a:p>
        </p:txBody>
      </p:sp>
      <p:sp>
        <p:nvSpPr>
          <p:cNvPr id="6" name="cpe|exhibit|fill|5"/>
          <p:cNvSpPr/>
          <p:nvPr/>
        </p:nvSpPr>
        <p:spPr>
          <a:xfrm>
            <a:off x="640080" y="1481328"/>
            <a:ext cx="2103120" cy="902970"/>
          </a:xfrm>
          <a:prstGeom prst="rect">
            <a:avLst/>
          </a:prstGeom>
          <a:solidFill>
            <a:srgbClr val="1B3A2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cpe|exhibit|text|6"/>
          <p:cNvSpPr txBox="1"/>
          <p:nvPr/>
        </p:nvSpPr>
        <p:spPr>
          <a:xfrm>
            <a:off x="731520" y="1481328"/>
            <a:ext cx="1920240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Propositions</a:t>
            </a:r>
          </a:p>
        </p:txBody>
      </p:sp>
      <p:sp>
        <p:nvSpPr>
          <p:cNvPr id="8" name="cpe|exhibit|fill|7"/>
          <p:cNvSpPr/>
          <p:nvPr/>
        </p:nvSpPr>
        <p:spPr>
          <a:xfrm>
            <a:off x="2834640" y="1481328"/>
            <a:ext cx="1964360" cy="902970"/>
          </a:xfrm>
          <a:prstGeom prst="rect">
            <a:avLst/>
          </a:prstGeom>
          <a:solidFill>
            <a:srgbClr val="C8A24A"/>
          </a:solidFill>
          <a:ln w="19050">
            <a:solidFill>
              <a:srgbClr val="C8A24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text|8"/>
          <p:cNvSpPr txBox="1"/>
          <p:nvPr/>
        </p:nvSpPr>
        <p:spPr>
          <a:xfrm>
            <a:off x="2889504" y="1481328"/>
            <a:ext cx="185463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Discount banner</a:t>
            </a:r>
          </a:p>
        </p:txBody>
      </p:sp>
      <p:sp>
        <p:nvSpPr>
          <p:cNvPr id="10" name="cpe|exhibit|fill|9"/>
          <p:cNvSpPr/>
          <p:nvPr/>
        </p:nvSpPr>
        <p:spPr>
          <a:xfrm>
            <a:off x="4872152" y="1481328"/>
            <a:ext cx="1964360" cy="90297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text|10"/>
          <p:cNvSpPr txBox="1"/>
          <p:nvPr/>
        </p:nvSpPr>
        <p:spPr>
          <a:xfrm>
            <a:off x="4927016" y="1481328"/>
            <a:ext cx="185463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Supermarkets</a:t>
            </a:r>
          </a:p>
        </p:txBody>
      </p:sp>
      <p:sp>
        <p:nvSpPr>
          <p:cNvPr id="12" name="cpe|exhibit|fill|11"/>
          <p:cNvSpPr/>
          <p:nvPr/>
        </p:nvSpPr>
        <p:spPr>
          <a:xfrm>
            <a:off x="6909664" y="1481328"/>
            <a:ext cx="1964360" cy="90297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cpe|exhibit|text|12"/>
          <p:cNvSpPr txBox="1"/>
          <p:nvPr/>
        </p:nvSpPr>
        <p:spPr>
          <a:xfrm>
            <a:off x="6964528" y="1481328"/>
            <a:ext cx="185463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Convenience</a:t>
            </a:r>
          </a:p>
        </p:txBody>
      </p:sp>
      <p:sp>
        <p:nvSpPr>
          <p:cNvPr id="14" name="cpe|exhibit|fill|13"/>
          <p:cNvSpPr/>
          <p:nvPr/>
        </p:nvSpPr>
        <p:spPr>
          <a:xfrm>
            <a:off x="8947175" y="1481328"/>
            <a:ext cx="1964360" cy="902970"/>
          </a:xfrm>
          <a:prstGeom prst="rect">
            <a:avLst/>
          </a:prstGeom>
          <a:solidFill>
            <a:srgbClr val="F0F0F0"/>
          </a:solidFill>
          <a:ln w="19050">
            <a:solidFill>
              <a:srgbClr val="C8A24A"/>
            </a:solidFill>
            <a:prstDash val="dash"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cpe|exhibit|text|14"/>
          <p:cNvSpPr txBox="1"/>
          <p:nvPr/>
        </p:nvSpPr>
        <p:spPr>
          <a:xfrm>
            <a:off x="9002039" y="1481328"/>
            <a:ext cx="185463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Online</a:t>
            </a:r>
          </a:p>
        </p:txBody>
      </p:sp>
      <p:sp>
        <p:nvSpPr>
          <p:cNvPr id="16" name="cpe|exhibit|fill|15"/>
          <p:cNvSpPr/>
          <p:nvPr/>
        </p:nvSpPr>
        <p:spPr>
          <a:xfrm>
            <a:off x="640080" y="2475738"/>
            <a:ext cx="2103120" cy="902970"/>
          </a:xfrm>
          <a:prstGeom prst="rect">
            <a:avLst/>
          </a:prstGeom>
          <a:solidFill>
            <a:srgbClr val="2E6B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cpe|exhibit|text|16"/>
          <p:cNvSpPr txBox="1"/>
          <p:nvPr/>
        </p:nvSpPr>
        <p:spPr>
          <a:xfrm>
            <a:off x="731520" y="2475738"/>
            <a:ext cx="1920240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Commercial</a:t>
            </a:r>
          </a:p>
        </p:txBody>
      </p:sp>
      <p:sp>
        <p:nvSpPr>
          <p:cNvPr id="18" name="cpe|exhibit|fill|17"/>
          <p:cNvSpPr/>
          <p:nvPr/>
        </p:nvSpPr>
        <p:spPr>
          <a:xfrm>
            <a:off x="2834640" y="2475738"/>
            <a:ext cx="2643530" cy="902970"/>
          </a:xfrm>
          <a:prstGeom prst="rect">
            <a:avLst/>
          </a:prstGeom>
          <a:solidFill>
            <a:srgbClr val="F0F0F0"/>
          </a:solidFill>
          <a:ln w="19050">
            <a:solidFill>
              <a:srgbClr val="C8A24A"/>
            </a:solidFill>
            <a:prstDash val="dash"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cpe|exhibit|text|18"/>
          <p:cNvSpPr txBox="1"/>
          <p:nvPr/>
        </p:nvSpPr>
        <p:spPr>
          <a:xfrm>
            <a:off x="2889504" y="2475738"/>
            <a:ext cx="253380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Central pricing &amp; promo</a:t>
            </a:r>
          </a:p>
        </p:txBody>
      </p:sp>
      <p:sp>
        <p:nvSpPr>
          <p:cNvPr id="20" name="cpe|exhibit|fill|19"/>
          <p:cNvSpPr/>
          <p:nvPr/>
        </p:nvSpPr>
        <p:spPr>
          <a:xfrm>
            <a:off x="5551322" y="2475738"/>
            <a:ext cx="2643530" cy="902970"/>
          </a:xfrm>
          <a:prstGeom prst="rect">
            <a:avLst/>
          </a:prstGeom>
          <a:solidFill>
            <a:srgbClr val="F0F0F0"/>
          </a:solidFill>
          <a:ln w="19050">
            <a:solidFill>
              <a:srgbClr val="C8A24A"/>
            </a:solidFill>
            <a:prstDash val="dash"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cpe|exhibit|text|20"/>
          <p:cNvSpPr txBox="1"/>
          <p:nvPr/>
        </p:nvSpPr>
        <p:spPr>
          <a:xfrm>
            <a:off x="5606186" y="2475738"/>
            <a:ext cx="253380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Category management</a:t>
            </a:r>
          </a:p>
        </p:txBody>
      </p:sp>
      <p:sp>
        <p:nvSpPr>
          <p:cNvPr id="22" name="cpe|exhibit|fill|21"/>
          <p:cNvSpPr/>
          <p:nvPr/>
        </p:nvSpPr>
        <p:spPr>
          <a:xfrm>
            <a:off x="8268005" y="2475738"/>
            <a:ext cx="2643530" cy="902970"/>
          </a:xfrm>
          <a:prstGeom prst="rect">
            <a:avLst/>
          </a:prstGeom>
          <a:solidFill>
            <a:srgbClr val="F0F0F0"/>
          </a:solidFill>
          <a:ln w="19050">
            <a:solidFill>
              <a:srgbClr val="C8A24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cpe|exhibit|text|22"/>
          <p:cNvSpPr txBox="1"/>
          <p:nvPr/>
        </p:nvSpPr>
        <p:spPr>
          <a:xfrm>
            <a:off x="8322869" y="2475738"/>
            <a:ext cx="253380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Private label</a:t>
            </a:r>
          </a:p>
        </p:txBody>
      </p:sp>
      <p:sp>
        <p:nvSpPr>
          <p:cNvPr id="24" name="cpe|exhibit|fill|23"/>
          <p:cNvSpPr/>
          <p:nvPr/>
        </p:nvSpPr>
        <p:spPr>
          <a:xfrm>
            <a:off x="640080" y="3470148"/>
            <a:ext cx="2103120" cy="902970"/>
          </a:xfrm>
          <a:prstGeom prst="rect">
            <a:avLst/>
          </a:prstGeom>
          <a:solidFill>
            <a:srgbClr val="2E6B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cpe|exhibit|text|24"/>
          <p:cNvSpPr txBox="1"/>
          <p:nvPr/>
        </p:nvSpPr>
        <p:spPr>
          <a:xfrm>
            <a:off x="731520" y="3470148"/>
            <a:ext cx="1920240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Operations</a:t>
            </a:r>
          </a:p>
        </p:txBody>
      </p:sp>
      <p:sp>
        <p:nvSpPr>
          <p:cNvPr id="26" name="cpe|exhibit|fill|25"/>
          <p:cNvSpPr/>
          <p:nvPr/>
        </p:nvSpPr>
        <p:spPr>
          <a:xfrm>
            <a:off x="2834640" y="3470148"/>
            <a:ext cx="2643530" cy="90297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cpe|exhibit|text|26"/>
          <p:cNvSpPr txBox="1"/>
          <p:nvPr/>
        </p:nvSpPr>
        <p:spPr>
          <a:xfrm>
            <a:off x="2889504" y="3470148"/>
            <a:ext cx="253380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Stores</a:t>
            </a:r>
          </a:p>
        </p:txBody>
      </p:sp>
      <p:sp>
        <p:nvSpPr>
          <p:cNvPr id="28" name="cpe|exhibit|fill|27"/>
          <p:cNvSpPr/>
          <p:nvPr/>
        </p:nvSpPr>
        <p:spPr>
          <a:xfrm>
            <a:off x="5551322" y="3470148"/>
            <a:ext cx="2643530" cy="90297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cpe|exhibit|text|28"/>
          <p:cNvSpPr txBox="1"/>
          <p:nvPr/>
        </p:nvSpPr>
        <p:spPr>
          <a:xfrm>
            <a:off x="5606186" y="3470148"/>
            <a:ext cx="253380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Supply chain</a:t>
            </a:r>
          </a:p>
        </p:txBody>
      </p:sp>
      <p:sp>
        <p:nvSpPr>
          <p:cNvPr id="30" name="cpe|exhibit|fill|29"/>
          <p:cNvSpPr/>
          <p:nvPr/>
        </p:nvSpPr>
        <p:spPr>
          <a:xfrm>
            <a:off x="8268005" y="3470148"/>
            <a:ext cx="2643530" cy="902970"/>
          </a:xfrm>
          <a:prstGeom prst="rect">
            <a:avLst/>
          </a:prstGeom>
          <a:solidFill>
            <a:srgbClr val="F0F0F0"/>
          </a:solidFill>
          <a:ln w="19050">
            <a:solidFill>
              <a:srgbClr val="C8A24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cpe|exhibit|text|30"/>
          <p:cNvSpPr txBox="1"/>
          <p:nvPr/>
        </p:nvSpPr>
        <p:spPr>
          <a:xfrm>
            <a:off x="8322869" y="3470148"/>
            <a:ext cx="253380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Fulfilment hubs</a:t>
            </a:r>
          </a:p>
        </p:txBody>
      </p:sp>
      <p:sp>
        <p:nvSpPr>
          <p:cNvPr id="32" name="cpe|exhibit|fill|31"/>
          <p:cNvSpPr/>
          <p:nvPr/>
        </p:nvSpPr>
        <p:spPr>
          <a:xfrm>
            <a:off x="640080" y="4464558"/>
            <a:ext cx="2103120" cy="902970"/>
          </a:xfrm>
          <a:prstGeom prst="rect">
            <a:avLst/>
          </a:prstGeom>
          <a:solidFill>
            <a:srgbClr val="2E6B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cpe|exhibit|text|32"/>
          <p:cNvSpPr txBox="1"/>
          <p:nvPr/>
        </p:nvSpPr>
        <p:spPr>
          <a:xfrm>
            <a:off x="731520" y="4464558"/>
            <a:ext cx="1920240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Enablers</a:t>
            </a:r>
          </a:p>
        </p:txBody>
      </p:sp>
      <p:sp>
        <p:nvSpPr>
          <p:cNvPr id="34" name="cpe|exhibit|fill|33"/>
          <p:cNvSpPr/>
          <p:nvPr/>
        </p:nvSpPr>
        <p:spPr>
          <a:xfrm>
            <a:off x="2834640" y="4464558"/>
            <a:ext cx="2643530" cy="902970"/>
          </a:xfrm>
          <a:prstGeom prst="rect">
            <a:avLst/>
          </a:prstGeom>
          <a:solidFill>
            <a:srgbClr val="F0F0F0"/>
          </a:solidFill>
          <a:ln w="19050">
            <a:solidFill>
              <a:srgbClr val="C8A24A"/>
            </a:solidFill>
            <a:prstDash val="dash"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cpe|exhibit|text|34"/>
          <p:cNvSpPr txBox="1"/>
          <p:nvPr/>
        </p:nvSpPr>
        <p:spPr>
          <a:xfrm>
            <a:off x="2889504" y="4464558"/>
            <a:ext cx="253380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Data &amp; analytics</a:t>
            </a:r>
          </a:p>
        </p:txBody>
      </p:sp>
      <p:sp>
        <p:nvSpPr>
          <p:cNvPr id="36" name="cpe|exhibit|fill|35"/>
          <p:cNvSpPr/>
          <p:nvPr/>
        </p:nvSpPr>
        <p:spPr>
          <a:xfrm>
            <a:off x="5551322" y="4464558"/>
            <a:ext cx="2643530" cy="90297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cpe|exhibit|text|36"/>
          <p:cNvSpPr txBox="1"/>
          <p:nvPr/>
        </p:nvSpPr>
        <p:spPr>
          <a:xfrm>
            <a:off x="5606186" y="4464558"/>
            <a:ext cx="253380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Technology</a:t>
            </a:r>
          </a:p>
        </p:txBody>
      </p:sp>
      <p:sp>
        <p:nvSpPr>
          <p:cNvPr id="38" name="cpe|exhibit|fill|37"/>
          <p:cNvSpPr/>
          <p:nvPr/>
        </p:nvSpPr>
        <p:spPr>
          <a:xfrm>
            <a:off x="8268005" y="4464558"/>
            <a:ext cx="2643530" cy="90297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cpe|exhibit|text|38"/>
          <p:cNvSpPr txBox="1"/>
          <p:nvPr/>
        </p:nvSpPr>
        <p:spPr>
          <a:xfrm>
            <a:off x="8322869" y="4464558"/>
            <a:ext cx="253380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People &amp; capabilities</a:t>
            </a:r>
          </a:p>
        </p:txBody>
      </p:sp>
      <p:sp>
        <p:nvSpPr>
          <p:cNvPr id="40" name="cpe|exhibit|fill|39"/>
          <p:cNvSpPr/>
          <p:nvPr/>
        </p:nvSpPr>
        <p:spPr>
          <a:xfrm>
            <a:off x="10984687" y="1481328"/>
            <a:ext cx="566928" cy="3886200"/>
          </a:xfrm>
          <a:prstGeom prst="rect">
            <a:avLst/>
          </a:prstGeom>
          <a:solidFill>
            <a:srgbClr val="F4F4F4"/>
          </a:solidFill>
          <a:ln w="6350">
            <a:solidFill>
              <a:srgbClr val="B8B8B8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cpe|exhibit|vtext|40"/>
          <p:cNvSpPr txBox="1"/>
          <p:nvPr/>
        </p:nvSpPr>
        <p:spPr>
          <a:xfrm>
            <a:off x="10984687" y="1572768"/>
            <a:ext cx="566928" cy="3703320"/>
          </a:xfrm>
          <a:prstGeom prst="rect">
            <a:avLst/>
          </a:prstGeom>
          <a:noFill/>
        </p:spPr>
        <p:txBody>
          <a:bodyPr wrap="square" lIns="0" rIns="0" tIns="0" bIns="0" anchor="ctr" vert="vert27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222222"/>
                </a:solidFill>
                <a:latin typeface="Calibri"/>
              </a:rPr>
              <a:t>Transformation office</a:t>
            </a:r>
          </a:p>
        </p:txBody>
      </p:sp>
      <p:cxnSp>
        <p:nvCxnSpPr>
          <p:cNvPr id="42" name="cpe|commentary|line|41"/>
          <p:cNvCxnSpPr/>
          <p:nvPr/>
        </p:nvCxnSpPr>
        <p:spPr>
          <a:xfrm>
            <a:off x="640080" y="5568696"/>
            <a:ext cx="10911535" cy="0"/>
          </a:xfrm>
          <a:prstGeom prst="line">
            <a:avLst/>
          </a:prstGeom>
          <a:ln w="9525">
            <a:solidFill>
              <a:srgbClr val="B8B8B8"/>
            </a:solidFill>
          </a:ln>
        </p:spPr>
      </p:cxnSp>
      <p:sp>
        <p:nvSpPr>
          <p:cNvPr id="43" name="cpe|commentary|text|42"/>
          <p:cNvSpPr txBox="1"/>
          <p:nvPr/>
        </p:nvSpPr>
        <p:spPr>
          <a:xfrm>
            <a:off x="640080" y="5705856"/>
            <a:ext cx="350306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2222"/>
                </a:solidFill>
                <a:latin typeface="Calibri"/>
              </a:rPr>
              <a:t>New:</a:t>
            </a:r>
            <a:r>
              <a:rPr sz="1200" b="0">
                <a:solidFill>
                  <a:srgbClr val="222222"/>
                </a:solidFill>
                <a:latin typeface="Calibri"/>
              </a:rPr>
              <a:t> discount banner, private label, fulfilment hubs</a:t>
            </a:r>
          </a:p>
        </p:txBody>
      </p:sp>
      <p:sp>
        <p:nvSpPr>
          <p:cNvPr id="44" name="cpe|commentary|text|43"/>
          <p:cNvSpPr txBox="1"/>
          <p:nvPr/>
        </p:nvSpPr>
        <p:spPr>
          <a:xfrm>
            <a:off x="4344314" y="5705856"/>
            <a:ext cx="350306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2222"/>
                </a:solidFill>
                <a:latin typeface="Calibri"/>
              </a:rPr>
              <a:t>Changed:</a:t>
            </a:r>
            <a:r>
              <a:rPr sz="1200" b="0">
                <a:solidFill>
                  <a:srgbClr val="222222"/>
                </a:solidFill>
                <a:latin typeface="Calibri"/>
              </a:rPr>
              <a:t> pricing moves to the centre; category teams own margin</a:t>
            </a:r>
          </a:p>
        </p:txBody>
      </p:sp>
      <p:sp>
        <p:nvSpPr>
          <p:cNvPr id="45" name="cpe|commentary|text|44"/>
          <p:cNvSpPr txBox="1"/>
          <p:nvPr/>
        </p:nvSpPr>
        <p:spPr>
          <a:xfrm>
            <a:off x="8048549" y="5705856"/>
            <a:ext cx="350306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A transformation office steers the programme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640080" y="274320"/>
            <a:ext cx="7638075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F6F6F"/>
                </a:solidFill>
                <a:latin typeface="Calibri"/>
              </a:rPr>
              <a:t>ROADMAP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640080" y="475488"/>
            <a:ext cx="9464040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B3A2F"/>
                </a:solidFill>
                <a:latin typeface="Georgia"/>
              </a:rPr>
              <a:t>A plan in three waves over 24 months secures quick margin wins before scaling the banner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640080" y="6272784"/>
            <a:ext cx="853409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F6F6F"/>
                </a:solidFill>
                <a:latin typeface="Calibri"/>
              </a:rPr>
              <a:t>Source: Programme plan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35705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F6F6F"/>
                </a:solidFill>
                <a:latin typeface="Calibri"/>
              </a:rPr>
              <a:t>Illustrative data   10</a:t>
            </a:r>
          </a:p>
        </p:txBody>
      </p:sp>
      <p:sp>
        <p:nvSpPr>
          <p:cNvPr id="6" name="cpe|exhibit|fill|5"/>
          <p:cNvSpPr/>
          <p:nvPr/>
        </p:nvSpPr>
        <p:spPr>
          <a:xfrm>
            <a:off x="3414296" y="1481328"/>
            <a:ext cx="3021777" cy="274320"/>
          </a:xfrm>
          <a:prstGeom prst="rect">
            <a:avLst/>
          </a:prstGeom>
          <a:solidFill>
            <a:srgbClr val="1B3A2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cpe|exhibit|text|6"/>
          <p:cNvSpPr txBox="1"/>
          <p:nvPr/>
        </p:nvSpPr>
        <p:spPr>
          <a:xfrm>
            <a:off x="3450872" y="1481328"/>
            <a:ext cx="2948625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Wave 1: Fix margins</a:t>
            </a:r>
          </a:p>
        </p:txBody>
      </p:sp>
      <p:sp>
        <p:nvSpPr>
          <p:cNvPr id="8" name="cpe|exhibit|fill|7"/>
          <p:cNvSpPr/>
          <p:nvPr/>
        </p:nvSpPr>
        <p:spPr>
          <a:xfrm>
            <a:off x="6472649" y="1481328"/>
            <a:ext cx="2002326" cy="274320"/>
          </a:xfrm>
          <a:prstGeom prst="rect">
            <a:avLst/>
          </a:prstGeom>
          <a:solidFill>
            <a:srgbClr val="1B3A2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text|8"/>
          <p:cNvSpPr txBox="1"/>
          <p:nvPr/>
        </p:nvSpPr>
        <p:spPr>
          <a:xfrm>
            <a:off x="6509225" y="1481328"/>
            <a:ext cx="1929174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Wave 2: Pilot</a:t>
            </a:r>
          </a:p>
        </p:txBody>
      </p:sp>
      <p:sp>
        <p:nvSpPr>
          <p:cNvPr id="10" name="cpe|exhibit|fill|9"/>
          <p:cNvSpPr/>
          <p:nvPr/>
        </p:nvSpPr>
        <p:spPr>
          <a:xfrm>
            <a:off x="8511551" y="1481328"/>
            <a:ext cx="3021777" cy="274320"/>
          </a:xfrm>
          <a:prstGeom prst="rect">
            <a:avLst/>
          </a:prstGeom>
          <a:solidFill>
            <a:srgbClr val="1B3A2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text|10"/>
          <p:cNvSpPr txBox="1"/>
          <p:nvPr/>
        </p:nvSpPr>
        <p:spPr>
          <a:xfrm>
            <a:off x="8548127" y="1481328"/>
            <a:ext cx="2948625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Wave 3: Scale</a:t>
            </a:r>
          </a:p>
        </p:txBody>
      </p:sp>
      <p:sp>
        <p:nvSpPr>
          <p:cNvPr id="12" name="cpe|exhibit|text|11"/>
          <p:cNvSpPr txBox="1"/>
          <p:nvPr/>
        </p:nvSpPr>
        <p:spPr>
          <a:xfrm>
            <a:off x="3396008" y="1828800"/>
            <a:ext cx="1019451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Q1 26</a:t>
            </a:r>
          </a:p>
        </p:txBody>
      </p:sp>
      <p:sp>
        <p:nvSpPr>
          <p:cNvPr id="13" name="cpe|exhibit|text|12"/>
          <p:cNvSpPr txBox="1"/>
          <p:nvPr/>
        </p:nvSpPr>
        <p:spPr>
          <a:xfrm>
            <a:off x="4415459" y="1828800"/>
            <a:ext cx="1019451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Q2 26</a:t>
            </a:r>
          </a:p>
        </p:txBody>
      </p:sp>
      <p:sp>
        <p:nvSpPr>
          <p:cNvPr id="14" name="cpe|exhibit|text|13"/>
          <p:cNvSpPr txBox="1"/>
          <p:nvPr/>
        </p:nvSpPr>
        <p:spPr>
          <a:xfrm>
            <a:off x="5434910" y="1828800"/>
            <a:ext cx="1019451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Q3 26</a:t>
            </a:r>
          </a:p>
        </p:txBody>
      </p:sp>
      <p:sp>
        <p:nvSpPr>
          <p:cNvPr id="15" name="cpe|exhibit|text|14"/>
          <p:cNvSpPr txBox="1"/>
          <p:nvPr/>
        </p:nvSpPr>
        <p:spPr>
          <a:xfrm>
            <a:off x="6454361" y="1828800"/>
            <a:ext cx="1019451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Q4 26</a:t>
            </a:r>
          </a:p>
        </p:txBody>
      </p:sp>
      <p:sp>
        <p:nvSpPr>
          <p:cNvPr id="16" name="cpe|exhibit|text|15"/>
          <p:cNvSpPr txBox="1"/>
          <p:nvPr/>
        </p:nvSpPr>
        <p:spPr>
          <a:xfrm>
            <a:off x="7473812" y="1828800"/>
            <a:ext cx="1019451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Q1 27</a:t>
            </a:r>
          </a:p>
        </p:txBody>
      </p:sp>
      <p:sp>
        <p:nvSpPr>
          <p:cNvPr id="17" name="cpe|exhibit|text|16"/>
          <p:cNvSpPr txBox="1"/>
          <p:nvPr/>
        </p:nvSpPr>
        <p:spPr>
          <a:xfrm>
            <a:off x="8493263" y="1828800"/>
            <a:ext cx="1019451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Q2 27</a:t>
            </a:r>
          </a:p>
        </p:txBody>
      </p:sp>
      <p:sp>
        <p:nvSpPr>
          <p:cNvPr id="18" name="cpe|exhibit|text|17"/>
          <p:cNvSpPr txBox="1"/>
          <p:nvPr/>
        </p:nvSpPr>
        <p:spPr>
          <a:xfrm>
            <a:off x="9512714" y="1828800"/>
            <a:ext cx="1019451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Q3 27</a:t>
            </a:r>
          </a:p>
        </p:txBody>
      </p:sp>
      <p:sp>
        <p:nvSpPr>
          <p:cNvPr id="19" name="cpe|exhibit|text|18"/>
          <p:cNvSpPr txBox="1"/>
          <p:nvPr/>
        </p:nvSpPr>
        <p:spPr>
          <a:xfrm>
            <a:off x="10532164" y="1828800"/>
            <a:ext cx="1019451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Q4 27</a:t>
            </a:r>
          </a:p>
        </p:txBody>
      </p:sp>
      <p:cxnSp>
        <p:nvCxnSpPr>
          <p:cNvPr id="20" name="cpe|exhibit|line|19"/>
          <p:cNvCxnSpPr/>
          <p:nvPr/>
        </p:nvCxnSpPr>
        <p:spPr>
          <a:xfrm>
            <a:off x="640080" y="2121408"/>
            <a:ext cx="10911535" cy="0"/>
          </a:xfrm>
          <a:prstGeom prst="line">
            <a:avLst/>
          </a:prstGeom>
          <a:ln w="9525">
            <a:solidFill>
              <a:srgbClr val="1B3A2F"/>
            </a:solidFill>
          </a:ln>
        </p:spPr>
      </p:cxnSp>
      <p:cxnSp>
        <p:nvCxnSpPr>
          <p:cNvPr id="21" name="cpe|exhibit|line|20"/>
          <p:cNvCxnSpPr/>
          <p:nvPr/>
        </p:nvCxnSpPr>
        <p:spPr>
          <a:xfrm>
            <a:off x="4415459" y="2121408"/>
            <a:ext cx="0" cy="3401568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cxnSp>
        <p:nvCxnSpPr>
          <p:cNvPr id="22" name="cpe|exhibit|line|21"/>
          <p:cNvCxnSpPr/>
          <p:nvPr/>
        </p:nvCxnSpPr>
        <p:spPr>
          <a:xfrm>
            <a:off x="5434910" y="2121408"/>
            <a:ext cx="0" cy="3401568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cxnSp>
        <p:nvCxnSpPr>
          <p:cNvPr id="23" name="cpe|exhibit|line|22"/>
          <p:cNvCxnSpPr/>
          <p:nvPr/>
        </p:nvCxnSpPr>
        <p:spPr>
          <a:xfrm>
            <a:off x="6454361" y="2121408"/>
            <a:ext cx="0" cy="3401568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cxnSp>
        <p:nvCxnSpPr>
          <p:cNvPr id="24" name="cpe|exhibit|line|23"/>
          <p:cNvCxnSpPr/>
          <p:nvPr/>
        </p:nvCxnSpPr>
        <p:spPr>
          <a:xfrm>
            <a:off x="7473812" y="2121408"/>
            <a:ext cx="0" cy="3401568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cxnSp>
        <p:nvCxnSpPr>
          <p:cNvPr id="25" name="cpe|exhibit|line|24"/>
          <p:cNvCxnSpPr/>
          <p:nvPr/>
        </p:nvCxnSpPr>
        <p:spPr>
          <a:xfrm>
            <a:off x="8493263" y="2121408"/>
            <a:ext cx="0" cy="3401568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cxnSp>
        <p:nvCxnSpPr>
          <p:cNvPr id="26" name="cpe|exhibit|line|25"/>
          <p:cNvCxnSpPr/>
          <p:nvPr/>
        </p:nvCxnSpPr>
        <p:spPr>
          <a:xfrm>
            <a:off x="9512714" y="2121408"/>
            <a:ext cx="0" cy="3401568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cxnSp>
        <p:nvCxnSpPr>
          <p:cNvPr id="27" name="cpe|exhibit|line|26"/>
          <p:cNvCxnSpPr/>
          <p:nvPr/>
        </p:nvCxnSpPr>
        <p:spPr>
          <a:xfrm>
            <a:off x="10532164" y="2121408"/>
            <a:ext cx="0" cy="3401568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cxnSp>
        <p:nvCxnSpPr>
          <p:cNvPr id="28" name="cpe|exhibit|connector|27"/>
          <p:cNvCxnSpPr/>
          <p:nvPr/>
        </p:nvCxnSpPr>
        <p:spPr>
          <a:xfrm>
            <a:off x="3905734" y="2075688"/>
            <a:ext cx="0" cy="3447288"/>
          </a:xfrm>
          <a:prstGeom prst="line">
            <a:avLst/>
          </a:prstGeom>
          <a:ln w="9525">
            <a:solidFill>
              <a:srgbClr val="C8A24A"/>
            </a:solidFill>
            <a:prstDash val="dash"/>
          </a:ln>
        </p:spPr>
      </p:cxnSp>
      <p:sp>
        <p:nvSpPr>
          <p:cNvPr id="29" name="cpe|exhibit|label|28"/>
          <p:cNvSpPr txBox="1"/>
          <p:nvPr/>
        </p:nvSpPr>
        <p:spPr>
          <a:xfrm>
            <a:off x="3448534" y="554126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6F6F6F"/>
                </a:solidFill>
                <a:latin typeface="Calibri"/>
              </a:rPr>
              <a:t>Today</a:t>
            </a:r>
          </a:p>
        </p:txBody>
      </p:sp>
      <p:sp>
        <p:nvSpPr>
          <p:cNvPr id="30" name="cpe|exhibit|text|29"/>
          <p:cNvSpPr txBox="1"/>
          <p:nvPr/>
        </p:nvSpPr>
        <p:spPr>
          <a:xfrm>
            <a:off x="640080" y="2121408"/>
            <a:ext cx="261876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22222"/>
                </a:solidFill>
                <a:latin typeface="Calibri"/>
              </a:rPr>
              <a:t>Pricing &amp; promo reset</a:t>
            </a:r>
          </a:p>
        </p:txBody>
      </p:sp>
      <p:sp>
        <p:nvSpPr>
          <p:cNvPr id="31" name="cpe|exhibit|fill|30"/>
          <p:cNvSpPr/>
          <p:nvPr/>
        </p:nvSpPr>
        <p:spPr>
          <a:xfrm>
            <a:off x="3423440" y="2257471"/>
            <a:ext cx="3003489" cy="294803"/>
          </a:xfrm>
          <a:prstGeom prst="rect">
            <a:avLst/>
          </a:prstGeom>
          <a:solidFill>
            <a:srgbClr val="2E6B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cpe|exhibit|text|31"/>
          <p:cNvSpPr txBox="1"/>
          <p:nvPr/>
        </p:nvSpPr>
        <p:spPr>
          <a:xfrm>
            <a:off x="3478304" y="2257471"/>
            <a:ext cx="2893761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</a:rPr>
              <a:t>Reset 1,200 SKUs</a:t>
            </a:r>
          </a:p>
        </p:txBody>
      </p:sp>
      <p:cxnSp>
        <p:nvCxnSpPr>
          <p:cNvPr id="33" name="cpe|exhibit|line|32"/>
          <p:cNvCxnSpPr/>
          <p:nvPr/>
        </p:nvCxnSpPr>
        <p:spPr>
          <a:xfrm>
            <a:off x="640080" y="2688336"/>
            <a:ext cx="10911535" cy="0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sp>
        <p:nvSpPr>
          <p:cNvPr id="34" name="cpe|exhibit|text|33"/>
          <p:cNvSpPr txBox="1"/>
          <p:nvPr/>
        </p:nvSpPr>
        <p:spPr>
          <a:xfrm>
            <a:off x="640080" y="2688336"/>
            <a:ext cx="261876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22222"/>
                </a:solidFill>
                <a:latin typeface="Calibri"/>
              </a:rPr>
              <a:t>Fresh &amp; food-to-go margins</a:t>
            </a:r>
          </a:p>
        </p:txBody>
      </p:sp>
      <p:sp>
        <p:nvSpPr>
          <p:cNvPr id="35" name="cpe|exhibit|fill|34"/>
          <p:cNvSpPr/>
          <p:nvPr/>
        </p:nvSpPr>
        <p:spPr>
          <a:xfrm>
            <a:off x="3423440" y="2824399"/>
            <a:ext cx="4022939" cy="294803"/>
          </a:xfrm>
          <a:prstGeom prst="rect">
            <a:avLst/>
          </a:prstGeom>
          <a:solidFill>
            <a:srgbClr val="2E6B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cpe|exhibit|text|35"/>
          <p:cNvSpPr txBox="1"/>
          <p:nvPr/>
        </p:nvSpPr>
        <p:spPr>
          <a:xfrm>
            <a:off x="3478304" y="2824399"/>
            <a:ext cx="3913211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</a:rPr>
              <a:t>Waste &amp; range</a:t>
            </a:r>
          </a:p>
        </p:txBody>
      </p:sp>
      <p:cxnSp>
        <p:nvCxnSpPr>
          <p:cNvPr id="37" name="cpe|exhibit|line|36"/>
          <p:cNvCxnSpPr/>
          <p:nvPr/>
        </p:nvCxnSpPr>
        <p:spPr>
          <a:xfrm>
            <a:off x="640080" y="3255264"/>
            <a:ext cx="10911535" cy="0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sp>
        <p:nvSpPr>
          <p:cNvPr id="38" name="cpe|exhibit|text|37"/>
          <p:cNvSpPr txBox="1"/>
          <p:nvPr/>
        </p:nvSpPr>
        <p:spPr>
          <a:xfrm>
            <a:off x="640080" y="3255264"/>
            <a:ext cx="261876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22222"/>
                </a:solidFill>
                <a:latin typeface="Calibri"/>
              </a:rPr>
              <a:t>Cost programme</a:t>
            </a:r>
          </a:p>
        </p:txBody>
      </p:sp>
      <p:sp>
        <p:nvSpPr>
          <p:cNvPr id="39" name="cpe|exhibit|fill|38"/>
          <p:cNvSpPr/>
          <p:nvPr/>
        </p:nvSpPr>
        <p:spPr>
          <a:xfrm>
            <a:off x="4442891" y="3391327"/>
            <a:ext cx="6061841" cy="294803"/>
          </a:xfrm>
          <a:prstGeom prst="rect">
            <a:avLst/>
          </a:prstGeom>
          <a:solidFill>
            <a:srgbClr val="2E6B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cpe|exhibit|text|39"/>
          <p:cNvSpPr txBox="1"/>
          <p:nvPr/>
        </p:nvSpPr>
        <p:spPr>
          <a:xfrm>
            <a:off x="4497755" y="3391327"/>
            <a:ext cx="5952113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</a:rPr>
              <a:t>Labour scheduling, energy</a:t>
            </a:r>
          </a:p>
        </p:txBody>
      </p:sp>
      <p:cxnSp>
        <p:nvCxnSpPr>
          <p:cNvPr id="41" name="cpe|exhibit|line|40"/>
          <p:cNvCxnSpPr/>
          <p:nvPr/>
        </p:nvCxnSpPr>
        <p:spPr>
          <a:xfrm>
            <a:off x="640080" y="3822192"/>
            <a:ext cx="10911535" cy="0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sp>
        <p:nvSpPr>
          <p:cNvPr id="42" name="cpe|exhibit|text|41"/>
          <p:cNvSpPr txBox="1"/>
          <p:nvPr/>
        </p:nvSpPr>
        <p:spPr>
          <a:xfrm>
            <a:off x="640080" y="3822192"/>
            <a:ext cx="261876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22222"/>
                </a:solidFill>
                <a:latin typeface="Calibri"/>
              </a:rPr>
              <a:t>Private label</a:t>
            </a:r>
          </a:p>
        </p:txBody>
      </p:sp>
      <p:sp>
        <p:nvSpPr>
          <p:cNvPr id="43" name="cpe|exhibit|fill|42"/>
          <p:cNvSpPr/>
          <p:nvPr/>
        </p:nvSpPr>
        <p:spPr>
          <a:xfrm>
            <a:off x="5462342" y="3958255"/>
            <a:ext cx="6061841" cy="294803"/>
          </a:xfrm>
          <a:prstGeom prst="rect">
            <a:avLst/>
          </a:prstGeom>
          <a:solidFill>
            <a:srgbClr val="2E6B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cpe|exhibit|text|43"/>
          <p:cNvSpPr txBox="1"/>
          <p:nvPr/>
        </p:nvSpPr>
        <p:spPr>
          <a:xfrm>
            <a:off x="5517206" y="3958255"/>
            <a:ext cx="5952113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</a:rPr>
              <a:t>25% → 35% of sales</a:t>
            </a:r>
          </a:p>
        </p:txBody>
      </p:sp>
      <p:cxnSp>
        <p:nvCxnSpPr>
          <p:cNvPr id="45" name="cpe|exhibit|line|44"/>
          <p:cNvCxnSpPr/>
          <p:nvPr/>
        </p:nvCxnSpPr>
        <p:spPr>
          <a:xfrm>
            <a:off x="640080" y="4389120"/>
            <a:ext cx="10911535" cy="0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sp>
        <p:nvSpPr>
          <p:cNvPr id="46" name="cpe|exhibit|text|45"/>
          <p:cNvSpPr txBox="1"/>
          <p:nvPr/>
        </p:nvSpPr>
        <p:spPr>
          <a:xfrm>
            <a:off x="640080" y="4389120"/>
            <a:ext cx="261876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22222"/>
                </a:solidFill>
                <a:latin typeface="Calibri"/>
              </a:rPr>
              <a:t>Discount banner</a:t>
            </a:r>
          </a:p>
        </p:txBody>
      </p:sp>
      <p:sp>
        <p:nvSpPr>
          <p:cNvPr id="47" name="cpe|exhibit|fill|46"/>
          <p:cNvSpPr/>
          <p:nvPr/>
        </p:nvSpPr>
        <p:spPr>
          <a:xfrm>
            <a:off x="6481793" y="4604553"/>
            <a:ext cx="1984038" cy="294803"/>
          </a:xfrm>
          <a:prstGeom prst="rect">
            <a:avLst/>
          </a:prstGeom>
          <a:solidFill>
            <a:srgbClr val="C8A24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cpe|exhibit|text|47"/>
          <p:cNvSpPr txBox="1"/>
          <p:nvPr/>
        </p:nvSpPr>
        <p:spPr>
          <a:xfrm>
            <a:off x="6536657" y="4604553"/>
            <a:ext cx="1874310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222222"/>
                </a:solidFill>
                <a:latin typeface="Calibri"/>
              </a:rPr>
              <a:t>Pilot 20 stores</a:t>
            </a:r>
          </a:p>
        </p:txBody>
      </p:sp>
      <p:sp>
        <p:nvSpPr>
          <p:cNvPr id="49" name="cpe|exhibit|fill|48"/>
          <p:cNvSpPr/>
          <p:nvPr/>
        </p:nvSpPr>
        <p:spPr>
          <a:xfrm>
            <a:off x="8520695" y="4604553"/>
            <a:ext cx="3003489" cy="294803"/>
          </a:xfrm>
          <a:prstGeom prst="rect">
            <a:avLst/>
          </a:prstGeom>
          <a:solidFill>
            <a:srgbClr val="2E6B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cpe|exhibit|text|49"/>
          <p:cNvSpPr txBox="1"/>
          <p:nvPr/>
        </p:nvSpPr>
        <p:spPr>
          <a:xfrm>
            <a:off x="8703575" y="4604553"/>
            <a:ext cx="2765745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</a:rPr>
              <a:t>Roll out 150 stores</a:t>
            </a:r>
          </a:p>
        </p:txBody>
      </p:sp>
      <p:sp>
        <p:nvSpPr>
          <p:cNvPr id="51" name="cpe|exhibit|marker|50"/>
          <p:cNvSpPr/>
          <p:nvPr/>
        </p:nvSpPr>
        <p:spPr>
          <a:xfrm>
            <a:off x="8401823" y="4660514"/>
            <a:ext cx="182880" cy="182880"/>
          </a:xfrm>
          <a:prstGeom prst="diamond">
            <a:avLst/>
          </a:prstGeom>
          <a:solidFill>
            <a:srgbClr val="C8A24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cpe|exhibit|label|51"/>
          <p:cNvSpPr txBox="1"/>
          <p:nvPr/>
        </p:nvSpPr>
        <p:spPr>
          <a:xfrm>
            <a:off x="8199119" y="4403385"/>
            <a:ext cx="588288" cy="18288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222222"/>
                </a:solidFill>
                <a:latin typeface="Calibri"/>
              </a:rPr>
              <a:t>Go / no-go</a:t>
            </a:r>
          </a:p>
        </p:txBody>
      </p:sp>
      <p:cxnSp>
        <p:nvCxnSpPr>
          <p:cNvPr id="53" name="cpe|exhibit|line|52"/>
          <p:cNvCxnSpPr/>
          <p:nvPr/>
        </p:nvCxnSpPr>
        <p:spPr>
          <a:xfrm>
            <a:off x="640080" y="4956048"/>
            <a:ext cx="10911535" cy="0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sp>
        <p:nvSpPr>
          <p:cNvPr id="54" name="cpe|exhibit|text|53"/>
          <p:cNvSpPr txBox="1"/>
          <p:nvPr/>
        </p:nvSpPr>
        <p:spPr>
          <a:xfrm>
            <a:off x="640080" y="4956048"/>
            <a:ext cx="261876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22222"/>
                </a:solidFill>
                <a:latin typeface="Calibri"/>
              </a:rPr>
              <a:t>Online fulfilment hubs</a:t>
            </a:r>
          </a:p>
        </p:txBody>
      </p:sp>
      <p:sp>
        <p:nvSpPr>
          <p:cNvPr id="55" name="cpe|exhibit|fill|54"/>
          <p:cNvSpPr/>
          <p:nvPr/>
        </p:nvSpPr>
        <p:spPr>
          <a:xfrm>
            <a:off x="7501244" y="5092111"/>
            <a:ext cx="4022939" cy="294803"/>
          </a:xfrm>
          <a:prstGeom prst="rect">
            <a:avLst/>
          </a:prstGeom>
          <a:solidFill>
            <a:srgbClr val="2E6B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cpe|exhibit|text|55"/>
          <p:cNvSpPr txBox="1"/>
          <p:nvPr/>
        </p:nvSpPr>
        <p:spPr>
          <a:xfrm>
            <a:off x="7556108" y="5092111"/>
            <a:ext cx="3913211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</a:rPr>
              <a:t>2 hubs</a:t>
            </a:r>
          </a:p>
        </p:txBody>
      </p:sp>
      <p:cxnSp>
        <p:nvCxnSpPr>
          <p:cNvPr id="57" name="cpe|exhibit|line|56"/>
          <p:cNvCxnSpPr/>
          <p:nvPr/>
        </p:nvCxnSpPr>
        <p:spPr>
          <a:xfrm>
            <a:off x="640080" y="5522976"/>
            <a:ext cx="10911535" cy="0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640080" y="274320"/>
            <a:ext cx="7638075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F6F6F"/>
                </a:solidFill>
                <a:latin typeface="Calibri"/>
              </a:rPr>
              <a:t>VALUE AT STAKE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640080" y="475488"/>
            <a:ext cx="9464040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B3A2F"/>
                </a:solidFill>
                <a:latin typeface="Georgia"/>
              </a:rPr>
              <a:t>Five initiatives adding €250M lift EBITDA to €1,067M by 2028, net of €40M market headwinds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640080" y="6272784"/>
            <a:ext cx="853409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F6F6F"/>
                </a:solidFill>
                <a:latin typeface="Calibri"/>
              </a:rPr>
              <a:t>Source: Initiative business cases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35705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F6F6F"/>
                </a:solidFill>
                <a:latin typeface="Calibri"/>
              </a:rPr>
              <a:t>Illustrative data   11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640080" y="1481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EBITDA 2025 to 2028</a:t>
            </a:r>
            <a:r>
              <a:rPr sz="1100" b="0">
                <a:solidFill>
                  <a:srgbClr val="222222"/>
                </a:solidFill>
                <a:latin typeface="Calibri"/>
              </a:rPr>
              <a:t>, €M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640080" y="1901952"/>
          <a:ext cx="10911535" cy="35021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pe|exhibit|label|7"/>
          <p:cNvSpPr txBox="1"/>
          <p:nvPr/>
        </p:nvSpPr>
        <p:spPr>
          <a:xfrm>
            <a:off x="640080" y="3957860"/>
            <a:ext cx="136394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857</a:t>
            </a:r>
          </a:p>
        </p:txBody>
      </p:sp>
      <p:sp>
        <p:nvSpPr>
          <p:cNvPr id="9" name="cpe|exhibit|label|8"/>
          <p:cNvSpPr txBox="1"/>
          <p:nvPr/>
        </p:nvSpPr>
        <p:spPr>
          <a:xfrm>
            <a:off x="2004022" y="3605216"/>
            <a:ext cx="136394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+60</a:t>
            </a:r>
          </a:p>
        </p:txBody>
      </p:sp>
      <p:sp>
        <p:nvSpPr>
          <p:cNvPr id="10" name="cpe|exhibit|label|9"/>
          <p:cNvSpPr txBox="1"/>
          <p:nvPr/>
        </p:nvSpPr>
        <p:spPr>
          <a:xfrm>
            <a:off x="3367964" y="3340734"/>
            <a:ext cx="136394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+45</a:t>
            </a:r>
          </a:p>
        </p:txBody>
      </p:sp>
      <p:sp>
        <p:nvSpPr>
          <p:cNvPr id="11" name="cpe|exhibit|label|10"/>
          <p:cNvSpPr txBox="1"/>
          <p:nvPr/>
        </p:nvSpPr>
        <p:spPr>
          <a:xfrm>
            <a:off x="4731906" y="2929316"/>
            <a:ext cx="136394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+70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6095848" y="2606060"/>
            <a:ext cx="136394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+55</a:t>
            </a:r>
          </a:p>
        </p:txBody>
      </p:sp>
      <p:sp>
        <p:nvSpPr>
          <p:cNvPr id="13" name="cpe|exhibit|label|12"/>
          <p:cNvSpPr txBox="1"/>
          <p:nvPr/>
        </p:nvSpPr>
        <p:spPr>
          <a:xfrm>
            <a:off x="7459790" y="2488512"/>
            <a:ext cx="136394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+20</a:t>
            </a:r>
          </a:p>
        </p:txBody>
      </p:sp>
      <p:sp>
        <p:nvSpPr>
          <p:cNvPr id="14" name="cpe|exhibit|label|13"/>
          <p:cNvSpPr txBox="1"/>
          <p:nvPr/>
        </p:nvSpPr>
        <p:spPr>
          <a:xfrm>
            <a:off x="8823731" y="2488512"/>
            <a:ext cx="136394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−40</a:t>
            </a:r>
          </a:p>
        </p:txBody>
      </p:sp>
      <p:sp>
        <p:nvSpPr>
          <p:cNvPr id="15" name="cpe|exhibit|label|14"/>
          <p:cNvSpPr txBox="1"/>
          <p:nvPr/>
        </p:nvSpPr>
        <p:spPr>
          <a:xfrm>
            <a:off x="10187673" y="2723608"/>
            <a:ext cx="136394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1,067</a:t>
            </a:r>
          </a:p>
        </p:txBody>
      </p:sp>
      <p:cxnSp>
        <p:nvCxnSpPr>
          <p:cNvPr id="16" name="cpe|exhibit|connector|15"/>
          <p:cNvCxnSpPr/>
          <p:nvPr/>
        </p:nvCxnSpPr>
        <p:spPr>
          <a:xfrm>
            <a:off x="1792376" y="4223036"/>
            <a:ext cx="423292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cxnSp>
        <p:nvCxnSpPr>
          <p:cNvPr id="17" name="cpe|exhibit|connector|16"/>
          <p:cNvCxnSpPr/>
          <p:nvPr/>
        </p:nvCxnSpPr>
        <p:spPr>
          <a:xfrm>
            <a:off x="3156318" y="3870392"/>
            <a:ext cx="423292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cxnSp>
        <p:nvCxnSpPr>
          <p:cNvPr id="18" name="cpe|exhibit|connector|17"/>
          <p:cNvCxnSpPr/>
          <p:nvPr/>
        </p:nvCxnSpPr>
        <p:spPr>
          <a:xfrm>
            <a:off x="4520260" y="3605910"/>
            <a:ext cx="423292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cxnSp>
        <p:nvCxnSpPr>
          <p:cNvPr id="19" name="cpe|exhibit|connector|18"/>
          <p:cNvCxnSpPr/>
          <p:nvPr/>
        </p:nvCxnSpPr>
        <p:spPr>
          <a:xfrm>
            <a:off x="5884201" y="3194492"/>
            <a:ext cx="423293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cxnSp>
        <p:nvCxnSpPr>
          <p:cNvPr id="20" name="cpe|exhibit|connector|19"/>
          <p:cNvCxnSpPr/>
          <p:nvPr/>
        </p:nvCxnSpPr>
        <p:spPr>
          <a:xfrm>
            <a:off x="7248143" y="2871236"/>
            <a:ext cx="423293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cxnSp>
        <p:nvCxnSpPr>
          <p:cNvPr id="21" name="cpe|exhibit|connector|20"/>
          <p:cNvCxnSpPr/>
          <p:nvPr/>
        </p:nvCxnSpPr>
        <p:spPr>
          <a:xfrm>
            <a:off x="8612085" y="2753688"/>
            <a:ext cx="423293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cxnSp>
        <p:nvCxnSpPr>
          <p:cNvPr id="22" name="cpe|exhibit|connector|21"/>
          <p:cNvCxnSpPr/>
          <p:nvPr/>
        </p:nvCxnSpPr>
        <p:spPr>
          <a:xfrm>
            <a:off x="9976027" y="2988784"/>
            <a:ext cx="423292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sp>
        <p:nvSpPr>
          <p:cNvPr id="23" name="cpe|exhibit|marker|22"/>
          <p:cNvSpPr/>
          <p:nvPr/>
        </p:nvSpPr>
        <p:spPr>
          <a:xfrm>
            <a:off x="796862" y="4850735"/>
            <a:ext cx="1050378" cy="82296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cpe|exhibit|marker|23"/>
          <p:cNvSpPr/>
          <p:nvPr/>
        </p:nvSpPr>
        <p:spPr>
          <a:xfrm>
            <a:off x="10344455" y="4850735"/>
            <a:ext cx="1050378" cy="82296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cpe|takeaway|fill|24"/>
          <p:cNvSpPr/>
          <p:nvPr/>
        </p:nvSpPr>
        <p:spPr>
          <a:xfrm>
            <a:off x="640080" y="5632704"/>
            <a:ext cx="10911535" cy="5669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takeaway|fill|25"/>
          <p:cNvSpPr/>
          <p:nvPr/>
        </p:nvSpPr>
        <p:spPr>
          <a:xfrm>
            <a:off x="640080" y="5632704"/>
            <a:ext cx="64008" cy="566928"/>
          </a:xfrm>
          <a:prstGeom prst="rect">
            <a:avLst/>
          </a:prstGeom>
          <a:solidFill>
            <a:srgbClr val="C8A24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cpe|takeaway|text|26"/>
          <p:cNvSpPr txBox="1"/>
          <p:nvPr/>
        </p:nvSpPr>
        <p:spPr>
          <a:xfrm>
            <a:off x="932688" y="5632704"/>
            <a:ext cx="10390327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B3A2F"/>
                </a:solidFill>
                <a:latin typeface="Calibri"/>
              </a:rPr>
              <a:t>Cost and pricing levers deliver €130M of the uplift and are largely within management control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640080" y="274320"/>
            <a:ext cx="7638075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F6F6F"/>
                </a:solidFill>
                <a:latin typeface="Calibri"/>
              </a:rPr>
              <a:t>DECISIONS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640080" y="475488"/>
            <a:ext cx="9464040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B3A2F"/>
                </a:solidFill>
                <a:latin typeface="Georgia"/>
              </a:rPr>
              <a:t>The board is asked to approve three decisions to start Wave 1 in January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640080" y="6272784"/>
            <a:ext cx="853409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F6F6F"/>
                </a:solidFill>
                <a:latin typeface="Calibri"/>
              </a:rPr>
              <a:t>Source: Programme plan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35705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F6F6F"/>
                </a:solidFill>
                <a:latin typeface="Calibri"/>
              </a:rPr>
              <a:t>Illustrative data   12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640080" y="1481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Decisions requested today</a:t>
            </a:r>
          </a:p>
        </p:txBody>
      </p:sp>
      <p:graphicFrame>
        <p:nvGraphicFramePr>
          <p:cNvPr id="7" name="cpe|exhibit|table|6"/>
          <p:cNvGraphicFramePr>
            <a:graphicFrameLocks noGrp="1"/>
          </p:cNvGraphicFramePr>
          <p:nvPr/>
        </p:nvGraphicFramePr>
        <p:xfrm>
          <a:off x="640080" y="1901952"/>
          <a:ext cx="10911535" cy="329869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206240"/>
                <a:gridCol w="1918331"/>
                <a:gridCol w="2043764"/>
                <a:gridCol w="1371600"/>
                <a:gridCol w="1371600"/>
              </a:tblGrid>
              <a:tr h="52349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B3A2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B3A2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Calibri"/>
                        </a:rPr>
                        <a:t>Timing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B3A2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222222"/>
                          </a:solidFill>
                          <a:latin typeface="Calibri"/>
                        </a:rPr>
                        <a:t>EBITDA 2028 (€M)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B3A2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22222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B3A2F"/>
                      </a:solidFill>
                      <a:prstDash val="solid"/>
                    </a:lnB>
                    <a:noFill/>
                  </a:tcPr>
                </a:tc>
              </a:tr>
              <a:tr h="860679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Approve pricing &amp; promo reset across 1,200 SKUs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CCO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Jan 2026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</a:tr>
              <a:tr h="860679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Approve discount banner pilot in 20 stores (€18M capex)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CEO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Q4 2026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55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</a:tr>
              <a:tr h="105384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Approve €85M programme budget and transformation office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8B8B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CFO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8B8B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Jan 2026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8B8B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135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8B8B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8B8B8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cpe|exhibit|marker|7"/>
          <p:cNvSpPr/>
          <p:nvPr/>
        </p:nvSpPr>
        <p:spPr>
          <a:xfrm>
            <a:off x="10746943" y="2736914"/>
            <a:ext cx="237744" cy="237744"/>
          </a:xfrm>
          <a:prstGeom prst="ellipse">
            <a:avLst/>
          </a:prstGeom>
          <a:solidFill>
            <a:srgbClr val="2E6B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marker|8"/>
          <p:cNvSpPr/>
          <p:nvPr/>
        </p:nvSpPr>
        <p:spPr>
          <a:xfrm>
            <a:off x="10746943" y="3597592"/>
            <a:ext cx="237744" cy="237744"/>
          </a:xfrm>
          <a:prstGeom prst="ellipse">
            <a:avLst/>
          </a:prstGeom>
          <a:solidFill>
            <a:srgbClr val="D98E0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exhibit|marker|9"/>
          <p:cNvSpPr/>
          <p:nvPr/>
        </p:nvSpPr>
        <p:spPr>
          <a:xfrm>
            <a:off x="10746943" y="4554855"/>
            <a:ext cx="237744" cy="237744"/>
          </a:xfrm>
          <a:prstGeom prst="ellipse">
            <a:avLst/>
          </a:prstGeom>
          <a:solidFill>
            <a:srgbClr val="2E6B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1" name="cpe|commentary|line|10"/>
          <p:cNvCxnSpPr/>
          <p:nvPr/>
        </p:nvCxnSpPr>
        <p:spPr>
          <a:xfrm>
            <a:off x="640080" y="5709856"/>
            <a:ext cx="10911535" cy="0"/>
          </a:xfrm>
          <a:prstGeom prst="line">
            <a:avLst/>
          </a:prstGeom>
          <a:ln w="9525">
            <a:solidFill>
              <a:srgbClr val="B8B8B8"/>
            </a:solidFill>
          </a:ln>
        </p:spPr>
      </p:cxnSp>
      <p:sp>
        <p:nvSpPr>
          <p:cNvPr id="12" name="cpe|commentary|text|11"/>
          <p:cNvSpPr txBox="1"/>
          <p:nvPr/>
        </p:nvSpPr>
        <p:spPr>
          <a:xfrm>
            <a:off x="640080" y="5847016"/>
            <a:ext cx="5355184" cy="3526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222222"/>
                </a:solidFill>
                <a:latin typeface="Calibri"/>
              </a:rPr>
              <a:t>Wave 1 is self-funding by Q4 2026</a:t>
            </a:r>
          </a:p>
        </p:txBody>
      </p:sp>
      <p:sp>
        <p:nvSpPr>
          <p:cNvPr id="13" name="cpe|commentary|text|12"/>
          <p:cNvSpPr txBox="1"/>
          <p:nvPr/>
        </p:nvSpPr>
        <p:spPr>
          <a:xfrm>
            <a:off x="6196432" y="5847016"/>
            <a:ext cx="5355184" cy="3526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222222"/>
                </a:solidFill>
                <a:latin typeface="Calibri"/>
              </a:rPr>
              <a:t>The go / no-go on the banner comes back to the board in Q2 2027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Kestrel">
      <a:dk1>
        <a:srgbClr val="222222"/>
      </a:dk1>
      <a:lt1>
        <a:srgbClr val="FFFFFF"/>
      </a:lt1>
      <a:dk2>
        <a:srgbClr val="1B3A2F"/>
      </a:dk2>
      <a:lt2>
        <a:srgbClr val="EEF2EE"/>
      </a:lt2>
      <a:accent1>
        <a:srgbClr val="2E6B4F"/>
      </a:accent1>
      <a:accent2>
        <a:srgbClr val="C8A24A"/>
      </a:accent2>
      <a:accent3>
        <a:srgbClr val="7FA88F"/>
      </a:accent3>
      <a:accent4>
        <a:srgbClr val="5B6770"/>
      </a:accent4>
      <a:accent5>
        <a:srgbClr val="A33A2B"/>
      </a:accent5>
      <a:accent6>
        <a:srgbClr val="3F8F5F"/>
      </a:accent6>
      <a:hlink>
        <a:srgbClr val="2E6B4F"/>
      </a:hlink>
      <a:folHlink>
        <a:srgbClr val="5B6770"/>
      </a:folHlink>
    </a:clrScheme>
    <a:fontScheme name="Office">
      <a:majorFont>
        <a:latin typeface="Georg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Repositioning Alvora for profitable growth</dc:title>
  <dc:subject>Alvora should reposition towards discount and fix category margins now to return EBITDA above €1bn by 2028</dc:subject>
  <dc:creator>Consulting Presentation Engine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