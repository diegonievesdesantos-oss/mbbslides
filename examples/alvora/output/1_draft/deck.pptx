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0B1F3A"/>
            </a:solidFill>
          </c:spPr>
          <c:invertIfNegative val="0"/>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148840"/>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377440"/>
            <a:ext cx="9288018" cy="1737360"/>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4160520"/>
            <a:ext cx="8339099" cy="822960"/>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text|4"/>
          <p:cNvSpPr txBox="1"/>
          <p:nvPr/>
        </p:nvSpPr>
        <p:spPr>
          <a:xfrm>
            <a:off x="502920" y="5989320"/>
            <a:ext cx="8339099" cy="320040"/>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411480"/>
          </a:xfrm>
          <a:prstGeom prst="rect">
            <a:avLst/>
          </a:prstGeom>
          <a:noFill/>
        </p:spPr>
        <p:txBody>
          <a:bodyPr wrap="square" lIns="0" rIns="0" tIns="0" bIns="0" anchor="t">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t">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2048256"/>
            <a:ext cx="2494712" cy="237744"/>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graphicFrame>
        <p:nvGraphicFramePr>
          <p:cNvPr id="23" name="cpe|exhibit|chart|22"/>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4" name="cpe|exhibit|label|23"/>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5" name="cpe|exhibit|label|24"/>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6" name="cpe|exhibit|label|25"/>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27" name="cpe|exhibit|label|26"/>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28" name="cpe|exhibit|label|27"/>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29" name="cpe|exhibit|label|28"/>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0" name="cpe|exhibit|label|29"/>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1" name="cpe|exhibit|label|30"/>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2" name="cpe|exhibit|label|31"/>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6441262"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3106331" cy="1773936"/>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3746411" y="2267712"/>
            <a:ext cx="3106331" cy="1773936"/>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4041648"/>
            <a:ext cx="3106331" cy="1773936"/>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3746411" y="4041648"/>
            <a:ext cx="3106331" cy="1773936"/>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2923451"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3837851" y="2340864"/>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5504688"/>
            <a:ext cx="2923451"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3837851" y="5504688"/>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5815584"/>
            <a:ext cx="6258382"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3593592"/>
          </a:xfrm>
          <a:prstGeom prst="line">
            <a:avLst/>
          </a:prstGeom>
          <a:ln w="9525">
            <a:solidFill>
              <a:srgbClr val="1E252D"/>
            </a:solidFill>
            <a:tailEnd type="triangle" w="med" len="med"/>
          </a:ln>
        </p:spPr>
      </p:cxnSp>
      <p:sp>
        <p:nvSpPr>
          <p:cNvPr id="17" name="cpe|exhibit|text|16"/>
          <p:cNvSpPr txBox="1"/>
          <p:nvPr/>
        </p:nvSpPr>
        <p:spPr>
          <a:xfrm>
            <a:off x="640080" y="5870448"/>
            <a:ext cx="6212662"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3959594" y="3296595"/>
            <a:ext cx="567660" cy="567660"/>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4563830" y="3470697"/>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5713789" y="4340127"/>
            <a:ext cx="538362" cy="538362"/>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4870001" y="4499580"/>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2242330" y="2928610"/>
            <a:ext cx="523098" cy="523098"/>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2802004" y="3080431"/>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2877744" y="4007120"/>
            <a:ext cx="494801" cy="494801"/>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3409122" y="4144792"/>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4576111" y="2742003"/>
            <a:ext cx="328653" cy="328653"/>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4941339" y="2796601"/>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7145350" y="1481328"/>
            <a:ext cx="0" cy="4718304"/>
          </a:xfrm>
          <a:prstGeom prst="line">
            <a:avLst/>
          </a:prstGeom>
          <a:ln w="9525">
            <a:solidFill>
              <a:srgbClr val="B7BFC8"/>
            </a:solidFill>
          </a:ln>
        </p:spPr>
      </p:cxnSp>
      <p:sp>
        <p:nvSpPr>
          <p:cNvPr id="30" name="cpe|commentary|text|29"/>
          <p:cNvSpPr txBox="1"/>
          <p:nvPr/>
        </p:nvSpPr>
        <p:spPr>
          <a:xfrm>
            <a:off x="7373950" y="1481328"/>
            <a:ext cx="4314825" cy="4718304"/>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Its experience score trails B and C on freshness and queues</a:t>
            </a:r>
          </a:p>
          <a:p>
            <a:pPr algn="l" marL="155448" indent="-155448">
              <a:lnSpc>
                <a:spcPct val="108000"/>
              </a:lnSpc>
              <a:buClr>
                <a:srgbClr val="1E252D"/>
              </a:buClr>
              <a:buSzPct val="100000"/>
              <a:buFont typeface="Arial"/>
              <a:buChar char="•"/>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638252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8376964"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401568"/>
          </a:xfrm>
          <a:prstGeom prst="line">
            <a:avLst/>
          </a:prstGeom>
          <a:ln w="6350">
            <a:solidFill>
              <a:srgbClr val="E3E7EB"/>
            </a:solidFill>
          </a:ln>
        </p:spPr>
      </p:cxnSp>
      <p:cxnSp>
        <p:nvCxnSpPr>
          <p:cNvPr id="22" name="cpe|exhibit|line|21"/>
          <p:cNvCxnSpPr/>
          <p:nvPr/>
        </p:nvCxnSpPr>
        <p:spPr>
          <a:xfrm>
            <a:off x="5391074" y="2121408"/>
            <a:ext cx="0" cy="3401568"/>
          </a:xfrm>
          <a:prstGeom prst="line">
            <a:avLst/>
          </a:prstGeom>
          <a:ln w="6350">
            <a:solidFill>
              <a:srgbClr val="E3E7EB"/>
            </a:solidFill>
          </a:ln>
        </p:spPr>
      </p:cxnSp>
      <p:cxnSp>
        <p:nvCxnSpPr>
          <p:cNvPr id="23" name="cpe|exhibit|line|22"/>
          <p:cNvCxnSpPr/>
          <p:nvPr/>
        </p:nvCxnSpPr>
        <p:spPr>
          <a:xfrm>
            <a:off x="6440691" y="2121408"/>
            <a:ext cx="0" cy="3401568"/>
          </a:xfrm>
          <a:prstGeom prst="line">
            <a:avLst/>
          </a:prstGeom>
          <a:ln w="6350">
            <a:solidFill>
              <a:srgbClr val="E3E7EB"/>
            </a:solidFill>
          </a:ln>
        </p:spPr>
      </p:cxnSp>
      <p:cxnSp>
        <p:nvCxnSpPr>
          <p:cNvPr id="24" name="cpe|exhibit|line|23"/>
          <p:cNvCxnSpPr/>
          <p:nvPr/>
        </p:nvCxnSpPr>
        <p:spPr>
          <a:xfrm>
            <a:off x="7490308" y="2121408"/>
            <a:ext cx="0" cy="3401568"/>
          </a:xfrm>
          <a:prstGeom prst="line">
            <a:avLst/>
          </a:prstGeom>
          <a:ln w="6350">
            <a:solidFill>
              <a:srgbClr val="E3E7EB"/>
            </a:solidFill>
          </a:ln>
        </p:spPr>
      </p:cxnSp>
      <p:cxnSp>
        <p:nvCxnSpPr>
          <p:cNvPr id="25" name="cpe|exhibit|line|24"/>
          <p:cNvCxnSpPr/>
          <p:nvPr/>
        </p:nvCxnSpPr>
        <p:spPr>
          <a:xfrm>
            <a:off x="8539924" y="2121408"/>
            <a:ext cx="0" cy="3401568"/>
          </a:xfrm>
          <a:prstGeom prst="line">
            <a:avLst/>
          </a:prstGeom>
          <a:ln w="6350">
            <a:solidFill>
              <a:srgbClr val="E3E7EB"/>
            </a:solidFill>
          </a:ln>
        </p:spPr>
      </p:cxnSp>
      <p:cxnSp>
        <p:nvCxnSpPr>
          <p:cNvPr id="26" name="cpe|exhibit|line|25"/>
          <p:cNvCxnSpPr/>
          <p:nvPr/>
        </p:nvCxnSpPr>
        <p:spPr>
          <a:xfrm>
            <a:off x="9589541" y="2121408"/>
            <a:ext cx="0" cy="3401568"/>
          </a:xfrm>
          <a:prstGeom prst="line">
            <a:avLst/>
          </a:prstGeom>
          <a:ln w="6350">
            <a:solidFill>
              <a:srgbClr val="E3E7EB"/>
            </a:solidFill>
          </a:ln>
        </p:spPr>
      </p:cxnSp>
      <p:cxnSp>
        <p:nvCxnSpPr>
          <p:cNvPr id="27" name="cpe|exhibit|line|26"/>
          <p:cNvCxnSpPr/>
          <p:nvPr/>
        </p:nvCxnSpPr>
        <p:spPr>
          <a:xfrm>
            <a:off x="10639158" y="2121408"/>
            <a:ext cx="0" cy="3401568"/>
          </a:xfrm>
          <a:prstGeom prst="line">
            <a:avLst/>
          </a:prstGeom>
          <a:ln w="6350">
            <a:solidFill>
              <a:srgbClr val="E3E7EB"/>
            </a:solidFill>
          </a:ln>
        </p:spPr>
      </p:cxnSp>
      <p:cxnSp>
        <p:nvCxnSpPr>
          <p:cNvPr id="28" name="cpe|exhibit|connector|27"/>
          <p:cNvCxnSpPr/>
          <p:nvPr/>
        </p:nvCxnSpPr>
        <p:spPr>
          <a:xfrm>
            <a:off x="3816648" y="2075688"/>
            <a:ext cx="0" cy="3447288"/>
          </a:xfrm>
          <a:prstGeom prst="line">
            <a:avLst/>
          </a:prstGeom>
          <a:ln w="9525">
            <a:solidFill>
              <a:srgbClr val="00A3AD"/>
            </a:solidFill>
            <a:prstDash val="dash"/>
          </a:ln>
        </p:spPr>
      </p:cxnSp>
      <p:sp>
        <p:nvSpPr>
          <p:cNvPr id="29" name="cpe|exhibit|label|28"/>
          <p:cNvSpPr txBox="1"/>
          <p:nvPr/>
        </p:nvSpPr>
        <p:spPr>
          <a:xfrm>
            <a:off x="3359448" y="5541264"/>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57471"/>
            <a:ext cx="3093987" cy="294803"/>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57471"/>
            <a:ext cx="298425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688336"/>
            <a:ext cx="11185855" cy="0"/>
          </a:xfrm>
          <a:prstGeom prst="line">
            <a:avLst/>
          </a:prstGeom>
          <a:ln w="6350">
            <a:solidFill>
              <a:srgbClr val="E3E7EB"/>
            </a:solidFill>
          </a:ln>
        </p:spPr>
      </p:cxnSp>
      <p:sp>
        <p:nvSpPr>
          <p:cNvPr id="34" name="cpe|exhibit|text|33"/>
          <p:cNvSpPr txBox="1"/>
          <p:nvPr/>
        </p:nvSpPr>
        <p:spPr>
          <a:xfrm>
            <a:off x="502920" y="2688336"/>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824399"/>
            <a:ext cx="4143604" cy="294803"/>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824399"/>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255264"/>
            <a:ext cx="11185855" cy="0"/>
          </a:xfrm>
          <a:prstGeom prst="line">
            <a:avLst/>
          </a:prstGeom>
          <a:ln w="6350">
            <a:solidFill>
              <a:srgbClr val="E3E7EB"/>
            </a:solidFill>
          </a:ln>
        </p:spPr>
      </p:cxnSp>
      <p:sp>
        <p:nvSpPr>
          <p:cNvPr id="38" name="cpe|exhibit|text|37"/>
          <p:cNvSpPr txBox="1"/>
          <p:nvPr/>
        </p:nvSpPr>
        <p:spPr>
          <a:xfrm>
            <a:off x="502920" y="3255264"/>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391327"/>
            <a:ext cx="6242837" cy="294803"/>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391327"/>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3822192"/>
            <a:ext cx="11185855" cy="0"/>
          </a:xfrm>
          <a:prstGeom prst="line">
            <a:avLst/>
          </a:prstGeom>
          <a:ln w="6350">
            <a:solidFill>
              <a:srgbClr val="E3E7EB"/>
            </a:solidFill>
          </a:ln>
        </p:spPr>
      </p:cxnSp>
      <p:sp>
        <p:nvSpPr>
          <p:cNvPr id="42" name="cpe|exhibit|text|41"/>
          <p:cNvSpPr txBox="1"/>
          <p:nvPr/>
        </p:nvSpPr>
        <p:spPr>
          <a:xfrm>
            <a:off x="502920" y="3822192"/>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3958255"/>
            <a:ext cx="6242837" cy="294803"/>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3958255"/>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389120"/>
            <a:ext cx="11185855" cy="0"/>
          </a:xfrm>
          <a:prstGeom prst="line">
            <a:avLst/>
          </a:prstGeom>
          <a:ln w="6350">
            <a:solidFill>
              <a:srgbClr val="E3E7EB"/>
            </a:solidFill>
          </a:ln>
        </p:spPr>
      </p:cxnSp>
      <p:sp>
        <p:nvSpPr>
          <p:cNvPr id="46" name="cpe|exhibit|text|45"/>
          <p:cNvSpPr txBox="1"/>
          <p:nvPr/>
        </p:nvSpPr>
        <p:spPr>
          <a:xfrm>
            <a:off x="502920" y="4389120"/>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604553"/>
            <a:ext cx="2044370" cy="294803"/>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604553"/>
            <a:ext cx="1934642" cy="294803"/>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604553"/>
            <a:ext cx="3093987" cy="294803"/>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604553"/>
            <a:ext cx="2856243"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660514"/>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403385"/>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4956048"/>
            <a:ext cx="11185855" cy="0"/>
          </a:xfrm>
          <a:prstGeom prst="line">
            <a:avLst/>
          </a:prstGeom>
          <a:ln w="6350">
            <a:solidFill>
              <a:srgbClr val="E3E7EB"/>
            </a:solidFill>
          </a:ln>
        </p:spPr>
      </p:cxnSp>
      <p:sp>
        <p:nvSpPr>
          <p:cNvPr id="54" name="cpe|exhibit|text|53"/>
          <p:cNvSpPr txBox="1"/>
          <p:nvPr/>
        </p:nvSpPr>
        <p:spPr>
          <a:xfrm>
            <a:off x="502920" y="495604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092111"/>
            <a:ext cx="4143604" cy="294803"/>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092111"/>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522976"/>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663574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1008857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7390181" cy="1914525"/>
        </p:xfrm>
        <a:graphic>
          <a:graphicData uri="http://schemas.openxmlformats.org/drawingml/2006/table">
            <a:tbl>
              <a:tblPr firstRow="0" bandRow="0">
                <a:tableStyleId>{2D5ABB26-0587-4C30-8999-92F81FD0307C}</a:tableStyleId>
              </a:tblPr>
              <a:tblGrid>
                <a:gridCol w="4206240"/>
                <a:gridCol w="716798"/>
                <a:gridCol w="856875"/>
                <a:gridCol w="805134"/>
                <a:gridCol w="805134"/>
              </a:tblGrid>
              <a:tr h="464058">
                <a:tc>
                  <a:txBody>
                    <a:bodyPr wrap="square"/>
                    <a:lstStyle/>
                    <a:p>
                      <a:pPr algn="l"/>
                      <a:r>
                        <a:rPr sz="11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1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1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1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1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1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1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483489">
                <a:tc>
                  <a:txBody>
                    <a:bodyPr wrap="square"/>
                    <a:lstStyle/>
                    <a:p>
                      <a:pPr algn="l"/>
                      <a:r>
                        <a:rPr sz="11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1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1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1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483489">
                <a:tc>
                  <a:txBody>
                    <a:bodyPr wrap="square"/>
                    <a:lstStyle/>
                    <a:p>
                      <a:pPr algn="l"/>
                      <a:r>
                        <a:rPr sz="11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1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1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1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1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7371662" y="2488883"/>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7371662" y="2972372"/>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7371662" y="3455861"/>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8094269" y="1481328"/>
            <a:ext cx="0" cy="4718304"/>
          </a:xfrm>
          <a:prstGeom prst="line">
            <a:avLst/>
          </a:prstGeom>
          <a:ln w="9525">
            <a:solidFill>
              <a:srgbClr val="B7BFC8"/>
            </a:solidFill>
          </a:ln>
        </p:spPr>
      </p:cxnSp>
      <p:sp>
        <p:nvSpPr>
          <p:cNvPr id="11" name="cpe|commentary|text|10"/>
          <p:cNvSpPr txBox="1"/>
          <p:nvPr/>
        </p:nvSpPr>
        <p:spPr>
          <a:xfrm>
            <a:off x="8322869" y="1481328"/>
            <a:ext cx="3365906" cy="4718304"/>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Wave 1 is self-funding by Q4 2026</a:t>
            </a:r>
          </a:p>
          <a:p>
            <a:pPr algn="l" marL="155448" indent="-155448">
              <a:lnSpc>
                <a:spcPct val="108000"/>
              </a:lnSpc>
              <a:buClr>
                <a:srgbClr val="1E252D"/>
              </a:buClr>
              <a:buSzPct val="100000"/>
              <a:buFont typeface="Arial"/>
              <a:buChar char="•"/>
            </a:pPr>
            <a:r>
              <a:rPr sz="120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