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chart1.xml><?xml version="1.0" encoding="utf-8"?>
<c:chartSpace xmlns:c="http://schemas.openxmlformats.org/drawingml/2006/chart" xmlns:a="http://schemas.openxmlformats.org/drawingml/2006/main" xmlns:r="http://schemas.openxmlformats.org/officeDocument/2006/relationships">
  <c:roundedCorners val="0"/>
  <c:date1904 val="0"/>
  <c:chart>
    <c:autoTitleDeleted val="1"/>
    <c:plotArea>
      <c:layout>
        <c:manualLayout>
          <c:layoutTarget val="inner"/>
          <c:xMode val="edge"/>
          <c:yMode val="edge"/>
          <c:x val="0.01"/>
          <c:y val="0.01064"/>
          <c:w val="0.83298"/>
          <c:h val="0.92926"/>
        </c:manualLayout>
      </c:layout>
      <c:barChart>
        <c:barDir val="col"/>
        <c:grouping val="stacked"/>
        <c:ser>
          <c:idx val="0"/>
          <c:order val="0"/>
          <c:tx>
            <c:strRef>
              <c:f>Sheet1!$B$1</c:f>
              <c:strCache>
                <c:ptCount val="1"/>
                <c:pt idx="0">
                  <c:v>Discount</c:v>
                </c:pt>
              </c:strCache>
            </c:strRef>
          </c:tx>
          <c:spPr>
            <a:solidFill>
              <a:srgbClr val="0B1F3A"/>
            </a:solidFill>
            <a:ln w="9525">
              <a:solidFill>
                <a:srgbClr val="FFFFFF"/>
              </a:solidFill>
            </a:ln>
          </c:spPr>
          <c:dLbls>
            <c:numFmt formatCode="#,##0.0;-#,##0.0" sourceLinked="0"/>
            <c:txPr>
              <a:bodyPr/>
              <a:lstStyle/>
              <a:p>
                <a:pPr>
                  <a:defRPr sz="1050" b="0">
                    <a:solidFill>
                      <a:srgbClr val="FFFFFF"/>
                    </a:solidFill>
                    <a:latin typeface="Arial"/>
                  </a:defRPr>
                </a:pPr>
              </a:p>
            </c:txPr>
            <c:dLblPos val="ctr"/>
            <c:showLegendKey val="0"/>
            <c:showVal val="1"/>
            <c:showCatName val="0"/>
            <c:showSerName val="0"/>
            <c:showPercent val="0"/>
            <c:showBubbleSize val="0"/>
            <c:showLeaderLines val="1"/>
          </c:dLbls>
          <c:cat>
            <c:strRef>
              <c:f>Sheet1!$A$2:$A$6</c:f>
              <c:strCache>
                <c:ptCount val="5"/>
                <c:pt idx="0">
                  <c:v>2021</c:v>
                </c:pt>
                <c:pt idx="1">
                  <c:v>2022</c:v>
                </c:pt>
                <c:pt idx="2">
                  <c:v>2023</c:v>
                </c:pt>
                <c:pt idx="3">
                  <c:v>2024</c:v>
                </c:pt>
                <c:pt idx="4">
                  <c:v>2025</c:v>
                </c:pt>
              </c:strCache>
            </c:strRef>
          </c:cat>
          <c:val>
            <c:numRef>
              <c:f>Sheet1!$B$2:$B$6</c:f>
              <c:numCache>
                <c:formatCode>General</c:formatCode>
                <c:ptCount val="5"/>
                <c:pt idx="0">
                  <c:v>28.2</c:v>
                </c:pt>
                <c:pt idx="1">
                  <c:v>30.4</c:v>
                </c:pt>
                <c:pt idx="2">
                  <c:v>32.8</c:v>
                </c:pt>
                <c:pt idx="3">
                  <c:v>35.3</c:v>
                </c:pt>
                <c:pt idx="4">
                  <c:v>38.0</c:v>
                </c:pt>
              </c:numCache>
            </c:numRef>
          </c:val>
        </c:ser>
        <c:ser>
          <c:idx val="1"/>
          <c:order val="1"/>
          <c:tx>
            <c:strRef>
              <c:f>Sheet1!$C$1</c:f>
              <c:strCache>
                <c:ptCount val="1"/>
                <c:pt idx="0">
                  <c:v>Supermarkets</c:v>
                </c:pt>
              </c:strCache>
            </c:strRef>
          </c:tx>
          <c:spPr>
            <a:solidFill>
              <a:srgbClr val="C9D0D8"/>
            </a:solidFill>
            <a:ln w="9525">
              <a:solidFill>
                <a:srgbClr val="FFFFFF"/>
              </a:solidFill>
            </a:ln>
          </c:spPr>
          <c:dLbls>
            <c:numFmt formatCode="#,##0.0;-#,##0.0" sourceLinked="0"/>
            <c:txPr>
              <a:bodyPr/>
              <a:lstStyle/>
              <a:p>
                <a:pPr>
                  <a:defRPr sz="1050" b="0">
                    <a:solidFill>
                      <a:srgbClr val="1E252D"/>
                    </a:solidFill>
                    <a:latin typeface="Arial"/>
                  </a:defRPr>
                </a:pPr>
              </a:p>
            </c:txPr>
            <c:dLblPos val="ctr"/>
            <c:showLegendKey val="0"/>
            <c:showVal val="1"/>
            <c:showCatName val="0"/>
            <c:showSerName val="0"/>
            <c:showPercent val="0"/>
            <c:showBubbleSize val="0"/>
            <c:showLeaderLines val="1"/>
          </c:dLbls>
          <c:cat>
            <c:strRef>
              <c:f>Sheet1!$A$2:$A$6</c:f>
              <c:strCache>
                <c:ptCount val="5"/>
                <c:pt idx="0">
                  <c:v>2021</c:v>
                </c:pt>
                <c:pt idx="1">
                  <c:v>2022</c:v>
                </c:pt>
                <c:pt idx="2">
                  <c:v>2023</c:v>
                </c:pt>
                <c:pt idx="3">
                  <c:v>2024</c:v>
                </c:pt>
                <c:pt idx="4">
                  <c:v>2025</c:v>
                </c:pt>
              </c:strCache>
            </c:strRef>
          </c:cat>
          <c:val>
            <c:numRef>
              <c:f>Sheet1!$C$2:$C$6</c:f>
              <c:numCache>
                <c:formatCode>General</c:formatCode>
                <c:ptCount val="5"/>
                <c:pt idx="0">
                  <c:v>48.1</c:v>
                </c:pt>
                <c:pt idx="1">
                  <c:v>49.0</c:v>
                </c:pt>
                <c:pt idx="2">
                  <c:v>50.1</c:v>
                </c:pt>
                <c:pt idx="3">
                  <c:v>51.1</c:v>
                </c:pt>
                <c:pt idx="4">
                  <c:v>52.0</c:v>
                </c:pt>
              </c:numCache>
            </c:numRef>
          </c:val>
        </c:ser>
        <c:ser>
          <c:idx val="2"/>
          <c:order val="2"/>
          <c:tx>
            <c:strRef>
              <c:f>Sheet1!$D$1</c:f>
              <c:strCache>
                <c:ptCount val="1"/>
                <c:pt idx="0">
                  <c:v>Hypermarkets</c:v>
                </c:pt>
              </c:strCache>
            </c:strRef>
          </c:tx>
          <c:spPr>
            <a:solidFill>
              <a:srgbClr val="E3E7EB"/>
            </a:solidFill>
            <a:ln w="9525">
              <a:solidFill>
                <a:srgbClr val="FFFFFF"/>
              </a:solidFill>
            </a:ln>
          </c:spPr>
          <c:dLbls>
            <c:numFmt formatCode="#,##0.0;-#,##0.0" sourceLinked="0"/>
            <c:txPr>
              <a:bodyPr/>
              <a:lstStyle/>
              <a:p>
                <a:pPr>
                  <a:defRPr sz="1050" b="0">
                    <a:solidFill>
                      <a:srgbClr val="1E252D"/>
                    </a:solidFill>
                    <a:latin typeface="Arial"/>
                  </a:defRPr>
                </a:pPr>
              </a:p>
            </c:txPr>
            <c:dLblPos val="ctr"/>
            <c:showLegendKey val="0"/>
            <c:showVal val="1"/>
            <c:showCatName val="0"/>
            <c:showSerName val="0"/>
            <c:showPercent val="0"/>
            <c:showBubbleSize val="0"/>
            <c:showLeaderLines val="1"/>
          </c:dLbls>
          <c:cat>
            <c:strRef>
              <c:f>Sheet1!$A$2:$A$6</c:f>
              <c:strCache>
                <c:ptCount val="5"/>
                <c:pt idx="0">
                  <c:v>2021</c:v>
                </c:pt>
                <c:pt idx="1">
                  <c:v>2022</c:v>
                </c:pt>
                <c:pt idx="2">
                  <c:v>2023</c:v>
                </c:pt>
                <c:pt idx="3">
                  <c:v>2024</c:v>
                </c:pt>
                <c:pt idx="4">
                  <c:v>2025</c:v>
                </c:pt>
              </c:strCache>
            </c:strRef>
          </c:cat>
          <c:val>
            <c:numRef>
              <c:f>Sheet1!$D$2:$D$6</c:f>
              <c:numCache>
                <c:formatCode>General</c:formatCode>
                <c:ptCount val="5"/>
                <c:pt idx="0">
                  <c:v>25.2</c:v>
                </c:pt>
                <c:pt idx="1">
                  <c:v>24.9</c:v>
                </c:pt>
                <c:pt idx="2">
                  <c:v>24.6</c:v>
                </c:pt>
                <c:pt idx="3">
                  <c:v>24.3</c:v>
                </c:pt>
                <c:pt idx="4">
                  <c:v>24.0</c:v>
                </c:pt>
              </c:numCache>
            </c:numRef>
          </c:val>
        </c:ser>
        <c:ser>
          <c:idx val="3"/>
          <c:order val="3"/>
          <c:tx>
            <c:strRef>
              <c:f>Sheet1!$E$1</c:f>
              <c:strCache>
                <c:ptCount val="1"/>
                <c:pt idx="0">
                  <c:v>Convenience</c:v>
                </c:pt>
              </c:strCache>
            </c:strRef>
          </c:tx>
          <c:spPr>
            <a:solidFill>
              <a:srgbClr val="B7BFC8"/>
            </a:solidFill>
            <a:ln w="9525">
              <a:solidFill>
                <a:srgbClr val="FFFFFF"/>
              </a:solidFill>
            </a:ln>
          </c:spPr>
          <c:dLbls>
            <c:numFmt formatCode="#,##0.0;-#,##0.0" sourceLinked="0"/>
            <c:txPr>
              <a:bodyPr/>
              <a:lstStyle/>
              <a:p>
                <a:pPr>
                  <a:defRPr sz="1050" b="0">
                    <a:solidFill>
                      <a:srgbClr val="1E252D"/>
                    </a:solidFill>
                    <a:latin typeface="Arial"/>
                  </a:defRPr>
                </a:pPr>
              </a:p>
            </c:txPr>
            <c:dLblPos val="ctr"/>
            <c:showLegendKey val="0"/>
            <c:showVal val="1"/>
            <c:showCatName val="0"/>
            <c:showSerName val="0"/>
            <c:showPercent val="0"/>
            <c:showBubbleSize val="0"/>
            <c:showLeaderLines val="1"/>
          </c:dLbls>
          <c:cat>
            <c:strRef>
              <c:f>Sheet1!$A$2:$A$6</c:f>
              <c:strCache>
                <c:ptCount val="5"/>
                <c:pt idx="0">
                  <c:v>2021</c:v>
                </c:pt>
                <c:pt idx="1">
                  <c:v>2022</c:v>
                </c:pt>
                <c:pt idx="2">
                  <c:v>2023</c:v>
                </c:pt>
                <c:pt idx="3">
                  <c:v>2024</c:v>
                </c:pt>
                <c:pt idx="4">
                  <c:v>2025</c:v>
                </c:pt>
              </c:strCache>
            </c:strRef>
          </c:cat>
          <c:val>
            <c:numRef>
              <c:f>Sheet1!$E$2:$E$6</c:f>
              <c:numCache>
                <c:formatCode>General</c:formatCode>
                <c:ptCount val="5"/>
                <c:pt idx="0">
                  <c:v>11.5</c:v>
                </c:pt>
                <c:pt idx="1">
                  <c:v>12.1</c:v>
                </c:pt>
                <c:pt idx="2">
                  <c:v>12.7</c:v>
                </c:pt>
                <c:pt idx="3">
                  <c:v>13.3</c:v>
                </c:pt>
                <c:pt idx="4">
                  <c:v>14.0</c:v>
                </c:pt>
              </c:numCache>
            </c:numRef>
          </c:val>
        </c:ser>
        <c:ser>
          <c:idx val="4"/>
          <c:order val="4"/>
          <c:tx>
            <c:strRef>
              <c:f>Sheet1!$F$1</c:f>
              <c:strCache>
                <c:ptCount val="1"/>
                <c:pt idx="0">
                  <c:v>Online</c:v>
                </c:pt>
              </c:strCache>
            </c:strRef>
          </c:tx>
          <c:spPr>
            <a:solidFill>
              <a:srgbClr val="00A3AD"/>
            </a:solidFill>
            <a:ln w="9525">
              <a:solidFill>
                <a:srgbClr val="FFFFFF"/>
              </a:solidFill>
            </a:ln>
          </c:spPr>
          <c:dLbls>
            <c:numFmt formatCode="#,##0.0;-#,##0.0" sourceLinked="0"/>
            <c:txPr>
              <a:bodyPr/>
              <a:lstStyle/>
              <a:p>
                <a:pPr>
                  <a:defRPr sz="1050" b="0">
                    <a:solidFill>
                      <a:srgbClr val="1E252D"/>
                    </a:solidFill>
                    <a:latin typeface="Arial"/>
                  </a:defRPr>
                </a:pPr>
              </a:p>
            </c:txPr>
            <c:dLblPos val="ctr"/>
            <c:showLegendKey val="0"/>
            <c:showVal val="1"/>
            <c:showCatName val="0"/>
            <c:showSerName val="0"/>
            <c:showPercent val="0"/>
            <c:showBubbleSize val="0"/>
            <c:showLeaderLines val="1"/>
          </c:dLbls>
          <c:cat>
            <c:strRef>
              <c:f>Sheet1!$A$2:$A$6</c:f>
              <c:strCache>
                <c:ptCount val="5"/>
                <c:pt idx="0">
                  <c:v>2021</c:v>
                </c:pt>
                <c:pt idx="1">
                  <c:v>2022</c:v>
                </c:pt>
                <c:pt idx="2">
                  <c:v>2023</c:v>
                </c:pt>
                <c:pt idx="3">
                  <c:v>2024</c:v>
                </c:pt>
                <c:pt idx="4">
                  <c:v>2025</c:v>
                </c:pt>
              </c:strCache>
            </c:strRef>
          </c:cat>
          <c:val>
            <c:numRef>
              <c:f>Sheet1!$F$2:$F$6</c:f>
              <c:numCache>
                <c:formatCode>General</c:formatCode>
                <c:ptCount val="5"/>
                <c:pt idx="0">
                  <c:v>8.3</c:v>
                </c:pt>
                <c:pt idx="1">
                  <c:v>9.5</c:v>
                </c:pt>
                <c:pt idx="2">
                  <c:v>10.9</c:v>
                </c:pt>
                <c:pt idx="3">
                  <c:v>12.4</c:v>
                </c:pt>
                <c:pt idx="4">
                  <c:v>14.0</c:v>
                </c:pt>
              </c:numCache>
            </c:numRef>
          </c:val>
        </c:ser>
        <c:gapWidth val="60"/>
        <c:overlap val="100"/>
        <c:axId val="-2068027336"/>
        <c:axId val="-2113994440"/>
      </c:barChart>
      <c:catAx>
        <c:axId val="-2068027336"/>
        <c:scaling>
          <c:orientation val="minMax"/>
        </c:scaling>
        <c:delete val="0"/>
        <c:axPos val="b"/>
        <c:majorTickMark val="none"/>
        <c:minorTickMark val="none"/>
        <c:tickLblPos val="low"/>
        <c:spPr>
          <a:ln w="9525">
            <a:solidFill>
              <a:srgbClr val="B7BFC8"/>
            </a:solidFill>
          </a:ln>
        </c:spPr>
        <c:txPr>
          <a:bodyPr/>
          <a:lstStyle/>
          <a:p>
            <a:pPr>
              <a:defRPr sz="1000" b="0">
                <a:solidFill>
                  <a:srgbClr val="1E252D"/>
                </a:solidFill>
                <a:latin typeface="Arial"/>
              </a:defRPr>
            </a:pPr>
          </a:p>
        </c:txPr>
        <c:crossAx val="-2113994440"/>
        <c:crosses val="autoZero"/>
        <c:auto val="1"/>
        <c:lblAlgn val="ctr"/>
        <c:lblOffset val="100"/>
        <c:noMultiLvlLbl val="0"/>
      </c:catAx>
      <c:valAx>
        <c:axId val="-2113994440"/>
        <c:scaling>
          <c:max val="175.0"/>
          <c:min val="0.0"/>
        </c:scaling>
        <c:delete/>
        <c:axPos val="l"/>
        <c:majorTickMark val="none"/>
        <c:minorTickMark val="none"/>
        <c:tickLblPos val="nextTo"/>
        <c:crossAx val="-2068027336"/>
        <c:crosses val="autoZero"/>
        <c:majorUnit val="50.0"/>
      </c:valAx>
      <c:spPr>
        <a:noFill/>
        <a:ln>
          <a:noFill/>
        </a:ln>
      </c:spPr>
    </c:plotArea>
    <c:dispBlanksAs val="gap"/>
  </c:chart>
  <c:spPr>
    <a:noFill/>
    <a:ln>
      <a:noFill/>
    </a:ln>
  </c:spPr>
  <c:txPr>
    <a:bodyPr/>
    <a:lstStyle/>
    <a:p>
      <a:pPr>
        <a:defRPr sz="1100">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roundedCorners val="0"/>
  <c:date1904 val="0"/>
  <c:chart>
    <c:autoTitleDeleted val="1"/>
    <c:plotArea>
      <c:layout>
        <c:manualLayout>
          <c:layoutTarget val="inner"/>
          <c:xMode val="edge"/>
          <c:yMode val="edge"/>
          <c:x val="0.01"/>
          <c:y val="0.02552"/>
          <c:w val="0.88831"/>
          <c:h val="0.83027"/>
        </c:manualLayout>
      </c:layout>
      <c:barChart>
        <c:barDir val="col"/>
        <c:grouping val="clustered"/>
        <c:ser>
          <c:idx val="0"/>
          <c:order val="0"/>
          <c:tx>
            <c:strRef>
              <c:f>Sheet1!$B$1</c:f>
              <c:strCache>
                <c:ptCount val="1"/>
                <c:pt idx="0">
                  <c:v>Alvora revenue (€bn)</c:v>
                </c:pt>
              </c:strCache>
            </c:strRef>
          </c:tx>
          <c:spPr>
            <a:solidFill>
              <a:srgbClr val="8FA9CC"/>
            </a:solidFill>
          </c:spPr>
          <c:invertIfNegative val="0"/>
          <c:dPt>
            <c:idx val="3"/>
            <c:spPr>
              <a:solidFill>
                <a:srgbClr val="0B1F3A"/>
              </a:solidFill>
            </c:spPr>
          </c:dPt>
          <c:dLbls>
            <c:numFmt formatCode="#,##0.0;-#,##0.0" sourceLinked="0"/>
            <c:txPr>
              <a:bodyPr/>
              <a:lstStyle/>
              <a:p>
                <a:pPr>
                  <a:defRPr sz="1100" b="0">
                    <a:solidFill>
                      <a:srgbClr val="1E252D"/>
                    </a:solidFill>
                    <a:latin typeface="Arial"/>
                  </a:defRPr>
                </a:pPr>
              </a:p>
            </c:txPr>
            <c:dLblPos val="outEnd"/>
            <c:showLegendKey val="0"/>
            <c:showVal val="1"/>
            <c:showCatName val="0"/>
            <c:showSerName val="0"/>
            <c:showPercent val="0"/>
            <c:showBubbleSize val="0"/>
            <c:showLeaderLines val="1"/>
          </c:dLbls>
          <c:cat>
            <c:strRef>
              <c:f>Sheet1!$A$2:$A$5</c:f>
              <c:strCache>
                <c:ptCount val="4"/>
                <c:pt idx="0">
                  <c:v>2022</c:v>
                </c:pt>
                <c:pt idx="1">
                  <c:v>2023</c:v>
                </c:pt>
                <c:pt idx="2">
                  <c:v>2024</c:v>
                </c:pt>
                <c:pt idx="3">
                  <c:v>2025</c:v>
                </c:pt>
              </c:strCache>
            </c:strRef>
          </c:cat>
          <c:val>
            <c:numRef>
              <c:f>Sheet1!$B$2:$B$5</c:f>
              <c:numCache>
                <c:formatCode>General</c:formatCode>
                <c:ptCount val="4"/>
                <c:pt idx="0">
                  <c:v>11.9</c:v>
                </c:pt>
                <c:pt idx="1">
                  <c:v>12.7</c:v>
                </c:pt>
                <c:pt idx="2">
                  <c:v>13.2</c:v>
                </c:pt>
                <c:pt idx="3">
                  <c:v>13.6</c:v>
                </c:pt>
              </c:numCache>
            </c:numRef>
          </c:val>
        </c:ser>
        <c:gapWidth val="60"/>
        <c:axId val="-2068027336"/>
        <c:axId val="-2113994440"/>
      </c:barChart>
      <c:catAx>
        <c:axId val="-2068027336"/>
        <c:scaling>
          <c:orientation val="minMax"/>
        </c:scaling>
        <c:delete val="0"/>
        <c:axPos val="b"/>
        <c:majorTickMark val="none"/>
        <c:minorTickMark val="none"/>
        <c:tickLblPos val="low"/>
        <c:spPr>
          <a:ln w="9525">
            <a:solidFill>
              <a:srgbClr val="B7BFC8"/>
            </a:solidFill>
          </a:ln>
        </c:spPr>
        <c:txPr>
          <a:bodyPr/>
          <a:lstStyle/>
          <a:p>
            <a:pPr>
              <a:defRPr sz="1000" b="0">
                <a:solidFill>
                  <a:srgbClr val="1E252D"/>
                </a:solidFill>
                <a:latin typeface="Arial"/>
              </a:defRPr>
            </a:pPr>
          </a:p>
        </c:txPr>
        <c:crossAx val="-2113994440"/>
        <c:crosses val="autoZero"/>
        <c:auto val="1"/>
        <c:lblAlgn val="ctr"/>
        <c:lblOffset val="100"/>
        <c:noMultiLvlLbl val="0"/>
      </c:catAx>
      <c:valAx>
        <c:axId val="-2113994440"/>
        <c:scaling>
          <c:max val="26.25"/>
          <c:min val="0.0"/>
        </c:scaling>
        <c:delete/>
        <c:axPos val="l"/>
        <c:majorTickMark val="none"/>
        <c:minorTickMark val="none"/>
        <c:tickLblPos val="nextTo"/>
        <c:crossAx val="-2068027336"/>
        <c:crosses val="autoZero"/>
        <c:majorUnit val="5.0"/>
      </c:valAx>
      <c:spPr>
        <a:noFill/>
        <a:ln>
          <a:noFill/>
        </a:ln>
      </c:spPr>
    </c:plotArea>
    <c:dispBlanksAs val="gap"/>
  </c:chart>
  <c:spPr>
    <a:noFill/>
    <a:ln>
      <a:noFill/>
    </a:ln>
  </c:spPr>
  <c:txPr>
    <a:bodyPr/>
    <a:lstStyle/>
    <a:p>
      <a:pPr>
        <a:defRPr sz="1100">
          <a:latin typeface="Aria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roundedCorners val="0"/>
  <c:date1904 val="0"/>
  <c:chart>
    <c:autoTitleDeleted val="1"/>
    <c:plotArea>
      <c:layout>
        <c:manualLayout>
          <c:layoutTarget val="inner"/>
          <c:xMode val="edge"/>
          <c:yMode val="edge"/>
          <c:x val="0.01"/>
          <c:y val="0.04276"/>
          <c:w val="0.88831"/>
          <c:h val="0.88883"/>
        </c:manualLayout>
      </c:layout>
      <c:lineChart>
        <c:grouping val="standard"/>
        <c:varyColors val="0"/>
        <c:ser>
          <c:idx val="0"/>
          <c:order val="0"/>
          <c:tx>
            <c:strRef>
              <c:f>Sheet1!$B$1</c:f>
              <c:strCache>
                <c:ptCount val="1"/>
                <c:pt idx="0">
                  <c:v>Alvora growth</c:v>
                </c:pt>
              </c:strCache>
            </c:strRef>
          </c:tx>
          <c:spPr>
            <a:ln w="31750">
              <a:solidFill>
                <a:srgbClr val="0B1F3A"/>
              </a:solidFill>
            </a:ln>
          </c:spPr>
          <c:marker>
            <c:symbol val="none"/>
          </c:marker>
          <c:cat>
            <c:strRef>
              <c:f>Sheet1!$A$2:$A$5</c:f>
              <c:strCache>
                <c:ptCount val="4"/>
                <c:pt idx="0">
                  <c:v>2022</c:v>
                </c:pt>
                <c:pt idx="1">
                  <c:v>2023</c:v>
                </c:pt>
                <c:pt idx="2">
                  <c:v>2024</c:v>
                </c:pt>
                <c:pt idx="3">
                  <c:v>2025</c:v>
                </c:pt>
              </c:strCache>
            </c:strRef>
          </c:cat>
          <c:val>
            <c:numRef>
              <c:f>Sheet1!$B$2:$B$5</c:f>
              <c:numCache>
                <c:formatCode>General</c:formatCode>
                <c:ptCount val="4"/>
                <c:pt idx="0">
                  <c:v>6.3</c:v>
                </c:pt>
                <c:pt idx="1">
                  <c:v>6.7</c:v>
                </c:pt>
                <c:pt idx="2">
                  <c:v>3.9</c:v>
                </c:pt>
                <c:pt idx="3">
                  <c:v>3.0</c:v>
                </c:pt>
              </c:numCache>
            </c:numRef>
          </c:val>
          <c:smooth val="0"/>
        </c:ser>
        <c:ser>
          <c:idx val="1"/>
          <c:order val="1"/>
          <c:tx>
            <c:strRef>
              <c:f>Sheet1!$C$1</c:f>
              <c:strCache>
                <c:ptCount val="1"/>
                <c:pt idx="0">
                  <c:v>Market growth</c:v>
                </c:pt>
              </c:strCache>
            </c:strRef>
          </c:tx>
          <c:spPr>
            <a:ln w="22225">
              <a:solidFill>
                <a:srgbClr val="8A95A1"/>
              </a:solidFill>
            </a:ln>
          </c:spPr>
          <c:marker>
            <c:symbol val="none"/>
          </c:marker>
          <c:cat>
            <c:strRef>
              <c:f>Sheet1!$A$2:$A$5</c:f>
              <c:strCache>
                <c:ptCount val="4"/>
                <c:pt idx="0">
                  <c:v>2022</c:v>
                </c:pt>
                <c:pt idx="1">
                  <c:v>2023</c:v>
                </c:pt>
                <c:pt idx="2">
                  <c:v>2024</c:v>
                </c:pt>
                <c:pt idx="3">
                  <c:v>2025</c:v>
                </c:pt>
              </c:strCache>
            </c:strRef>
          </c:cat>
          <c:val>
            <c:numRef>
              <c:f>Sheet1!$C$2:$C$5</c:f>
              <c:numCache>
                <c:formatCode>General</c:formatCode>
                <c:ptCount val="4"/>
                <c:pt idx="0">
                  <c:v>3.8</c:v>
                </c:pt>
                <c:pt idx="1">
                  <c:v>4.1</c:v>
                </c:pt>
                <c:pt idx="2">
                  <c:v>4.0</c:v>
                </c:pt>
                <c:pt idx="3">
                  <c:v>4.1</c:v>
                </c:pt>
              </c:numCache>
            </c:numRef>
          </c:val>
          <c:smooth val="0"/>
        </c:ser>
        <c:marker val="1"/>
        <c:smooth val="0"/>
        <c:axId val="2118791784"/>
        <c:axId val="2140495176"/>
      </c:lineChart>
      <c:catAx>
        <c:axId val="2118791784"/>
        <c:scaling>
          <c:orientation val="minMax"/>
        </c:scaling>
        <c:delete/>
        <c:axPos val="b"/>
        <c:majorTickMark val="none"/>
        <c:minorTickMark val="none"/>
        <c:tickLblPos val="low"/>
        <c:spPr>
          <a:ln w="9525">
            <a:solidFill>
              <a:srgbClr val="B7BFC8"/>
            </a:solidFill>
          </a:ln>
        </c:spPr>
        <c:txPr>
          <a:bodyPr/>
          <a:lstStyle/>
          <a:p>
            <a:pPr>
              <a:defRPr sz="1000" b="0">
                <a:solidFill>
                  <a:srgbClr val="1E252D"/>
                </a:solidFill>
                <a:latin typeface="Arial"/>
              </a:defRPr>
            </a:pPr>
          </a:p>
        </c:txPr>
        <c:crossAx val="2140495176"/>
        <c:crosses val="autoZero"/>
        <c:auto val="1"/>
        <c:lblAlgn val="ctr"/>
        <c:lblOffset val="100"/>
        <c:noMultiLvlLbl val="0"/>
      </c:catAx>
      <c:valAx>
        <c:axId val="2140495176"/>
        <c:scaling>
          <c:max val="7.5"/>
          <c:min val="2.5"/>
        </c:scaling>
        <c:delete/>
        <c:axPos val="l"/>
        <c:majorTickMark val="none"/>
        <c:minorTickMark val="none"/>
        <c:tickLblPos val="nextTo"/>
        <c:crossAx val="2118791784"/>
        <c:crosses val="autoZero"/>
        <c:majorUnit val="1.0"/>
      </c:valAx>
      <c:spPr>
        <a:noFill/>
        <a:ln>
          <a:noFill/>
        </a:ln>
      </c:spPr>
    </c:plotArea>
    <c:plotVisOnly val="1"/>
    <c:dispBlanksAs val="gap"/>
    <c:showDLblsOverMax val="0"/>
  </c:chart>
  <c:spPr>
    <a:noFill/>
    <a:ln>
      <a:noFill/>
    </a:ln>
  </c:spPr>
  <c:txPr>
    <a:bodyPr/>
    <a:lstStyle/>
    <a:p>
      <a:pPr>
        <a:defRPr sz="1100">
          <a:latin typeface="Arial"/>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roundedCorners val="0"/>
  <c:date1904 val="0"/>
  <c:chart>
    <c:autoTitleDeleted val="1"/>
    <c:plotArea>
      <c:layout>
        <c:manualLayout>
          <c:layoutTarget val="inner"/>
          <c:xMode val="edge"/>
          <c:yMode val="edge"/>
          <c:x val="0.0"/>
          <c:y val="0.02"/>
          <c:w val="1.0"/>
          <c:h val="0.88532"/>
        </c:manualLayout>
      </c:layout>
      <c:barChart>
        <c:barDir val="col"/>
        <c:grouping val="stacked"/>
        <c:ser>
          <c:idx val="0"/>
          <c:order val="0"/>
          <c:tx>
            <c:strRef>
              <c:f>Sheet1!$B$1</c:f>
              <c:strCache>
                <c:ptCount val="1"/>
                <c:pt idx="0">
                  <c:v>Base</c:v>
                </c:pt>
              </c:strCache>
            </c:strRef>
          </c:tx>
          <c:spPr>
            <a:noFill/>
            <a:ln>
              <a:noFill/>
            </a:ln>
          </c:spPr>
          <c:cat>
            <c:strRef>
              <c:f>Sheet1!$A$2:$A$10</c:f>
              <c:strCache>
                <c:ptCount val="9"/>
                <c:pt idx="0">
                  <c:v>EBITDA 2024</c:v>
                </c:pt>
                <c:pt idx="1">
                  <c:v>Volume</c:v>
                </c:pt>
                <c:pt idx="2">
                  <c:v>Price / mix</c:v>
                </c:pt>
                <c:pt idx="3">
                  <c:v>Grocery margin</c:v>
                </c:pt>
                <c:pt idx="4">
                  <c:v>Convenience margin</c:v>
                </c:pt>
                <c:pt idx="5">
                  <c:v>Labour cost</c:v>
                </c:pt>
                <c:pt idx="6">
                  <c:v>Energy</c:v>
                </c:pt>
                <c:pt idx="7">
                  <c:v>Other</c:v>
                </c:pt>
                <c:pt idx="8">
                  <c:v>EBITDA 2025</c:v>
                </c:pt>
              </c:strCache>
            </c:strRef>
          </c:cat>
          <c:val>
            <c:numRef>
              <c:f>Sheet1!$B$2:$B$10</c:f>
              <c:numCache>
                <c:formatCode>General</c:formatCode>
                <c:ptCount val="9"/>
                <c:pt idx="0">
                  <c:v>0.0</c:v>
                </c:pt>
                <c:pt idx="1">
                  <c:v>174.0</c:v>
                </c:pt>
                <c:pt idx="2">
                  <c:v>226.0</c:v>
                </c:pt>
                <c:pt idx="3">
                  <c:v>179.0</c:v>
                </c:pt>
                <c:pt idx="4">
                  <c:v>138.0</c:v>
                </c:pt>
                <c:pt idx="5">
                  <c:v>116.0</c:v>
                </c:pt>
                <c:pt idx="6">
                  <c:v>102.0</c:v>
                </c:pt>
                <c:pt idx="7">
                  <c:v>102.0</c:v>
                </c:pt>
                <c:pt idx="8">
                  <c:v>0.0</c:v>
                </c:pt>
              </c:numCache>
            </c:numRef>
          </c:val>
        </c:ser>
        <c:ser>
          <c:idx val="1"/>
          <c:order val="1"/>
          <c:tx>
            <c:strRef>
              <c:f>Sheet1!$C$1</c:f>
              <c:strCache>
                <c:ptCount val="1"/>
                <c:pt idx="0">
                  <c:v>Total</c:v>
                </c:pt>
              </c:strCache>
            </c:strRef>
          </c:tx>
          <c:spPr>
            <a:solidFill>
              <a:srgbClr val="0B1F3A"/>
            </a:solidFill>
          </c:spPr>
          <c:cat>
            <c:strRef>
              <c:f>Sheet1!$A$2:$A$10</c:f>
              <c:strCache>
                <c:ptCount val="9"/>
                <c:pt idx="0">
                  <c:v>EBITDA 2024</c:v>
                </c:pt>
                <c:pt idx="1">
                  <c:v>Volume</c:v>
                </c:pt>
                <c:pt idx="2">
                  <c:v>Price / mix</c:v>
                </c:pt>
                <c:pt idx="3">
                  <c:v>Grocery margin</c:v>
                </c:pt>
                <c:pt idx="4">
                  <c:v>Convenience margin</c:v>
                </c:pt>
                <c:pt idx="5">
                  <c:v>Labour cost</c:v>
                </c:pt>
                <c:pt idx="6">
                  <c:v>Energy</c:v>
                </c:pt>
                <c:pt idx="7">
                  <c:v>Other</c:v>
                </c:pt>
                <c:pt idx="8">
                  <c:v>EBITDA 2025</c:v>
                </c:pt>
              </c:strCache>
            </c:strRef>
          </c:cat>
          <c:val>
            <c:numRef>
              <c:f>Sheet1!$C$2:$C$10</c:f>
              <c:numCache>
                <c:formatCode>General</c:formatCode>
                <c:ptCount val="9"/>
                <c:pt idx="0">
                  <c:v>174.0</c:v>
                </c:pt>
                <c:pt idx="1">
                  <c:v>0.0</c:v>
                </c:pt>
                <c:pt idx="2">
                  <c:v>0.0</c:v>
                </c:pt>
                <c:pt idx="3">
                  <c:v>0.0</c:v>
                </c:pt>
                <c:pt idx="4">
                  <c:v>0.0</c:v>
                </c:pt>
                <c:pt idx="5">
                  <c:v>0.0</c:v>
                </c:pt>
                <c:pt idx="6">
                  <c:v>0.0</c:v>
                </c:pt>
                <c:pt idx="7">
                  <c:v>0.0</c:v>
                </c:pt>
                <c:pt idx="8">
                  <c:v>107.0</c:v>
                </c:pt>
              </c:numCache>
            </c:numRef>
          </c:val>
        </c:ser>
        <c:ser>
          <c:idx val="2"/>
          <c:order val="2"/>
          <c:tx>
            <c:strRef>
              <c:f>Sheet1!$D$1</c:f>
              <c:strCache>
                <c:ptCount val="1"/>
                <c:pt idx="0">
                  <c:v>Increase</c:v>
                </c:pt>
              </c:strCache>
            </c:strRef>
          </c:tx>
          <c:spPr>
            <a:solidFill>
              <a:srgbClr val="3D6399"/>
            </a:solidFill>
          </c:spPr>
          <c:dPt>
            <c:idx val="3"/>
            <c:spPr>
              <a:solidFill>
                <a:srgbClr val="00A3AD"/>
              </a:solidFill>
            </c:spPr>
          </c:dPt>
          <c:dPt>
            <c:idx val="4"/>
            <c:spPr>
              <a:solidFill>
                <a:srgbClr val="00A3AD"/>
              </a:solidFill>
            </c:spPr>
          </c:dPt>
          <c:cat>
            <c:strRef>
              <c:f>Sheet1!$A$2:$A$10</c:f>
              <c:strCache>
                <c:ptCount val="9"/>
                <c:pt idx="0">
                  <c:v>EBITDA 2024</c:v>
                </c:pt>
                <c:pt idx="1">
                  <c:v>Volume</c:v>
                </c:pt>
                <c:pt idx="2">
                  <c:v>Price / mix</c:v>
                </c:pt>
                <c:pt idx="3">
                  <c:v>Grocery margin</c:v>
                </c:pt>
                <c:pt idx="4">
                  <c:v>Convenience margin</c:v>
                </c:pt>
                <c:pt idx="5">
                  <c:v>Labour cost</c:v>
                </c:pt>
                <c:pt idx="6">
                  <c:v>Energy</c:v>
                </c:pt>
                <c:pt idx="7">
                  <c:v>Other</c:v>
                </c:pt>
                <c:pt idx="8">
                  <c:v>EBITDA 2025</c:v>
                </c:pt>
              </c:strCache>
            </c:strRef>
          </c:cat>
          <c:val>
            <c:numRef>
              <c:f>Sheet1!$D$2:$D$10</c:f>
              <c:numCache>
                <c:formatCode>General</c:formatCode>
                <c:ptCount val="9"/>
                <c:pt idx="0">
                  <c:v>0.0</c:v>
                </c:pt>
                <c:pt idx="1">
                  <c:v>52.0</c:v>
                </c:pt>
                <c:pt idx="2">
                  <c:v>31.0</c:v>
                </c:pt>
                <c:pt idx="3">
                  <c:v>0.0</c:v>
                </c:pt>
                <c:pt idx="4">
                  <c:v>0.0</c:v>
                </c:pt>
                <c:pt idx="5">
                  <c:v>0.0</c:v>
                </c:pt>
                <c:pt idx="6">
                  <c:v>0.0</c:v>
                </c:pt>
                <c:pt idx="7">
                  <c:v>5.0</c:v>
                </c:pt>
                <c:pt idx="8">
                  <c:v>0.0</c:v>
                </c:pt>
              </c:numCache>
            </c:numRef>
          </c:val>
        </c:ser>
        <c:ser>
          <c:idx val="3"/>
          <c:order val="3"/>
          <c:tx>
            <c:strRef>
              <c:f>Sheet1!$E$1</c:f>
              <c:strCache>
                <c:ptCount val="1"/>
                <c:pt idx="0">
                  <c:v>Decrease</c:v>
                </c:pt>
              </c:strCache>
            </c:strRef>
          </c:tx>
          <c:spPr>
            <a:solidFill>
              <a:srgbClr val="3D6399"/>
            </a:solidFill>
          </c:spPr>
          <c:dPt>
            <c:idx val="3"/>
            <c:spPr>
              <a:solidFill>
                <a:srgbClr val="00A3AD"/>
              </a:solidFill>
            </c:spPr>
          </c:dPt>
          <c:dPt>
            <c:idx val="4"/>
            <c:spPr>
              <a:solidFill>
                <a:srgbClr val="00A3AD"/>
              </a:solidFill>
            </c:spPr>
          </c:dPt>
          <c:cat>
            <c:strRef>
              <c:f>Sheet1!$A$2:$A$10</c:f>
              <c:strCache>
                <c:ptCount val="9"/>
                <c:pt idx="0">
                  <c:v>EBITDA 2024</c:v>
                </c:pt>
                <c:pt idx="1">
                  <c:v>Volume</c:v>
                </c:pt>
                <c:pt idx="2">
                  <c:v>Price / mix</c:v>
                </c:pt>
                <c:pt idx="3">
                  <c:v>Grocery margin</c:v>
                </c:pt>
                <c:pt idx="4">
                  <c:v>Convenience margin</c:v>
                </c:pt>
                <c:pt idx="5">
                  <c:v>Labour cost</c:v>
                </c:pt>
                <c:pt idx="6">
                  <c:v>Energy</c:v>
                </c:pt>
                <c:pt idx="7">
                  <c:v>Other</c:v>
                </c:pt>
                <c:pt idx="8">
                  <c:v>EBITDA 2025</c:v>
                </c:pt>
              </c:strCache>
            </c:strRef>
          </c:cat>
          <c:val>
            <c:numRef>
              <c:f>Sheet1!$E$2:$E$10</c:f>
              <c:numCache>
                <c:formatCode>General</c:formatCode>
                <c:ptCount val="9"/>
                <c:pt idx="0">
                  <c:v>0.0</c:v>
                </c:pt>
                <c:pt idx="1">
                  <c:v>0.0</c:v>
                </c:pt>
                <c:pt idx="2">
                  <c:v>0.0</c:v>
                </c:pt>
                <c:pt idx="3">
                  <c:v>78.0</c:v>
                </c:pt>
                <c:pt idx="4">
                  <c:v>41.0</c:v>
                </c:pt>
                <c:pt idx="5">
                  <c:v>22.0</c:v>
                </c:pt>
                <c:pt idx="6">
                  <c:v>14.0</c:v>
                </c:pt>
                <c:pt idx="7">
                  <c:v>0.0</c:v>
                </c:pt>
                <c:pt idx="8">
                  <c:v>0.0</c:v>
                </c:pt>
              </c:numCache>
            </c:numRef>
          </c:val>
        </c:ser>
        <c:gapWidth val="45"/>
        <c:overlap val="100"/>
        <c:axId val="-2068027336"/>
        <c:axId val="-2113994440"/>
      </c:barChart>
      <c:catAx>
        <c:axId val="-2068027336"/>
        <c:scaling>
          <c:orientation val="minMax"/>
        </c:scaling>
        <c:delete val="0"/>
        <c:axPos val="b"/>
        <c:majorTickMark val="none"/>
        <c:minorTickMark val="none"/>
        <c:tickLblPos val="low"/>
        <c:spPr>
          <a:ln w="9525">
            <a:solidFill>
              <a:srgbClr val="B7BFC8"/>
            </a:solidFill>
          </a:ln>
        </c:spPr>
        <c:txPr>
          <a:bodyPr/>
          <a:lstStyle/>
          <a:p>
            <a:pPr>
              <a:defRPr sz="1000" b="0">
                <a:solidFill>
                  <a:srgbClr val="1E252D"/>
                </a:solidFill>
                <a:latin typeface="Arial"/>
              </a:defRPr>
            </a:pPr>
          </a:p>
        </c:txPr>
        <c:crossAx val="-2113994440"/>
        <c:crosses val="autoZero"/>
        <c:auto val="1"/>
        <c:lblAlgn val="ctr"/>
        <c:lblOffset val="100"/>
        <c:noMultiLvlLbl val="0"/>
      </c:catAx>
      <c:valAx>
        <c:axId val="-2113994440"/>
        <c:scaling>
          <c:max val="340.0"/>
          <c:min val="0.0"/>
        </c:scaling>
        <c:delete/>
        <c:axPos val="l"/>
        <c:majorTickMark val="out"/>
        <c:minorTickMark val="none"/>
        <c:tickLblPos val="nextTo"/>
        <c:crossAx val="-2068027336"/>
        <c:crosses val="autoZero"/>
        <c:majorUnit val="100.0"/>
      </c:valAx>
      <c:spPr>
        <a:noFill/>
        <a:ln>
          <a:noFill/>
        </a:ln>
      </c:spPr>
    </c:plotArea>
    <c:dispBlanksAs val="gap"/>
  </c:chart>
  <c:spPr>
    <a:noFill/>
    <a:ln>
      <a:noFill/>
    </a:ln>
  </c:spPr>
  <c:txPr>
    <a:bodyPr/>
    <a:lstStyle/>
    <a:p>
      <a:pPr>
        <a:defRPr sz="1100">
          <a:latin typeface="Arial"/>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roundedCorners val="0"/>
  <c:date1904 val="0"/>
  <c:chart>
    <c:autoTitleDeleted val="1"/>
    <c:plotArea>
      <c:layout>
        <c:manualLayout>
          <c:layoutTarget val="inner"/>
          <c:xMode val="edge"/>
          <c:yMode val="edge"/>
          <c:x val="0.0"/>
          <c:y val="0.02"/>
          <c:w val="1.0"/>
          <c:h val="0.90624"/>
        </c:manualLayout>
      </c:layout>
      <c:barChart>
        <c:barDir val="col"/>
        <c:grouping val="stacked"/>
        <c:ser>
          <c:idx val="0"/>
          <c:order val="0"/>
          <c:tx>
            <c:strRef>
              <c:f>Sheet1!$B$1</c:f>
              <c:strCache>
                <c:ptCount val="1"/>
                <c:pt idx="0">
                  <c:v>Base</c:v>
                </c:pt>
              </c:strCache>
            </c:strRef>
          </c:tx>
          <c:spPr>
            <a:noFill/>
            <a:ln>
              <a:noFill/>
            </a:ln>
          </c:spPr>
          <c:cat>
            <c:strRef>
              <c:f>Sheet1!$A$2:$A$9</c:f>
              <c:strCache>
                <c:ptCount val="8"/>
                <c:pt idx="0">
                  <c:v>EBITDA 2025</c:v>
                </c:pt>
                <c:pt idx="1">
                  <c:v>Pricing &amp; promo</c:v>
                </c:pt>
                <c:pt idx="2">
                  <c:v>Private label</c:v>
                </c:pt>
                <c:pt idx="3">
                  <c:v>Cost programme</c:v>
                </c:pt>
                <c:pt idx="4">
                  <c:v>Discount banner</c:v>
                </c:pt>
                <c:pt idx="5">
                  <c:v>Online hubs</c:v>
                </c:pt>
                <c:pt idx="6">
                  <c:v>Market headwinds</c:v>
                </c:pt>
                <c:pt idx="7">
                  <c:v>EBITDA 2028</c:v>
                </c:pt>
              </c:strCache>
            </c:strRef>
          </c:cat>
          <c:val>
            <c:numRef>
              <c:f>Sheet1!$B$2:$B$9</c:f>
              <c:numCache>
                <c:formatCode>General</c:formatCode>
                <c:ptCount val="8"/>
                <c:pt idx="0">
                  <c:v>0.0</c:v>
                </c:pt>
                <c:pt idx="1">
                  <c:v>157.0</c:v>
                </c:pt>
                <c:pt idx="2">
                  <c:v>217.0</c:v>
                </c:pt>
                <c:pt idx="3">
                  <c:v>262.0</c:v>
                </c:pt>
                <c:pt idx="4">
                  <c:v>332.0</c:v>
                </c:pt>
                <c:pt idx="5">
                  <c:v>387.0</c:v>
                </c:pt>
                <c:pt idx="6">
                  <c:v>367.0</c:v>
                </c:pt>
                <c:pt idx="7">
                  <c:v>0.0</c:v>
                </c:pt>
              </c:numCache>
            </c:numRef>
          </c:val>
        </c:ser>
        <c:ser>
          <c:idx val="1"/>
          <c:order val="1"/>
          <c:tx>
            <c:strRef>
              <c:f>Sheet1!$C$1</c:f>
              <c:strCache>
                <c:ptCount val="1"/>
                <c:pt idx="0">
                  <c:v>Total</c:v>
                </c:pt>
              </c:strCache>
            </c:strRef>
          </c:tx>
          <c:spPr>
            <a:solidFill>
              <a:srgbClr val="0B1F3A"/>
            </a:solidFill>
          </c:spPr>
          <c:cat>
            <c:strRef>
              <c:f>Sheet1!$A$2:$A$9</c:f>
              <c:strCache>
                <c:ptCount val="8"/>
                <c:pt idx="0">
                  <c:v>EBITDA 2025</c:v>
                </c:pt>
                <c:pt idx="1">
                  <c:v>Pricing &amp; promo</c:v>
                </c:pt>
                <c:pt idx="2">
                  <c:v>Private label</c:v>
                </c:pt>
                <c:pt idx="3">
                  <c:v>Cost programme</c:v>
                </c:pt>
                <c:pt idx="4">
                  <c:v>Discount banner</c:v>
                </c:pt>
                <c:pt idx="5">
                  <c:v>Online hubs</c:v>
                </c:pt>
                <c:pt idx="6">
                  <c:v>Market headwinds</c:v>
                </c:pt>
                <c:pt idx="7">
                  <c:v>EBITDA 2028</c:v>
                </c:pt>
              </c:strCache>
            </c:strRef>
          </c:cat>
          <c:val>
            <c:numRef>
              <c:f>Sheet1!$C$2:$C$9</c:f>
              <c:numCache>
                <c:formatCode>General</c:formatCode>
                <c:ptCount val="8"/>
                <c:pt idx="0">
                  <c:v>157.0</c:v>
                </c:pt>
                <c:pt idx="1">
                  <c:v>0.0</c:v>
                </c:pt>
                <c:pt idx="2">
                  <c:v>0.0</c:v>
                </c:pt>
                <c:pt idx="3">
                  <c:v>0.0</c:v>
                </c:pt>
                <c:pt idx="4">
                  <c:v>0.0</c:v>
                </c:pt>
                <c:pt idx="5">
                  <c:v>0.0</c:v>
                </c:pt>
                <c:pt idx="6">
                  <c:v>0.0</c:v>
                </c:pt>
                <c:pt idx="7">
                  <c:v>367.0</c:v>
                </c:pt>
              </c:numCache>
            </c:numRef>
          </c:val>
        </c:ser>
        <c:ser>
          <c:idx val="2"/>
          <c:order val="2"/>
          <c:tx>
            <c:strRef>
              <c:f>Sheet1!$D$1</c:f>
              <c:strCache>
                <c:ptCount val="1"/>
                <c:pt idx="0">
                  <c:v>Increase</c:v>
                </c:pt>
              </c:strCache>
            </c:strRef>
          </c:tx>
          <c:spPr>
            <a:solidFill>
              <a:srgbClr val="2E7D4F"/>
            </a:solidFill>
          </c:spPr>
          <c:cat>
            <c:strRef>
              <c:f>Sheet1!$A$2:$A$9</c:f>
              <c:strCache>
                <c:ptCount val="8"/>
                <c:pt idx="0">
                  <c:v>EBITDA 2025</c:v>
                </c:pt>
                <c:pt idx="1">
                  <c:v>Pricing &amp; promo</c:v>
                </c:pt>
                <c:pt idx="2">
                  <c:v>Private label</c:v>
                </c:pt>
                <c:pt idx="3">
                  <c:v>Cost programme</c:v>
                </c:pt>
                <c:pt idx="4">
                  <c:v>Discount banner</c:v>
                </c:pt>
                <c:pt idx="5">
                  <c:v>Online hubs</c:v>
                </c:pt>
                <c:pt idx="6">
                  <c:v>Market headwinds</c:v>
                </c:pt>
                <c:pt idx="7">
                  <c:v>EBITDA 2028</c:v>
                </c:pt>
              </c:strCache>
            </c:strRef>
          </c:cat>
          <c:val>
            <c:numRef>
              <c:f>Sheet1!$D$2:$D$9</c:f>
              <c:numCache>
                <c:formatCode>General</c:formatCode>
                <c:ptCount val="8"/>
                <c:pt idx="0">
                  <c:v>0.0</c:v>
                </c:pt>
                <c:pt idx="1">
                  <c:v>60.0</c:v>
                </c:pt>
                <c:pt idx="2">
                  <c:v>45.0</c:v>
                </c:pt>
                <c:pt idx="3">
                  <c:v>70.0</c:v>
                </c:pt>
                <c:pt idx="4">
                  <c:v>55.0</c:v>
                </c:pt>
                <c:pt idx="5">
                  <c:v>20.0</c:v>
                </c:pt>
                <c:pt idx="6">
                  <c:v>0.0</c:v>
                </c:pt>
                <c:pt idx="7">
                  <c:v>0.0</c:v>
                </c:pt>
              </c:numCache>
            </c:numRef>
          </c:val>
        </c:ser>
        <c:ser>
          <c:idx val="3"/>
          <c:order val="3"/>
          <c:tx>
            <c:strRef>
              <c:f>Sheet1!$E$1</c:f>
              <c:strCache>
                <c:ptCount val="1"/>
                <c:pt idx="0">
                  <c:v>Decrease</c:v>
                </c:pt>
              </c:strCache>
            </c:strRef>
          </c:tx>
          <c:spPr>
            <a:solidFill>
              <a:srgbClr val="C0392B"/>
            </a:solidFill>
          </c:spPr>
          <c:cat>
            <c:strRef>
              <c:f>Sheet1!$A$2:$A$9</c:f>
              <c:strCache>
                <c:ptCount val="8"/>
                <c:pt idx="0">
                  <c:v>EBITDA 2025</c:v>
                </c:pt>
                <c:pt idx="1">
                  <c:v>Pricing &amp; promo</c:v>
                </c:pt>
                <c:pt idx="2">
                  <c:v>Private label</c:v>
                </c:pt>
                <c:pt idx="3">
                  <c:v>Cost programme</c:v>
                </c:pt>
                <c:pt idx="4">
                  <c:v>Discount banner</c:v>
                </c:pt>
                <c:pt idx="5">
                  <c:v>Online hubs</c:v>
                </c:pt>
                <c:pt idx="6">
                  <c:v>Market headwinds</c:v>
                </c:pt>
                <c:pt idx="7">
                  <c:v>EBITDA 2028</c:v>
                </c:pt>
              </c:strCache>
            </c:strRef>
          </c:cat>
          <c:val>
            <c:numRef>
              <c:f>Sheet1!$E$2:$E$9</c:f>
              <c:numCache>
                <c:formatCode>General</c:formatCode>
                <c:ptCount val="8"/>
                <c:pt idx="0">
                  <c:v>0.0</c:v>
                </c:pt>
                <c:pt idx="1">
                  <c:v>0.0</c:v>
                </c:pt>
                <c:pt idx="2">
                  <c:v>0.0</c:v>
                </c:pt>
                <c:pt idx="3">
                  <c:v>0.0</c:v>
                </c:pt>
                <c:pt idx="4">
                  <c:v>0.0</c:v>
                </c:pt>
                <c:pt idx="5">
                  <c:v>0.0</c:v>
                </c:pt>
                <c:pt idx="6">
                  <c:v>40.0</c:v>
                </c:pt>
                <c:pt idx="7">
                  <c:v>0.0</c:v>
                </c:pt>
              </c:numCache>
            </c:numRef>
          </c:val>
        </c:ser>
        <c:gapWidth val="45"/>
        <c:overlap val="100"/>
        <c:axId val="-2068027336"/>
        <c:axId val="-2113994440"/>
      </c:barChart>
      <c:catAx>
        <c:axId val="-2068027336"/>
        <c:scaling>
          <c:orientation val="minMax"/>
        </c:scaling>
        <c:delete val="0"/>
        <c:axPos val="b"/>
        <c:majorTickMark val="none"/>
        <c:minorTickMark val="none"/>
        <c:tickLblPos val="low"/>
        <c:spPr>
          <a:ln w="9525">
            <a:solidFill>
              <a:srgbClr val="B7BFC8"/>
            </a:solidFill>
          </a:ln>
        </c:spPr>
        <c:txPr>
          <a:bodyPr/>
          <a:lstStyle/>
          <a:p>
            <a:pPr>
              <a:defRPr sz="1000" b="0">
                <a:solidFill>
                  <a:srgbClr val="1E252D"/>
                </a:solidFill>
                <a:latin typeface="Arial"/>
              </a:defRPr>
            </a:pPr>
          </a:p>
        </c:txPr>
        <c:crossAx val="-2113994440"/>
        <c:crosses val="autoZero"/>
        <c:auto val="1"/>
        <c:lblAlgn val="ctr"/>
        <c:lblOffset val="100"/>
        <c:noMultiLvlLbl val="0"/>
      </c:catAx>
      <c:valAx>
        <c:axId val="-2113994440"/>
        <c:scaling>
          <c:max val="540.0"/>
          <c:min val="0.0"/>
        </c:scaling>
        <c:delete/>
        <c:axPos val="l"/>
        <c:majorTickMark val="out"/>
        <c:minorTickMark val="none"/>
        <c:tickLblPos val="nextTo"/>
        <c:crossAx val="-2068027336"/>
        <c:crosses val="autoZero"/>
        <c:majorUnit val="100.0"/>
      </c:valAx>
      <c:spPr>
        <a:noFill/>
        <a:ln>
          <a:noFill/>
        </a:ln>
      </c:spPr>
    </c:plotArea>
    <c:dispBlanksAs val="gap"/>
  </c:chart>
  <c:spPr>
    <a:noFill/>
    <a:ln>
      <a:noFill/>
    </a:ln>
  </c:spPr>
  <c:txPr>
    <a:bodyPr/>
    <a:lstStyle/>
    <a:p>
      <a:pPr>
        <a:defRPr sz="1100">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the board the whole answer on one page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where market growth is coming from The market added €20.7bn in four years; €15.5bn went to discount and online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that Alvora's growth has fallen below the market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that Alvora is weakest where the market grows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what drove the EBITDA decline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Locate the margin erosion by category and region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Alvora's competitive position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target operating model and what changes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implementation plan and its sequencing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Quantify the EBITDA impact of the plan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 ask explicit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chart" Target="../charts/chart3.xml"/><Relationship Id="rId4"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 Id="rId3"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pe|text|fill|1"/>
          <p:cNvSpPr/>
          <p:nvPr/>
        </p:nvSpPr>
        <p:spPr>
          <a:xfrm>
            <a:off x="502920" y="2148840"/>
            <a:ext cx="822960" cy="64008"/>
          </a:xfrm>
          <a:prstGeom prst="rect">
            <a:avLst/>
          </a:prstGeom>
          <a:solidFill>
            <a:srgbClr val="00A3AD"/>
          </a:solidFill>
          <a:ln>
            <a:noFill/>
          </a:ln>
        </p:spPr>
        <p:txBody>
          <a:bodyPr rtlCol="0" anchor="ctr" lIns="0" rIns="0" tIns="0" bIns="0"/>
          <a:lstStyle/>
          <a:p>
            <a:pPr algn="ctr"/>
          </a:p>
        </p:txBody>
      </p:sp>
      <p:sp>
        <p:nvSpPr>
          <p:cNvPr id="3" name="cpe|text|text|2"/>
          <p:cNvSpPr txBox="1"/>
          <p:nvPr/>
        </p:nvSpPr>
        <p:spPr>
          <a:xfrm>
            <a:off x="502920" y="2377440"/>
            <a:ext cx="9288018" cy="1737360"/>
          </a:xfrm>
          <a:prstGeom prst="rect">
            <a:avLst/>
          </a:prstGeom>
          <a:noFill/>
        </p:spPr>
        <p:txBody>
          <a:bodyPr wrap="square" lIns="0" rIns="0" tIns="0" bIns="0" anchor="t">
            <a:noAutofit/>
          </a:bodyPr>
          <a:lstStyle/>
          <a:p>
            <a:pPr algn="l">
              <a:lnSpc>
                <a:spcPct val="100000"/>
              </a:lnSpc>
            </a:pPr>
            <a:r>
              <a:rPr sz="3600" b="1">
                <a:solidFill>
                  <a:srgbClr val="0B1F3A"/>
                </a:solidFill>
                <a:latin typeface="Arial"/>
              </a:rPr>
              <a:t>Repositioning Alvora for profitable growth</a:t>
            </a:r>
          </a:p>
        </p:txBody>
      </p:sp>
      <p:sp>
        <p:nvSpPr>
          <p:cNvPr id="4" name="cpe|text|text|3"/>
          <p:cNvSpPr txBox="1"/>
          <p:nvPr/>
        </p:nvSpPr>
        <p:spPr>
          <a:xfrm>
            <a:off x="502920" y="4160520"/>
            <a:ext cx="8339099" cy="822960"/>
          </a:xfrm>
          <a:prstGeom prst="rect">
            <a:avLst/>
          </a:prstGeom>
          <a:noFill/>
        </p:spPr>
        <p:txBody>
          <a:bodyPr wrap="square" lIns="0" rIns="0" tIns="0" bIns="0" anchor="t">
            <a:noAutofit/>
          </a:bodyPr>
          <a:lstStyle/>
          <a:p>
            <a:pPr algn="l">
              <a:lnSpc>
                <a:spcPct val="100000"/>
              </a:lnSpc>
            </a:pPr>
            <a:r>
              <a:rPr sz="1600" b="0">
                <a:solidFill>
                  <a:srgbClr val="5E6A77"/>
                </a:solidFill>
                <a:latin typeface="Arial"/>
              </a:rPr>
              <a:t>Board discussion: strategic options to restore EBITDA above €1bn by 2028</a:t>
            </a:r>
          </a:p>
        </p:txBody>
      </p:sp>
      <p:sp>
        <p:nvSpPr>
          <p:cNvPr id="5" name="cpe|text|text|4"/>
          <p:cNvSpPr txBox="1"/>
          <p:nvPr/>
        </p:nvSpPr>
        <p:spPr>
          <a:xfrm>
            <a:off x="502920" y="5989320"/>
            <a:ext cx="8339099" cy="320040"/>
          </a:xfrm>
          <a:prstGeom prst="rect">
            <a:avLst/>
          </a:prstGeom>
          <a:noFill/>
        </p:spPr>
        <p:txBody>
          <a:bodyPr wrap="square" lIns="0" rIns="0" tIns="0" bIns="0" anchor="t">
            <a:noAutofit/>
          </a:bodyPr>
          <a:lstStyle/>
          <a:p>
            <a:pPr algn="l">
              <a:lnSpc>
                <a:spcPct val="100000"/>
              </a:lnSpc>
            </a:pPr>
            <a:r>
              <a:rPr sz="1000" b="0">
                <a:solidFill>
                  <a:srgbClr val="5E6A77"/>
                </a:solidFill>
                <a:latin typeface="Arial"/>
              </a:rPr>
              <a:t>Alvora Retail (fictitious)   |   October 2026   |   Illustrative data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pe|chrome|text|1"/>
          <p:cNvSpPr txBox="1"/>
          <p:nvPr/>
        </p:nvSpPr>
        <p:spPr>
          <a:xfrm>
            <a:off x="502920" y="274320"/>
            <a:ext cx="7830099" cy="201168"/>
          </a:xfrm>
          <a:prstGeom prst="rect">
            <a:avLst/>
          </a:prstGeom>
          <a:noFill/>
        </p:spPr>
        <p:txBody>
          <a:bodyPr wrap="square" lIns="0" rIns="0" tIns="0" bIns="0" anchor="t">
            <a:noAutofit/>
          </a:bodyPr>
          <a:lstStyle/>
          <a:p>
            <a:pPr algn="l">
              <a:lnSpc>
                <a:spcPct val="100000"/>
              </a:lnSpc>
            </a:pPr>
            <a:r>
              <a:rPr sz="1000" b="1">
                <a:solidFill>
                  <a:srgbClr val="5E6A77"/>
                </a:solidFill>
                <a:latin typeface="Arial"/>
              </a:rPr>
              <a:t>EXECUTIVE SUMMARY</a:t>
            </a:r>
          </a:p>
        </p:txBody>
      </p:sp>
      <p:sp>
        <p:nvSpPr>
          <p:cNvPr id="3" name="cpe|chrome|text|2"/>
          <p:cNvSpPr txBox="1"/>
          <p:nvPr/>
        </p:nvSpPr>
        <p:spPr>
          <a:xfrm>
            <a:off x="502920" y="475488"/>
            <a:ext cx="10500055" cy="786384"/>
          </a:xfrm>
          <a:prstGeom prst="rect">
            <a:avLst/>
          </a:prstGeom>
          <a:noFill/>
        </p:spPr>
        <p:txBody>
          <a:bodyPr wrap="square" lIns="0" rIns="0" tIns="0" bIns="0" anchor="t">
            <a:noAutofit/>
          </a:bodyPr>
          <a:lstStyle/>
          <a:p>
            <a:pPr algn="l">
              <a:lnSpc>
                <a:spcPct val="100000"/>
              </a:lnSpc>
            </a:pPr>
            <a:r>
              <a:rPr sz="2200" b="1">
                <a:solidFill>
                  <a:srgbClr val="0B1F3A"/>
                </a:solidFill>
                <a:latin typeface="Arial"/>
              </a:rPr>
              <a:t>Alvora can restore EBITDA to €1,067M by 2028 if it repositions towards discount now</a:t>
            </a:r>
          </a:p>
        </p:txBody>
      </p:sp>
      <p:sp>
        <p:nvSpPr>
          <p:cNvPr id="4" name="cpe|chrome|text|3"/>
          <p:cNvSpPr txBox="1"/>
          <p:nvPr/>
        </p:nvSpPr>
        <p:spPr>
          <a:xfrm>
            <a:off x="502920" y="6272784"/>
            <a:ext cx="8808415" cy="402336"/>
          </a:xfrm>
          <a:prstGeom prst="rect">
            <a:avLst/>
          </a:prstGeom>
          <a:noFill/>
        </p:spPr>
        <p:txBody>
          <a:bodyPr wrap="square" lIns="0" rIns="0" tIns="0" bIns="0" anchor="b">
            <a:noAutofit/>
          </a:bodyPr>
          <a:lstStyle/>
          <a:p>
            <a:pPr algn="l">
              <a:lnSpc>
                <a:spcPct val="100000"/>
              </a:lnSpc>
            </a:pPr>
            <a:r>
              <a:rPr sz="800" b="0">
                <a:solidFill>
                  <a:srgbClr val="5E6A77"/>
                </a:solidFill>
                <a:latin typeface="Arial"/>
              </a:rPr>
              <a:t>Source: Alvora management accounts; market model (illustrative)</a:t>
            </a:r>
          </a:p>
        </p:txBody>
      </p:sp>
      <p:sp>
        <p:nvSpPr>
          <p:cNvPr id="5" name="cpe|chrome|text|4"/>
          <p:cNvSpPr txBox="1"/>
          <p:nvPr/>
        </p:nvSpPr>
        <p:spPr>
          <a:xfrm>
            <a:off x="9494215" y="6272784"/>
            <a:ext cx="2194560" cy="402336"/>
          </a:xfrm>
          <a:prstGeom prst="rect">
            <a:avLst/>
          </a:prstGeom>
          <a:noFill/>
        </p:spPr>
        <p:txBody>
          <a:bodyPr wrap="square" lIns="0" rIns="0" tIns="0" bIns="0" anchor="b">
            <a:noAutofit/>
          </a:bodyPr>
          <a:lstStyle/>
          <a:p>
            <a:pPr algn="r">
              <a:lnSpc>
                <a:spcPct val="100000"/>
              </a:lnSpc>
            </a:pPr>
            <a:r>
              <a:rPr sz="900" b="0">
                <a:solidFill>
                  <a:srgbClr val="5E6A77"/>
                </a:solidFill>
                <a:latin typeface="Arial"/>
              </a:rPr>
              <a:t>Illustrative data   2</a:t>
            </a:r>
          </a:p>
        </p:txBody>
      </p:sp>
      <p:sp>
        <p:nvSpPr>
          <p:cNvPr id="6" name="cpe|statements|text|5"/>
          <p:cNvSpPr txBox="1"/>
          <p:nvPr/>
        </p:nvSpPr>
        <p:spPr>
          <a:xfrm>
            <a:off x="502920" y="1517904"/>
            <a:ext cx="411480" cy="1003554"/>
          </a:xfrm>
          <a:prstGeom prst="rect">
            <a:avLst/>
          </a:prstGeom>
          <a:noFill/>
        </p:spPr>
        <p:txBody>
          <a:bodyPr wrap="square" lIns="0" rIns="0" tIns="0" bIns="0" anchor="ctr">
            <a:noAutofit/>
          </a:bodyPr>
          <a:lstStyle/>
          <a:p>
            <a:pPr algn="l">
              <a:lnSpc>
                <a:spcPct val="100000"/>
              </a:lnSpc>
            </a:pPr>
            <a:r>
              <a:rPr sz="1800" b="1">
                <a:solidFill>
                  <a:srgbClr val="00A3AD"/>
                </a:solidFill>
                <a:latin typeface="Arial"/>
              </a:rPr>
              <a:t>1</a:t>
            </a:r>
          </a:p>
        </p:txBody>
      </p:sp>
      <p:sp>
        <p:nvSpPr>
          <p:cNvPr id="7" name="cpe|statements|text|6"/>
          <p:cNvSpPr txBox="1"/>
          <p:nvPr/>
        </p:nvSpPr>
        <p:spPr>
          <a:xfrm>
            <a:off x="1005840" y="1517904"/>
            <a:ext cx="4258233" cy="1003554"/>
          </a:xfrm>
          <a:prstGeom prst="rect">
            <a:avLst/>
          </a:prstGeom>
          <a:noFill/>
        </p:spPr>
        <p:txBody>
          <a:bodyPr wrap="square" lIns="0" rIns="0" tIns="0" bIns="0" anchor="ctr">
            <a:noAutofit/>
          </a:bodyPr>
          <a:lstStyle/>
          <a:p>
            <a:pPr algn="l">
              <a:lnSpc>
                <a:spcPct val="100000"/>
              </a:lnSpc>
            </a:pPr>
            <a:r>
              <a:rPr sz="1400" b="1">
                <a:solidFill>
                  <a:srgbClr val="0B1F3A"/>
                </a:solidFill>
                <a:latin typeface="Arial"/>
              </a:rPr>
              <a:t>The market grows 4% a year, but discount and online capture 75% of it</a:t>
            </a:r>
          </a:p>
        </p:txBody>
      </p:sp>
      <p:sp>
        <p:nvSpPr>
          <p:cNvPr id="8" name="cpe|statements|text|7"/>
          <p:cNvSpPr txBox="1"/>
          <p:nvPr/>
        </p:nvSpPr>
        <p:spPr>
          <a:xfrm>
            <a:off x="5492673" y="1517904"/>
            <a:ext cx="6196102" cy="1003554"/>
          </a:xfrm>
          <a:prstGeom prst="rect">
            <a:avLst/>
          </a:prstGeom>
          <a:noFill/>
        </p:spPr>
        <p:txBody>
          <a:bodyPr wrap="square" lIns="0" rIns="0" tIns="0" bIns="0" anchor="ctr">
            <a:noAutofit/>
          </a:bodyPr>
          <a:lstStyle/>
          <a:p>
            <a:pPr algn="l">
              <a:lnSpc>
                <a:spcPct val="100000"/>
              </a:lnSpc>
            </a:pPr>
            <a:r>
              <a:rPr sz="1200" b="0">
                <a:solidFill>
                  <a:srgbClr val="1E252D"/>
                </a:solidFill>
                <a:latin typeface="Arial"/>
              </a:rPr>
              <a:t>Iberian grocery reached €142bn in 2025; discount (+7.8% CAGR) and online (+14.0%) outgrow supermarkets (+2.0%).</a:t>
            </a:r>
          </a:p>
        </p:txBody>
      </p:sp>
      <p:cxnSp>
        <p:nvCxnSpPr>
          <p:cNvPr id="9" name="cpe|statements|line|8"/>
          <p:cNvCxnSpPr/>
          <p:nvPr/>
        </p:nvCxnSpPr>
        <p:spPr>
          <a:xfrm>
            <a:off x="502920" y="2626614"/>
            <a:ext cx="11185855" cy="0"/>
          </a:xfrm>
          <a:prstGeom prst="line">
            <a:avLst/>
          </a:prstGeom>
          <a:ln w="6350">
            <a:solidFill>
              <a:srgbClr val="E3E7EB"/>
            </a:solidFill>
          </a:ln>
        </p:spPr>
      </p:cxnSp>
      <p:sp>
        <p:nvSpPr>
          <p:cNvPr id="10" name="cpe|statements|text|9"/>
          <p:cNvSpPr txBox="1"/>
          <p:nvPr/>
        </p:nvSpPr>
        <p:spPr>
          <a:xfrm>
            <a:off x="502920" y="2731770"/>
            <a:ext cx="411480" cy="1003554"/>
          </a:xfrm>
          <a:prstGeom prst="rect">
            <a:avLst/>
          </a:prstGeom>
          <a:noFill/>
        </p:spPr>
        <p:txBody>
          <a:bodyPr wrap="square" lIns="0" rIns="0" tIns="0" bIns="0" anchor="ctr">
            <a:noAutofit/>
          </a:bodyPr>
          <a:lstStyle/>
          <a:p>
            <a:pPr algn="l">
              <a:lnSpc>
                <a:spcPct val="100000"/>
              </a:lnSpc>
            </a:pPr>
            <a:r>
              <a:rPr sz="1800" b="1">
                <a:solidFill>
                  <a:srgbClr val="00A3AD"/>
                </a:solidFill>
                <a:latin typeface="Arial"/>
              </a:rPr>
              <a:t>2</a:t>
            </a:r>
          </a:p>
        </p:txBody>
      </p:sp>
      <p:sp>
        <p:nvSpPr>
          <p:cNvPr id="11" name="cpe|statements|text|10"/>
          <p:cNvSpPr txBox="1"/>
          <p:nvPr/>
        </p:nvSpPr>
        <p:spPr>
          <a:xfrm>
            <a:off x="1005840" y="2731770"/>
            <a:ext cx="4258233" cy="1003554"/>
          </a:xfrm>
          <a:prstGeom prst="rect">
            <a:avLst/>
          </a:prstGeom>
          <a:noFill/>
        </p:spPr>
        <p:txBody>
          <a:bodyPr wrap="square" lIns="0" rIns="0" tIns="0" bIns="0" anchor="ctr">
            <a:noAutofit/>
          </a:bodyPr>
          <a:lstStyle/>
          <a:p>
            <a:pPr algn="l">
              <a:lnSpc>
                <a:spcPct val="100000"/>
              </a:lnSpc>
            </a:pPr>
            <a:r>
              <a:rPr sz="1400" b="1">
                <a:solidFill>
                  <a:srgbClr val="0B1F3A"/>
                </a:solidFill>
                <a:latin typeface="Arial"/>
              </a:rPr>
              <a:t>Alvora is falling behind: growth of 3.0% is below the market for a second year</a:t>
            </a:r>
          </a:p>
        </p:txBody>
      </p:sp>
      <p:sp>
        <p:nvSpPr>
          <p:cNvPr id="12" name="cpe|statements|text|11"/>
          <p:cNvSpPr txBox="1"/>
          <p:nvPr/>
        </p:nvSpPr>
        <p:spPr>
          <a:xfrm>
            <a:off x="5492673" y="2731770"/>
            <a:ext cx="6196102" cy="1003554"/>
          </a:xfrm>
          <a:prstGeom prst="rect">
            <a:avLst/>
          </a:prstGeom>
          <a:noFill/>
        </p:spPr>
        <p:txBody>
          <a:bodyPr wrap="square" lIns="0" rIns="0" tIns="0" bIns="0" anchor="ctr">
            <a:noAutofit/>
          </a:bodyPr>
          <a:lstStyle/>
          <a:p>
            <a:pPr algn="l">
              <a:lnSpc>
                <a:spcPct val="100000"/>
              </a:lnSpc>
            </a:pPr>
            <a:r>
              <a:rPr sz="1200" b="0">
                <a:solidFill>
                  <a:srgbClr val="1E252D"/>
                </a:solidFill>
                <a:latin typeface="Arial"/>
              </a:rPr>
              <a:t>Its mix is 54% supermarkets and only 14% discount; share slipped to 9.6%.</a:t>
            </a:r>
          </a:p>
        </p:txBody>
      </p:sp>
      <p:cxnSp>
        <p:nvCxnSpPr>
          <p:cNvPr id="13" name="cpe|statements|line|12"/>
          <p:cNvCxnSpPr/>
          <p:nvPr/>
        </p:nvCxnSpPr>
        <p:spPr>
          <a:xfrm>
            <a:off x="502920" y="3840480"/>
            <a:ext cx="11185855" cy="0"/>
          </a:xfrm>
          <a:prstGeom prst="line">
            <a:avLst/>
          </a:prstGeom>
          <a:ln w="6350">
            <a:solidFill>
              <a:srgbClr val="E3E7EB"/>
            </a:solidFill>
          </a:ln>
        </p:spPr>
      </p:cxnSp>
      <p:sp>
        <p:nvSpPr>
          <p:cNvPr id="14" name="cpe|statements|text|13"/>
          <p:cNvSpPr txBox="1"/>
          <p:nvPr/>
        </p:nvSpPr>
        <p:spPr>
          <a:xfrm>
            <a:off x="502920" y="3945636"/>
            <a:ext cx="411480" cy="1003554"/>
          </a:xfrm>
          <a:prstGeom prst="rect">
            <a:avLst/>
          </a:prstGeom>
          <a:noFill/>
        </p:spPr>
        <p:txBody>
          <a:bodyPr wrap="square" lIns="0" rIns="0" tIns="0" bIns="0" anchor="ctr">
            <a:noAutofit/>
          </a:bodyPr>
          <a:lstStyle/>
          <a:p>
            <a:pPr algn="l">
              <a:lnSpc>
                <a:spcPct val="100000"/>
              </a:lnSpc>
            </a:pPr>
            <a:r>
              <a:rPr sz="1800" b="1">
                <a:solidFill>
                  <a:srgbClr val="00A3AD"/>
                </a:solidFill>
                <a:latin typeface="Arial"/>
              </a:rPr>
              <a:t>3</a:t>
            </a:r>
          </a:p>
        </p:txBody>
      </p:sp>
      <p:sp>
        <p:nvSpPr>
          <p:cNvPr id="15" name="cpe|statements|text|14"/>
          <p:cNvSpPr txBox="1"/>
          <p:nvPr/>
        </p:nvSpPr>
        <p:spPr>
          <a:xfrm>
            <a:off x="1005840" y="3945636"/>
            <a:ext cx="4258233" cy="1003554"/>
          </a:xfrm>
          <a:prstGeom prst="rect">
            <a:avLst/>
          </a:prstGeom>
          <a:noFill/>
        </p:spPr>
        <p:txBody>
          <a:bodyPr wrap="square" lIns="0" rIns="0" tIns="0" bIns="0" anchor="ctr">
            <a:noAutofit/>
          </a:bodyPr>
          <a:lstStyle/>
          <a:p>
            <a:pPr algn="l">
              <a:lnSpc>
                <a:spcPct val="100000"/>
              </a:lnSpc>
            </a:pPr>
            <a:r>
              <a:rPr sz="1400" b="1">
                <a:solidFill>
                  <a:srgbClr val="0B1F3A"/>
                </a:solidFill>
                <a:latin typeface="Arial"/>
              </a:rPr>
              <a:t>Margin erosion in grocery and convenience cut EBITDA by €67M in 2025</a:t>
            </a:r>
          </a:p>
        </p:txBody>
      </p:sp>
      <p:sp>
        <p:nvSpPr>
          <p:cNvPr id="16" name="cpe|statements|text|15"/>
          <p:cNvSpPr txBox="1"/>
          <p:nvPr/>
        </p:nvSpPr>
        <p:spPr>
          <a:xfrm>
            <a:off x="5492673" y="3945636"/>
            <a:ext cx="6196102" cy="1003554"/>
          </a:xfrm>
          <a:prstGeom prst="rect">
            <a:avLst/>
          </a:prstGeom>
          <a:noFill/>
        </p:spPr>
        <p:txBody>
          <a:bodyPr wrap="square" lIns="0" rIns="0" tIns="0" bIns="0" anchor="ctr">
            <a:noAutofit/>
          </a:bodyPr>
          <a:lstStyle/>
          <a:p>
            <a:pPr algn="l">
              <a:lnSpc>
                <a:spcPct val="100000"/>
              </a:lnSpc>
            </a:pPr>
            <a:r>
              <a:rPr sz="1200" b="0">
                <a:solidFill>
                  <a:srgbClr val="1E252D"/>
                </a:solidFill>
                <a:latin typeface="Arial"/>
              </a:rPr>
              <a:t>EBITDA fell to €857M (6.3% margin); fresh and food-to-go in Madrid and Catalonia explain most of the loss.</a:t>
            </a:r>
          </a:p>
        </p:txBody>
      </p:sp>
      <p:cxnSp>
        <p:nvCxnSpPr>
          <p:cNvPr id="17" name="cpe|statements|line|16"/>
          <p:cNvCxnSpPr/>
          <p:nvPr/>
        </p:nvCxnSpPr>
        <p:spPr>
          <a:xfrm>
            <a:off x="502920" y="5054346"/>
            <a:ext cx="11185855" cy="0"/>
          </a:xfrm>
          <a:prstGeom prst="line">
            <a:avLst/>
          </a:prstGeom>
          <a:ln w="6350">
            <a:solidFill>
              <a:srgbClr val="E3E7EB"/>
            </a:solidFill>
          </a:ln>
        </p:spPr>
      </p:cxnSp>
      <p:sp>
        <p:nvSpPr>
          <p:cNvPr id="18" name="cpe|statements|text|17"/>
          <p:cNvSpPr txBox="1"/>
          <p:nvPr/>
        </p:nvSpPr>
        <p:spPr>
          <a:xfrm>
            <a:off x="502920" y="5159502"/>
            <a:ext cx="411480" cy="1003554"/>
          </a:xfrm>
          <a:prstGeom prst="rect">
            <a:avLst/>
          </a:prstGeom>
          <a:noFill/>
        </p:spPr>
        <p:txBody>
          <a:bodyPr wrap="square" lIns="0" rIns="0" tIns="0" bIns="0" anchor="ctr">
            <a:noAutofit/>
          </a:bodyPr>
          <a:lstStyle/>
          <a:p>
            <a:pPr algn="l">
              <a:lnSpc>
                <a:spcPct val="100000"/>
              </a:lnSpc>
            </a:pPr>
            <a:r>
              <a:rPr sz="1800" b="1">
                <a:solidFill>
                  <a:srgbClr val="00A3AD"/>
                </a:solidFill>
                <a:latin typeface="Arial"/>
              </a:rPr>
              <a:t>4</a:t>
            </a:r>
          </a:p>
        </p:txBody>
      </p:sp>
      <p:sp>
        <p:nvSpPr>
          <p:cNvPr id="19" name="cpe|statements|text|18"/>
          <p:cNvSpPr txBox="1"/>
          <p:nvPr/>
        </p:nvSpPr>
        <p:spPr>
          <a:xfrm>
            <a:off x="1005840" y="5159502"/>
            <a:ext cx="4258233" cy="1003554"/>
          </a:xfrm>
          <a:prstGeom prst="rect">
            <a:avLst/>
          </a:prstGeom>
          <a:noFill/>
        </p:spPr>
        <p:txBody>
          <a:bodyPr wrap="square" lIns="0" rIns="0" tIns="0" bIns="0" anchor="ctr">
            <a:noAutofit/>
          </a:bodyPr>
          <a:lstStyle/>
          <a:p>
            <a:pPr algn="l">
              <a:lnSpc>
                <a:spcPct val="100000"/>
              </a:lnSpc>
            </a:pPr>
            <a:r>
              <a:rPr sz="1400" b="1">
                <a:solidFill>
                  <a:srgbClr val="0B1F3A"/>
                </a:solidFill>
                <a:latin typeface="Arial"/>
              </a:rPr>
              <a:t>A discount banner, a pricing reset and a cost programme add €250M by 2028</a:t>
            </a:r>
          </a:p>
        </p:txBody>
      </p:sp>
      <p:sp>
        <p:nvSpPr>
          <p:cNvPr id="20" name="cpe|statements|text|19"/>
          <p:cNvSpPr txBox="1"/>
          <p:nvPr/>
        </p:nvSpPr>
        <p:spPr>
          <a:xfrm>
            <a:off x="5492673" y="5159502"/>
            <a:ext cx="6196102" cy="1003554"/>
          </a:xfrm>
          <a:prstGeom prst="rect">
            <a:avLst/>
          </a:prstGeom>
          <a:noFill/>
        </p:spPr>
        <p:txBody>
          <a:bodyPr wrap="square" lIns="0" rIns="0" tIns="0" bIns="0" anchor="ctr">
            <a:noAutofit/>
          </a:bodyPr>
          <a:lstStyle/>
          <a:p>
            <a:pPr algn="l">
              <a:lnSpc>
                <a:spcPct val="100000"/>
              </a:lnSpc>
            </a:pPr>
            <a:r>
              <a:rPr sz="1200" b="0">
                <a:solidFill>
                  <a:srgbClr val="1E252D"/>
                </a:solidFill>
                <a:latin typeface="Arial"/>
              </a:rPr>
              <a:t>Three waves over 24 months; the board is asked to approve the banner pilot and the €85M programme budget.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pe|chrome|text|1"/>
          <p:cNvSpPr txBox="1"/>
          <p:nvPr/>
        </p:nvSpPr>
        <p:spPr>
          <a:xfrm>
            <a:off x="502920" y="274320"/>
            <a:ext cx="7830099" cy="201168"/>
          </a:xfrm>
          <a:prstGeom prst="rect">
            <a:avLst/>
          </a:prstGeom>
          <a:noFill/>
        </p:spPr>
        <p:txBody>
          <a:bodyPr wrap="square" lIns="0" rIns="0" tIns="0" bIns="0" anchor="t">
            <a:noAutofit/>
          </a:bodyPr>
          <a:lstStyle/>
          <a:p>
            <a:pPr algn="l">
              <a:lnSpc>
                <a:spcPct val="100000"/>
              </a:lnSpc>
            </a:pPr>
            <a:r>
              <a:rPr sz="1000" b="1">
                <a:solidFill>
                  <a:srgbClr val="5E6A77"/>
                </a:solidFill>
                <a:latin typeface="Arial"/>
              </a:rPr>
              <a:t>MARKET</a:t>
            </a:r>
          </a:p>
        </p:txBody>
      </p:sp>
      <p:sp>
        <p:nvSpPr>
          <p:cNvPr id="3" name="cpe|chrome|text|2"/>
          <p:cNvSpPr txBox="1"/>
          <p:nvPr/>
        </p:nvSpPr>
        <p:spPr>
          <a:xfrm>
            <a:off x="502920" y="475488"/>
            <a:ext cx="11185855" cy="786384"/>
          </a:xfrm>
          <a:prstGeom prst="rect">
            <a:avLst/>
          </a:prstGeom>
          <a:noFill/>
        </p:spPr>
        <p:txBody>
          <a:bodyPr wrap="square" lIns="0" rIns="0" tIns="0" bIns="0" anchor="t">
            <a:noAutofit/>
          </a:bodyPr>
          <a:lstStyle/>
          <a:p>
            <a:pPr algn="l">
              <a:lnSpc>
                <a:spcPct val="100000"/>
              </a:lnSpc>
            </a:pPr>
            <a:r>
              <a:rPr sz="2200" b="1">
                <a:solidFill>
                  <a:srgbClr val="0B1F3A"/>
                </a:solidFill>
                <a:latin typeface="Arial"/>
              </a:rPr>
              <a:t>Discount and online captured 75% of Iberian grocery growth since 2021</a:t>
            </a:r>
          </a:p>
        </p:txBody>
      </p:sp>
      <p:sp>
        <p:nvSpPr>
          <p:cNvPr id="4" name="cpe|chrome|text|3"/>
          <p:cNvSpPr txBox="1"/>
          <p:nvPr/>
        </p:nvSpPr>
        <p:spPr>
          <a:xfrm>
            <a:off x="502920" y="6272784"/>
            <a:ext cx="8808415" cy="402336"/>
          </a:xfrm>
          <a:prstGeom prst="rect">
            <a:avLst/>
          </a:prstGeom>
          <a:noFill/>
        </p:spPr>
        <p:txBody>
          <a:bodyPr wrap="square" lIns="0" rIns="0" tIns="0" bIns="0" anchor="b">
            <a:noAutofit/>
          </a:bodyPr>
          <a:lstStyle/>
          <a:p>
            <a:pPr algn="l">
              <a:lnSpc>
                <a:spcPct val="100000"/>
              </a:lnSpc>
            </a:pPr>
            <a:r>
              <a:rPr sz="800" b="0">
                <a:solidFill>
                  <a:srgbClr val="5E6A77"/>
                </a:solidFill>
                <a:latin typeface="Arial"/>
              </a:rPr>
              <a:t>Source: National statistics; retailer reports; team market model (illustrative)</a:t>
            </a:r>
          </a:p>
        </p:txBody>
      </p:sp>
      <p:sp>
        <p:nvSpPr>
          <p:cNvPr id="5" name="cpe|chrome|text|4"/>
          <p:cNvSpPr txBox="1"/>
          <p:nvPr/>
        </p:nvSpPr>
        <p:spPr>
          <a:xfrm>
            <a:off x="9494215" y="6272784"/>
            <a:ext cx="2194560" cy="402336"/>
          </a:xfrm>
          <a:prstGeom prst="rect">
            <a:avLst/>
          </a:prstGeom>
          <a:noFill/>
        </p:spPr>
        <p:txBody>
          <a:bodyPr wrap="square" lIns="0" rIns="0" tIns="0" bIns="0" anchor="b">
            <a:noAutofit/>
          </a:bodyPr>
          <a:lstStyle/>
          <a:p>
            <a:pPr algn="r">
              <a:lnSpc>
                <a:spcPct val="100000"/>
              </a:lnSpc>
            </a:pPr>
            <a:r>
              <a:rPr sz="900" b="0">
                <a:solidFill>
                  <a:srgbClr val="5E6A77"/>
                </a:solidFill>
                <a:latin typeface="Arial"/>
              </a:rPr>
              <a:t>Illustrative data   3</a:t>
            </a:r>
          </a:p>
        </p:txBody>
      </p:sp>
      <p:sp>
        <p:nvSpPr>
          <p:cNvPr id="6" name="cpe|exhibit|text|5"/>
          <p:cNvSpPr txBox="1"/>
          <p:nvPr/>
        </p:nvSpPr>
        <p:spPr>
          <a:xfrm>
            <a:off x="502920" y="1481328"/>
            <a:ext cx="7390181" cy="274320"/>
          </a:xfrm>
          <a:prstGeom prst="rect">
            <a:avLst/>
          </a:prstGeom>
          <a:noFill/>
        </p:spPr>
        <p:txBody>
          <a:bodyPr wrap="square" lIns="0" rIns="0" tIns="0" bIns="0" anchor="t">
            <a:noAutofit/>
          </a:bodyPr>
          <a:lstStyle/>
          <a:p>
            <a:pPr algn="l">
              <a:lnSpc>
                <a:spcPct val="100000"/>
              </a:lnSpc>
            </a:pPr>
            <a:r>
              <a:rPr sz="1100" b="1">
                <a:solidFill>
                  <a:srgbClr val="1E252D"/>
                </a:solidFill>
                <a:latin typeface="Arial"/>
              </a:rPr>
              <a:t>Iberian grocery market by channel</a:t>
            </a:r>
            <a:r>
              <a:rPr sz="1100" b="0">
                <a:solidFill>
                  <a:srgbClr val="1E252D"/>
                </a:solidFill>
                <a:latin typeface="Arial"/>
              </a:rPr>
              <a:t>, €bn</a:t>
            </a:r>
          </a:p>
        </p:txBody>
      </p:sp>
      <p:graphicFrame>
        <p:nvGraphicFramePr>
          <p:cNvPr id="7" name="cpe|exhibit|chart|6"/>
          <p:cNvGraphicFramePr>
            <a:graphicFrameLocks noGrp="1"/>
          </p:cNvGraphicFramePr>
          <p:nvPr/>
        </p:nvGraphicFramePr>
        <p:xfrm>
          <a:off x="502920" y="1901952"/>
          <a:ext cx="7390181" cy="4297680"/>
        </p:xfrm>
        <a:graphic>
          <a:graphicData uri="http://schemas.openxmlformats.org/drawingml/2006/chart">
            <c:chart xmlns:c="http://schemas.openxmlformats.org/drawingml/2006/chart" r:id="rId2"/>
          </a:graphicData>
        </a:graphic>
      </p:graphicFrame>
      <p:sp>
        <p:nvSpPr>
          <p:cNvPr id="8" name="cpe|exhibit|label|7"/>
          <p:cNvSpPr txBox="1"/>
          <p:nvPr/>
        </p:nvSpPr>
        <p:spPr>
          <a:xfrm>
            <a:off x="576822" y="2898830"/>
            <a:ext cx="1231171" cy="237744"/>
          </a:xfrm>
          <a:prstGeom prst="rect">
            <a:avLst/>
          </a:prstGeom>
          <a:noFill/>
        </p:spPr>
        <p:txBody>
          <a:bodyPr wrap="square" lIns="0" rIns="0" tIns="0" bIns="0" anchor="b">
            <a:noAutofit/>
          </a:bodyPr>
          <a:lstStyle/>
          <a:p>
            <a:pPr algn="ctr">
              <a:lnSpc>
                <a:spcPct val="100000"/>
              </a:lnSpc>
            </a:pPr>
            <a:r>
              <a:rPr sz="1100" b="1">
                <a:solidFill>
                  <a:srgbClr val="1E252D"/>
                </a:solidFill>
                <a:latin typeface="Arial"/>
              </a:rPr>
              <a:t>121.3</a:t>
            </a:r>
          </a:p>
        </p:txBody>
      </p:sp>
      <p:sp>
        <p:nvSpPr>
          <p:cNvPr id="9" name="cpe|exhibit|label|8"/>
          <p:cNvSpPr txBox="1"/>
          <p:nvPr/>
        </p:nvSpPr>
        <p:spPr>
          <a:xfrm>
            <a:off x="1807993" y="2793854"/>
            <a:ext cx="1231171" cy="237744"/>
          </a:xfrm>
          <a:prstGeom prst="rect">
            <a:avLst/>
          </a:prstGeom>
          <a:noFill/>
        </p:spPr>
        <p:txBody>
          <a:bodyPr wrap="square" lIns="0" rIns="0" tIns="0" bIns="0" anchor="b">
            <a:noAutofit/>
          </a:bodyPr>
          <a:lstStyle/>
          <a:p>
            <a:pPr algn="ctr">
              <a:lnSpc>
                <a:spcPct val="100000"/>
              </a:lnSpc>
            </a:pPr>
            <a:r>
              <a:rPr sz="1100" b="1">
                <a:solidFill>
                  <a:srgbClr val="1E252D"/>
                </a:solidFill>
                <a:latin typeface="Arial"/>
              </a:rPr>
              <a:t>125.9</a:t>
            </a:r>
          </a:p>
        </p:txBody>
      </p:sp>
      <p:sp>
        <p:nvSpPr>
          <p:cNvPr id="10" name="cpe|exhibit|label|9"/>
          <p:cNvSpPr txBox="1"/>
          <p:nvPr/>
        </p:nvSpPr>
        <p:spPr>
          <a:xfrm>
            <a:off x="3039164" y="2675186"/>
            <a:ext cx="1231171" cy="237744"/>
          </a:xfrm>
          <a:prstGeom prst="rect">
            <a:avLst/>
          </a:prstGeom>
          <a:noFill/>
        </p:spPr>
        <p:txBody>
          <a:bodyPr wrap="square" lIns="0" rIns="0" tIns="0" bIns="0" anchor="b">
            <a:noAutofit/>
          </a:bodyPr>
          <a:lstStyle/>
          <a:p>
            <a:pPr algn="ctr">
              <a:lnSpc>
                <a:spcPct val="100000"/>
              </a:lnSpc>
            </a:pPr>
            <a:r>
              <a:rPr sz="1100" b="1">
                <a:solidFill>
                  <a:srgbClr val="1E252D"/>
                </a:solidFill>
                <a:latin typeface="Arial"/>
              </a:rPr>
              <a:t>131.1</a:t>
            </a:r>
          </a:p>
        </p:txBody>
      </p:sp>
      <p:sp>
        <p:nvSpPr>
          <p:cNvPr id="11" name="cpe|exhibit|label|10"/>
          <p:cNvSpPr txBox="1"/>
          <p:nvPr/>
        </p:nvSpPr>
        <p:spPr>
          <a:xfrm>
            <a:off x="4270336" y="2554235"/>
            <a:ext cx="1231171" cy="237744"/>
          </a:xfrm>
          <a:prstGeom prst="rect">
            <a:avLst/>
          </a:prstGeom>
          <a:noFill/>
        </p:spPr>
        <p:txBody>
          <a:bodyPr wrap="square" lIns="0" rIns="0" tIns="0" bIns="0" anchor="b">
            <a:noAutofit/>
          </a:bodyPr>
          <a:lstStyle/>
          <a:p>
            <a:pPr algn="ctr">
              <a:lnSpc>
                <a:spcPct val="100000"/>
              </a:lnSpc>
            </a:pPr>
            <a:r>
              <a:rPr sz="1100" b="1">
                <a:solidFill>
                  <a:srgbClr val="1E252D"/>
                </a:solidFill>
                <a:latin typeface="Arial"/>
              </a:rPr>
              <a:t>136.4</a:t>
            </a:r>
          </a:p>
        </p:txBody>
      </p:sp>
      <p:sp>
        <p:nvSpPr>
          <p:cNvPr id="12" name="cpe|exhibit|label|11"/>
          <p:cNvSpPr txBox="1"/>
          <p:nvPr/>
        </p:nvSpPr>
        <p:spPr>
          <a:xfrm>
            <a:off x="5501507" y="2426439"/>
            <a:ext cx="1231171" cy="237744"/>
          </a:xfrm>
          <a:prstGeom prst="rect">
            <a:avLst/>
          </a:prstGeom>
          <a:noFill/>
        </p:spPr>
        <p:txBody>
          <a:bodyPr wrap="square" lIns="0" rIns="0" tIns="0" bIns="0" anchor="b">
            <a:noAutofit/>
          </a:bodyPr>
          <a:lstStyle/>
          <a:p>
            <a:pPr algn="ctr">
              <a:lnSpc>
                <a:spcPct val="100000"/>
              </a:lnSpc>
            </a:pPr>
            <a:r>
              <a:rPr sz="1100" b="1">
                <a:solidFill>
                  <a:srgbClr val="1E252D"/>
                </a:solidFill>
                <a:latin typeface="Arial"/>
              </a:rPr>
              <a:t>142.0</a:t>
            </a:r>
          </a:p>
        </p:txBody>
      </p:sp>
      <p:sp>
        <p:nvSpPr>
          <p:cNvPr id="13" name="cpe|exhibit|label|12"/>
          <p:cNvSpPr txBox="1"/>
          <p:nvPr/>
        </p:nvSpPr>
        <p:spPr>
          <a:xfrm>
            <a:off x="6593273" y="2741632"/>
            <a:ext cx="1299827" cy="237744"/>
          </a:xfrm>
          <a:prstGeom prst="rect">
            <a:avLst/>
          </a:prstGeom>
          <a:noFill/>
        </p:spPr>
        <p:txBody>
          <a:bodyPr wrap="square" lIns="0" rIns="0" tIns="0" bIns="0" anchor="ctr">
            <a:noAutofit/>
          </a:bodyPr>
          <a:lstStyle/>
          <a:p>
            <a:pPr algn="l">
              <a:lnSpc>
                <a:spcPct val="100000"/>
              </a:lnSpc>
            </a:pPr>
            <a:r>
              <a:rPr sz="1100" b="0">
                <a:solidFill>
                  <a:srgbClr val="1E252D"/>
                </a:solidFill>
                <a:latin typeface="Arial"/>
              </a:rPr>
              <a:t>Online</a:t>
            </a:r>
          </a:p>
        </p:txBody>
      </p:sp>
      <p:sp>
        <p:nvSpPr>
          <p:cNvPr id="14" name="cpe|exhibit|label|13"/>
          <p:cNvSpPr txBox="1"/>
          <p:nvPr/>
        </p:nvSpPr>
        <p:spPr>
          <a:xfrm>
            <a:off x="6593273" y="3061124"/>
            <a:ext cx="1299827" cy="237744"/>
          </a:xfrm>
          <a:prstGeom prst="rect">
            <a:avLst/>
          </a:prstGeom>
          <a:noFill/>
        </p:spPr>
        <p:txBody>
          <a:bodyPr wrap="square" lIns="0" rIns="0" tIns="0" bIns="0" anchor="ctr">
            <a:noAutofit/>
          </a:bodyPr>
          <a:lstStyle/>
          <a:p>
            <a:pPr algn="l">
              <a:lnSpc>
                <a:spcPct val="100000"/>
              </a:lnSpc>
            </a:pPr>
            <a:r>
              <a:rPr sz="1100" b="0">
                <a:solidFill>
                  <a:srgbClr val="1E252D"/>
                </a:solidFill>
                <a:latin typeface="Arial"/>
              </a:rPr>
              <a:t>Convenience</a:t>
            </a:r>
          </a:p>
        </p:txBody>
      </p:sp>
      <p:sp>
        <p:nvSpPr>
          <p:cNvPr id="15" name="cpe|exhibit|label|14"/>
          <p:cNvSpPr txBox="1"/>
          <p:nvPr/>
        </p:nvSpPr>
        <p:spPr>
          <a:xfrm>
            <a:off x="6593273" y="3494719"/>
            <a:ext cx="1299827" cy="237744"/>
          </a:xfrm>
          <a:prstGeom prst="rect">
            <a:avLst/>
          </a:prstGeom>
          <a:noFill/>
        </p:spPr>
        <p:txBody>
          <a:bodyPr wrap="square" lIns="0" rIns="0" tIns="0" bIns="0" anchor="ctr">
            <a:noAutofit/>
          </a:bodyPr>
          <a:lstStyle/>
          <a:p>
            <a:pPr algn="l">
              <a:lnSpc>
                <a:spcPct val="100000"/>
              </a:lnSpc>
            </a:pPr>
            <a:r>
              <a:rPr sz="1100" b="0">
                <a:solidFill>
                  <a:srgbClr val="1E252D"/>
                </a:solidFill>
                <a:latin typeface="Arial"/>
              </a:rPr>
              <a:t>Hypermarkets</a:t>
            </a:r>
          </a:p>
        </p:txBody>
      </p:sp>
      <p:sp>
        <p:nvSpPr>
          <p:cNvPr id="16" name="cpe|exhibit|label|15"/>
          <p:cNvSpPr txBox="1"/>
          <p:nvPr/>
        </p:nvSpPr>
        <p:spPr>
          <a:xfrm>
            <a:off x="6593273" y="4361910"/>
            <a:ext cx="1299827" cy="237744"/>
          </a:xfrm>
          <a:prstGeom prst="rect">
            <a:avLst/>
          </a:prstGeom>
          <a:noFill/>
        </p:spPr>
        <p:txBody>
          <a:bodyPr wrap="square" lIns="0" rIns="0" tIns="0" bIns="0" anchor="ctr">
            <a:noAutofit/>
          </a:bodyPr>
          <a:lstStyle/>
          <a:p>
            <a:pPr algn="l">
              <a:lnSpc>
                <a:spcPct val="100000"/>
              </a:lnSpc>
            </a:pPr>
            <a:r>
              <a:rPr sz="1100" b="0">
                <a:solidFill>
                  <a:srgbClr val="1E252D"/>
                </a:solidFill>
                <a:latin typeface="Arial"/>
              </a:rPr>
              <a:t>Supermarkets</a:t>
            </a:r>
          </a:p>
        </p:txBody>
      </p:sp>
      <p:sp>
        <p:nvSpPr>
          <p:cNvPr id="17" name="cpe|exhibit|label|16"/>
          <p:cNvSpPr txBox="1"/>
          <p:nvPr/>
        </p:nvSpPr>
        <p:spPr>
          <a:xfrm>
            <a:off x="6593273" y="5388847"/>
            <a:ext cx="1299827" cy="237744"/>
          </a:xfrm>
          <a:prstGeom prst="rect">
            <a:avLst/>
          </a:prstGeom>
          <a:noFill/>
        </p:spPr>
        <p:txBody>
          <a:bodyPr wrap="square" lIns="0" rIns="0" tIns="0" bIns="0" anchor="ctr">
            <a:noAutofit/>
          </a:bodyPr>
          <a:lstStyle/>
          <a:p>
            <a:pPr algn="l">
              <a:lnSpc>
                <a:spcPct val="100000"/>
              </a:lnSpc>
            </a:pPr>
            <a:r>
              <a:rPr sz="1100" b="0">
                <a:solidFill>
                  <a:srgbClr val="1E252D"/>
                </a:solidFill>
                <a:latin typeface="Arial"/>
              </a:rPr>
              <a:t>Discount</a:t>
            </a:r>
          </a:p>
        </p:txBody>
      </p:sp>
      <p:cxnSp>
        <p:nvCxnSpPr>
          <p:cNvPr id="18" name="cpe|exhibit|connector|17"/>
          <p:cNvCxnSpPr/>
          <p:nvPr/>
        </p:nvCxnSpPr>
        <p:spPr>
          <a:xfrm>
            <a:off x="1192407" y="2316711"/>
            <a:ext cx="4924685" cy="0"/>
          </a:xfrm>
          <a:prstGeom prst="line">
            <a:avLst/>
          </a:prstGeom>
          <a:ln w="9525">
            <a:solidFill>
              <a:srgbClr val="1E252D"/>
            </a:solidFill>
            <a:tailEnd type="triangle" w="med" len="med"/>
          </a:ln>
        </p:spPr>
      </p:cxnSp>
      <p:cxnSp>
        <p:nvCxnSpPr>
          <p:cNvPr id="19" name="cpe|exhibit|connector|18"/>
          <p:cNvCxnSpPr/>
          <p:nvPr/>
        </p:nvCxnSpPr>
        <p:spPr>
          <a:xfrm>
            <a:off x="1192407" y="2316711"/>
            <a:ext cx="0" cy="91440"/>
          </a:xfrm>
          <a:prstGeom prst="line">
            <a:avLst/>
          </a:prstGeom>
          <a:ln w="9525">
            <a:solidFill>
              <a:srgbClr val="1E252D"/>
            </a:solidFill>
          </a:ln>
        </p:spPr>
      </p:cxnSp>
      <p:sp>
        <p:nvSpPr>
          <p:cNvPr id="20" name="cpe|exhibit|label|19"/>
          <p:cNvSpPr txBox="1"/>
          <p:nvPr/>
        </p:nvSpPr>
        <p:spPr>
          <a:xfrm>
            <a:off x="3158595" y="2179551"/>
            <a:ext cx="992311" cy="274320"/>
          </a:xfrm>
          <a:prstGeom prst="rect">
            <a:avLst/>
          </a:prstGeom>
          <a:solidFill>
            <a:srgbClr val="FFFFFF"/>
          </a:solidFill>
        </p:spPr>
        <p:txBody>
          <a:bodyPr wrap="square" lIns="0" rIns="0" tIns="0" bIns="0" anchor="ctr">
            <a:noAutofit/>
          </a:bodyPr>
          <a:lstStyle/>
          <a:p>
            <a:pPr algn="ctr">
              <a:lnSpc>
                <a:spcPct val="100000"/>
              </a:lnSpc>
            </a:pPr>
            <a:r>
              <a:rPr sz="1000" b="1">
                <a:solidFill>
                  <a:srgbClr val="1E252D"/>
                </a:solidFill>
                <a:latin typeface="Arial"/>
              </a:rPr>
              <a:t>CAGR +4.0%</a:t>
            </a:r>
          </a:p>
        </p:txBody>
      </p:sp>
      <p:cxnSp>
        <p:nvCxnSpPr>
          <p:cNvPr id="21" name="cpe|commentary|line|20"/>
          <p:cNvCxnSpPr/>
          <p:nvPr/>
        </p:nvCxnSpPr>
        <p:spPr>
          <a:xfrm>
            <a:off x="8094269" y="1481328"/>
            <a:ext cx="0" cy="4718304"/>
          </a:xfrm>
          <a:prstGeom prst="line">
            <a:avLst/>
          </a:prstGeom>
          <a:ln w="9525">
            <a:solidFill>
              <a:srgbClr val="B7BFC8"/>
            </a:solidFill>
          </a:ln>
        </p:spPr>
      </p:cxnSp>
      <p:sp>
        <p:nvSpPr>
          <p:cNvPr id="22" name="cpe|commentary|text|21"/>
          <p:cNvSpPr txBox="1"/>
          <p:nvPr/>
        </p:nvSpPr>
        <p:spPr>
          <a:xfrm>
            <a:off x="8322869" y="1481328"/>
            <a:ext cx="3365906" cy="196596"/>
          </a:xfrm>
          <a:prstGeom prst="rect">
            <a:avLst/>
          </a:prstGeom>
          <a:noFill/>
        </p:spPr>
        <p:txBody>
          <a:bodyPr wrap="square" lIns="0" rIns="0" tIns="0" bIns="0" anchor="t">
            <a:noAutofit/>
          </a:bodyPr>
          <a:lstStyle/>
          <a:p>
            <a:pPr algn="l">
              <a:lnSpc>
                <a:spcPct val="100000"/>
              </a:lnSpc>
            </a:pPr>
            <a:r>
              <a:rPr sz="1200" b="1">
                <a:solidFill>
                  <a:srgbClr val="0B1F3A"/>
                </a:solidFill>
                <a:latin typeface="Arial"/>
              </a:rPr>
              <a:t>What moves the market</a:t>
            </a:r>
          </a:p>
        </p:txBody>
      </p:sp>
      <p:sp>
        <p:nvSpPr>
          <p:cNvPr id="23" name="cpe|commentary|text|22"/>
          <p:cNvSpPr txBox="1"/>
          <p:nvPr/>
        </p:nvSpPr>
        <p:spPr>
          <a:xfrm>
            <a:off x="8322869" y="1796796"/>
            <a:ext cx="3365906" cy="4402836"/>
          </a:xfrm>
          <a:prstGeom prst="rect">
            <a:avLst/>
          </a:prstGeom>
          <a:noFill/>
        </p:spPr>
        <p:txBody>
          <a:bodyPr wrap="square" lIns="0" rIns="0" tIns="0" bIns="0" anchor="t">
            <a:noAutofit/>
          </a:bodyPr>
          <a:lstStyle/>
          <a:p>
            <a:pPr algn="l" marL="155448" indent="-155448">
              <a:lnSpc>
                <a:spcPct val="108000"/>
              </a:lnSpc>
              <a:spcAft>
                <a:spcPts val="800"/>
              </a:spcAft>
              <a:buClr>
                <a:srgbClr val="1E252D"/>
              </a:buClr>
              <a:buSzPct val="100000"/>
              <a:buFont typeface="Arial"/>
              <a:buChar char="•"/>
            </a:pPr>
            <a:r>
              <a:rPr sz="1200" b="1">
                <a:solidFill>
                  <a:srgbClr val="1E252D"/>
                </a:solidFill>
                <a:latin typeface="Arial"/>
              </a:rPr>
              <a:t>Discount</a:t>
            </a:r>
            <a:r>
              <a:rPr sz="1200" b="0">
                <a:solidFill>
                  <a:srgbClr val="1E252D"/>
                </a:solidFill>
                <a:latin typeface="Arial"/>
              </a:rPr>
              <a:t> grows 7.8% a year on price-sensitive households, who have been trading down across all categories since the energy shock and now visit discounters at least once a week in most regions</a:t>
            </a:r>
          </a:p>
          <a:p>
            <a:pPr algn="l" marL="155448" indent="-155448">
              <a:lnSpc>
                <a:spcPct val="108000"/>
              </a:lnSpc>
              <a:spcAft>
                <a:spcPts val="800"/>
              </a:spcAft>
              <a:buClr>
                <a:srgbClr val="1E252D"/>
              </a:buClr>
              <a:buSzPct val="100000"/>
              <a:buFont typeface="Arial"/>
              <a:buChar char="•"/>
            </a:pPr>
            <a:r>
              <a:rPr sz="1200" b="1">
                <a:solidFill>
                  <a:srgbClr val="1E252D"/>
                </a:solidFill>
                <a:latin typeface="Arial"/>
              </a:rPr>
              <a:t>Online</a:t>
            </a:r>
            <a:r>
              <a:rPr sz="1200" b="0">
                <a:solidFill>
                  <a:srgbClr val="1E252D"/>
                </a:solidFill>
                <a:latin typeface="Arial"/>
              </a:rPr>
              <a:t> is still small but compounding at 14% a year, driven by quick-commerce in the two largest metropolitan areas and by subscription models from the pure players</a:t>
            </a:r>
          </a:p>
          <a:p>
            <a:pPr algn="l" marL="155448" indent="-155448">
              <a:lnSpc>
                <a:spcPct val="108000"/>
              </a:lnSpc>
              <a:spcAft>
                <a:spcPts val="800"/>
              </a:spcAft>
              <a:buClr>
                <a:srgbClr val="1E252D"/>
              </a:buClr>
              <a:buSzPct val="100000"/>
              <a:buFont typeface="Arial"/>
              <a:buChar char="•"/>
            </a:pPr>
            <a:r>
              <a:rPr sz="1200" b="1">
                <a:solidFill>
                  <a:srgbClr val="1E252D"/>
                </a:solidFill>
                <a:latin typeface="Arial"/>
              </a:rPr>
              <a:t>Supermarkets</a:t>
            </a:r>
            <a:r>
              <a:rPr sz="1200" b="0">
                <a:solidFill>
                  <a:srgbClr val="1E252D"/>
                </a:solidFill>
                <a:latin typeface="Arial"/>
              </a:rPr>
              <a:t> grow at 2%, below food inflation, which means volumes are shrinking in real terms for the first time in a decade</a:t>
            </a:r>
          </a:p>
          <a:p>
            <a:pPr algn="l" marL="155448" indent="-155448">
              <a:lnSpc>
                <a:spcPct val="108000"/>
              </a:lnSpc>
              <a:spcAft>
                <a:spcPts val="800"/>
              </a:spcAft>
              <a:buClr>
                <a:srgbClr val="1E252D"/>
              </a:buClr>
              <a:buSzPct val="100000"/>
              <a:buFont typeface="Arial"/>
              <a:buChar char="•"/>
            </a:pPr>
            <a:r>
              <a:rPr sz="1200" b="1">
                <a:solidFill>
                  <a:srgbClr val="1E252D"/>
                </a:solidFill>
                <a:latin typeface="Arial"/>
              </a:rPr>
              <a:t>Hypermarkets</a:t>
            </a:r>
            <a:r>
              <a:rPr sz="1200" b="0">
                <a:solidFill>
                  <a:srgbClr val="1E252D"/>
                </a:solidFill>
                <a:latin typeface="Arial"/>
              </a:rPr>
              <a:t> shrink as shopping trips move to proximity formats, and several operators are converting out-of-town boxes</a:t>
            </a:r>
          </a:p>
          <a:p>
            <a:pPr algn="l" marL="155448" indent="-155448">
              <a:lnSpc>
                <a:spcPct val="108000"/>
              </a:lnSpc>
              <a:buClr>
                <a:srgbClr val="1E252D"/>
              </a:buClr>
              <a:buSzPct val="100000"/>
              <a:buFont typeface="Arial"/>
              <a:buChar char="•"/>
            </a:pPr>
            <a:r>
              <a:rPr sz="1200" b="1">
                <a:solidFill>
                  <a:srgbClr val="1E252D"/>
                </a:solidFill>
                <a:latin typeface="Arial"/>
              </a:rPr>
              <a:t>Convenience</a:t>
            </a:r>
            <a:r>
              <a:rPr sz="1200" b="0">
                <a:solidFill>
                  <a:srgbClr val="1E252D"/>
                </a:solidFill>
                <a:latin typeface="Arial"/>
              </a:rPr>
              <a:t> keeps growing at 5% thanks to food-to-go, although margins are under pressure from waste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pe|chrome|text|1"/>
          <p:cNvSpPr txBox="1"/>
          <p:nvPr/>
        </p:nvSpPr>
        <p:spPr>
          <a:xfrm>
            <a:off x="502920" y="274320"/>
            <a:ext cx="7830099" cy="201168"/>
          </a:xfrm>
          <a:prstGeom prst="rect">
            <a:avLst/>
          </a:prstGeom>
          <a:noFill/>
        </p:spPr>
        <p:txBody>
          <a:bodyPr wrap="square" lIns="0" rIns="0" tIns="0" bIns="0" anchor="t">
            <a:noAutofit/>
          </a:bodyPr>
          <a:lstStyle/>
          <a:p>
            <a:pPr algn="l">
              <a:lnSpc>
                <a:spcPct val="100000"/>
              </a:lnSpc>
            </a:pPr>
            <a:r>
              <a:rPr sz="1000" b="1">
                <a:solidFill>
                  <a:srgbClr val="5E6A77"/>
                </a:solidFill>
                <a:latin typeface="Arial"/>
              </a:rPr>
              <a:t>PERFORMANCE</a:t>
            </a:r>
          </a:p>
        </p:txBody>
      </p:sp>
      <p:sp>
        <p:nvSpPr>
          <p:cNvPr id="3" name="cpe|chrome|text|2"/>
          <p:cNvSpPr txBox="1"/>
          <p:nvPr/>
        </p:nvSpPr>
        <p:spPr>
          <a:xfrm>
            <a:off x="502920" y="475488"/>
            <a:ext cx="10417759" cy="786384"/>
          </a:xfrm>
          <a:prstGeom prst="rect">
            <a:avLst/>
          </a:prstGeom>
          <a:noFill/>
        </p:spPr>
        <p:txBody>
          <a:bodyPr wrap="square" lIns="0" rIns="0" tIns="0" bIns="0" anchor="t">
            <a:noAutofit/>
          </a:bodyPr>
          <a:lstStyle/>
          <a:p>
            <a:pPr algn="l">
              <a:lnSpc>
                <a:spcPct val="100000"/>
              </a:lnSpc>
            </a:pPr>
            <a:r>
              <a:rPr sz="2200" b="1">
                <a:solidFill>
                  <a:srgbClr val="0B1F3A"/>
                </a:solidFill>
                <a:latin typeface="Arial"/>
              </a:rPr>
              <a:t>Alvora's growth slowed to 3.0% in 2025, below the market (4.1%) for the second year</a:t>
            </a:r>
          </a:p>
        </p:txBody>
      </p:sp>
      <p:sp>
        <p:nvSpPr>
          <p:cNvPr id="4" name="cpe|chrome|text|3"/>
          <p:cNvSpPr txBox="1"/>
          <p:nvPr/>
        </p:nvSpPr>
        <p:spPr>
          <a:xfrm>
            <a:off x="502920" y="6272784"/>
            <a:ext cx="8808415" cy="402336"/>
          </a:xfrm>
          <a:prstGeom prst="rect">
            <a:avLst/>
          </a:prstGeom>
          <a:noFill/>
        </p:spPr>
        <p:txBody>
          <a:bodyPr wrap="square" lIns="0" rIns="0" tIns="0" bIns="0" anchor="b">
            <a:noAutofit/>
          </a:bodyPr>
          <a:lstStyle/>
          <a:p>
            <a:pPr algn="l">
              <a:lnSpc>
                <a:spcPct val="100000"/>
              </a:lnSpc>
            </a:pPr>
            <a:r>
              <a:rPr sz="800" b="0">
                <a:solidFill>
                  <a:srgbClr val="5E6A77"/>
                </a:solidFill>
                <a:latin typeface="Arial"/>
              </a:rPr>
              <a:t>Source: Alvora management accounts; market model (illustrative)</a:t>
            </a:r>
          </a:p>
        </p:txBody>
      </p:sp>
      <p:sp>
        <p:nvSpPr>
          <p:cNvPr id="5" name="cpe|chrome|text|4"/>
          <p:cNvSpPr txBox="1"/>
          <p:nvPr/>
        </p:nvSpPr>
        <p:spPr>
          <a:xfrm>
            <a:off x="9494215" y="6272784"/>
            <a:ext cx="2194560" cy="402336"/>
          </a:xfrm>
          <a:prstGeom prst="rect">
            <a:avLst/>
          </a:prstGeom>
          <a:noFill/>
        </p:spPr>
        <p:txBody>
          <a:bodyPr wrap="square" lIns="0" rIns="0" tIns="0" bIns="0" anchor="b">
            <a:noAutofit/>
          </a:bodyPr>
          <a:lstStyle/>
          <a:p>
            <a:pPr algn="r">
              <a:lnSpc>
                <a:spcPct val="100000"/>
              </a:lnSpc>
            </a:pPr>
            <a:r>
              <a:rPr sz="900" b="0">
                <a:solidFill>
                  <a:srgbClr val="5E6A77"/>
                </a:solidFill>
                <a:latin typeface="Arial"/>
              </a:rPr>
              <a:t>Illustrative data   4</a:t>
            </a:r>
          </a:p>
        </p:txBody>
      </p:sp>
      <p:sp>
        <p:nvSpPr>
          <p:cNvPr id="6" name="cpe|kpis|text|5"/>
          <p:cNvSpPr txBox="1"/>
          <p:nvPr/>
        </p:nvSpPr>
        <p:spPr>
          <a:xfrm>
            <a:off x="502920" y="1481328"/>
            <a:ext cx="2494712" cy="566928"/>
          </a:xfrm>
          <a:prstGeom prst="rect">
            <a:avLst/>
          </a:prstGeom>
          <a:noFill/>
        </p:spPr>
        <p:txBody>
          <a:bodyPr wrap="square" lIns="0" rIns="0" tIns="0" bIns="0" anchor="t">
            <a:noAutofit/>
          </a:bodyPr>
          <a:lstStyle/>
          <a:p>
            <a:pPr algn="l">
              <a:lnSpc>
                <a:spcPct val="100000"/>
              </a:lnSpc>
            </a:pPr>
            <a:r>
              <a:rPr sz="3000" b="1">
                <a:solidFill>
                  <a:srgbClr val="0B1F3A"/>
                </a:solidFill>
                <a:latin typeface="Arial"/>
              </a:rPr>
              <a:t>€13.6bn</a:t>
            </a:r>
          </a:p>
        </p:txBody>
      </p:sp>
      <p:sp>
        <p:nvSpPr>
          <p:cNvPr id="7" name="cpe|kpis|text|6"/>
          <p:cNvSpPr txBox="1"/>
          <p:nvPr/>
        </p:nvSpPr>
        <p:spPr>
          <a:xfrm>
            <a:off x="502920" y="2048256"/>
            <a:ext cx="2494712" cy="237744"/>
          </a:xfrm>
          <a:prstGeom prst="rect">
            <a:avLst/>
          </a:prstGeom>
          <a:noFill/>
        </p:spPr>
        <p:txBody>
          <a:bodyPr wrap="square" lIns="0" rIns="0" tIns="0" bIns="0" anchor="t">
            <a:noAutofit/>
          </a:bodyPr>
          <a:lstStyle/>
          <a:p>
            <a:pPr algn="l">
              <a:lnSpc>
                <a:spcPct val="100000"/>
              </a:lnSpc>
            </a:pPr>
            <a:r>
              <a:rPr sz="1100" b="1">
                <a:solidFill>
                  <a:srgbClr val="2E7D4F"/>
                </a:solidFill>
                <a:latin typeface="Arial"/>
              </a:rPr>
              <a:t>▲ +3.0% YoY</a:t>
            </a:r>
          </a:p>
        </p:txBody>
      </p:sp>
      <p:sp>
        <p:nvSpPr>
          <p:cNvPr id="8" name="cpe|kpis|text|7"/>
          <p:cNvSpPr txBox="1"/>
          <p:nvPr/>
        </p:nvSpPr>
        <p:spPr>
          <a:xfrm>
            <a:off x="502920" y="2304288"/>
            <a:ext cx="2494712" cy="209169"/>
          </a:xfrm>
          <a:prstGeom prst="rect">
            <a:avLst/>
          </a:prstGeom>
          <a:noFill/>
        </p:spPr>
        <p:txBody>
          <a:bodyPr wrap="square" lIns="0" rIns="0" tIns="0" bIns="0" anchor="t">
            <a:noAutofit/>
          </a:bodyPr>
          <a:lstStyle/>
          <a:p>
            <a:pPr algn="l">
              <a:lnSpc>
                <a:spcPct val="100000"/>
              </a:lnSpc>
            </a:pPr>
            <a:r>
              <a:rPr sz="1100" b="0">
                <a:solidFill>
                  <a:srgbClr val="5E6A77"/>
                </a:solidFill>
                <a:latin typeface="Arial"/>
              </a:rPr>
              <a:t>Revenue 2025</a:t>
            </a:r>
          </a:p>
        </p:txBody>
      </p:sp>
      <p:cxnSp>
        <p:nvCxnSpPr>
          <p:cNvPr id="9" name="cpe|kpis|line|8"/>
          <p:cNvCxnSpPr/>
          <p:nvPr/>
        </p:nvCxnSpPr>
        <p:spPr>
          <a:xfrm>
            <a:off x="3198800" y="1527048"/>
            <a:ext cx="0" cy="1034735"/>
          </a:xfrm>
          <a:prstGeom prst="line">
            <a:avLst/>
          </a:prstGeom>
          <a:ln w="9525">
            <a:solidFill>
              <a:srgbClr val="E3E7EB"/>
            </a:solidFill>
          </a:ln>
        </p:spPr>
      </p:cxnSp>
      <p:sp>
        <p:nvSpPr>
          <p:cNvPr id="10" name="cpe|kpis|text|9"/>
          <p:cNvSpPr txBox="1"/>
          <p:nvPr/>
        </p:nvSpPr>
        <p:spPr>
          <a:xfrm>
            <a:off x="3399968" y="1481328"/>
            <a:ext cx="2494712" cy="566928"/>
          </a:xfrm>
          <a:prstGeom prst="rect">
            <a:avLst/>
          </a:prstGeom>
          <a:noFill/>
        </p:spPr>
        <p:txBody>
          <a:bodyPr wrap="square" lIns="0" rIns="0" tIns="0" bIns="0" anchor="t">
            <a:noAutofit/>
          </a:bodyPr>
          <a:lstStyle/>
          <a:p>
            <a:pPr algn="l">
              <a:lnSpc>
                <a:spcPct val="100000"/>
              </a:lnSpc>
            </a:pPr>
            <a:r>
              <a:rPr sz="3000" b="1">
                <a:solidFill>
                  <a:srgbClr val="0B1F3A"/>
                </a:solidFill>
                <a:latin typeface="Arial"/>
              </a:rPr>
              <a:t>6.3%</a:t>
            </a:r>
          </a:p>
        </p:txBody>
      </p:sp>
      <p:sp>
        <p:nvSpPr>
          <p:cNvPr id="11" name="cpe|kpis|text|10"/>
          <p:cNvSpPr txBox="1"/>
          <p:nvPr/>
        </p:nvSpPr>
        <p:spPr>
          <a:xfrm>
            <a:off x="3399968" y="2048256"/>
            <a:ext cx="2494712" cy="237744"/>
          </a:xfrm>
          <a:prstGeom prst="rect">
            <a:avLst/>
          </a:prstGeom>
          <a:noFill/>
        </p:spPr>
        <p:txBody>
          <a:bodyPr wrap="square" lIns="0" rIns="0" tIns="0" bIns="0" anchor="t">
            <a:noAutofit/>
          </a:bodyPr>
          <a:lstStyle/>
          <a:p>
            <a:pPr algn="l">
              <a:lnSpc>
                <a:spcPct val="100000"/>
              </a:lnSpc>
            </a:pPr>
            <a:r>
              <a:rPr sz="1100" b="1">
                <a:solidFill>
                  <a:srgbClr val="C0392B"/>
                </a:solidFill>
                <a:latin typeface="Arial"/>
              </a:rPr>
              <a:t>▼ −0.7pp</a:t>
            </a:r>
          </a:p>
        </p:txBody>
      </p:sp>
      <p:sp>
        <p:nvSpPr>
          <p:cNvPr id="12" name="cpe|kpis|text|11"/>
          <p:cNvSpPr txBox="1"/>
          <p:nvPr/>
        </p:nvSpPr>
        <p:spPr>
          <a:xfrm>
            <a:off x="3399968" y="2304288"/>
            <a:ext cx="2494712" cy="209169"/>
          </a:xfrm>
          <a:prstGeom prst="rect">
            <a:avLst/>
          </a:prstGeom>
          <a:noFill/>
        </p:spPr>
        <p:txBody>
          <a:bodyPr wrap="square" lIns="0" rIns="0" tIns="0" bIns="0" anchor="t">
            <a:noAutofit/>
          </a:bodyPr>
          <a:lstStyle/>
          <a:p>
            <a:pPr algn="l">
              <a:lnSpc>
                <a:spcPct val="100000"/>
              </a:lnSpc>
            </a:pPr>
            <a:r>
              <a:rPr sz="1100" b="0">
                <a:solidFill>
                  <a:srgbClr val="5E6A77"/>
                </a:solidFill>
                <a:latin typeface="Arial"/>
              </a:rPr>
              <a:t>EBITDA margin 2025</a:t>
            </a:r>
          </a:p>
        </p:txBody>
      </p:sp>
      <p:cxnSp>
        <p:nvCxnSpPr>
          <p:cNvPr id="13" name="cpe|kpis|line|12"/>
          <p:cNvCxnSpPr/>
          <p:nvPr/>
        </p:nvCxnSpPr>
        <p:spPr>
          <a:xfrm>
            <a:off x="6095848" y="1527048"/>
            <a:ext cx="0" cy="1034735"/>
          </a:xfrm>
          <a:prstGeom prst="line">
            <a:avLst/>
          </a:prstGeom>
          <a:ln w="9525">
            <a:solidFill>
              <a:srgbClr val="E3E7EB"/>
            </a:solidFill>
          </a:ln>
        </p:spPr>
      </p:cxnSp>
      <p:sp>
        <p:nvSpPr>
          <p:cNvPr id="14" name="cpe|kpis|text|13"/>
          <p:cNvSpPr txBox="1"/>
          <p:nvPr/>
        </p:nvSpPr>
        <p:spPr>
          <a:xfrm>
            <a:off x="6297016" y="1481328"/>
            <a:ext cx="2494712" cy="566928"/>
          </a:xfrm>
          <a:prstGeom prst="rect">
            <a:avLst/>
          </a:prstGeom>
          <a:noFill/>
        </p:spPr>
        <p:txBody>
          <a:bodyPr wrap="square" lIns="0" rIns="0" tIns="0" bIns="0" anchor="t">
            <a:noAutofit/>
          </a:bodyPr>
          <a:lstStyle/>
          <a:p>
            <a:pPr algn="l">
              <a:lnSpc>
                <a:spcPct val="100000"/>
              </a:lnSpc>
            </a:pPr>
            <a:r>
              <a:rPr sz="3000" b="1">
                <a:solidFill>
                  <a:srgbClr val="0B1F3A"/>
                </a:solidFill>
                <a:latin typeface="Arial"/>
              </a:rPr>
              <a:t>9.6%</a:t>
            </a:r>
          </a:p>
        </p:txBody>
      </p:sp>
      <p:sp>
        <p:nvSpPr>
          <p:cNvPr id="15" name="cpe|kpis|text|14"/>
          <p:cNvSpPr txBox="1"/>
          <p:nvPr/>
        </p:nvSpPr>
        <p:spPr>
          <a:xfrm>
            <a:off x="6297016" y="2048256"/>
            <a:ext cx="2494712" cy="237744"/>
          </a:xfrm>
          <a:prstGeom prst="rect">
            <a:avLst/>
          </a:prstGeom>
          <a:noFill/>
        </p:spPr>
        <p:txBody>
          <a:bodyPr wrap="square" lIns="0" rIns="0" tIns="0" bIns="0" anchor="t">
            <a:noAutofit/>
          </a:bodyPr>
          <a:lstStyle/>
          <a:p>
            <a:pPr algn="l">
              <a:lnSpc>
                <a:spcPct val="100000"/>
              </a:lnSpc>
            </a:pPr>
            <a:r>
              <a:rPr sz="1100" b="1">
                <a:solidFill>
                  <a:srgbClr val="C0392B"/>
                </a:solidFill>
                <a:latin typeface="Arial"/>
              </a:rPr>
              <a:t>▼ −0.1pp</a:t>
            </a:r>
          </a:p>
        </p:txBody>
      </p:sp>
      <p:sp>
        <p:nvSpPr>
          <p:cNvPr id="16" name="cpe|kpis|text|15"/>
          <p:cNvSpPr txBox="1"/>
          <p:nvPr/>
        </p:nvSpPr>
        <p:spPr>
          <a:xfrm>
            <a:off x="6297016" y="2304288"/>
            <a:ext cx="2494712" cy="209169"/>
          </a:xfrm>
          <a:prstGeom prst="rect">
            <a:avLst/>
          </a:prstGeom>
          <a:noFill/>
        </p:spPr>
        <p:txBody>
          <a:bodyPr wrap="square" lIns="0" rIns="0" tIns="0" bIns="0" anchor="t">
            <a:noAutofit/>
          </a:bodyPr>
          <a:lstStyle/>
          <a:p>
            <a:pPr algn="l">
              <a:lnSpc>
                <a:spcPct val="100000"/>
              </a:lnSpc>
            </a:pPr>
            <a:r>
              <a:rPr sz="1100" b="0">
                <a:solidFill>
                  <a:srgbClr val="5E6A77"/>
                </a:solidFill>
                <a:latin typeface="Arial"/>
              </a:rPr>
              <a:t>Market share 2025</a:t>
            </a:r>
          </a:p>
        </p:txBody>
      </p:sp>
      <p:cxnSp>
        <p:nvCxnSpPr>
          <p:cNvPr id="17" name="cpe|kpis|line|16"/>
          <p:cNvCxnSpPr/>
          <p:nvPr/>
        </p:nvCxnSpPr>
        <p:spPr>
          <a:xfrm>
            <a:off x="8992895" y="1527048"/>
            <a:ext cx="0" cy="1034735"/>
          </a:xfrm>
          <a:prstGeom prst="line">
            <a:avLst/>
          </a:prstGeom>
          <a:ln w="9525">
            <a:solidFill>
              <a:srgbClr val="E3E7EB"/>
            </a:solidFill>
          </a:ln>
        </p:spPr>
      </p:cxnSp>
      <p:sp>
        <p:nvSpPr>
          <p:cNvPr id="18" name="cpe|kpis|text|17"/>
          <p:cNvSpPr txBox="1"/>
          <p:nvPr/>
        </p:nvSpPr>
        <p:spPr>
          <a:xfrm>
            <a:off x="9194063" y="1481328"/>
            <a:ext cx="2494712" cy="566928"/>
          </a:xfrm>
          <a:prstGeom prst="rect">
            <a:avLst/>
          </a:prstGeom>
          <a:noFill/>
        </p:spPr>
        <p:txBody>
          <a:bodyPr wrap="square" lIns="0" rIns="0" tIns="0" bIns="0" anchor="t">
            <a:noAutofit/>
          </a:bodyPr>
          <a:lstStyle/>
          <a:p>
            <a:pPr algn="l">
              <a:lnSpc>
                <a:spcPct val="100000"/>
              </a:lnSpc>
            </a:pPr>
            <a:r>
              <a:rPr sz="3000" b="1">
                <a:solidFill>
                  <a:srgbClr val="0B1F3A"/>
                </a:solidFill>
                <a:latin typeface="Arial"/>
              </a:rPr>
              <a:t>+1.2%</a:t>
            </a:r>
          </a:p>
        </p:txBody>
      </p:sp>
      <p:sp>
        <p:nvSpPr>
          <p:cNvPr id="19" name="cpe|kpis|text|18"/>
          <p:cNvSpPr txBox="1"/>
          <p:nvPr/>
        </p:nvSpPr>
        <p:spPr>
          <a:xfrm>
            <a:off x="9194063" y="2048256"/>
            <a:ext cx="2494712" cy="237744"/>
          </a:xfrm>
          <a:prstGeom prst="rect">
            <a:avLst/>
          </a:prstGeom>
          <a:noFill/>
        </p:spPr>
        <p:txBody>
          <a:bodyPr wrap="square" lIns="0" rIns="0" tIns="0" bIns="0" anchor="t">
            <a:noAutofit/>
          </a:bodyPr>
          <a:lstStyle/>
          <a:p>
            <a:pPr algn="l">
              <a:lnSpc>
                <a:spcPct val="100000"/>
              </a:lnSpc>
            </a:pPr>
            <a:r>
              <a:rPr sz="1100" b="1">
                <a:solidFill>
                  <a:srgbClr val="C0392B"/>
                </a:solidFill>
                <a:latin typeface="Arial"/>
              </a:rPr>
              <a:t>▼ −1.8pp vs 2024</a:t>
            </a:r>
          </a:p>
        </p:txBody>
      </p:sp>
      <p:sp>
        <p:nvSpPr>
          <p:cNvPr id="20" name="cpe|kpis|text|19"/>
          <p:cNvSpPr txBox="1"/>
          <p:nvPr/>
        </p:nvSpPr>
        <p:spPr>
          <a:xfrm>
            <a:off x="9194063" y="2304288"/>
            <a:ext cx="2494712" cy="209169"/>
          </a:xfrm>
          <a:prstGeom prst="rect">
            <a:avLst/>
          </a:prstGeom>
          <a:noFill/>
        </p:spPr>
        <p:txBody>
          <a:bodyPr wrap="square" lIns="0" rIns="0" tIns="0" bIns="0" anchor="t">
            <a:noAutofit/>
          </a:bodyPr>
          <a:lstStyle/>
          <a:p>
            <a:pPr algn="l">
              <a:lnSpc>
                <a:spcPct val="100000"/>
              </a:lnSpc>
            </a:pPr>
            <a:r>
              <a:rPr sz="1100" b="0">
                <a:solidFill>
                  <a:srgbClr val="5E6A77"/>
                </a:solidFill>
                <a:latin typeface="Arial"/>
              </a:rPr>
              <a:t>Like-for-like sales 2025</a:t>
            </a:r>
          </a:p>
        </p:txBody>
      </p:sp>
      <p:sp>
        <p:nvSpPr>
          <p:cNvPr id="21" name="cpe|exhibit|text|20"/>
          <p:cNvSpPr txBox="1"/>
          <p:nvPr/>
        </p:nvSpPr>
        <p:spPr>
          <a:xfrm>
            <a:off x="502920" y="2808671"/>
            <a:ext cx="11185855" cy="274320"/>
          </a:xfrm>
          <a:prstGeom prst="rect">
            <a:avLst/>
          </a:prstGeom>
          <a:noFill/>
        </p:spPr>
        <p:txBody>
          <a:bodyPr wrap="square" lIns="0" rIns="0" tIns="0" bIns="0" anchor="t">
            <a:noAutofit/>
          </a:bodyPr>
          <a:lstStyle/>
          <a:p>
            <a:pPr algn="l">
              <a:lnSpc>
                <a:spcPct val="100000"/>
              </a:lnSpc>
            </a:pPr>
            <a:r>
              <a:rPr sz="1100" b="1">
                <a:solidFill>
                  <a:srgbClr val="1E252D"/>
                </a:solidFill>
                <a:latin typeface="Arial"/>
              </a:rPr>
              <a:t>Alvora revenue and growth vs market</a:t>
            </a:r>
            <a:r>
              <a:rPr sz="1100" b="0">
                <a:solidFill>
                  <a:srgbClr val="1E252D"/>
                </a:solidFill>
                <a:latin typeface="Arial"/>
              </a:rPr>
              <a:t>, €bn, % YoY</a:t>
            </a:r>
          </a:p>
        </p:txBody>
      </p:sp>
      <p:graphicFrame>
        <p:nvGraphicFramePr>
          <p:cNvPr id="22" name="cpe|exhibit|chart|21"/>
          <p:cNvGraphicFramePr>
            <a:graphicFrameLocks noGrp="1"/>
          </p:cNvGraphicFramePr>
          <p:nvPr/>
        </p:nvGraphicFramePr>
        <p:xfrm>
          <a:off x="502920" y="4408344"/>
          <a:ext cx="11185855" cy="1791288"/>
        </p:xfrm>
        <a:graphic>
          <a:graphicData uri="http://schemas.openxmlformats.org/drawingml/2006/chart">
            <c:chart xmlns:c="http://schemas.openxmlformats.org/drawingml/2006/chart" r:id="rId2"/>
          </a:graphicData>
        </a:graphic>
      </p:graphicFrame>
      <p:cxnSp>
        <p:nvCxnSpPr>
          <p:cNvPr id="23" name="cpe|exhibit|connector|22"/>
          <p:cNvCxnSpPr/>
          <p:nvPr/>
        </p:nvCxnSpPr>
        <p:spPr>
          <a:xfrm>
            <a:off x="6825062" y="4786729"/>
            <a:ext cx="2484114" cy="0"/>
          </a:xfrm>
          <a:prstGeom prst="line">
            <a:avLst/>
          </a:prstGeom>
          <a:ln w="9525">
            <a:solidFill>
              <a:srgbClr val="1E252D"/>
            </a:solidFill>
            <a:tailEnd type="triangle" w="med" len="med"/>
          </a:ln>
        </p:spPr>
      </p:cxnSp>
      <p:cxnSp>
        <p:nvCxnSpPr>
          <p:cNvPr id="24" name="cpe|exhibit|connector|23"/>
          <p:cNvCxnSpPr/>
          <p:nvPr/>
        </p:nvCxnSpPr>
        <p:spPr>
          <a:xfrm>
            <a:off x="6825062" y="4786729"/>
            <a:ext cx="0" cy="91440"/>
          </a:xfrm>
          <a:prstGeom prst="line">
            <a:avLst/>
          </a:prstGeom>
          <a:ln w="9525">
            <a:solidFill>
              <a:srgbClr val="1E252D"/>
            </a:solidFill>
          </a:ln>
        </p:spPr>
      </p:cxnSp>
      <p:sp>
        <p:nvSpPr>
          <p:cNvPr id="25" name="cpe|exhibit|label|24"/>
          <p:cNvSpPr txBox="1"/>
          <p:nvPr/>
        </p:nvSpPr>
        <p:spPr>
          <a:xfrm>
            <a:off x="7828525" y="4649569"/>
            <a:ext cx="477187" cy="274320"/>
          </a:xfrm>
          <a:prstGeom prst="rect">
            <a:avLst/>
          </a:prstGeom>
          <a:solidFill>
            <a:srgbClr val="FFFFFF"/>
          </a:solidFill>
        </p:spPr>
        <p:txBody>
          <a:bodyPr wrap="square" lIns="0" rIns="0" tIns="0" bIns="0" anchor="ctr">
            <a:noAutofit/>
          </a:bodyPr>
          <a:lstStyle/>
          <a:p>
            <a:pPr algn="ctr">
              <a:lnSpc>
                <a:spcPct val="100000"/>
              </a:lnSpc>
            </a:pPr>
            <a:r>
              <a:rPr sz="1000" b="1">
                <a:solidFill>
                  <a:srgbClr val="1E252D"/>
                </a:solidFill>
                <a:latin typeface="Arial"/>
              </a:rPr>
              <a:t>+3%</a:t>
            </a:r>
          </a:p>
        </p:txBody>
      </p:sp>
      <p:graphicFrame>
        <p:nvGraphicFramePr>
          <p:cNvPr id="26" name="cpe|exhibit|chart|25"/>
          <p:cNvGraphicFramePr>
            <a:graphicFrameLocks noGrp="1"/>
          </p:cNvGraphicFramePr>
          <p:nvPr/>
        </p:nvGraphicFramePr>
        <p:xfrm>
          <a:off x="502920" y="3229295"/>
          <a:ext cx="11185855" cy="1069321"/>
        </p:xfrm>
        <a:graphic>
          <a:graphicData uri="http://schemas.openxmlformats.org/drawingml/2006/chart">
            <c:chart xmlns:c="http://schemas.openxmlformats.org/drawingml/2006/chart" r:id="rId3"/>
          </a:graphicData>
        </a:graphic>
      </p:graphicFrame>
      <p:sp>
        <p:nvSpPr>
          <p:cNvPr id="27" name="cpe|exhibit|label|26"/>
          <p:cNvSpPr txBox="1"/>
          <p:nvPr/>
        </p:nvSpPr>
        <p:spPr>
          <a:xfrm>
            <a:off x="9400616" y="3802449"/>
            <a:ext cx="2288160" cy="237744"/>
          </a:xfrm>
          <a:prstGeom prst="rect">
            <a:avLst/>
          </a:prstGeom>
          <a:noFill/>
        </p:spPr>
        <p:txBody>
          <a:bodyPr wrap="square" lIns="0" rIns="0" tIns="0" bIns="0" anchor="ctr">
            <a:noAutofit/>
          </a:bodyPr>
          <a:lstStyle/>
          <a:p>
            <a:pPr algn="l">
              <a:lnSpc>
                <a:spcPct val="100000"/>
              </a:lnSpc>
            </a:pPr>
            <a:r>
              <a:rPr sz="1100" b="1">
                <a:solidFill>
                  <a:srgbClr val="5E6A77"/>
                </a:solidFill>
                <a:latin typeface="Arial"/>
              </a:rPr>
              <a:t>Market growth</a:t>
            </a:r>
          </a:p>
        </p:txBody>
      </p:sp>
      <p:sp>
        <p:nvSpPr>
          <p:cNvPr id="28" name="cpe|exhibit|label|27"/>
          <p:cNvSpPr txBox="1"/>
          <p:nvPr/>
        </p:nvSpPr>
        <p:spPr>
          <a:xfrm>
            <a:off x="9400616" y="4021905"/>
            <a:ext cx="2288160" cy="237744"/>
          </a:xfrm>
          <a:prstGeom prst="rect">
            <a:avLst/>
          </a:prstGeom>
          <a:noFill/>
        </p:spPr>
        <p:txBody>
          <a:bodyPr wrap="square" lIns="0" rIns="0" tIns="0" bIns="0" anchor="ctr">
            <a:noAutofit/>
          </a:bodyPr>
          <a:lstStyle/>
          <a:p>
            <a:pPr algn="l">
              <a:lnSpc>
                <a:spcPct val="100000"/>
              </a:lnSpc>
            </a:pPr>
            <a:r>
              <a:rPr sz="1100" b="1">
                <a:solidFill>
                  <a:srgbClr val="0B1F3A"/>
                </a:solidFill>
                <a:latin typeface="Arial"/>
              </a:rPr>
              <a:t>Alvora growth</a:t>
            </a:r>
          </a:p>
        </p:txBody>
      </p:sp>
      <p:sp>
        <p:nvSpPr>
          <p:cNvPr id="29" name="cpe|exhibit|label|28"/>
          <p:cNvSpPr txBox="1"/>
          <p:nvPr/>
        </p:nvSpPr>
        <p:spPr>
          <a:xfrm>
            <a:off x="1399635" y="3201371"/>
            <a:ext cx="914400" cy="237744"/>
          </a:xfrm>
          <a:prstGeom prst="rect">
            <a:avLst/>
          </a:prstGeom>
          <a:noFill/>
        </p:spPr>
        <p:txBody>
          <a:bodyPr wrap="square" lIns="0" rIns="0" tIns="0" bIns="0" anchor="b">
            <a:noAutofit/>
          </a:bodyPr>
          <a:lstStyle/>
          <a:p>
            <a:pPr algn="ctr">
              <a:lnSpc>
                <a:spcPct val="100000"/>
              </a:lnSpc>
            </a:pPr>
            <a:r>
              <a:rPr sz="1100" b="1">
                <a:solidFill>
                  <a:srgbClr val="0B1F3A"/>
                </a:solidFill>
                <a:latin typeface="Arial"/>
              </a:rPr>
              <a:t>6.3%</a:t>
            </a:r>
          </a:p>
        </p:txBody>
      </p:sp>
      <p:sp>
        <p:nvSpPr>
          <p:cNvPr id="30" name="cpe|exhibit|label|29"/>
          <p:cNvSpPr txBox="1"/>
          <p:nvPr/>
        </p:nvSpPr>
        <p:spPr>
          <a:xfrm>
            <a:off x="1399635" y="3676596"/>
            <a:ext cx="914400" cy="237744"/>
          </a:xfrm>
          <a:prstGeom prst="rect">
            <a:avLst/>
          </a:prstGeom>
          <a:noFill/>
        </p:spPr>
        <p:txBody>
          <a:bodyPr wrap="square" lIns="0" rIns="0" tIns="0" bIns="0" anchor="b">
            <a:noAutofit/>
          </a:bodyPr>
          <a:lstStyle/>
          <a:p>
            <a:pPr algn="ctr">
              <a:lnSpc>
                <a:spcPct val="100000"/>
              </a:lnSpc>
            </a:pPr>
            <a:r>
              <a:rPr sz="1100" b="0">
                <a:solidFill>
                  <a:srgbClr val="5E6A77"/>
                </a:solidFill>
                <a:latin typeface="Arial"/>
              </a:rPr>
              <a:t>3.8%</a:t>
            </a:r>
          </a:p>
        </p:txBody>
      </p:sp>
      <p:sp>
        <p:nvSpPr>
          <p:cNvPr id="31" name="cpe|exhibit|label|30"/>
          <p:cNvSpPr txBox="1"/>
          <p:nvPr/>
        </p:nvSpPr>
        <p:spPr>
          <a:xfrm>
            <a:off x="3883749" y="3125335"/>
            <a:ext cx="914400" cy="237744"/>
          </a:xfrm>
          <a:prstGeom prst="rect">
            <a:avLst/>
          </a:prstGeom>
          <a:noFill/>
        </p:spPr>
        <p:txBody>
          <a:bodyPr wrap="square" lIns="0" rIns="0" tIns="0" bIns="0" anchor="b">
            <a:noAutofit/>
          </a:bodyPr>
          <a:lstStyle/>
          <a:p>
            <a:pPr algn="ctr">
              <a:lnSpc>
                <a:spcPct val="100000"/>
              </a:lnSpc>
            </a:pPr>
            <a:r>
              <a:rPr sz="1100" b="1">
                <a:solidFill>
                  <a:srgbClr val="0B1F3A"/>
                </a:solidFill>
                <a:latin typeface="Arial"/>
              </a:rPr>
              <a:t>6.7%</a:t>
            </a:r>
          </a:p>
        </p:txBody>
      </p:sp>
      <p:sp>
        <p:nvSpPr>
          <p:cNvPr id="32" name="cpe|exhibit|label|31"/>
          <p:cNvSpPr txBox="1"/>
          <p:nvPr/>
        </p:nvSpPr>
        <p:spPr>
          <a:xfrm>
            <a:off x="3883749" y="3619569"/>
            <a:ext cx="914400" cy="237744"/>
          </a:xfrm>
          <a:prstGeom prst="rect">
            <a:avLst/>
          </a:prstGeom>
          <a:noFill/>
        </p:spPr>
        <p:txBody>
          <a:bodyPr wrap="square" lIns="0" rIns="0" tIns="0" bIns="0" anchor="b">
            <a:noAutofit/>
          </a:bodyPr>
          <a:lstStyle/>
          <a:p>
            <a:pPr algn="ctr">
              <a:lnSpc>
                <a:spcPct val="100000"/>
              </a:lnSpc>
            </a:pPr>
            <a:r>
              <a:rPr sz="1100" b="0">
                <a:solidFill>
                  <a:srgbClr val="5E6A77"/>
                </a:solidFill>
                <a:latin typeface="Arial"/>
              </a:rPr>
              <a:t>4.1%</a:t>
            </a:r>
          </a:p>
        </p:txBody>
      </p:sp>
      <p:sp>
        <p:nvSpPr>
          <p:cNvPr id="33" name="cpe|exhibit|label|32"/>
          <p:cNvSpPr txBox="1"/>
          <p:nvPr/>
        </p:nvSpPr>
        <p:spPr>
          <a:xfrm>
            <a:off x="6367862" y="3638578"/>
            <a:ext cx="914400" cy="237744"/>
          </a:xfrm>
          <a:prstGeom prst="rect">
            <a:avLst/>
          </a:prstGeom>
          <a:noFill/>
        </p:spPr>
        <p:txBody>
          <a:bodyPr wrap="square" lIns="0" rIns="0" tIns="0" bIns="0" anchor="b">
            <a:noAutofit/>
          </a:bodyPr>
          <a:lstStyle/>
          <a:p>
            <a:pPr algn="ctr">
              <a:lnSpc>
                <a:spcPct val="100000"/>
              </a:lnSpc>
            </a:pPr>
            <a:r>
              <a:rPr sz="1100" b="0">
                <a:solidFill>
                  <a:srgbClr val="5E6A77"/>
                </a:solidFill>
                <a:latin typeface="Arial"/>
              </a:rPr>
              <a:t>4.0%</a:t>
            </a:r>
          </a:p>
        </p:txBody>
      </p:sp>
      <p:sp>
        <p:nvSpPr>
          <p:cNvPr id="34" name="cpe|exhibit|label|33"/>
          <p:cNvSpPr txBox="1"/>
          <p:nvPr/>
        </p:nvSpPr>
        <p:spPr>
          <a:xfrm>
            <a:off x="6367862" y="4023347"/>
            <a:ext cx="914400" cy="237744"/>
          </a:xfrm>
          <a:prstGeom prst="rect">
            <a:avLst/>
          </a:prstGeom>
          <a:noFill/>
        </p:spPr>
        <p:txBody>
          <a:bodyPr wrap="square" lIns="0" rIns="0" tIns="0" bIns="0" anchor="t">
            <a:noAutofit/>
          </a:bodyPr>
          <a:lstStyle/>
          <a:p>
            <a:pPr algn="ctr">
              <a:lnSpc>
                <a:spcPct val="100000"/>
              </a:lnSpc>
            </a:pPr>
            <a:r>
              <a:rPr sz="1100" b="1">
                <a:solidFill>
                  <a:srgbClr val="0B1F3A"/>
                </a:solidFill>
                <a:latin typeface="Arial"/>
              </a:rPr>
              <a:t>3.9%</a:t>
            </a:r>
          </a:p>
        </p:txBody>
      </p:sp>
      <p:sp>
        <p:nvSpPr>
          <p:cNvPr id="35" name="cpe|exhibit|label|34"/>
          <p:cNvSpPr txBox="1"/>
          <p:nvPr/>
        </p:nvSpPr>
        <p:spPr>
          <a:xfrm>
            <a:off x="8851976" y="3619569"/>
            <a:ext cx="914400" cy="237744"/>
          </a:xfrm>
          <a:prstGeom prst="rect">
            <a:avLst/>
          </a:prstGeom>
          <a:noFill/>
        </p:spPr>
        <p:txBody>
          <a:bodyPr wrap="square" lIns="0" rIns="0" tIns="0" bIns="0" anchor="b">
            <a:noAutofit/>
          </a:bodyPr>
          <a:lstStyle/>
          <a:p>
            <a:pPr algn="ctr">
              <a:lnSpc>
                <a:spcPct val="100000"/>
              </a:lnSpc>
            </a:pPr>
            <a:r>
              <a:rPr sz="1100" b="0">
                <a:solidFill>
                  <a:srgbClr val="5E6A77"/>
                </a:solidFill>
                <a:latin typeface="Arial"/>
              </a:rPr>
              <a:t>4.1%</a:t>
            </a:r>
          </a:p>
        </p:txBody>
      </p:sp>
      <p:sp>
        <p:nvSpPr>
          <p:cNvPr id="36" name="cpe|exhibit|label|35"/>
          <p:cNvSpPr txBox="1"/>
          <p:nvPr/>
        </p:nvSpPr>
        <p:spPr>
          <a:xfrm>
            <a:off x="8851976" y="4194427"/>
            <a:ext cx="914400" cy="237744"/>
          </a:xfrm>
          <a:prstGeom prst="rect">
            <a:avLst/>
          </a:prstGeom>
          <a:noFill/>
        </p:spPr>
        <p:txBody>
          <a:bodyPr wrap="square" lIns="0" rIns="0" tIns="0" bIns="0" anchor="t">
            <a:noAutofit/>
          </a:bodyPr>
          <a:lstStyle/>
          <a:p>
            <a:pPr algn="ctr">
              <a:lnSpc>
                <a:spcPct val="100000"/>
              </a:lnSpc>
            </a:pPr>
            <a:r>
              <a:rPr sz="1100" b="1">
                <a:solidFill>
                  <a:srgbClr val="0B1F3A"/>
                </a:solidFill>
                <a:latin typeface="Arial"/>
              </a:rPr>
              <a:t>3.0%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pe|chrome|text|1"/>
          <p:cNvSpPr txBox="1"/>
          <p:nvPr/>
        </p:nvSpPr>
        <p:spPr>
          <a:xfrm>
            <a:off x="502920" y="274320"/>
            <a:ext cx="7830099" cy="201168"/>
          </a:xfrm>
          <a:prstGeom prst="rect">
            <a:avLst/>
          </a:prstGeom>
          <a:noFill/>
        </p:spPr>
        <p:txBody>
          <a:bodyPr wrap="square" lIns="0" rIns="0" tIns="0" bIns="0" anchor="t">
            <a:noAutofit/>
          </a:bodyPr>
          <a:lstStyle/>
          <a:p>
            <a:pPr algn="l">
              <a:lnSpc>
                <a:spcPct val="100000"/>
              </a:lnSpc>
            </a:pPr>
            <a:r>
              <a:rPr sz="1000" b="1">
                <a:solidFill>
                  <a:srgbClr val="5E6A77"/>
                </a:solidFill>
                <a:latin typeface="Arial"/>
              </a:rPr>
              <a:t>PORTFOLIO</a:t>
            </a:r>
          </a:p>
        </p:txBody>
      </p:sp>
      <p:sp>
        <p:nvSpPr>
          <p:cNvPr id="3" name="cpe|chrome|text|2"/>
          <p:cNvSpPr txBox="1"/>
          <p:nvPr/>
        </p:nvSpPr>
        <p:spPr>
          <a:xfrm>
            <a:off x="502920" y="475488"/>
            <a:ext cx="10472623" cy="786384"/>
          </a:xfrm>
          <a:prstGeom prst="rect">
            <a:avLst/>
          </a:prstGeom>
          <a:noFill/>
        </p:spPr>
        <p:txBody>
          <a:bodyPr wrap="square" lIns="0" rIns="0" tIns="0" bIns="0" anchor="t">
            <a:noAutofit/>
          </a:bodyPr>
          <a:lstStyle/>
          <a:p>
            <a:pPr algn="l">
              <a:lnSpc>
                <a:spcPct val="100000"/>
              </a:lnSpc>
            </a:pPr>
            <a:r>
              <a:rPr sz="2200" b="1">
                <a:solidFill>
                  <a:srgbClr val="0B1F3A"/>
                </a:solidFill>
                <a:latin typeface="Arial"/>
              </a:rPr>
              <a:t>Alvora holds 14% of supermarkets but only 5% of discount, the segment driving growth</a:t>
            </a:r>
          </a:p>
        </p:txBody>
      </p:sp>
      <p:sp>
        <p:nvSpPr>
          <p:cNvPr id="4" name="cpe|chrome|text|3"/>
          <p:cNvSpPr txBox="1"/>
          <p:nvPr/>
        </p:nvSpPr>
        <p:spPr>
          <a:xfrm>
            <a:off x="502920" y="6272784"/>
            <a:ext cx="8808415" cy="402336"/>
          </a:xfrm>
          <a:prstGeom prst="rect">
            <a:avLst/>
          </a:prstGeom>
          <a:noFill/>
        </p:spPr>
        <p:txBody>
          <a:bodyPr wrap="square" lIns="0" rIns="0" tIns="0" bIns="0" anchor="b">
            <a:noAutofit/>
          </a:bodyPr>
          <a:lstStyle/>
          <a:p>
            <a:pPr algn="l">
              <a:lnSpc>
                <a:spcPct val="100000"/>
              </a:lnSpc>
            </a:pPr>
            <a:r>
              <a:rPr sz="800" b="0">
                <a:solidFill>
                  <a:srgbClr val="5E6A77"/>
                </a:solidFill>
                <a:latin typeface="Arial"/>
              </a:rPr>
              <a:t>Source: Retailer reports; consumer panel; team estimates (illustrative)</a:t>
            </a:r>
          </a:p>
        </p:txBody>
      </p:sp>
      <p:sp>
        <p:nvSpPr>
          <p:cNvPr id="5" name="cpe|chrome|text|4"/>
          <p:cNvSpPr txBox="1"/>
          <p:nvPr/>
        </p:nvSpPr>
        <p:spPr>
          <a:xfrm>
            <a:off x="9494215" y="6272784"/>
            <a:ext cx="2194560" cy="402336"/>
          </a:xfrm>
          <a:prstGeom prst="rect">
            <a:avLst/>
          </a:prstGeom>
          <a:noFill/>
        </p:spPr>
        <p:txBody>
          <a:bodyPr wrap="square" lIns="0" rIns="0" tIns="0" bIns="0" anchor="b">
            <a:noAutofit/>
          </a:bodyPr>
          <a:lstStyle/>
          <a:p>
            <a:pPr algn="r">
              <a:lnSpc>
                <a:spcPct val="100000"/>
              </a:lnSpc>
            </a:pPr>
            <a:r>
              <a:rPr sz="900" b="0">
                <a:solidFill>
                  <a:srgbClr val="5E6A77"/>
                </a:solidFill>
                <a:latin typeface="Arial"/>
              </a:rPr>
              <a:t>Illustrative data   5</a:t>
            </a:r>
          </a:p>
        </p:txBody>
      </p:sp>
      <p:sp>
        <p:nvSpPr>
          <p:cNvPr id="6" name="cpe|exhibit|text|5"/>
          <p:cNvSpPr txBox="1"/>
          <p:nvPr/>
        </p:nvSpPr>
        <p:spPr>
          <a:xfrm>
            <a:off x="502920" y="1481328"/>
            <a:ext cx="11185855" cy="274320"/>
          </a:xfrm>
          <a:prstGeom prst="rect">
            <a:avLst/>
          </a:prstGeom>
          <a:noFill/>
        </p:spPr>
        <p:txBody>
          <a:bodyPr wrap="square" lIns="0" rIns="0" tIns="0" bIns="0" anchor="t">
            <a:noAutofit/>
          </a:bodyPr>
          <a:lstStyle/>
          <a:p>
            <a:pPr algn="l">
              <a:lnSpc>
                <a:spcPct val="100000"/>
              </a:lnSpc>
            </a:pPr>
            <a:r>
              <a:rPr sz="1100" b="1">
                <a:solidFill>
                  <a:srgbClr val="1E252D"/>
                </a:solidFill>
                <a:latin typeface="Arial"/>
              </a:rPr>
              <a:t>Market share by channel, 2025</a:t>
            </a:r>
            <a:r>
              <a:rPr sz="1100" b="0">
                <a:solidFill>
                  <a:srgbClr val="1E252D"/>
                </a:solidFill>
                <a:latin typeface="Arial"/>
              </a:rPr>
              <a:t>, % of channel sales; width = channel size (€bn)</a:t>
            </a:r>
          </a:p>
        </p:txBody>
      </p:sp>
      <p:sp>
        <p:nvSpPr>
          <p:cNvPr id="7" name="cpe|exhibit|fill|6"/>
          <p:cNvSpPr/>
          <p:nvPr/>
        </p:nvSpPr>
        <p:spPr>
          <a:xfrm>
            <a:off x="502920" y="4669384"/>
            <a:ext cx="2428144" cy="131216"/>
          </a:xfrm>
          <a:prstGeom prst="rect">
            <a:avLst/>
          </a:prstGeom>
          <a:solidFill>
            <a:srgbClr val="0B1F3A"/>
          </a:solidFill>
          <a:ln w="9525">
            <a:solidFill>
              <a:srgbClr val="FFFFFF"/>
            </a:solidFill>
          </a:ln>
        </p:spPr>
        <p:txBody>
          <a:bodyPr rtlCol="0" anchor="ctr" lIns="0" rIns="0" tIns="0" bIns="0"/>
          <a:lstStyle/>
          <a:p>
            <a:pPr algn="ctr"/>
          </a:p>
        </p:txBody>
      </p:sp>
      <p:sp>
        <p:nvSpPr>
          <p:cNvPr id="8" name="cpe|exhibit|fill|7"/>
          <p:cNvSpPr/>
          <p:nvPr/>
        </p:nvSpPr>
        <p:spPr>
          <a:xfrm>
            <a:off x="502920" y="3593409"/>
            <a:ext cx="2428144" cy="1075974"/>
          </a:xfrm>
          <a:prstGeom prst="rect">
            <a:avLst/>
          </a:prstGeom>
          <a:solidFill>
            <a:srgbClr val="C9D0D8"/>
          </a:solidFill>
          <a:ln w="9525">
            <a:solidFill>
              <a:srgbClr val="FFFFFF"/>
            </a:solidFill>
          </a:ln>
        </p:spPr>
        <p:txBody>
          <a:bodyPr rtlCol="0" anchor="ctr" lIns="0" rIns="0" tIns="0" bIns="0"/>
          <a:lstStyle/>
          <a:p>
            <a:pPr algn="ctr"/>
          </a:p>
        </p:txBody>
      </p:sp>
      <p:sp>
        <p:nvSpPr>
          <p:cNvPr id="9" name="cpe|exhibit|fill|8"/>
          <p:cNvSpPr/>
          <p:nvPr/>
        </p:nvSpPr>
        <p:spPr>
          <a:xfrm>
            <a:off x="502920" y="3278490"/>
            <a:ext cx="2428144" cy="314919"/>
          </a:xfrm>
          <a:prstGeom prst="rect">
            <a:avLst/>
          </a:prstGeom>
          <a:solidFill>
            <a:srgbClr val="C9D0D8"/>
          </a:solidFill>
          <a:ln w="9525">
            <a:solidFill>
              <a:srgbClr val="FFFFFF"/>
            </a:solidFill>
          </a:ln>
        </p:spPr>
        <p:txBody>
          <a:bodyPr rtlCol="0" anchor="ctr" lIns="0" rIns="0" tIns="0" bIns="0"/>
          <a:lstStyle/>
          <a:p>
            <a:pPr algn="ctr"/>
          </a:p>
        </p:txBody>
      </p:sp>
      <p:sp>
        <p:nvSpPr>
          <p:cNvPr id="10" name="cpe|exhibit|fill|9"/>
          <p:cNvSpPr/>
          <p:nvPr/>
        </p:nvSpPr>
        <p:spPr>
          <a:xfrm>
            <a:off x="502920" y="2176272"/>
            <a:ext cx="2428144" cy="1102218"/>
          </a:xfrm>
          <a:prstGeom prst="rect">
            <a:avLst/>
          </a:prstGeom>
          <a:solidFill>
            <a:srgbClr val="C9D0D8"/>
          </a:solidFill>
          <a:ln w="9525">
            <a:solidFill>
              <a:srgbClr val="FFFFFF"/>
            </a:solidFill>
          </a:ln>
        </p:spPr>
        <p:txBody>
          <a:bodyPr rtlCol="0" anchor="ctr" lIns="0" rIns="0" tIns="0" bIns="0"/>
          <a:lstStyle/>
          <a:p>
            <a:pPr algn="ctr"/>
          </a:p>
        </p:txBody>
      </p:sp>
      <p:sp>
        <p:nvSpPr>
          <p:cNvPr id="11" name="cpe|exhibit|label|10"/>
          <p:cNvSpPr txBox="1"/>
          <p:nvPr/>
        </p:nvSpPr>
        <p:spPr>
          <a:xfrm>
            <a:off x="502920" y="1901952"/>
            <a:ext cx="2428144" cy="256032"/>
          </a:xfrm>
          <a:prstGeom prst="rect">
            <a:avLst/>
          </a:prstGeom>
          <a:noFill/>
        </p:spPr>
        <p:txBody>
          <a:bodyPr wrap="square" lIns="0" rIns="0" tIns="0" bIns="0" anchor="t">
            <a:noAutofit/>
          </a:bodyPr>
          <a:lstStyle/>
          <a:p>
            <a:pPr algn="ctr">
              <a:lnSpc>
                <a:spcPct val="100000"/>
              </a:lnSpc>
            </a:pPr>
            <a:r>
              <a:rPr sz="1100" b="1">
                <a:solidFill>
                  <a:srgbClr val="1E252D"/>
                </a:solidFill>
                <a:latin typeface="Arial"/>
              </a:rPr>
              <a:t>38</a:t>
            </a:r>
          </a:p>
        </p:txBody>
      </p:sp>
      <p:sp>
        <p:nvSpPr>
          <p:cNvPr id="12" name="cpe|exhibit|text|11"/>
          <p:cNvSpPr txBox="1"/>
          <p:nvPr/>
        </p:nvSpPr>
        <p:spPr>
          <a:xfrm>
            <a:off x="502920" y="4855464"/>
            <a:ext cx="2428144" cy="512064"/>
          </a:xfrm>
          <a:prstGeom prst="rect">
            <a:avLst/>
          </a:prstGeom>
          <a:noFill/>
        </p:spPr>
        <p:txBody>
          <a:bodyPr wrap="square" lIns="0" rIns="0" tIns="0" bIns="0" anchor="t">
            <a:noAutofit/>
          </a:bodyPr>
          <a:lstStyle/>
          <a:p>
            <a:pPr algn="ctr">
              <a:lnSpc>
                <a:spcPct val="100000"/>
              </a:lnSpc>
            </a:pPr>
            <a:r>
              <a:rPr sz="1000" b="0">
                <a:solidFill>
                  <a:srgbClr val="5E6A77"/>
                </a:solidFill>
                <a:latin typeface="Arial"/>
              </a:rPr>
              <a:t>Discount</a:t>
            </a:r>
          </a:p>
        </p:txBody>
      </p:sp>
      <p:sp>
        <p:nvSpPr>
          <p:cNvPr id="13" name="cpe|exhibit|fill|12"/>
          <p:cNvSpPr/>
          <p:nvPr/>
        </p:nvSpPr>
        <p:spPr>
          <a:xfrm>
            <a:off x="2967640" y="4433194"/>
            <a:ext cx="3322724" cy="367406"/>
          </a:xfrm>
          <a:prstGeom prst="rect">
            <a:avLst/>
          </a:prstGeom>
          <a:solidFill>
            <a:srgbClr val="0B1F3A"/>
          </a:solidFill>
          <a:ln w="9525">
            <a:solidFill>
              <a:srgbClr val="FFFFFF"/>
            </a:solidFill>
          </a:ln>
        </p:spPr>
        <p:txBody>
          <a:bodyPr rtlCol="0" anchor="ctr" lIns="0" rIns="0" tIns="0" bIns="0"/>
          <a:lstStyle/>
          <a:p>
            <a:pPr algn="ctr"/>
          </a:p>
        </p:txBody>
      </p:sp>
      <p:sp>
        <p:nvSpPr>
          <p:cNvPr id="14" name="cpe|exhibit|fill|13"/>
          <p:cNvSpPr/>
          <p:nvPr/>
        </p:nvSpPr>
        <p:spPr>
          <a:xfrm>
            <a:off x="2967640" y="4328221"/>
            <a:ext cx="3322724" cy="104973"/>
          </a:xfrm>
          <a:prstGeom prst="rect">
            <a:avLst/>
          </a:prstGeom>
          <a:solidFill>
            <a:srgbClr val="C9D0D8"/>
          </a:solidFill>
          <a:ln w="9525">
            <a:solidFill>
              <a:srgbClr val="FFFFFF"/>
            </a:solidFill>
          </a:ln>
        </p:spPr>
        <p:txBody>
          <a:bodyPr rtlCol="0" anchor="ctr" lIns="0" rIns="0" tIns="0" bIns="0"/>
          <a:lstStyle/>
          <a:p>
            <a:pPr algn="ctr"/>
          </a:p>
        </p:txBody>
      </p:sp>
      <p:sp>
        <p:nvSpPr>
          <p:cNvPr id="15" name="cpe|exhibit|fill|14"/>
          <p:cNvSpPr/>
          <p:nvPr/>
        </p:nvSpPr>
        <p:spPr>
          <a:xfrm>
            <a:off x="2967640" y="3750869"/>
            <a:ext cx="3322724" cy="577352"/>
          </a:xfrm>
          <a:prstGeom prst="rect">
            <a:avLst/>
          </a:prstGeom>
          <a:solidFill>
            <a:srgbClr val="C9D0D8"/>
          </a:solidFill>
          <a:ln w="9525">
            <a:solidFill>
              <a:srgbClr val="FFFFFF"/>
            </a:solidFill>
          </a:ln>
        </p:spPr>
        <p:txBody>
          <a:bodyPr rtlCol="0" anchor="ctr" lIns="0" rIns="0" tIns="0" bIns="0"/>
          <a:lstStyle/>
          <a:p>
            <a:pPr algn="ctr"/>
          </a:p>
        </p:txBody>
      </p:sp>
      <p:sp>
        <p:nvSpPr>
          <p:cNvPr id="16" name="cpe|exhibit|fill|15"/>
          <p:cNvSpPr/>
          <p:nvPr/>
        </p:nvSpPr>
        <p:spPr>
          <a:xfrm>
            <a:off x="2967640" y="3278490"/>
            <a:ext cx="3322724" cy="472379"/>
          </a:xfrm>
          <a:prstGeom prst="rect">
            <a:avLst/>
          </a:prstGeom>
          <a:solidFill>
            <a:srgbClr val="C9D0D8"/>
          </a:solidFill>
          <a:ln w="9525">
            <a:solidFill>
              <a:srgbClr val="FFFFFF"/>
            </a:solidFill>
          </a:ln>
        </p:spPr>
        <p:txBody>
          <a:bodyPr rtlCol="0" anchor="ctr" lIns="0" rIns="0" tIns="0" bIns="0"/>
          <a:lstStyle/>
          <a:p>
            <a:pPr algn="ctr"/>
          </a:p>
        </p:txBody>
      </p:sp>
      <p:sp>
        <p:nvSpPr>
          <p:cNvPr id="17" name="cpe|exhibit|fill|16"/>
          <p:cNvSpPr/>
          <p:nvPr/>
        </p:nvSpPr>
        <p:spPr>
          <a:xfrm>
            <a:off x="2967640" y="2176272"/>
            <a:ext cx="3322724" cy="1102218"/>
          </a:xfrm>
          <a:prstGeom prst="rect">
            <a:avLst/>
          </a:prstGeom>
          <a:solidFill>
            <a:srgbClr val="C9D0D8"/>
          </a:solidFill>
          <a:ln w="9525">
            <a:solidFill>
              <a:srgbClr val="FFFFFF"/>
            </a:solidFill>
          </a:ln>
        </p:spPr>
        <p:txBody>
          <a:bodyPr rtlCol="0" anchor="ctr" lIns="0" rIns="0" tIns="0" bIns="0"/>
          <a:lstStyle/>
          <a:p>
            <a:pPr algn="ctr"/>
          </a:p>
        </p:txBody>
      </p:sp>
      <p:sp>
        <p:nvSpPr>
          <p:cNvPr id="18" name="cpe|exhibit|label|17"/>
          <p:cNvSpPr txBox="1"/>
          <p:nvPr/>
        </p:nvSpPr>
        <p:spPr>
          <a:xfrm>
            <a:off x="2967640" y="1901952"/>
            <a:ext cx="3322724" cy="256032"/>
          </a:xfrm>
          <a:prstGeom prst="rect">
            <a:avLst/>
          </a:prstGeom>
          <a:noFill/>
        </p:spPr>
        <p:txBody>
          <a:bodyPr wrap="square" lIns="0" rIns="0" tIns="0" bIns="0" anchor="t">
            <a:noAutofit/>
          </a:bodyPr>
          <a:lstStyle/>
          <a:p>
            <a:pPr algn="ctr">
              <a:lnSpc>
                <a:spcPct val="100000"/>
              </a:lnSpc>
            </a:pPr>
            <a:r>
              <a:rPr sz="1100" b="1">
                <a:solidFill>
                  <a:srgbClr val="1E252D"/>
                </a:solidFill>
                <a:latin typeface="Arial"/>
              </a:rPr>
              <a:t>52</a:t>
            </a:r>
          </a:p>
        </p:txBody>
      </p:sp>
      <p:sp>
        <p:nvSpPr>
          <p:cNvPr id="19" name="cpe|exhibit|text|18"/>
          <p:cNvSpPr txBox="1"/>
          <p:nvPr/>
        </p:nvSpPr>
        <p:spPr>
          <a:xfrm>
            <a:off x="2967640" y="4855464"/>
            <a:ext cx="3322724" cy="512064"/>
          </a:xfrm>
          <a:prstGeom prst="rect">
            <a:avLst/>
          </a:prstGeom>
          <a:noFill/>
        </p:spPr>
        <p:txBody>
          <a:bodyPr wrap="square" lIns="0" rIns="0" tIns="0" bIns="0" anchor="t">
            <a:noAutofit/>
          </a:bodyPr>
          <a:lstStyle/>
          <a:p>
            <a:pPr algn="ctr">
              <a:lnSpc>
                <a:spcPct val="100000"/>
              </a:lnSpc>
            </a:pPr>
            <a:r>
              <a:rPr sz="1000" b="0">
                <a:solidFill>
                  <a:srgbClr val="5E6A77"/>
                </a:solidFill>
                <a:latin typeface="Arial"/>
              </a:rPr>
              <a:t>Supermarkets</a:t>
            </a:r>
          </a:p>
        </p:txBody>
      </p:sp>
      <p:sp>
        <p:nvSpPr>
          <p:cNvPr id="20" name="cpe|exhibit|fill|19"/>
          <p:cNvSpPr/>
          <p:nvPr/>
        </p:nvSpPr>
        <p:spPr>
          <a:xfrm>
            <a:off x="6326940" y="4564410"/>
            <a:ext cx="1533565" cy="236190"/>
          </a:xfrm>
          <a:prstGeom prst="rect">
            <a:avLst/>
          </a:prstGeom>
          <a:solidFill>
            <a:srgbClr val="0B1F3A"/>
          </a:solidFill>
          <a:ln w="9525">
            <a:solidFill>
              <a:srgbClr val="FFFFFF"/>
            </a:solidFill>
          </a:ln>
        </p:spPr>
        <p:txBody>
          <a:bodyPr rtlCol="0" anchor="ctr" lIns="0" rIns="0" tIns="0" bIns="0"/>
          <a:lstStyle/>
          <a:p>
            <a:pPr algn="ctr"/>
          </a:p>
        </p:txBody>
      </p:sp>
      <p:sp>
        <p:nvSpPr>
          <p:cNvPr id="21" name="cpe|exhibit|fill|20"/>
          <p:cNvSpPr/>
          <p:nvPr/>
        </p:nvSpPr>
        <p:spPr>
          <a:xfrm>
            <a:off x="6326940" y="4170761"/>
            <a:ext cx="1533565" cy="393649"/>
          </a:xfrm>
          <a:prstGeom prst="rect">
            <a:avLst/>
          </a:prstGeom>
          <a:solidFill>
            <a:srgbClr val="C9D0D8"/>
          </a:solidFill>
          <a:ln w="9525">
            <a:solidFill>
              <a:srgbClr val="FFFFFF"/>
            </a:solidFill>
          </a:ln>
        </p:spPr>
        <p:txBody>
          <a:bodyPr rtlCol="0" anchor="ctr" lIns="0" rIns="0" tIns="0" bIns="0"/>
          <a:lstStyle/>
          <a:p>
            <a:pPr algn="ctr"/>
          </a:p>
        </p:txBody>
      </p:sp>
      <p:sp>
        <p:nvSpPr>
          <p:cNvPr id="22" name="cpe|exhibit|fill|21"/>
          <p:cNvSpPr/>
          <p:nvPr/>
        </p:nvSpPr>
        <p:spPr>
          <a:xfrm>
            <a:off x="6326940" y="3357220"/>
            <a:ext cx="1533565" cy="813542"/>
          </a:xfrm>
          <a:prstGeom prst="rect">
            <a:avLst/>
          </a:prstGeom>
          <a:solidFill>
            <a:srgbClr val="C9D0D8"/>
          </a:solidFill>
          <a:ln w="9525">
            <a:solidFill>
              <a:srgbClr val="FFFFFF"/>
            </a:solidFill>
          </a:ln>
        </p:spPr>
        <p:txBody>
          <a:bodyPr rtlCol="0" anchor="ctr" lIns="0" rIns="0" tIns="0" bIns="0"/>
          <a:lstStyle/>
          <a:p>
            <a:pPr algn="ctr"/>
          </a:p>
        </p:txBody>
      </p:sp>
      <p:sp>
        <p:nvSpPr>
          <p:cNvPr id="23" name="cpe|exhibit|fill|22"/>
          <p:cNvSpPr/>
          <p:nvPr/>
        </p:nvSpPr>
        <p:spPr>
          <a:xfrm>
            <a:off x="6326940" y="2176272"/>
            <a:ext cx="1533565" cy="1180948"/>
          </a:xfrm>
          <a:prstGeom prst="rect">
            <a:avLst/>
          </a:prstGeom>
          <a:solidFill>
            <a:srgbClr val="C9D0D8"/>
          </a:solidFill>
          <a:ln w="9525">
            <a:solidFill>
              <a:srgbClr val="FFFFFF"/>
            </a:solidFill>
          </a:ln>
        </p:spPr>
        <p:txBody>
          <a:bodyPr rtlCol="0" anchor="ctr" lIns="0" rIns="0" tIns="0" bIns="0"/>
          <a:lstStyle/>
          <a:p>
            <a:pPr algn="ctr"/>
          </a:p>
        </p:txBody>
      </p:sp>
      <p:sp>
        <p:nvSpPr>
          <p:cNvPr id="24" name="cpe|exhibit|label|23"/>
          <p:cNvSpPr txBox="1"/>
          <p:nvPr/>
        </p:nvSpPr>
        <p:spPr>
          <a:xfrm>
            <a:off x="6326940" y="1901952"/>
            <a:ext cx="1533565" cy="256032"/>
          </a:xfrm>
          <a:prstGeom prst="rect">
            <a:avLst/>
          </a:prstGeom>
          <a:noFill/>
        </p:spPr>
        <p:txBody>
          <a:bodyPr wrap="square" lIns="0" rIns="0" tIns="0" bIns="0" anchor="t">
            <a:noAutofit/>
          </a:bodyPr>
          <a:lstStyle/>
          <a:p>
            <a:pPr algn="ctr">
              <a:lnSpc>
                <a:spcPct val="100000"/>
              </a:lnSpc>
            </a:pPr>
            <a:r>
              <a:rPr sz="1100" b="1">
                <a:solidFill>
                  <a:srgbClr val="1E252D"/>
                </a:solidFill>
                <a:latin typeface="Arial"/>
              </a:rPr>
              <a:t>24</a:t>
            </a:r>
          </a:p>
        </p:txBody>
      </p:sp>
      <p:sp>
        <p:nvSpPr>
          <p:cNvPr id="25" name="cpe|exhibit|text|24"/>
          <p:cNvSpPr txBox="1"/>
          <p:nvPr/>
        </p:nvSpPr>
        <p:spPr>
          <a:xfrm>
            <a:off x="6326940" y="4855464"/>
            <a:ext cx="1533565" cy="512064"/>
          </a:xfrm>
          <a:prstGeom prst="rect">
            <a:avLst/>
          </a:prstGeom>
          <a:noFill/>
        </p:spPr>
        <p:txBody>
          <a:bodyPr wrap="square" lIns="0" rIns="0" tIns="0" bIns="0" anchor="t">
            <a:noAutofit/>
          </a:bodyPr>
          <a:lstStyle/>
          <a:p>
            <a:pPr algn="ctr">
              <a:lnSpc>
                <a:spcPct val="100000"/>
              </a:lnSpc>
            </a:pPr>
            <a:r>
              <a:rPr sz="1000" b="0">
                <a:solidFill>
                  <a:srgbClr val="5E6A77"/>
                </a:solidFill>
                <a:latin typeface="Arial"/>
              </a:rPr>
              <a:t>Hypermarkets</a:t>
            </a:r>
          </a:p>
        </p:txBody>
      </p:sp>
      <p:sp>
        <p:nvSpPr>
          <p:cNvPr id="26" name="cpe|exhibit|fill|25"/>
          <p:cNvSpPr/>
          <p:nvPr/>
        </p:nvSpPr>
        <p:spPr>
          <a:xfrm>
            <a:off x="7897080" y="4485681"/>
            <a:ext cx="894579" cy="314919"/>
          </a:xfrm>
          <a:prstGeom prst="rect">
            <a:avLst/>
          </a:prstGeom>
          <a:solidFill>
            <a:srgbClr val="0B1F3A"/>
          </a:solidFill>
          <a:ln w="9525">
            <a:solidFill>
              <a:srgbClr val="FFFFFF"/>
            </a:solidFill>
          </a:ln>
        </p:spPr>
        <p:txBody>
          <a:bodyPr rtlCol="0" anchor="ctr" lIns="0" rIns="0" tIns="0" bIns="0"/>
          <a:lstStyle/>
          <a:p>
            <a:pPr algn="ctr"/>
          </a:p>
        </p:txBody>
      </p:sp>
      <p:sp>
        <p:nvSpPr>
          <p:cNvPr id="27" name="cpe|exhibit|fill|26"/>
          <p:cNvSpPr/>
          <p:nvPr/>
        </p:nvSpPr>
        <p:spPr>
          <a:xfrm>
            <a:off x="7897080" y="4328221"/>
            <a:ext cx="894579" cy="157460"/>
          </a:xfrm>
          <a:prstGeom prst="rect">
            <a:avLst/>
          </a:prstGeom>
          <a:solidFill>
            <a:srgbClr val="C9D0D8"/>
          </a:solidFill>
          <a:ln w="9525">
            <a:solidFill>
              <a:srgbClr val="FFFFFF"/>
            </a:solidFill>
          </a:ln>
        </p:spPr>
        <p:txBody>
          <a:bodyPr rtlCol="0" anchor="ctr" lIns="0" rIns="0" tIns="0" bIns="0"/>
          <a:lstStyle/>
          <a:p>
            <a:pPr algn="ctr"/>
          </a:p>
        </p:txBody>
      </p:sp>
      <p:sp>
        <p:nvSpPr>
          <p:cNvPr id="28" name="cpe|exhibit|fill|27"/>
          <p:cNvSpPr/>
          <p:nvPr/>
        </p:nvSpPr>
        <p:spPr>
          <a:xfrm>
            <a:off x="7897080" y="4144518"/>
            <a:ext cx="894579" cy="183703"/>
          </a:xfrm>
          <a:prstGeom prst="rect">
            <a:avLst/>
          </a:prstGeom>
          <a:solidFill>
            <a:srgbClr val="C9D0D8"/>
          </a:solidFill>
          <a:ln w="9525">
            <a:solidFill>
              <a:srgbClr val="FFFFFF"/>
            </a:solidFill>
          </a:ln>
        </p:spPr>
        <p:txBody>
          <a:bodyPr rtlCol="0" anchor="ctr" lIns="0" rIns="0" tIns="0" bIns="0"/>
          <a:lstStyle/>
          <a:p>
            <a:pPr algn="ctr"/>
          </a:p>
        </p:txBody>
      </p:sp>
      <p:sp>
        <p:nvSpPr>
          <p:cNvPr id="29" name="cpe|exhibit|fill|28"/>
          <p:cNvSpPr/>
          <p:nvPr/>
        </p:nvSpPr>
        <p:spPr>
          <a:xfrm>
            <a:off x="7897080" y="2176272"/>
            <a:ext cx="894579" cy="1968246"/>
          </a:xfrm>
          <a:prstGeom prst="rect">
            <a:avLst/>
          </a:prstGeom>
          <a:solidFill>
            <a:srgbClr val="C9D0D8"/>
          </a:solidFill>
          <a:ln w="9525">
            <a:solidFill>
              <a:srgbClr val="FFFFFF"/>
            </a:solidFill>
          </a:ln>
        </p:spPr>
        <p:txBody>
          <a:bodyPr rtlCol="0" anchor="ctr" lIns="0" rIns="0" tIns="0" bIns="0"/>
          <a:lstStyle/>
          <a:p>
            <a:pPr algn="ctr"/>
          </a:p>
        </p:txBody>
      </p:sp>
      <p:sp>
        <p:nvSpPr>
          <p:cNvPr id="30" name="cpe|exhibit|label|29"/>
          <p:cNvSpPr txBox="1"/>
          <p:nvPr/>
        </p:nvSpPr>
        <p:spPr>
          <a:xfrm>
            <a:off x="7897080" y="1901952"/>
            <a:ext cx="894579" cy="256032"/>
          </a:xfrm>
          <a:prstGeom prst="rect">
            <a:avLst/>
          </a:prstGeom>
          <a:noFill/>
        </p:spPr>
        <p:txBody>
          <a:bodyPr wrap="square" lIns="0" rIns="0" tIns="0" bIns="0" anchor="t">
            <a:noAutofit/>
          </a:bodyPr>
          <a:lstStyle/>
          <a:p>
            <a:pPr algn="ctr">
              <a:lnSpc>
                <a:spcPct val="100000"/>
              </a:lnSpc>
            </a:pPr>
            <a:r>
              <a:rPr sz="1100" b="1">
                <a:solidFill>
                  <a:srgbClr val="1E252D"/>
                </a:solidFill>
                <a:latin typeface="Arial"/>
              </a:rPr>
              <a:t>14</a:t>
            </a:r>
          </a:p>
        </p:txBody>
      </p:sp>
      <p:sp>
        <p:nvSpPr>
          <p:cNvPr id="31" name="cpe|exhibit|text|30"/>
          <p:cNvSpPr txBox="1"/>
          <p:nvPr/>
        </p:nvSpPr>
        <p:spPr>
          <a:xfrm>
            <a:off x="7897080" y="4855464"/>
            <a:ext cx="894579" cy="512064"/>
          </a:xfrm>
          <a:prstGeom prst="rect">
            <a:avLst/>
          </a:prstGeom>
          <a:noFill/>
        </p:spPr>
        <p:txBody>
          <a:bodyPr wrap="square" lIns="0" rIns="0" tIns="0" bIns="0" anchor="t">
            <a:noAutofit/>
          </a:bodyPr>
          <a:lstStyle/>
          <a:p>
            <a:pPr algn="ctr">
              <a:lnSpc>
                <a:spcPct val="100000"/>
              </a:lnSpc>
            </a:pPr>
            <a:r>
              <a:rPr sz="1000" b="0">
                <a:solidFill>
                  <a:srgbClr val="5E6A77"/>
                </a:solidFill>
                <a:latin typeface="Arial"/>
              </a:rPr>
              <a:t>Convenience</a:t>
            </a:r>
          </a:p>
        </p:txBody>
      </p:sp>
      <p:sp>
        <p:nvSpPr>
          <p:cNvPr id="32" name="cpe|exhibit|fill|31"/>
          <p:cNvSpPr/>
          <p:nvPr/>
        </p:nvSpPr>
        <p:spPr>
          <a:xfrm>
            <a:off x="8828236" y="4695627"/>
            <a:ext cx="894579" cy="104973"/>
          </a:xfrm>
          <a:prstGeom prst="rect">
            <a:avLst/>
          </a:prstGeom>
          <a:solidFill>
            <a:srgbClr val="0B1F3A"/>
          </a:solidFill>
          <a:ln w="9525">
            <a:solidFill>
              <a:srgbClr val="FFFFFF"/>
            </a:solidFill>
          </a:ln>
        </p:spPr>
        <p:txBody>
          <a:bodyPr rtlCol="0" anchor="ctr" lIns="0" rIns="0" tIns="0" bIns="0"/>
          <a:lstStyle/>
          <a:p>
            <a:pPr algn="ctr"/>
          </a:p>
        </p:txBody>
      </p:sp>
      <p:sp>
        <p:nvSpPr>
          <p:cNvPr id="33" name="cpe|exhibit|fill|32"/>
          <p:cNvSpPr/>
          <p:nvPr/>
        </p:nvSpPr>
        <p:spPr>
          <a:xfrm>
            <a:off x="8828236" y="4459437"/>
            <a:ext cx="894579" cy="236190"/>
          </a:xfrm>
          <a:prstGeom prst="rect">
            <a:avLst/>
          </a:prstGeom>
          <a:solidFill>
            <a:srgbClr val="C9D0D8"/>
          </a:solidFill>
          <a:ln w="9525">
            <a:solidFill>
              <a:srgbClr val="FFFFFF"/>
            </a:solidFill>
          </a:ln>
        </p:spPr>
        <p:txBody>
          <a:bodyPr rtlCol="0" anchor="ctr" lIns="0" rIns="0" tIns="0" bIns="0"/>
          <a:lstStyle/>
          <a:p>
            <a:pPr algn="ctr"/>
          </a:p>
        </p:txBody>
      </p:sp>
      <p:sp>
        <p:nvSpPr>
          <p:cNvPr id="34" name="cpe|exhibit|fill|33"/>
          <p:cNvSpPr/>
          <p:nvPr/>
        </p:nvSpPr>
        <p:spPr>
          <a:xfrm>
            <a:off x="8828236" y="4144518"/>
            <a:ext cx="894579" cy="314919"/>
          </a:xfrm>
          <a:prstGeom prst="rect">
            <a:avLst/>
          </a:prstGeom>
          <a:solidFill>
            <a:srgbClr val="C9D0D8"/>
          </a:solidFill>
          <a:ln w="9525">
            <a:solidFill>
              <a:srgbClr val="FFFFFF"/>
            </a:solidFill>
          </a:ln>
        </p:spPr>
        <p:txBody>
          <a:bodyPr rtlCol="0" anchor="ctr" lIns="0" rIns="0" tIns="0" bIns="0"/>
          <a:lstStyle/>
          <a:p>
            <a:pPr algn="ctr"/>
          </a:p>
        </p:txBody>
      </p:sp>
      <p:sp>
        <p:nvSpPr>
          <p:cNvPr id="35" name="cpe|exhibit|fill|34"/>
          <p:cNvSpPr/>
          <p:nvPr/>
        </p:nvSpPr>
        <p:spPr>
          <a:xfrm>
            <a:off x="8828236" y="2176272"/>
            <a:ext cx="894579" cy="1968246"/>
          </a:xfrm>
          <a:prstGeom prst="rect">
            <a:avLst/>
          </a:prstGeom>
          <a:solidFill>
            <a:srgbClr val="C9D0D8"/>
          </a:solidFill>
          <a:ln w="9525">
            <a:solidFill>
              <a:srgbClr val="FFFFFF"/>
            </a:solidFill>
          </a:ln>
        </p:spPr>
        <p:txBody>
          <a:bodyPr rtlCol="0" anchor="ctr" lIns="0" rIns="0" tIns="0" bIns="0"/>
          <a:lstStyle/>
          <a:p>
            <a:pPr algn="ctr"/>
          </a:p>
        </p:txBody>
      </p:sp>
      <p:sp>
        <p:nvSpPr>
          <p:cNvPr id="36" name="cpe|exhibit|label|35"/>
          <p:cNvSpPr txBox="1"/>
          <p:nvPr/>
        </p:nvSpPr>
        <p:spPr>
          <a:xfrm>
            <a:off x="8828236" y="1901952"/>
            <a:ext cx="894579" cy="256032"/>
          </a:xfrm>
          <a:prstGeom prst="rect">
            <a:avLst/>
          </a:prstGeom>
          <a:noFill/>
        </p:spPr>
        <p:txBody>
          <a:bodyPr wrap="square" lIns="0" rIns="0" tIns="0" bIns="0" anchor="t">
            <a:noAutofit/>
          </a:bodyPr>
          <a:lstStyle/>
          <a:p>
            <a:pPr algn="ctr">
              <a:lnSpc>
                <a:spcPct val="100000"/>
              </a:lnSpc>
            </a:pPr>
            <a:r>
              <a:rPr sz="1100" b="1">
                <a:solidFill>
                  <a:srgbClr val="1E252D"/>
                </a:solidFill>
                <a:latin typeface="Arial"/>
              </a:rPr>
              <a:t>14</a:t>
            </a:r>
          </a:p>
        </p:txBody>
      </p:sp>
      <p:sp>
        <p:nvSpPr>
          <p:cNvPr id="37" name="cpe|exhibit|text|36"/>
          <p:cNvSpPr txBox="1"/>
          <p:nvPr/>
        </p:nvSpPr>
        <p:spPr>
          <a:xfrm>
            <a:off x="8828236" y="4855464"/>
            <a:ext cx="894579" cy="512064"/>
          </a:xfrm>
          <a:prstGeom prst="rect">
            <a:avLst/>
          </a:prstGeom>
          <a:noFill/>
        </p:spPr>
        <p:txBody>
          <a:bodyPr wrap="square" lIns="0" rIns="0" tIns="0" bIns="0" anchor="t">
            <a:noAutofit/>
          </a:bodyPr>
          <a:lstStyle/>
          <a:p>
            <a:pPr algn="ctr">
              <a:lnSpc>
                <a:spcPct val="100000"/>
              </a:lnSpc>
            </a:pPr>
            <a:r>
              <a:rPr sz="1000" b="0">
                <a:solidFill>
                  <a:srgbClr val="5E6A77"/>
                </a:solidFill>
                <a:latin typeface="Arial"/>
              </a:rPr>
              <a:t>Online</a:t>
            </a:r>
          </a:p>
        </p:txBody>
      </p:sp>
      <p:sp>
        <p:nvSpPr>
          <p:cNvPr id="38" name="cpe|exhibit|label|37"/>
          <p:cNvSpPr txBox="1"/>
          <p:nvPr/>
        </p:nvSpPr>
        <p:spPr>
          <a:xfrm>
            <a:off x="502920" y="4422496"/>
            <a:ext cx="2428144" cy="228600"/>
          </a:xfrm>
          <a:prstGeom prst="rect">
            <a:avLst/>
          </a:prstGeom>
          <a:noFill/>
        </p:spPr>
        <p:txBody>
          <a:bodyPr wrap="square" lIns="0" rIns="0" tIns="0" bIns="0" anchor="b">
            <a:noAutofit/>
          </a:bodyPr>
          <a:lstStyle/>
          <a:p>
            <a:pPr algn="ctr">
              <a:lnSpc>
                <a:spcPct val="100000"/>
              </a:lnSpc>
            </a:pPr>
            <a:r>
              <a:rPr sz="1000" b="1">
                <a:solidFill>
                  <a:srgbClr val="0B1F3A"/>
                </a:solidFill>
                <a:latin typeface="Arial"/>
              </a:rPr>
              <a:t>5%</a:t>
            </a:r>
          </a:p>
        </p:txBody>
      </p:sp>
      <p:sp>
        <p:nvSpPr>
          <p:cNvPr id="39" name="cpe|exhibit|label|38"/>
          <p:cNvSpPr txBox="1"/>
          <p:nvPr/>
        </p:nvSpPr>
        <p:spPr>
          <a:xfrm>
            <a:off x="2967640" y="4433194"/>
            <a:ext cx="3322724" cy="367406"/>
          </a:xfrm>
          <a:prstGeom prst="rect">
            <a:avLst/>
          </a:prstGeom>
          <a:noFill/>
        </p:spPr>
        <p:txBody>
          <a:bodyPr wrap="square" lIns="0" rIns="0" tIns="0" bIns="0" anchor="ctr">
            <a:noAutofit/>
          </a:bodyPr>
          <a:lstStyle/>
          <a:p>
            <a:pPr algn="ctr">
              <a:lnSpc>
                <a:spcPct val="100000"/>
              </a:lnSpc>
            </a:pPr>
            <a:r>
              <a:rPr sz="1000" b="1">
                <a:solidFill>
                  <a:srgbClr val="FFFFFF"/>
                </a:solidFill>
                <a:latin typeface="Arial"/>
              </a:rPr>
              <a:t>14%</a:t>
            </a:r>
          </a:p>
        </p:txBody>
      </p:sp>
      <p:sp>
        <p:nvSpPr>
          <p:cNvPr id="40" name="cpe|exhibit|label|39"/>
          <p:cNvSpPr txBox="1"/>
          <p:nvPr/>
        </p:nvSpPr>
        <p:spPr>
          <a:xfrm>
            <a:off x="6326940" y="4317522"/>
            <a:ext cx="1533565" cy="228600"/>
          </a:xfrm>
          <a:prstGeom prst="rect">
            <a:avLst/>
          </a:prstGeom>
          <a:noFill/>
        </p:spPr>
        <p:txBody>
          <a:bodyPr wrap="square" lIns="0" rIns="0" tIns="0" bIns="0" anchor="b">
            <a:noAutofit/>
          </a:bodyPr>
          <a:lstStyle/>
          <a:p>
            <a:pPr algn="ctr">
              <a:lnSpc>
                <a:spcPct val="100000"/>
              </a:lnSpc>
            </a:pPr>
            <a:r>
              <a:rPr sz="1000" b="1">
                <a:solidFill>
                  <a:srgbClr val="0B1F3A"/>
                </a:solidFill>
                <a:latin typeface="Arial"/>
              </a:rPr>
              <a:t>9%</a:t>
            </a:r>
          </a:p>
        </p:txBody>
      </p:sp>
      <p:sp>
        <p:nvSpPr>
          <p:cNvPr id="41" name="cpe|exhibit|label|40"/>
          <p:cNvSpPr txBox="1"/>
          <p:nvPr/>
        </p:nvSpPr>
        <p:spPr>
          <a:xfrm>
            <a:off x="7897080" y="4485681"/>
            <a:ext cx="894579" cy="314919"/>
          </a:xfrm>
          <a:prstGeom prst="rect">
            <a:avLst/>
          </a:prstGeom>
          <a:noFill/>
        </p:spPr>
        <p:txBody>
          <a:bodyPr wrap="square" lIns="0" rIns="0" tIns="0" bIns="0" anchor="ctr">
            <a:noAutofit/>
          </a:bodyPr>
          <a:lstStyle/>
          <a:p>
            <a:pPr algn="ctr">
              <a:lnSpc>
                <a:spcPct val="100000"/>
              </a:lnSpc>
            </a:pPr>
            <a:r>
              <a:rPr sz="1000" b="1">
                <a:solidFill>
                  <a:srgbClr val="FFFFFF"/>
                </a:solidFill>
                <a:latin typeface="Arial"/>
              </a:rPr>
              <a:t>12%</a:t>
            </a:r>
          </a:p>
        </p:txBody>
      </p:sp>
      <p:sp>
        <p:nvSpPr>
          <p:cNvPr id="42" name="cpe|exhibit|label|41"/>
          <p:cNvSpPr txBox="1"/>
          <p:nvPr/>
        </p:nvSpPr>
        <p:spPr>
          <a:xfrm>
            <a:off x="8828236" y="4448739"/>
            <a:ext cx="894579" cy="228600"/>
          </a:xfrm>
          <a:prstGeom prst="rect">
            <a:avLst/>
          </a:prstGeom>
          <a:noFill/>
        </p:spPr>
        <p:txBody>
          <a:bodyPr wrap="square" lIns="0" rIns="0" tIns="0" bIns="0" anchor="b">
            <a:noAutofit/>
          </a:bodyPr>
          <a:lstStyle/>
          <a:p>
            <a:pPr algn="ctr">
              <a:lnSpc>
                <a:spcPct val="100000"/>
              </a:lnSpc>
            </a:pPr>
            <a:r>
              <a:rPr sz="1000" b="1">
                <a:solidFill>
                  <a:srgbClr val="0B1F3A"/>
                </a:solidFill>
                <a:latin typeface="Arial"/>
              </a:rPr>
              <a:t>4%</a:t>
            </a:r>
          </a:p>
        </p:txBody>
      </p:sp>
      <p:sp>
        <p:nvSpPr>
          <p:cNvPr id="43" name="cpe|exhibit|marker|42"/>
          <p:cNvSpPr/>
          <p:nvPr/>
        </p:nvSpPr>
        <p:spPr>
          <a:xfrm>
            <a:off x="9905695" y="2240280"/>
            <a:ext cx="128016" cy="128016"/>
          </a:xfrm>
          <a:prstGeom prst="rect">
            <a:avLst/>
          </a:prstGeom>
          <a:solidFill>
            <a:srgbClr val="0B1F3A"/>
          </a:solidFill>
          <a:ln>
            <a:noFill/>
          </a:ln>
        </p:spPr>
        <p:txBody>
          <a:bodyPr rtlCol="0" anchor="ctr" lIns="0" rIns="0" tIns="0" bIns="0"/>
          <a:lstStyle/>
          <a:p>
            <a:pPr algn="ctr"/>
          </a:p>
        </p:txBody>
      </p:sp>
      <p:sp>
        <p:nvSpPr>
          <p:cNvPr id="44" name="cpe|exhibit|label|43"/>
          <p:cNvSpPr txBox="1"/>
          <p:nvPr/>
        </p:nvSpPr>
        <p:spPr>
          <a:xfrm>
            <a:off x="10106863" y="2176272"/>
            <a:ext cx="1554480" cy="274320"/>
          </a:xfrm>
          <a:prstGeom prst="rect">
            <a:avLst/>
          </a:prstGeom>
          <a:noFill/>
        </p:spPr>
        <p:txBody>
          <a:bodyPr wrap="square" lIns="0" rIns="0" tIns="0" bIns="0" anchor="ctr">
            <a:noAutofit/>
          </a:bodyPr>
          <a:lstStyle/>
          <a:p>
            <a:pPr algn="l">
              <a:lnSpc>
                <a:spcPct val="100000"/>
              </a:lnSpc>
            </a:pPr>
            <a:r>
              <a:rPr sz="1000" b="0">
                <a:solidFill>
                  <a:srgbClr val="5E6A77"/>
                </a:solidFill>
                <a:latin typeface="Arial"/>
              </a:rPr>
              <a:t>Alvora</a:t>
            </a:r>
          </a:p>
        </p:txBody>
      </p:sp>
      <p:sp>
        <p:nvSpPr>
          <p:cNvPr id="45" name="cpe|exhibit|marker|44"/>
          <p:cNvSpPr/>
          <p:nvPr/>
        </p:nvSpPr>
        <p:spPr>
          <a:xfrm>
            <a:off x="9905695" y="2532888"/>
            <a:ext cx="128016" cy="128016"/>
          </a:xfrm>
          <a:prstGeom prst="rect">
            <a:avLst/>
          </a:prstGeom>
          <a:solidFill>
            <a:srgbClr val="C9D0D8"/>
          </a:solidFill>
          <a:ln>
            <a:noFill/>
          </a:ln>
        </p:spPr>
        <p:txBody>
          <a:bodyPr rtlCol="0" anchor="ctr" lIns="0" rIns="0" tIns="0" bIns="0"/>
          <a:lstStyle/>
          <a:p>
            <a:pPr algn="ctr"/>
          </a:p>
        </p:txBody>
      </p:sp>
      <p:sp>
        <p:nvSpPr>
          <p:cNvPr id="46" name="cpe|exhibit|label|45"/>
          <p:cNvSpPr txBox="1"/>
          <p:nvPr/>
        </p:nvSpPr>
        <p:spPr>
          <a:xfrm>
            <a:off x="10106863" y="2468880"/>
            <a:ext cx="1554480" cy="274320"/>
          </a:xfrm>
          <a:prstGeom prst="rect">
            <a:avLst/>
          </a:prstGeom>
          <a:noFill/>
        </p:spPr>
        <p:txBody>
          <a:bodyPr wrap="square" lIns="0" rIns="0" tIns="0" bIns="0" anchor="ctr">
            <a:noAutofit/>
          </a:bodyPr>
          <a:lstStyle/>
          <a:p>
            <a:pPr algn="l">
              <a:lnSpc>
                <a:spcPct val="100000"/>
              </a:lnSpc>
            </a:pPr>
            <a:r>
              <a:rPr sz="1000" b="0">
                <a:solidFill>
                  <a:srgbClr val="5E6A77"/>
                </a:solidFill>
                <a:latin typeface="Arial"/>
              </a:rPr>
              <a:t>Other players</a:t>
            </a:r>
          </a:p>
        </p:txBody>
      </p:sp>
      <p:cxnSp>
        <p:nvCxnSpPr>
          <p:cNvPr id="47" name="cpe|commentary|line|46"/>
          <p:cNvCxnSpPr/>
          <p:nvPr/>
        </p:nvCxnSpPr>
        <p:spPr>
          <a:xfrm>
            <a:off x="502920" y="5568696"/>
            <a:ext cx="11185855" cy="0"/>
          </a:xfrm>
          <a:prstGeom prst="line">
            <a:avLst/>
          </a:prstGeom>
          <a:ln w="9525">
            <a:solidFill>
              <a:srgbClr val="B7BFC8"/>
            </a:solidFill>
          </a:ln>
        </p:spPr>
      </p:cxnSp>
      <p:sp>
        <p:nvSpPr>
          <p:cNvPr id="48" name="cpe|commentary|text|47"/>
          <p:cNvSpPr txBox="1"/>
          <p:nvPr/>
        </p:nvSpPr>
        <p:spPr>
          <a:xfrm>
            <a:off x="502920" y="5705856"/>
            <a:ext cx="3594506" cy="493776"/>
          </a:xfrm>
          <a:prstGeom prst="rect">
            <a:avLst/>
          </a:prstGeom>
          <a:noFill/>
        </p:spPr>
        <p:txBody>
          <a:bodyPr wrap="square" lIns="0" rIns="0" tIns="0" bIns="0" anchor="t">
            <a:noAutofit/>
          </a:bodyPr>
          <a:lstStyle/>
          <a:p>
            <a:pPr algn="l">
              <a:lnSpc>
                <a:spcPct val="100000"/>
              </a:lnSpc>
            </a:pPr>
            <a:r>
              <a:rPr sz="1200" b="0">
                <a:solidFill>
                  <a:srgbClr val="1E252D"/>
                </a:solidFill>
                <a:latin typeface="Arial"/>
              </a:rPr>
              <a:t>54% of Alvora sales come from </a:t>
            </a:r>
            <a:r>
              <a:rPr sz="1200" b="1">
                <a:solidFill>
                  <a:srgbClr val="1E252D"/>
                </a:solidFill>
                <a:latin typeface="Arial"/>
              </a:rPr>
              <a:t>supermarkets</a:t>
            </a:r>
            <a:r>
              <a:rPr sz="1200" b="0">
                <a:solidFill>
                  <a:srgbClr val="1E252D"/>
                </a:solidFill>
                <a:latin typeface="Arial"/>
              </a:rPr>
              <a:t>, a channel growing 2% a year</a:t>
            </a:r>
          </a:p>
        </p:txBody>
      </p:sp>
      <p:sp>
        <p:nvSpPr>
          <p:cNvPr id="49" name="cpe|commentary|text|48"/>
          <p:cNvSpPr txBox="1"/>
          <p:nvPr/>
        </p:nvSpPr>
        <p:spPr>
          <a:xfrm>
            <a:off x="4298594" y="5705856"/>
            <a:ext cx="3594506" cy="493776"/>
          </a:xfrm>
          <a:prstGeom prst="rect">
            <a:avLst/>
          </a:prstGeom>
          <a:noFill/>
        </p:spPr>
        <p:txBody>
          <a:bodyPr wrap="square" lIns="0" rIns="0" tIns="0" bIns="0" anchor="t">
            <a:noAutofit/>
          </a:bodyPr>
          <a:lstStyle/>
          <a:p>
            <a:pPr algn="l">
              <a:lnSpc>
                <a:spcPct val="100000"/>
              </a:lnSpc>
            </a:pPr>
            <a:r>
              <a:rPr sz="1200" b="0">
                <a:solidFill>
                  <a:srgbClr val="1E252D"/>
                </a:solidFill>
                <a:latin typeface="Arial"/>
              </a:rPr>
              <a:t>In </a:t>
            </a:r>
            <a:r>
              <a:rPr sz="1200" b="1">
                <a:solidFill>
                  <a:srgbClr val="1E252D"/>
                </a:solidFill>
                <a:latin typeface="Arial"/>
              </a:rPr>
              <a:t>discount</a:t>
            </a:r>
            <a:r>
              <a:rPr sz="1200" b="0">
                <a:solidFill>
                  <a:srgbClr val="1E252D"/>
                </a:solidFill>
                <a:latin typeface="Arial"/>
              </a:rPr>
              <a:t>, Competitor A holds 41% with a lower cost-to-serve</a:t>
            </a:r>
          </a:p>
        </p:txBody>
      </p:sp>
      <p:sp>
        <p:nvSpPr>
          <p:cNvPr id="50" name="cpe|commentary|text|49"/>
          <p:cNvSpPr txBox="1"/>
          <p:nvPr/>
        </p:nvSpPr>
        <p:spPr>
          <a:xfrm>
            <a:off x="8094269" y="5705856"/>
            <a:ext cx="3594506" cy="493776"/>
          </a:xfrm>
          <a:prstGeom prst="rect">
            <a:avLst/>
          </a:prstGeom>
          <a:noFill/>
        </p:spPr>
        <p:txBody>
          <a:bodyPr wrap="square" lIns="0" rIns="0" tIns="0" bIns="0" anchor="t">
            <a:noAutofit/>
          </a:bodyPr>
          <a:lstStyle/>
          <a:p>
            <a:pPr algn="l">
              <a:lnSpc>
                <a:spcPct val="100000"/>
              </a:lnSpc>
            </a:pPr>
            <a:r>
              <a:rPr sz="1200" b="1">
                <a:solidFill>
                  <a:srgbClr val="1E252D"/>
                </a:solidFill>
                <a:latin typeface="Arial"/>
              </a:rPr>
              <a:t>Online</a:t>
            </a:r>
            <a:r>
              <a:rPr sz="1200" b="0">
                <a:solidFill>
                  <a:srgbClr val="1E252D"/>
                </a:solidFill>
                <a:latin typeface="Arial"/>
              </a:rPr>
              <a:t> share of 4% trails B and C, whose hub networks are in place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pe|chrome|text|1"/>
          <p:cNvSpPr txBox="1"/>
          <p:nvPr/>
        </p:nvSpPr>
        <p:spPr>
          <a:xfrm>
            <a:off x="502920" y="274320"/>
            <a:ext cx="7830099" cy="201168"/>
          </a:xfrm>
          <a:prstGeom prst="rect">
            <a:avLst/>
          </a:prstGeom>
          <a:noFill/>
        </p:spPr>
        <p:txBody>
          <a:bodyPr wrap="square" lIns="0" rIns="0" tIns="0" bIns="0" anchor="t">
            <a:noAutofit/>
          </a:bodyPr>
          <a:lstStyle/>
          <a:p>
            <a:pPr algn="l">
              <a:lnSpc>
                <a:spcPct val="100000"/>
              </a:lnSpc>
            </a:pPr>
            <a:r>
              <a:rPr sz="1000" b="1">
                <a:solidFill>
                  <a:srgbClr val="5E6A77"/>
                </a:solidFill>
                <a:latin typeface="Arial"/>
              </a:rPr>
              <a:t>PROFITABILITY</a:t>
            </a:r>
          </a:p>
        </p:txBody>
      </p:sp>
      <p:sp>
        <p:nvSpPr>
          <p:cNvPr id="3" name="cpe|chrome|text|2"/>
          <p:cNvSpPr txBox="1"/>
          <p:nvPr/>
        </p:nvSpPr>
        <p:spPr>
          <a:xfrm>
            <a:off x="502920" y="475488"/>
            <a:ext cx="11185855" cy="786384"/>
          </a:xfrm>
          <a:prstGeom prst="rect">
            <a:avLst/>
          </a:prstGeom>
          <a:noFill/>
        </p:spPr>
        <p:txBody>
          <a:bodyPr wrap="square" lIns="0" rIns="0" tIns="0" bIns="0" anchor="t">
            <a:noAutofit/>
          </a:bodyPr>
          <a:lstStyle/>
          <a:p>
            <a:pPr algn="l">
              <a:lnSpc>
                <a:spcPct val="100000"/>
              </a:lnSpc>
            </a:pPr>
            <a:r>
              <a:rPr sz="2200" b="1">
                <a:solidFill>
                  <a:srgbClr val="0B1F3A"/>
                </a:solidFill>
                <a:latin typeface="Arial"/>
              </a:rPr>
              <a:t>Margin erosion in grocery and convenience (€119M) pushed EBITDA down to €857M</a:t>
            </a:r>
          </a:p>
        </p:txBody>
      </p:sp>
      <p:sp>
        <p:nvSpPr>
          <p:cNvPr id="4" name="cpe|chrome|text|3"/>
          <p:cNvSpPr txBox="1"/>
          <p:nvPr/>
        </p:nvSpPr>
        <p:spPr>
          <a:xfrm>
            <a:off x="502920" y="6272784"/>
            <a:ext cx="8808415" cy="402336"/>
          </a:xfrm>
          <a:prstGeom prst="rect">
            <a:avLst/>
          </a:prstGeom>
          <a:noFill/>
        </p:spPr>
        <p:txBody>
          <a:bodyPr wrap="square" lIns="0" rIns="0" tIns="0" bIns="0" anchor="b">
            <a:noAutofit/>
          </a:bodyPr>
          <a:lstStyle/>
          <a:p>
            <a:pPr algn="l">
              <a:lnSpc>
                <a:spcPct val="100000"/>
              </a:lnSpc>
            </a:pPr>
            <a:r>
              <a:rPr sz="800" b="0">
                <a:solidFill>
                  <a:srgbClr val="5E6A77"/>
                </a:solidFill>
                <a:latin typeface="Arial"/>
              </a:rPr>
              <a:t>Source: Alvora management accounts (illustrative)</a:t>
            </a:r>
          </a:p>
        </p:txBody>
      </p:sp>
      <p:sp>
        <p:nvSpPr>
          <p:cNvPr id="5" name="cpe|chrome|text|4"/>
          <p:cNvSpPr txBox="1"/>
          <p:nvPr/>
        </p:nvSpPr>
        <p:spPr>
          <a:xfrm>
            <a:off x="9494215" y="6272784"/>
            <a:ext cx="2194560" cy="402336"/>
          </a:xfrm>
          <a:prstGeom prst="rect">
            <a:avLst/>
          </a:prstGeom>
          <a:noFill/>
        </p:spPr>
        <p:txBody>
          <a:bodyPr wrap="square" lIns="0" rIns="0" tIns="0" bIns="0" anchor="b">
            <a:noAutofit/>
          </a:bodyPr>
          <a:lstStyle/>
          <a:p>
            <a:pPr algn="r">
              <a:lnSpc>
                <a:spcPct val="100000"/>
              </a:lnSpc>
            </a:pPr>
            <a:r>
              <a:rPr sz="900" b="0">
                <a:solidFill>
                  <a:srgbClr val="5E6A77"/>
                </a:solidFill>
                <a:latin typeface="Arial"/>
              </a:rPr>
              <a:t>Illustrative data   6</a:t>
            </a:r>
          </a:p>
        </p:txBody>
      </p:sp>
      <p:sp>
        <p:nvSpPr>
          <p:cNvPr id="6" name="cpe|exhibit|text|5"/>
          <p:cNvSpPr txBox="1"/>
          <p:nvPr/>
        </p:nvSpPr>
        <p:spPr>
          <a:xfrm>
            <a:off x="502920" y="1481328"/>
            <a:ext cx="7390181" cy="274320"/>
          </a:xfrm>
          <a:prstGeom prst="rect">
            <a:avLst/>
          </a:prstGeom>
          <a:noFill/>
        </p:spPr>
        <p:txBody>
          <a:bodyPr wrap="square" lIns="0" rIns="0" tIns="0" bIns="0" anchor="t">
            <a:noAutofit/>
          </a:bodyPr>
          <a:lstStyle/>
          <a:p>
            <a:pPr algn="l">
              <a:lnSpc>
                <a:spcPct val="100000"/>
              </a:lnSpc>
            </a:pPr>
            <a:r>
              <a:rPr sz="1100" b="1">
                <a:solidFill>
                  <a:srgbClr val="1E252D"/>
                </a:solidFill>
                <a:latin typeface="Arial"/>
              </a:rPr>
              <a:t>EBITDA bridge 2024 to 2025</a:t>
            </a:r>
            <a:r>
              <a:rPr sz="1100" b="0">
                <a:solidFill>
                  <a:srgbClr val="1E252D"/>
                </a:solidFill>
                <a:latin typeface="Arial"/>
              </a:rPr>
              <a:t>, €M</a:t>
            </a:r>
          </a:p>
        </p:txBody>
      </p:sp>
      <p:graphicFrame>
        <p:nvGraphicFramePr>
          <p:cNvPr id="7" name="cpe|exhibit|chart|6"/>
          <p:cNvGraphicFramePr>
            <a:graphicFrameLocks noGrp="1"/>
          </p:cNvGraphicFramePr>
          <p:nvPr/>
        </p:nvGraphicFramePr>
        <p:xfrm>
          <a:off x="502920" y="1901952"/>
          <a:ext cx="7390181" cy="4297680"/>
        </p:xfrm>
        <a:graphic>
          <a:graphicData uri="http://schemas.openxmlformats.org/drawingml/2006/chart">
            <c:chart xmlns:c="http://schemas.openxmlformats.org/drawingml/2006/chart" r:id="rId2"/>
          </a:graphicData>
        </a:graphic>
      </p:graphicFrame>
      <p:sp>
        <p:nvSpPr>
          <p:cNvPr id="8" name="cpe|exhibit|label|7"/>
          <p:cNvSpPr txBox="1"/>
          <p:nvPr/>
        </p:nvSpPr>
        <p:spPr>
          <a:xfrm>
            <a:off x="502920" y="3580376"/>
            <a:ext cx="821131" cy="237744"/>
          </a:xfrm>
          <a:prstGeom prst="rect">
            <a:avLst/>
          </a:prstGeom>
          <a:noFill/>
        </p:spPr>
        <p:txBody>
          <a:bodyPr wrap="square" lIns="0" rIns="0" tIns="0" bIns="0" anchor="b">
            <a:noAutofit/>
          </a:bodyPr>
          <a:lstStyle/>
          <a:p>
            <a:pPr algn="ctr">
              <a:lnSpc>
                <a:spcPct val="100000"/>
              </a:lnSpc>
            </a:pPr>
            <a:r>
              <a:rPr sz="1100" b="1">
                <a:solidFill>
                  <a:srgbClr val="1E252D"/>
                </a:solidFill>
                <a:latin typeface="Arial"/>
              </a:rPr>
              <a:t>924</a:t>
            </a:r>
          </a:p>
        </p:txBody>
      </p:sp>
      <p:sp>
        <p:nvSpPr>
          <p:cNvPr id="9" name="cpe|exhibit|label|8"/>
          <p:cNvSpPr txBox="1"/>
          <p:nvPr/>
        </p:nvSpPr>
        <p:spPr>
          <a:xfrm>
            <a:off x="1324051" y="2998463"/>
            <a:ext cx="821131" cy="237744"/>
          </a:xfrm>
          <a:prstGeom prst="rect">
            <a:avLst/>
          </a:prstGeom>
          <a:noFill/>
        </p:spPr>
        <p:txBody>
          <a:bodyPr wrap="square" lIns="0" rIns="0" tIns="0" bIns="0" anchor="b">
            <a:noAutofit/>
          </a:bodyPr>
          <a:lstStyle/>
          <a:p>
            <a:pPr algn="ctr">
              <a:lnSpc>
                <a:spcPct val="100000"/>
              </a:lnSpc>
            </a:pPr>
            <a:r>
              <a:rPr sz="1100" b="0">
                <a:solidFill>
                  <a:srgbClr val="1E252D"/>
                </a:solidFill>
                <a:latin typeface="Arial"/>
              </a:rPr>
              <a:t>+52</a:t>
            </a:r>
          </a:p>
        </p:txBody>
      </p:sp>
      <p:sp>
        <p:nvSpPr>
          <p:cNvPr id="10" name="cpe|exhibit|label|9"/>
          <p:cNvSpPr txBox="1"/>
          <p:nvPr/>
        </p:nvSpPr>
        <p:spPr>
          <a:xfrm>
            <a:off x="2145182" y="2651553"/>
            <a:ext cx="821131" cy="237744"/>
          </a:xfrm>
          <a:prstGeom prst="rect">
            <a:avLst/>
          </a:prstGeom>
          <a:noFill/>
        </p:spPr>
        <p:txBody>
          <a:bodyPr wrap="square" lIns="0" rIns="0" tIns="0" bIns="0" anchor="b">
            <a:noAutofit/>
          </a:bodyPr>
          <a:lstStyle/>
          <a:p>
            <a:pPr algn="ctr">
              <a:lnSpc>
                <a:spcPct val="100000"/>
              </a:lnSpc>
            </a:pPr>
            <a:r>
              <a:rPr sz="1100" b="0">
                <a:solidFill>
                  <a:srgbClr val="1E252D"/>
                </a:solidFill>
                <a:latin typeface="Arial"/>
              </a:rPr>
              <a:t>+31</a:t>
            </a:r>
          </a:p>
        </p:txBody>
      </p:sp>
      <p:sp>
        <p:nvSpPr>
          <p:cNvPr id="11" name="cpe|exhibit|label|10"/>
          <p:cNvSpPr txBox="1"/>
          <p:nvPr/>
        </p:nvSpPr>
        <p:spPr>
          <a:xfrm>
            <a:off x="2966314" y="2651553"/>
            <a:ext cx="821131" cy="237744"/>
          </a:xfrm>
          <a:prstGeom prst="rect">
            <a:avLst/>
          </a:prstGeom>
          <a:noFill/>
        </p:spPr>
        <p:txBody>
          <a:bodyPr wrap="square" lIns="0" rIns="0" tIns="0" bIns="0" anchor="b">
            <a:noAutofit/>
          </a:bodyPr>
          <a:lstStyle/>
          <a:p>
            <a:pPr algn="ctr">
              <a:lnSpc>
                <a:spcPct val="100000"/>
              </a:lnSpc>
            </a:pPr>
            <a:r>
              <a:rPr sz="1100" b="0">
                <a:solidFill>
                  <a:srgbClr val="1E252D"/>
                </a:solidFill>
                <a:latin typeface="Arial"/>
              </a:rPr>
              <a:t>−78</a:t>
            </a:r>
          </a:p>
        </p:txBody>
      </p:sp>
      <p:sp>
        <p:nvSpPr>
          <p:cNvPr id="12" name="cpe|exhibit|label|11"/>
          <p:cNvSpPr txBox="1"/>
          <p:nvPr/>
        </p:nvSpPr>
        <p:spPr>
          <a:xfrm>
            <a:off x="3787445" y="3524423"/>
            <a:ext cx="821131" cy="237744"/>
          </a:xfrm>
          <a:prstGeom prst="rect">
            <a:avLst/>
          </a:prstGeom>
          <a:noFill/>
        </p:spPr>
        <p:txBody>
          <a:bodyPr wrap="square" lIns="0" rIns="0" tIns="0" bIns="0" anchor="b">
            <a:noAutofit/>
          </a:bodyPr>
          <a:lstStyle/>
          <a:p>
            <a:pPr algn="ctr">
              <a:lnSpc>
                <a:spcPct val="100000"/>
              </a:lnSpc>
            </a:pPr>
            <a:r>
              <a:rPr sz="1100" b="0">
                <a:solidFill>
                  <a:srgbClr val="1E252D"/>
                </a:solidFill>
                <a:latin typeface="Arial"/>
              </a:rPr>
              <a:t>−41</a:t>
            </a:r>
          </a:p>
        </p:txBody>
      </p:sp>
      <p:sp>
        <p:nvSpPr>
          <p:cNvPr id="13" name="cpe|exhibit|label|12"/>
          <p:cNvSpPr txBox="1"/>
          <p:nvPr/>
        </p:nvSpPr>
        <p:spPr>
          <a:xfrm>
            <a:off x="4608576" y="3983239"/>
            <a:ext cx="821131" cy="237744"/>
          </a:xfrm>
          <a:prstGeom prst="rect">
            <a:avLst/>
          </a:prstGeom>
          <a:noFill/>
        </p:spPr>
        <p:txBody>
          <a:bodyPr wrap="square" lIns="0" rIns="0" tIns="0" bIns="0" anchor="b">
            <a:noAutofit/>
          </a:bodyPr>
          <a:lstStyle/>
          <a:p>
            <a:pPr algn="ctr">
              <a:lnSpc>
                <a:spcPct val="100000"/>
              </a:lnSpc>
            </a:pPr>
            <a:r>
              <a:rPr sz="1100" b="0">
                <a:solidFill>
                  <a:srgbClr val="1E252D"/>
                </a:solidFill>
                <a:latin typeface="Arial"/>
              </a:rPr>
              <a:t>−22</a:t>
            </a:r>
          </a:p>
        </p:txBody>
      </p:sp>
      <p:sp>
        <p:nvSpPr>
          <p:cNvPr id="14" name="cpe|exhibit|label|13"/>
          <p:cNvSpPr txBox="1"/>
          <p:nvPr/>
        </p:nvSpPr>
        <p:spPr>
          <a:xfrm>
            <a:off x="5429707" y="4229433"/>
            <a:ext cx="821131" cy="237744"/>
          </a:xfrm>
          <a:prstGeom prst="rect">
            <a:avLst/>
          </a:prstGeom>
          <a:noFill/>
        </p:spPr>
        <p:txBody>
          <a:bodyPr wrap="square" lIns="0" rIns="0" tIns="0" bIns="0" anchor="b">
            <a:noAutofit/>
          </a:bodyPr>
          <a:lstStyle/>
          <a:p>
            <a:pPr algn="ctr">
              <a:lnSpc>
                <a:spcPct val="100000"/>
              </a:lnSpc>
            </a:pPr>
            <a:r>
              <a:rPr sz="1100" b="0">
                <a:solidFill>
                  <a:srgbClr val="1E252D"/>
                </a:solidFill>
                <a:latin typeface="Arial"/>
              </a:rPr>
              <a:t>−14</a:t>
            </a:r>
          </a:p>
        </p:txBody>
      </p:sp>
      <p:sp>
        <p:nvSpPr>
          <p:cNvPr id="15" name="cpe|exhibit|label|14"/>
          <p:cNvSpPr txBox="1"/>
          <p:nvPr/>
        </p:nvSpPr>
        <p:spPr>
          <a:xfrm>
            <a:off x="6250838" y="4330149"/>
            <a:ext cx="821131" cy="237744"/>
          </a:xfrm>
          <a:prstGeom prst="rect">
            <a:avLst/>
          </a:prstGeom>
          <a:noFill/>
        </p:spPr>
        <p:txBody>
          <a:bodyPr wrap="square" lIns="0" rIns="0" tIns="0" bIns="0" anchor="b">
            <a:noAutofit/>
          </a:bodyPr>
          <a:lstStyle/>
          <a:p>
            <a:pPr algn="ctr">
              <a:lnSpc>
                <a:spcPct val="100000"/>
              </a:lnSpc>
            </a:pPr>
            <a:r>
              <a:rPr sz="1100" b="0">
                <a:solidFill>
                  <a:srgbClr val="1E252D"/>
                </a:solidFill>
                <a:latin typeface="Arial"/>
              </a:rPr>
              <a:t>+5</a:t>
            </a:r>
          </a:p>
        </p:txBody>
      </p:sp>
      <p:sp>
        <p:nvSpPr>
          <p:cNvPr id="16" name="cpe|exhibit|label|15"/>
          <p:cNvSpPr txBox="1"/>
          <p:nvPr/>
        </p:nvSpPr>
        <p:spPr>
          <a:xfrm>
            <a:off x="7071970" y="4330149"/>
            <a:ext cx="821131" cy="237744"/>
          </a:xfrm>
          <a:prstGeom prst="rect">
            <a:avLst/>
          </a:prstGeom>
          <a:noFill/>
        </p:spPr>
        <p:txBody>
          <a:bodyPr wrap="square" lIns="0" rIns="0" tIns="0" bIns="0" anchor="b">
            <a:noAutofit/>
          </a:bodyPr>
          <a:lstStyle/>
          <a:p>
            <a:pPr algn="ctr">
              <a:lnSpc>
                <a:spcPct val="100000"/>
              </a:lnSpc>
            </a:pPr>
            <a:r>
              <a:rPr sz="1100" b="1">
                <a:solidFill>
                  <a:srgbClr val="1E252D"/>
                </a:solidFill>
                <a:latin typeface="Arial"/>
              </a:rPr>
              <a:t>857</a:t>
            </a:r>
          </a:p>
        </p:txBody>
      </p:sp>
      <p:cxnSp>
        <p:nvCxnSpPr>
          <p:cNvPr id="17" name="cpe|exhibit|connector|16"/>
          <p:cNvCxnSpPr/>
          <p:nvPr/>
        </p:nvCxnSpPr>
        <p:spPr>
          <a:xfrm>
            <a:off x="1196634" y="3845552"/>
            <a:ext cx="254834" cy="0"/>
          </a:xfrm>
          <a:prstGeom prst="line">
            <a:avLst/>
          </a:prstGeom>
          <a:ln w="6350">
            <a:solidFill>
              <a:srgbClr val="8A95A1"/>
            </a:solidFill>
          </a:ln>
        </p:spPr>
      </p:cxnSp>
      <p:cxnSp>
        <p:nvCxnSpPr>
          <p:cNvPr id="18" name="cpe|exhibit|connector|17"/>
          <p:cNvCxnSpPr/>
          <p:nvPr/>
        </p:nvCxnSpPr>
        <p:spPr>
          <a:xfrm>
            <a:off x="2017765" y="3263639"/>
            <a:ext cx="254834" cy="0"/>
          </a:xfrm>
          <a:prstGeom prst="line">
            <a:avLst/>
          </a:prstGeom>
          <a:ln w="6350">
            <a:solidFill>
              <a:srgbClr val="8A95A1"/>
            </a:solidFill>
          </a:ln>
        </p:spPr>
      </p:cxnSp>
      <p:cxnSp>
        <p:nvCxnSpPr>
          <p:cNvPr id="19" name="cpe|exhibit|connector|18"/>
          <p:cNvCxnSpPr/>
          <p:nvPr/>
        </p:nvCxnSpPr>
        <p:spPr>
          <a:xfrm>
            <a:off x="2838897" y="2916729"/>
            <a:ext cx="254834" cy="0"/>
          </a:xfrm>
          <a:prstGeom prst="line">
            <a:avLst/>
          </a:prstGeom>
          <a:ln w="6350">
            <a:solidFill>
              <a:srgbClr val="8A95A1"/>
            </a:solidFill>
          </a:ln>
        </p:spPr>
      </p:cxnSp>
      <p:cxnSp>
        <p:nvCxnSpPr>
          <p:cNvPr id="20" name="cpe|exhibit|connector|19"/>
          <p:cNvCxnSpPr/>
          <p:nvPr/>
        </p:nvCxnSpPr>
        <p:spPr>
          <a:xfrm>
            <a:off x="3660028" y="3789599"/>
            <a:ext cx="254834" cy="0"/>
          </a:xfrm>
          <a:prstGeom prst="line">
            <a:avLst/>
          </a:prstGeom>
          <a:ln w="6350">
            <a:solidFill>
              <a:srgbClr val="8A95A1"/>
            </a:solidFill>
          </a:ln>
        </p:spPr>
      </p:cxnSp>
      <p:cxnSp>
        <p:nvCxnSpPr>
          <p:cNvPr id="21" name="cpe|exhibit|connector|20"/>
          <p:cNvCxnSpPr/>
          <p:nvPr/>
        </p:nvCxnSpPr>
        <p:spPr>
          <a:xfrm>
            <a:off x="4481159" y="4248415"/>
            <a:ext cx="254834" cy="0"/>
          </a:xfrm>
          <a:prstGeom prst="line">
            <a:avLst/>
          </a:prstGeom>
          <a:ln w="6350">
            <a:solidFill>
              <a:srgbClr val="8A95A1"/>
            </a:solidFill>
          </a:ln>
        </p:spPr>
      </p:cxnSp>
      <p:cxnSp>
        <p:nvCxnSpPr>
          <p:cNvPr id="22" name="cpe|exhibit|connector|21"/>
          <p:cNvCxnSpPr/>
          <p:nvPr/>
        </p:nvCxnSpPr>
        <p:spPr>
          <a:xfrm>
            <a:off x="5302290" y="4494609"/>
            <a:ext cx="254834" cy="0"/>
          </a:xfrm>
          <a:prstGeom prst="line">
            <a:avLst/>
          </a:prstGeom>
          <a:ln w="6350">
            <a:solidFill>
              <a:srgbClr val="8A95A1"/>
            </a:solidFill>
          </a:ln>
        </p:spPr>
      </p:cxnSp>
      <p:cxnSp>
        <p:nvCxnSpPr>
          <p:cNvPr id="23" name="cpe|exhibit|connector|22"/>
          <p:cNvCxnSpPr/>
          <p:nvPr/>
        </p:nvCxnSpPr>
        <p:spPr>
          <a:xfrm>
            <a:off x="6123421" y="4651278"/>
            <a:ext cx="254834" cy="0"/>
          </a:xfrm>
          <a:prstGeom prst="line">
            <a:avLst/>
          </a:prstGeom>
          <a:ln w="6350">
            <a:solidFill>
              <a:srgbClr val="8A95A1"/>
            </a:solidFill>
          </a:ln>
        </p:spPr>
      </p:cxnSp>
      <p:cxnSp>
        <p:nvCxnSpPr>
          <p:cNvPr id="24" name="cpe|exhibit|connector|23"/>
          <p:cNvCxnSpPr/>
          <p:nvPr/>
        </p:nvCxnSpPr>
        <p:spPr>
          <a:xfrm>
            <a:off x="6944553" y="4595325"/>
            <a:ext cx="254834" cy="0"/>
          </a:xfrm>
          <a:prstGeom prst="line">
            <a:avLst/>
          </a:prstGeom>
          <a:ln w="6350">
            <a:solidFill>
              <a:srgbClr val="8A95A1"/>
            </a:solidFill>
          </a:ln>
        </p:spPr>
      </p:cxnSp>
      <p:sp>
        <p:nvSpPr>
          <p:cNvPr id="25" name="cpe|exhibit|marker|24"/>
          <p:cNvSpPr/>
          <p:nvPr/>
        </p:nvSpPr>
        <p:spPr>
          <a:xfrm>
            <a:off x="575473" y="5447191"/>
            <a:ext cx="676025" cy="82296"/>
          </a:xfrm>
          <a:prstGeom prst="parallelogram">
            <a:avLst/>
          </a:prstGeom>
          <a:solidFill>
            <a:srgbClr val="FFFFFF"/>
          </a:solidFill>
          <a:ln>
            <a:noFill/>
          </a:ln>
        </p:spPr>
        <p:txBody>
          <a:bodyPr rtlCol="0" anchor="ctr" lIns="0" rIns="0" tIns="0" bIns="0"/>
          <a:lstStyle/>
          <a:p>
            <a:pPr algn="ctr"/>
          </a:p>
        </p:txBody>
      </p:sp>
      <p:sp>
        <p:nvSpPr>
          <p:cNvPr id="26" name="cpe|exhibit|marker|25"/>
          <p:cNvSpPr/>
          <p:nvPr/>
        </p:nvSpPr>
        <p:spPr>
          <a:xfrm>
            <a:off x="7144523" y="5447191"/>
            <a:ext cx="676025" cy="82296"/>
          </a:xfrm>
          <a:prstGeom prst="parallelogram">
            <a:avLst/>
          </a:prstGeom>
          <a:solidFill>
            <a:srgbClr val="FFFFFF"/>
          </a:solidFill>
          <a:ln>
            <a:noFill/>
          </a:ln>
        </p:spPr>
        <p:txBody>
          <a:bodyPr rtlCol="0" anchor="ctr" lIns="0" rIns="0" tIns="0" bIns="0"/>
          <a:lstStyle/>
          <a:p>
            <a:pPr algn="ctr"/>
          </a:p>
        </p:txBody>
      </p:sp>
      <p:cxnSp>
        <p:nvCxnSpPr>
          <p:cNvPr id="27" name="cpe|commentary|line|26"/>
          <p:cNvCxnSpPr/>
          <p:nvPr/>
        </p:nvCxnSpPr>
        <p:spPr>
          <a:xfrm>
            <a:off x="8094269" y="1481328"/>
            <a:ext cx="0" cy="4718304"/>
          </a:xfrm>
          <a:prstGeom prst="line">
            <a:avLst/>
          </a:prstGeom>
          <a:ln w="9525">
            <a:solidFill>
              <a:srgbClr val="B7BFC8"/>
            </a:solidFill>
          </a:ln>
        </p:spPr>
      </p:cxnSp>
      <p:sp>
        <p:nvSpPr>
          <p:cNvPr id="28" name="cpe|commentary|text|27"/>
          <p:cNvSpPr txBox="1"/>
          <p:nvPr/>
        </p:nvSpPr>
        <p:spPr>
          <a:xfrm>
            <a:off x="8322869" y="1481328"/>
            <a:ext cx="3365906" cy="196596"/>
          </a:xfrm>
          <a:prstGeom prst="rect">
            <a:avLst/>
          </a:prstGeom>
          <a:noFill/>
        </p:spPr>
        <p:txBody>
          <a:bodyPr wrap="square" lIns="0" rIns="0" tIns="0" bIns="0" anchor="t">
            <a:noAutofit/>
          </a:bodyPr>
          <a:lstStyle/>
          <a:p>
            <a:pPr algn="l">
              <a:lnSpc>
                <a:spcPct val="100000"/>
              </a:lnSpc>
            </a:pPr>
            <a:r>
              <a:rPr sz="1200" b="1">
                <a:solidFill>
                  <a:srgbClr val="0B1F3A"/>
                </a:solidFill>
                <a:latin typeface="Arial"/>
              </a:rPr>
              <a:t>Two categories explain the decline</a:t>
            </a:r>
          </a:p>
        </p:txBody>
      </p:sp>
      <p:sp>
        <p:nvSpPr>
          <p:cNvPr id="29" name="cpe|commentary|text|28"/>
          <p:cNvSpPr txBox="1"/>
          <p:nvPr/>
        </p:nvSpPr>
        <p:spPr>
          <a:xfrm>
            <a:off x="8322869" y="1796796"/>
            <a:ext cx="3365906" cy="4402836"/>
          </a:xfrm>
          <a:prstGeom prst="rect">
            <a:avLst/>
          </a:prstGeom>
          <a:noFill/>
        </p:spPr>
        <p:txBody>
          <a:bodyPr wrap="square" lIns="0" rIns="0" tIns="0" bIns="0" anchor="t">
            <a:noAutofit/>
          </a:bodyPr>
          <a:lstStyle/>
          <a:p>
            <a:pPr algn="l" marL="155448" indent="-155448">
              <a:lnSpc>
                <a:spcPct val="108000"/>
              </a:lnSpc>
              <a:spcAft>
                <a:spcPts val="800"/>
              </a:spcAft>
              <a:buClr>
                <a:srgbClr val="1E252D"/>
              </a:buClr>
              <a:buSzPct val="100000"/>
              <a:buFont typeface="Arial"/>
              <a:buChar char="•"/>
            </a:pPr>
            <a:r>
              <a:rPr sz="1200" b="1">
                <a:solidFill>
                  <a:srgbClr val="1E252D"/>
                </a:solidFill>
                <a:latin typeface="Arial"/>
              </a:rPr>
              <a:t>Grocery (−€78M):</a:t>
            </a:r>
            <a:r>
              <a:rPr sz="1200" b="0">
                <a:solidFill>
                  <a:srgbClr val="1E252D"/>
                </a:solidFill>
                <a:latin typeface="Arial"/>
              </a:rPr>
              <a:t> promo intensity up 3pp to match discounters</a:t>
            </a:r>
          </a:p>
          <a:p>
            <a:pPr algn="l" marL="155448" indent="-155448">
              <a:lnSpc>
                <a:spcPct val="108000"/>
              </a:lnSpc>
              <a:spcAft>
                <a:spcPts val="800"/>
              </a:spcAft>
              <a:buClr>
                <a:srgbClr val="1E252D"/>
              </a:buClr>
              <a:buSzPct val="100000"/>
              <a:buFont typeface="Arial"/>
              <a:buChar char="•"/>
            </a:pPr>
            <a:r>
              <a:rPr sz="1200" b="1">
                <a:solidFill>
                  <a:srgbClr val="1E252D"/>
                </a:solidFill>
                <a:latin typeface="Arial"/>
              </a:rPr>
              <a:t>Convenience (−€41M):</a:t>
            </a:r>
            <a:r>
              <a:rPr sz="1200" b="0">
                <a:solidFill>
                  <a:srgbClr val="1E252D"/>
                </a:solidFill>
                <a:latin typeface="Arial"/>
              </a:rPr>
              <a:t> food-to-go waste doubled after the range extension</a:t>
            </a:r>
          </a:p>
          <a:p>
            <a:pPr algn="l" marL="155448" indent="-155448">
              <a:lnSpc>
                <a:spcPct val="108000"/>
              </a:lnSpc>
              <a:buClr>
                <a:srgbClr val="1E252D"/>
              </a:buClr>
              <a:buSzPct val="100000"/>
              <a:buFont typeface="Arial"/>
              <a:buChar char="•"/>
            </a:pPr>
            <a:r>
              <a:rPr sz="1200" b="0">
                <a:solidFill>
                  <a:srgbClr val="1E252D"/>
                </a:solidFill>
                <a:latin typeface="Arial"/>
              </a:rPr>
              <a:t>Volume and price added €83M, not enough to offset cost inflation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pe|chrome|text|1"/>
          <p:cNvSpPr txBox="1"/>
          <p:nvPr/>
        </p:nvSpPr>
        <p:spPr>
          <a:xfrm>
            <a:off x="502920" y="274320"/>
            <a:ext cx="7830099" cy="201168"/>
          </a:xfrm>
          <a:prstGeom prst="rect">
            <a:avLst/>
          </a:prstGeom>
          <a:noFill/>
        </p:spPr>
        <p:txBody>
          <a:bodyPr wrap="square" lIns="0" rIns="0" tIns="0" bIns="0" anchor="t">
            <a:noAutofit/>
          </a:bodyPr>
          <a:lstStyle/>
          <a:p>
            <a:pPr algn="l">
              <a:lnSpc>
                <a:spcPct val="100000"/>
              </a:lnSpc>
            </a:pPr>
            <a:r>
              <a:rPr sz="1000" b="1">
                <a:solidFill>
                  <a:srgbClr val="5E6A77"/>
                </a:solidFill>
                <a:latin typeface="Arial"/>
              </a:rPr>
              <a:t>PROFITABILITY</a:t>
            </a:r>
          </a:p>
        </p:txBody>
      </p:sp>
      <p:sp>
        <p:nvSpPr>
          <p:cNvPr id="3" name="cpe|chrome|text|2"/>
          <p:cNvSpPr txBox="1"/>
          <p:nvPr/>
        </p:nvSpPr>
        <p:spPr>
          <a:xfrm>
            <a:off x="502920" y="475488"/>
            <a:ext cx="11185855" cy="786384"/>
          </a:xfrm>
          <a:prstGeom prst="rect">
            <a:avLst/>
          </a:prstGeom>
          <a:noFill/>
        </p:spPr>
        <p:txBody>
          <a:bodyPr wrap="square" lIns="0" rIns="0" tIns="0" bIns="0" anchor="t">
            <a:noAutofit/>
          </a:bodyPr>
          <a:lstStyle/>
          <a:p>
            <a:pPr algn="l">
              <a:lnSpc>
                <a:spcPct val="100000"/>
              </a:lnSpc>
            </a:pPr>
            <a:r>
              <a:rPr sz="2200" b="1">
                <a:solidFill>
                  <a:srgbClr val="0B1F3A"/>
                </a:solidFill>
                <a:latin typeface="Arial"/>
              </a:rPr>
              <a:t>Gross margin change by category and region</a:t>
            </a:r>
          </a:p>
        </p:txBody>
      </p:sp>
      <p:sp>
        <p:nvSpPr>
          <p:cNvPr id="4" name="cpe|chrome|text|3"/>
          <p:cNvSpPr txBox="1"/>
          <p:nvPr/>
        </p:nvSpPr>
        <p:spPr>
          <a:xfrm>
            <a:off x="502920" y="6272784"/>
            <a:ext cx="8808415" cy="402336"/>
          </a:xfrm>
          <a:prstGeom prst="rect">
            <a:avLst/>
          </a:prstGeom>
          <a:noFill/>
        </p:spPr>
        <p:txBody>
          <a:bodyPr wrap="square" lIns="0" rIns="0" tIns="0" bIns="0" anchor="b">
            <a:noAutofit/>
          </a:bodyPr>
          <a:lstStyle/>
          <a:p>
            <a:pPr algn="l">
              <a:lnSpc>
                <a:spcPct val="100000"/>
              </a:lnSpc>
            </a:pPr>
            <a:r>
              <a:rPr sz="800" b="0">
                <a:solidFill>
                  <a:srgbClr val="5E6A77"/>
                </a:solidFill>
                <a:latin typeface="Arial"/>
              </a:rPr>
              <a:t>Source: Alvora category P&amp;L (illustrative)</a:t>
            </a:r>
          </a:p>
        </p:txBody>
      </p:sp>
      <p:sp>
        <p:nvSpPr>
          <p:cNvPr id="5" name="cpe|chrome|text|4"/>
          <p:cNvSpPr txBox="1"/>
          <p:nvPr/>
        </p:nvSpPr>
        <p:spPr>
          <a:xfrm>
            <a:off x="9494215" y="6272784"/>
            <a:ext cx="2194560" cy="402336"/>
          </a:xfrm>
          <a:prstGeom prst="rect">
            <a:avLst/>
          </a:prstGeom>
          <a:noFill/>
        </p:spPr>
        <p:txBody>
          <a:bodyPr wrap="square" lIns="0" rIns="0" tIns="0" bIns="0" anchor="b">
            <a:noAutofit/>
          </a:bodyPr>
          <a:lstStyle/>
          <a:p>
            <a:pPr algn="r">
              <a:lnSpc>
                <a:spcPct val="100000"/>
              </a:lnSpc>
            </a:pPr>
            <a:r>
              <a:rPr sz="900" b="0">
                <a:solidFill>
                  <a:srgbClr val="5E6A77"/>
                </a:solidFill>
                <a:latin typeface="Arial"/>
              </a:rPr>
              <a:t>Illustrative data   7</a:t>
            </a:r>
          </a:p>
        </p:txBody>
      </p:sp>
      <p:sp>
        <p:nvSpPr>
          <p:cNvPr id="6" name="cpe|exhibit|text|5"/>
          <p:cNvSpPr txBox="1"/>
          <p:nvPr/>
        </p:nvSpPr>
        <p:spPr>
          <a:xfrm>
            <a:off x="502920" y="1481328"/>
            <a:ext cx="11185855" cy="274320"/>
          </a:xfrm>
          <a:prstGeom prst="rect">
            <a:avLst/>
          </a:prstGeom>
          <a:noFill/>
        </p:spPr>
        <p:txBody>
          <a:bodyPr wrap="square" lIns="0" rIns="0" tIns="0" bIns="0" anchor="t">
            <a:noAutofit/>
          </a:bodyPr>
          <a:lstStyle/>
          <a:p>
            <a:pPr algn="l">
              <a:lnSpc>
                <a:spcPct val="100000"/>
              </a:lnSpc>
            </a:pPr>
            <a:r>
              <a:rPr sz="1100" b="1">
                <a:solidFill>
                  <a:srgbClr val="1E252D"/>
                </a:solidFill>
                <a:latin typeface="Arial"/>
              </a:rPr>
              <a:t>Gross margin change by category and region, 2025 vs 2024</a:t>
            </a:r>
            <a:r>
              <a:rPr sz="1100" b="0">
                <a:solidFill>
                  <a:srgbClr val="1E252D"/>
                </a:solidFill>
                <a:latin typeface="Arial"/>
              </a:rPr>
              <a:t>, pp</a:t>
            </a:r>
          </a:p>
        </p:txBody>
      </p:sp>
      <p:graphicFrame>
        <p:nvGraphicFramePr>
          <p:cNvPr id="7" name="cpe|exhibit|table|6"/>
          <p:cNvGraphicFramePr>
            <a:graphicFrameLocks noGrp="1"/>
          </p:cNvGraphicFramePr>
          <p:nvPr/>
        </p:nvGraphicFramePr>
        <p:xfrm>
          <a:off x="502920" y="1901952"/>
          <a:ext cx="11185854" cy="3201543"/>
        </p:xfrm>
        <a:graphic>
          <a:graphicData uri="http://schemas.openxmlformats.org/drawingml/2006/table">
            <a:tbl>
              <a:tblPr firstRow="0" bandRow="0">
                <a:tableStyleId>{2D5ABB26-0587-4C30-8999-92F81FD0307C}</a:tableStyleId>
              </a:tblPr>
              <a:tblGrid>
                <a:gridCol w="2377440"/>
                <a:gridCol w="1468069"/>
                <a:gridCol w="1468069"/>
                <a:gridCol w="1468069"/>
                <a:gridCol w="1468069"/>
                <a:gridCol w="1468069"/>
                <a:gridCol w="1468069"/>
              </a:tblGrid>
              <a:tr h="300609">
                <a:tc>
                  <a:txBody>
                    <a:bodyPr wrap="square"/>
                    <a:lstStyle/>
                    <a:p>
                      <a:pPr algn="l"/>
                      <a:r>
                        <a:rPr sz="1100" b="1">
                          <a:solidFill>
                            <a:srgbClr val="1E252D"/>
                          </a:solidFill>
                          <a:latin typeface="Arial"/>
                        </a:rPr>
                        <a:t>Category</a:t>
                      </a:r>
                    </a:p>
                  </a:txBody>
                  <a:tcPr marL="73152" marR="73152" marT="41148" marB="41148" anchor="ctr">
                    <a:lnL w="0">
                      <a:noFill/>
                    </a:lnL>
                    <a:lnR w="0">
                      <a:noFill/>
                    </a:lnR>
                    <a:lnT w="0">
                      <a:noFill/>
                    </a:lnT>
                    <a:lnB w="12382" cap="flat">
                      <a:solidFill>
                        <a:srgbClr val="0B1F3A"/>
                      </a:solidFill>
                      <a:prstDash val="solid"/>
                    </a:lnB>
                    <a:noFill/>
                  </a:tcPr>
                </a:tc>
                <a:tc>
                  <a:txBody>
                    <a:bodyPr wrap="square"/>
                    <a:lstStyle/>
                    <a:p>
                      <a:pPr algn="r"/>
                      <a:r>
                        <a:rPr sz="1100" b="1">
                          <a:solidFill>
                            <a:srgbClr val="1E252D"/>
                          </a:solidFill>
                          <a:latin typeface="Arial"/>
                        </a:rPr>
                        <a:t>Madrid</a:t>
                      </a:r>
                    </a:p>
                  </a:txBody>
                  <a:tcPr marL="73152" marR="73152" marT="41148" marB="41148" anchor="ctr">
                    <a:lnL w="0">
                      <a:noFill/>
                    </a:lnL>
                    <a:lnR w="0">
                      <a:noFill/>
                    </a:lnR>
                    <a:lnT w="0">
                      <a:noFill/>
                    </a:lnT>
                    <a:lnB w="12382" cap="flat">
                      <a:solidFill>
                        <a:srgbClr val="0B1F3A"/>
                      </a:solidFill>
                      <a:prstDash val="solid"/>
                    </a:lnB>
                    <a:noFill/>
                  </a:tcPr>
                </a:tc>
                <a:tc>
                  <a:txBody>
                    <a:bodyPr wrap="square"/>
                    <a:lstStyle/>
                    <a:p>
                      <a:pPr algn="r"/>
                      <a:r>
                        <a:rPr sz="1100" b="1">
                          <a:solidFill>
                            <a:srgbClr val="1E252D"/>
                          </a:solidFill>
                          <a:latin typeface="Arial"/>
                        </a:rPr>
                        <a:t>Catalonia</a:t>
                      </a:r>
                    </a:p>
                  </a:txBody>
                  <a:tcPr marL="73152" marR="73152" marT="41148" marB="41148" anchor="ctr">
                    <a:lnL w="0">
                      <a:noFill/>
                    </a:lnL>
                    <a:lnR w="0">
                      <a:noFill/>
                    </a:lnR>
                    <a:lnT w="0">
                      <a:noFill/>
                    </a:lnT>
                    <a:lnB w="12382" cap="flat">
                      <a:solidFill>
                        <a:srgbClr val="0B1F3A"/>
                      </a:solidFill>
                      <a:prstDash val="solid"/>
                    </a:lnB>
                    <a:noFill/>
                  </a:tcPr>
                </a:tc>
                <a:tc>
                  <a:txBody>
                    <a:bodyPr wrap="square"/>
                    <a:lstStyle/>
                    <a:p>
                      <a:pPr algn="r"/>
                      <a:r>
                        <a:rPr sz="1100" b="1">
                          <a:solidFill>
                            <a:srgbClr val="1E252D"/>
                          </a:solidFill>
                          <a:latin typeface="Arial"/>
                        </a:rPr>
                        <a:t>Andalusia</a:t>
                      </a:r>
                    </a:p>
                  </a:txBody>
                  <a:tcPr marL="73152" marR="73152" marT="41148" marB="41148" anchor="ctr">
                    <a:lnL w="0">
                      <a:noFill/>
                    </a:lnL>
                    <a:lnR w="0">
                      <a:noFill/>
                    </a:lnR>
                    <a:lnT w="0">
                      <a:noFill/>
                    </a:lnT>
                    <a:lnB w="12382" cap="flat">
                      <a:solidFill>
                        <a:srgbClr val="0B1F3A"/>
                      </a:solidFill>
                      <a:prstDash val="solid"/>
                    </a:lnB>
                    <a:noFill/>
                  </a:tcPr>
                </a:tc>
                <a:tc>
                  <a:txBody>
                    <a:bodyPr wrap="square"/>
                    <a:lstStyle/>
                    <a:p>
                      <a:pPr algn="r"/>
                      <a:r>
                        <a:rPr sz="1100" b="1">
                          <a:solidFill>
                            <a:srgbClr val="1E252D"/>
                          </a:solidFill>
                          <a:latin typeface="Arial"/>
                        </a:rPr>
                        <a:t>Valencia</a:t>
                      </a:r>
                    </a:p>
                  </a:txBody>
                  <a:tcPr marL="73152" marR="73152" marT="41148" marB="41148" anchor="ctr">
                    <a:lnL w="0">
                      <a:noFill/>
                    </a:lnL>
                    <a:lnR w="0">
                      <a:noFill/>
                    </a:lnR>
                    <a:lnT w="0">
                      <a:noFill/>
                    </a:lnT>
                    <a:lnB w="12382" cap="flat">
                      <a:solidFill>
                        <a:srgbClr val="0B1F3A"/>
                      </a:solidFill>
                      <a:prstDash val="solid"/>
                    </a:lnB>
                    <a:noFill/>
                  </a:tcPr>
                </a:tc>
                <a:tc>
                  <a:txBody>
                    <a:bodyPr wrap="square"/>
                    <a:lstStyle/>
                    <a:p>
                      <a:pPr algn="r"/>
                      <a:r>
                        <a:rPr sz="1100" b="1">
                          <a:solidFill>
                            <a:srgbClr val="1E252D"/>
                          </a:solidFill>
                          <a:latin typeface="Arial"/>
                        </a:rPr>
                        <a:t>North</a:t>
                      </a:r>
                    </a:p>
                  </a:txBody>
                  <a:tcPr marL="73152" marR="73152" marT="41148" marB="41148" anchor="ctr">
                    <a:lnL w="0">
                      <a:noFill/>
                    </a:lnL>
                    <a:lnR w="0">
                      <a:noFill/>
                    </a:lnR>
                    <a:lnT w="0">
                      <a:noFill/>
                    </a:lnT>
                    <a:lnB w="12382" cap="flat">
                      <a:solidFill>
                        <a:srgbClr val="0B1F3A"/>
                      </a:solidFill>
                      <a:prstDash val="solid"/>
                    </a:lnB>
                    <a:noFill/>
                  </a:tcPr>
                </a:tc>
                <a:tc>
                  <a:txBody>
                    <a:bodyPr wrap="square"/>
                    <a:lstStyle/>
                    <a:p>
                      <a:pPr algn="r"/>
                      <a:r>
                        <a:rPr sz="1100" b="1">
                          <a:solidFill>
                            <a:srgbClr val="1E252D"/>
                          </a:solidFill>
                          <a:latin typeface="Arial"/>
                        </a:rPr>
                        <a:t>Portugal</a:t>
                      </a:r>
                    </a:p>
                  </a:txBody>
                  <a:tcPr marL="73152" marR="73152" marT="41148" marB="41148" anchor="ctr">
                    <a:lnL w="0">
                      <a:noFill/>
                    </a:lnL>
                    <a:lnR w="0">
                      <a:noFill/>
                    </a:lnR>
                    <a:lnT w="0">
                      <a:noFill/>
                    </a:lnT>
                    <a:lnB w="12382" cap="flat">
                      <a:solidFill>
                        <a:srgbClr val="0B1F3A"/>
                      </a:solidFill>
                      <a:prstDash val="solid"/>
                    </a:lnB>
                    <a:noFill/>
                  </a:tcPr>
                </a:tc>
              </a:tr>
              <a:tr h="483489">
                <a:tc>
                  <a:txBody>
                    <a:bodyPr wrap="square"/>
                    <a:lstStyle/>
                    <a:p>
                      <a:pPr algn="l"/>
                      <a:r>
                        <a:rPr sz="1100" b="0">
                          <a:solidFill>
                            <a:srgbClr val="1E252D"/>
                          </a:solidFill>
                          <a:latin typeface="Arial"/>
                        </a:rPr>
                        <a:t>Fresh</a:t>
                      </a:r>
                    </a:p>
                  </a:txBody>
                  <a:tcPr marL="73152" marR="73152" marT="41148" marB="41148" anchor="ctr">
                    <a:lnL w="0">
                      <a:noFill/>
                    </a:lnL>
                    <a:lnR w="0">
                      <a:noFill/>
                    </a:lnR>
                    <a:lnT w="0">
                      <a:noFill/>
                    </a:lnT>
                    <a:lnB w="6350" cap="flat">
                      <a:solidFill>
                        <a:srgbClr val="E3E7EB"/>
                      </a:solidFill>
                      <a:prstDash val="solid"/>
                    </a:lnB>
                    <a:noFill/>
                  </a:tcPr>
                </a:tc>
                <a:tc>
                  <a:txBody>
                    <a:bodyPr wrap="square"/>
                    <a:lstStyle/>
                    <a:p>
                      <a:pPr algn="r"/>
                      <a:r>
                        <a:rPr sz="1100" b="0">
                          <a:solidFill>
                            <a:srgbClr val="FFFFFF"/>
                          </a:solidFill>
                          <a:latin typeface="Arial"/>
                        </a:rPr>
                        <a:t>−2.9</a:t>
                      </a:r>
                    </a:p>
                  </a:txBody>
                  <a:tcPr marL="73152" marR="73152" marT="41148" marB="41148" anchor="ctr">
                    <a:lnL w="0">
                      <a:noFill/>
                    </a:lnL>
                    <a:lnR w="0">
                      <a:noFill/>
                    </a:lnR>
                    <a:lnT w="0">
                      <a:noFill/>
                    </a:lnT>
                    <a:lnB w="6350" cap="flat">
                      <a:solidFill>
                        <a:srgbClr val="E3E7EB"/>
                      </a:solidFill>
                      <a:prstDash val="solid"/>
                    </a:lnB>
                    <a:solidFill>
                      <a:srgbClr val="BA5950"/>
                    </a:solidFill>
                  </a:tcPr>
                </a:tc>
                <a:tc>
                  <a:txBody>
                    <a:bodyPr wrap="square"/>
                    <a:lstStyle/>
                    <a:p>
                      <a:pPr algn="r"/>
                      <a:r>
                        <a:rPr sz="1100" b="0">
                          <a:solidFill>
                            <a:srgbClr val="1E252D"/>
                          </a:solidFill>
                          <a:latin typeface="Arial"/>
                        </a:rPr>
                        <a:t>−2.6</a:t>
                      </a:r>
                    </a:p>
                  </a:txBody>
                  <a:tcPr marL="73152" marR="73152" marT="41148" marB="41148" anchor="ctr">
                    <a:lnL w="0">
                      <a:noFill/>
                    </a:lnL>
                    <a:lnR w="0">
                      <a:noFill/>
                    </a:lnR>
                    <a:lnT w="0">
                      <a:noFill/>
                    </a:lnT>
                    <a:lnB w="6350" cap="flat">
                      <a:solidFill>
                        <a:srgbClr val="E3E7EB"/>
                      </a:solidFill>
                      <a:prstDash val="solid"/>
                    </a:lnB>
                    <a:solidFill>
                      <a:srgbClr val="D57267"/>
                    </a:solidFill>
                  </a:tcPr>
                </a:tc>
                <a:tc>
                  <a:txBody>
                    <a:bodyPr wrap="square"/>
                    <a:lstStyle/>
                    <a:p>
                      <a:pPr algn="r"/>
                      <a:r>
                        <a:rPr sz="1100" b="0">
                          <a:solidFill>
                            <a:srgbClr val="1E252D"/>
                          </a:solidFill>
                          <a:latin typeface="Arial"/>
                        </a:rPr>
                        <a:t>−1.1</a:t>
                      </a:r>
                    </a:p>
                  </a:txBody>
                  <a:tcPr marL="73152" marR="73152" marT="41148" marB="41148" anchor="ctr">
                    <a:lnL w="0">
                      <a:noFill/>
                    </a:lnL>
                    <a:lnR w="0">
                      <a:noFill/>
                    </a:lnR>
                    <a:lnT w="0">
                      <a:noFill/>
                    </a:lnT>
                    <a:lnB w="6350" cap="flat">
                      <a:solidFill>
                        <a:srgbClr val="E3E7EB"/>
                      </a:solidFill>
                      <a:prstDash val="solid"/>
                    </a:lnB>
                    <a:solidFill>
                      <a:srgbClr val="ECC5C0"/>
                    </a:solidFill>
                  </a:tcPr>
                </a:tc>
                <a:tc>
                  <a:txBody>
                    <a:bodyPr wrap="square"/>
                    <a:lstStyle/>
                    <a:p>
                      <a:pPr algn="r"/>
                      <a:r>
                        <a:rPr sz="1100" b="0">
                          <a:solidFill>
                            <a:srgbClr val="1E252D"/>
                          </a:solidFill>
                          <a:latin typeface="Arial"/>
                        </a:rPr>
                        <a:t>−1.0</a:t>
                      </a:r>
                    </a:p>
                  </a:txBody>
                  <a:tcPr marL="73152" marR="73152" marT="41148" marB="41148" anchor="ctr">
                    <a:lnL w="0">
                      <a:noFill/>
                    </a:lnL>
                    <a:lnR w="0">
                      <a:noFill/>
                    </a:lnR>
                    <a:lnT w="0">
                      <a:noFill/>
                    </a:lnT>
                    <a:lnB w="6350" cap="flat">
                      <a:solidFill>
                        <a:srgbClr val="E3E7EB"/>
                      </a:solidFill>
                      <a:prstDash val="solid"/>
                    </a:lnB>
                    <a:solidFill>
                      <a:srgbClr val="EDC9C5"/>
                    </a:solidFill>
                  </a:tcPr>
                </a:tc>
                <a:tc>
                  <a:txBody>
                    <a:bodyPr wrap="square"/>
                    <a:lstStyle/>
                    <a:p>
                      <a:pPr algn="r"/>
                      <a:r>
                        <a:rPr sz="1100" b="0">
                          <a:solidFill>
                            <a:srgbClr val="1E252D"/>
                          </a:solidFill>
                          <a:latin typeface="Arial"/>
                        </a:rPr>
                        <a:t>−0.6</a:t>
                      </a:r>
                    </a:p>
                  </a:txBody>
                  <a:tcPr marL="73152" marR="73152" marT="41148" marB="41148" anchor="ctr">
                    <a:lnL w="0">
                      <a:noFill/>
                    </a:lnL>
                    <a:lnR w="0">
                      <a:noFill/>
                    </a:lnR>
                    <a:lnT w="0">
                      <a:noFill/>
                    </a:lnT>
                    <a:lnB w="6350" cap="flat">
                      <a:solidFill>
                        <a:srgbClr val="E3E7EB"/>
                      </a:solidFill>
                      <a:prstDash val="solid"/>
                    </a:lnB>
                    <a:solidFill>
                      <a:srgbClr val="F0DBD9"/>
                    </a:solidFill>
                  </a:tcPr>
                </a:tc>
                <a:tc>
                  <a:txBody>
                    <a:bodyPr wrap="square"/>
                    <a:lstStyle/>
                    <a:p>
                      <a:pPr algn="r"/>
                      <a:r>
                        <a:rPr sz="1100" b="0">
                          <a:solidFill>
                            <a:srgbClr val="1E252D"/>
                          </a:solidFill>
                          <a:latin typeface="Arial"/>
                        </a:rPr>
                        <a:t>−0.4</a:t>
                      </a:r>
                    </a:p>
                  </a:txBody>
                  <a:tcPr marL="73152" marR="73152" marT="41148" marB="41148" anchor="ctr">
                    <a:lnL w="0">
                      <a:noFill/>
                    </a:lnL>
                    <a:lnR w="0">
                      <a:noFill/>
                    </a:lnR>
                    <a:lnT w="0">
                      <a:noFill/>
                    </a:lnT>
                    <a:lnB w="6350" cap="flat">
                      <a:solidFill>
                        <a:srgbClr val="E3E7EB"/>
                      </a:solidFill>
                      <a:prstDash val="solid"/>
                    </a:lnB>
                    <a:solidFill>
                      <a:srgbClr val="F1E4E4"/>
                    </a:solidFill>
                  </a:tcPr>
                </a:tc>
              </a:tr>
              <a:tr h="483489">
                <a:tc>
                  <a:txBody>
                    <a:bodyPr wrap="square"/>
                    <a:lstStyle/>
                    <a:p>
                      <a:pPr algn="l"/>
                      <a:r>
                        <a:rPr sz="1100" b="0">
                          <a:solidFill>
                            <a:srgbClr val="1E252D"/>
                          </a:solidFill>
                          <a:latin typeface="Arial"/>
                        </a:rPr>
                        <a:t>Food-to-go</a:t>
                      </a:r>
                    </a:p>
                  </a:txBody>
                  <a:tcPr marL="73152" marR="73152" marT="41148" marB="41148" anchor="ctr">
                    <a:lnL w="0">
                      <a:noFill/>
                    </a:lnL>
                    <a:lnR w="0">
                      <a:noFill/>
                    </a:lnR>
                    <a:lnT w="0">
                      <a:noFill/>
                    </a:lnT>
                    <a:lnB w="6350" cap="flat">
                      <a:solidFill>
                        <a:srgbClr val="E3E7EB"/>
                      </a:solidFill>
                      <a:prstDash val="solid"/>
                    </a:lnB>
                    <a:noFill/>
                  </a:tcPr>
                </a:tc>
                <a:tc>
                  <a:txBody>
                    <a:bodyPr wrap="square"/>
                    <a:lstStyle/>
                    <a:p>
                      <a:pPr algn="r"/>
                      <a:r>
                        <a:rPr sz="1100" b="0">
                          <a:solidFill>
                            <a:srgbClr val="FFFFFF"/>
                          </a:solidFill>
                          <a:latin typeface="Arial"/>
                        </a:rPr>
                        <a:t>−3.4</a:t>
                      </a:r>
                    </a:p>
                  </a:txBody>
                  <a:tcPr marL="73152" marR="73152" marT="41148" marB="41148" anchor="ctr">
                    <a:lnL w="0">
                      <a:noFill/>
                    </a:lnL>
                    <a:lnR w="0">
                      <a:noFill/>
                    </a:lnR>
                    <a:lnT w="0">
                      <a:noFill/>
                    </a:lnT>
                    <a:lnB w="6350" cap="flat">
                      <a:solidFill>
                        <a:srgbClr val="E3E7EB"/>
                      </a:solidFill>
                      <a:prstDash val="solid"/>
                    </a:lnB>
                    <a:solidFill>
                      <a:srgbClr val="C23F32"/>
                    </a:solidFill>
                  </a:tcPr>
                </a:tc>
                <a:tc>
                  <a:txBody>
                    <a:bodyPr wrap="square"/>
                    <a:lstStyle/>
                    <a:p>
                      <a:pPr algn="r"/>
                      <a:r>
                        <a:rPr sz="1100" b="0">
                          <a:solidFill>
                            <a:srgbClr val="FFFFFF"/>
                          </a:solidFill>
                          <a:latin typeface="Arial"/>
                        </a:rPr>
                        <a:t>−3.1</a:t>
                      </a:r>
                    </a:p>
                  </a:txBody>
                  <a:tcPr marL="73152" marR="73152" marT="41148" marB="41148" anchor="ctr">
                    <a:lnL w="0">
                      <a:noFill/>
                    </a:lnL>
                    <a:lnR w="0">
                      <a:noFill/>
                    </a:lnR>
                    <a:lnT w="0">
                      <a:noFill/>
                    </a:lnT>
                    <a:lnB w="6350" cap="flat">
                      <a:solidFill>
                        <a:srgbClr val="E3E7EB"/>
                      </a:solidFill>
                      <a:prstDash val="solid"/>
                    </a:lnB>
                    <a:solidFill>
                      <a:srgbClr val="B64D45"/>
                    </a:solidFill>
                  </a:tcPr>
                </a:tc>
                <a:tc>
                  <a:txBody>
                    <a:bodyPr wrap="square"/>
                    <a:lstStyle/>
                    <a:p>
                      <a:pPr algn="r"/>
                      <a:r>
                        <a:rPr sz="1100" b="0">
                          <a:solidFill>
                            <a:srgbClr val="1E252D"/>
                          </a:solidFill>
                          <a:latin typeface="Arial"/>
                        </a:rPr>
                        <a:t>−1.4</a:t>
                      </a:r>
                    </a:p>
                  </a:txBody>
                  <a:tcPr marL="73152" marR="73152" marT="41148" marB="41148" anchor="ctr">
                    <a:lnL w="0">
                      <a:noFill/>
                    </a:lnL>
                    <a:lnR w="0">
                      <a:noFill/>
                    </a:lnR>
                    <a:lnT w="0">
                      <a:noFill/>
                    </a:lnT>
                    <a:lnB w="6350" cap="flat">
                      <a:solidFill>
                        <a:srgbClr val="E3E7EB"/>
                      </a:solidFill>
                      <a:prstDash val="solid"/>
                    </a:lnB>
                    <a:solidFill>
                      <a:srgbClr val="EAB8B1"/>
                    </a:solidFill>
                  </a:tcPr>
                </a:tc>
                <a:tc>
                  <a:txBody>
                    <a:bodyPr wrap="square"/>
                    <a:lstStyle/>
                    <a:p>
                      <a:pPr algn="r"/>
                      <a:r>
                        <a:rPr sz="1100" b="0">
                          <a:solidFill>
                            <a:srgbClr val="1E252D"/>
                          </a:solidFill>
                          <a:latin typeface="Arial"/>
                        </a:rPr>
                        <a:t>−1.2</a:t>
                      </a:r>
                    </a:p>
                  </a:txBody>
                  <a:tcPr marL="73152" marR="73152" marT="41148" marB="41148" anchor="ctr">
                    <a:lnL w="0">
                      <a:noFill/>
                    </a:lnL>
                    <a:lnR w="0">
                      <a:noFill/>
                    </a:lnR>
                    <a:lnT w="0">
                      <a:noFill/>
                    </a:lnT>
                    <a:lnB w="6350" cap="flat">
                      <a:solidFill>
                        <a:srgbClr val="E3E7EB"/>
                      </a:solidFill>
                      <a:prstDash val="solid"/>
                    </a:lnB>
                    <a:solidFill>
                      <a:srgbClr val="ECC1BB"/>
                    </a:solidFill>
                  </a:tcPr>
                </a:tc>
                <a:tc>
                  <a:txBody>
                    <a:bodyPr wrap="square"/>
                    <a:lstStyle/>
                    <a:p>
                      <a:pPr algn="r"/>
                      <a:r>
                        <a:rPr sz="1100" b="0">
                          <a:solidFill>
                            <a:srgbClr val="1E252D"/>
                          </a:solidFill>
                          <a:latin typeface="Arial"/>
                        </a:rPr>
                        <a:t>−0.9</a:t>
                      </a:r>
                    </a:p>
                  </a:txBody>
                  <a:tcPr marL="73152" marR="73152" marT="41148" marB="41148" anchor="ctr">
                    <a:lnL w="0">
                      <a:noFill/>
                    </a:lnL>
                    <a:lnR w="0">
                      <a:noFill/>
                    </a:lnR>
                    <a:lnT w="0">
                      <a:noFill/>
                    </a:lnT>
                    <a:lnB w="6350" cap="flat">
                      <a:solidFill>
                        <a:srgbClr val="E3E7EB"/>
                      </a:solidFill>
                      <a:prstDash val="solid"/>
                    </a:lnB>
                    <a:solidFill>
                      <a:srgbClr val="EECECA"/>
                    </a:solidFill>
                  </a:tcPr>
                </a:tc>
                <a:tc>
                  <a:txBody>
                    <a:bodyPr wrap="square"/>
                    <a:lstStyle/>
                    <a:p>
                      <a:pPr algn="r"/>
                      <a:r>
                        <a:rPr sz="1100" b="0">
                          <a:solidFill>
                            <a:srgbClr val="1E252D"/>
                          </a:solidFill>
                          <a:latin typeface="Arial"/>
                        </a:rPr>
                        <a:t>−0.7</a:t>
                      </a:r>
                    </a:p>
                  </a:txBody>
                  <a:tcPr marL="73152" marR="73152" marT="41148" marB="41148" anchor="ctr">
                    <a:lnL w="0">
                      <a:noFill/>
                    </a:lnL>
                    <a:lnR w="0">
                      <a:noFill/>
                    </a:lnR>
                    <a:lnT w="0">
                      <a:noFill/>
                    </a:lnT>
                    <a:lnB w="6350" cap="flat">
                      <a:solidFill>
                        <a:srgbClr val="E3E7EB"/>
                      </a:solidFill>
                      <a:prstDash val="solid"/>
                    </a:lnB>
                    <a:solidFill>
                      <a:srgbClr val="EFD7D4"/>
                    </a:solidFill>
                  </a:tcPr>
                </a:tc>
              </a:tr>
              <a:tr h="483489">
                <a:tc>
                  <a:txBody>
                    <a:bodyPr wrap="square"/>
                    <a:lstStyle/>
                    <a:p>
                      <a:pPr algn="l"/>
                      <a:r>
                        <a:rPr sz="1100" b="0">
                          <a:solidFill>
                            <a:srgbClr val="1E252D"/>
                          </a:solidFill>
                          <a:latin typeface="Arial"/>
                        </a:rPr>
                        <a:t>Ambient grocery</a:t>
                      </a:r>
                    </a:p>
                  </a:txBody>
                  <a:tcPr marL="73152" marR="73152" marT="41148" marB="41148" anchor="ctr">
                    <a:lnL w="0">
                      <a:noFill/>
                    </a:lnL>
                    <a:lnR w="0">
                      <a:noFill/>
                    </a:lnR>
                    <a:lnT w="0">
                      <a:noFill/>
                    </a:lnT>
                    <a:lnB w="6350" cap="flat">
                      <a:solidFill>
                        <a:srgbClr val="E3E7EB"/>
                      </a:solidFill>
                      <a:prstDash val="solid"/>
                    </a:lnB>
                    <a:noFill/>
                  </a:tcPr>
                </a:tc>
                <a:tc>
                  <a:txBody>
                    <a:bodyPr wrap="square"/>
                    <a:lstStyle/>
                    <a:p>
                      <a:pPr algn="r"/>
                      <a:r>
                        <a:rPr sz="1100" b="0">
                          <a:solidFill>
                            <a:srgbClr val="1E252D"/>
                          </a:solidFill>
                          <a:latin typeface="Arial"/>
                        </a:rPr>
                        <a:t>−0.8</a:t>
                      </a:r>
                    </a:p>
                  </a:txBody>
                  <a:tcPr marL="73152" marR="73152" marT="41148" marB="41148" anchor="ctr">
                    <a:lnL w="0">
                      <a:noFill/>
                    </a:lnL>
                    <a:lnR w="0">
                      <a:noFill/>
                    </a:lnR>
                    <a:lnT w="0">
                      <a:noFill/>
                    </a:lnT>
                    <a:lnB w="6350" cap="flat">
                      <a:solidFill>
                        <a:srgbClr val="E3E7EB"/>
                      </a:solidFill>
                      <a:prstDash val="solid"/>
                    </a:lnB>
                    <a:solidFill>
                      <a:srgbClr val="EFD2CF"/>
                    </a:solidFill>
                  </a:tcPr>
                </a:tc>
                <a:tc>
                  <a:txBody>
                    <a:bodyPr wrap="square"/>
                    <a:lstStyle/>
                    <a:p>
                      <a:pPr algn="r"/>
                      <a:r>
                        <a:rPr sz="1100" b="0">
                          <a:solidFill>
                            <a:srgbClr val="1E252D"/>
                          </a:solidFill>
                          <a:latin typeface="Arial"/>
                        </a:rPr>
                        <a:t>−0.7</a:t>
                      </a:r>
                    </a:p>
                  </a:txBody>
                  <a:tcPr marL="73152" marR="73152" marT="41148" marB="41148" anchor="ctr">
                    <a:lnL w="0">
                      <a:noFill/>
                    </a:lnL>
                    <a:lnR w="0">
                      <a:noFill/>
                    </a:lnR>
                    <a:lnT w="0">
                      <a:noFill/>
                    </a:lnT>
                    <a:lnB w="6350" cap="flat">
                      <a:solidFill>
                        <a:srgbClr val="E3E7EB"/>
                      </a:solidFill>
                      <a:prstDash val="solid"/>
                    </a:lnB>
                    <a:solidFill>
                      <a:srgbClr val="EFD7D4"/>
                    </a:solidFill>
                  </a:tcPr>
                </a:tc>
                <a:tc>
                  <a:txBody>
                    <a:bodyPr wrap="square"/>
                    <a:lstStyle/>
                    <a:p>
                      <a:pPr algn="r"/>
                      <a:r>
                        <a:rPr sz="1100" b="0">
                          <a:solidFill>
                            <a:srgbClr val="1E252D"/>
                          </a:solidFill>
                          <a:latin typeface="Arial"/>
                        </a:rPr>
                        <a:t>−0.5</a:t>
                      </a:r>
                    </a:p>
                  </a:txBody>
                  <a:tcPr marL="73152" marR="73152" marT="41148" marB="41148" anchor="ctr">
                    <a:lnL w="0">
                      <a:noFill/>
                    </a:lnL>
                    <a:lnR w="0">
                      <a:noFill/>
                    </a:lnR>
                    <a:lnT w="0">
                      <a:noFill/>
                    </a:lnT>
                    <a:lnB w="6350" cap="flat">
                      <a:solidFill>
                        <a:srgbClr val="E3E7EB"/>
                      </a:solidFill>
                      <a:prstDash val="solid"/>
                    </a:lnB>
                    <a:solidFill>
                      <a:srgbClr val="F1E0DF"/>
                    </a:solidFill>
                  </a:tcPr>
                </a:tc>
                <a:tc>
                  <a:txBody>
                    <a:bodyPr wrap="square"/>
                    <a:lstStyle/>
                    <a:p>
                      <a:pPr algn="r"/>
                      <a:r>
                        <a:rPr sz="1100" b="0">
                          <a:solidFill>
                            <a:srgbClr val="1E252D"/>
                          </a:solidFill>
                          <a:latin typeface="Arial"/>
                        </a:rPr>
                        <a:t>−0.4</a:t>
                      </a:r>
                    </a:p>
                  </a:txBody>
                  <a:tcPr marL="73152" marR="73152" marT="41148" marB="41148" anchor="ctr">
                    <a:lnL w="0">
                      <a:noFill/>
                    </a:lnL>
                    <a:lnR w="0">
                      <a:noFill/>
                    </a:lnR>
                    <a:lnT w="0">
                      <a:noFill/>
                    </a:lnT>
                    <a:lnB w="6350" cap="flat">
                      <a:solidFill>
                        <a:srgbClr val="E3E7EB"/>
                      </a:solidFill>
                      <a:prstDash val="solid"/>
                    </a:lnB>
                    <a:solidFill>
                      <a:srgbClr val="F1E4E4"/>
                    </a:solidFill>
                  </a:tcPr>
                </a:tc>
                <a:tc>
                  <a:txBody>
                    <a:bodyPr wrap="square"/>
                    <a:lstStyle/>
                    <a:p>
                      <a:pPr algn="r"/>
                      <a:r>
                        <a:rPr sz="1100" b="0">
                          <a:solidFill>
                            <a:srgbClr val="1E252D"/>
                          </a:solidFill>
                          <a:latin typeface="Arial"/>
                        </a:rPr>
                        <a:t>−0.3</a:t>
                      </a:r>
                    </a:p>
                  </a:txBody>
                  <a:tcPr marL="73152" marR="73152" marT="41148" marB="41148" anchor="ctr">
                    <a:lnL w="0">
                      <a:noFill/>
                    </a:lnL>
                    <a:lnR w="0">
                      <a:noFill/>
                    </a:lnR>
                    <a:lnT w="0">
                      <a:noFill/>
                    </a:lnT>
                    <a:lnB w="6350" cap="flat">
                      <a:solidFill>
                        <a:srgbClr val="E3E7EB"/>
                      </a:solidFill>
                      <a:prstDash val="solid"/>
                    </a:lnB>
                    <a:solidFill>
                      <a:srgbClr val="F2E9E9"/>
                    </a:solidFill>
                  </a:tcPr>
                </a:tc>
                <a:tc>
                  <a:txBody>
                    <a:bodyPr wrap="square"/>
                    <a:lstStyle/>
                    <a:p>
                      <a:pPr algn="r"/>
                      <a:r>
                        <a:rPr sz="1100" b="0">
                          <a:solidFill>
                            <a:srgbClr val="1E252D"/>
                          </a:solidFill>
                          <a:latin typeface="Arial"/>
                        </a:rPr>
                        <a:t>−0.2</a:t>
                      </a:r>
                    </a:p>
                  </a:txBody>
                  <a:tcPr marL="73152" marR="73152" marT="41148" marB="41148" anchor="ctr">
                    <a:lnL w="0">
                      <a:noFill/>
                    </a:lnL>
                    <a:lnR w="0">
                      <a:noFill/>
                    </a:lnR>
                    <a:lnT w="0">
                      <a:noFill/>
                    </a:lnT>
                    <a:lnB w="6350" cap="flat">
                      <a:solidFill>
                        <a:srgbClr val="E3E7EB"/>
                      </a:solidFill>
                      <a:prstDash val="solid"/>
                    </a:lnB>
                    <a:solidFill>
                      <a:srgbClr val="F3EDEE"/>
                    </a:solidFill>
                  </a:tcPr>
                </a:tc>
              </a:tr>
              <a:tr h="483489">
                <a:tc>
                  <a:txBody>
                    <a:bodyPr wrap="square"/>
                    <a:lstStyle/>
                    <a:p>
                      <a:pPr algn="l"/>
                      <a:r>
                        <a:rPr sz="1100" b="0">
                          <a:solidFill>
                            <a:srgbClr val="1E252D"/>
                          </a:solidFill>
                          <a:latin typeface="Arial"/>
                        </a:rPr>
                        <a:t>Drinks</a:t>
                      </a:r>
                    </a:p>
                  </a:txBody>
                  <a:tcPr marL="73152" marR="73152" marT="41148" marB="41148" anchor="ctr">
                    <a:lnL w="0">
                      <a:noFill/>
                    </a:lnL>
                    <a:lnR w="0">
                      <a:noFill/>
                    </a:lnR>
                    <a:lnT w="0">
                      <a:noFill/>
                    </a:lnT>
                    <a:lnB w="6350" cap="flat">
                      <a:solidFill>
                        <a:srgbClr val="E3E7EB"/>
                      </a:solidFill>
                      <a:prstDash val="solid"/>
                    </a:lnB>
                    <a:noFill/>
                  </a:tcPr>
                </a:tc>
                <a:tc>
                  <a:txBody>
                    <a:bodyPr wrap="square"/>
                    <a:lstStyle/>
                    <a:p>
                      <a:pPr algn="r"/>
                      <a:r>
                        <a:rPr sz="1100" b="0">
                          <a:solidFill>
                            <a:srgbClr val="1E252D"/>
                          </a:solidFill>
                          <a:latin typeface="Arial"/>
                        </a:rPr>
                        <a:t>−0.3</a:t>
                      </a:r>
                    </a:p>
                  </a:txBody>
                  <a:tcPr marL="73152" marR="73152" marT="41148" marB="41148" anchor="ctr">
                    <a:lnL w="0">
                      <a:noFill/>
                    </a:lnL>
                    <a:lnR w="0">
                      <a:noFill/>
                    </a:lnR>
                    <a:lnT w="0">
                      <a:noFill/>
                    </a:lnT>
                    <a:lnB w="6350" cap="flat">
                      <a:solidFill>
                        <a:srgbClr val="E3E7EB"/>
                      </a:solidFill>
                      <a:prstDash val="solid"/>
                    </a:lnB>
                    <a:solidFill>
                      <a:srgbClr val="F2E9E9"/>
                    </a:solidFill>
                  </a:tcPr>
                </a:tc>
                <a:tc>
                  <a:txBody>
                    <a:bodyPr wrap="square"/>
                    <a:lstStyle/>
                    <a:p>
                      <a:pPr algn="r"/>
                      <a:r>
                        <a:rPr sz="1100" b="0">
                          <a:solidFill>
                            <a:srgbClr val="1E252D"/>
                          </a:solidFill>
                          <a:latin typeface="Arial"/>
                        </a:rPr>
                        <a:t>−0.2</a:t>
                      </a:r>
                    </a:p>
                  </a:txBody>
                  <a:tcPr marL="73152" marR="73152" marT="41148" marB="41148" anchor="ctr">
                    <a:lnL w="0">
                      <a:noFill/>
                    </a:lnL>
                    <a:lnR w="0">
                      <a:noFill/>
                    </a:lnR>
                    <a:lnT w="0">
                      <a:noFill/>
                    </a:lnT>
                    <a:lnB w="6350" cap="flat">
                      <a:solidFill>
                        <a:srgbClr val="E3E7EB"/>
                      </a:solidFill>
                      <a:prstDash val="solid"/>
                    </a:lnB>
                    <a:solidFill>
                      <a:srgbClr val="F3EDEE"/>
                    </a:solidFill>
                  </a:tcPr>
                </a:tc>
                <a:tc>
                  <a:txBody>
                    <a:bodyPr wrap="square"/>
                    <a:lstStyle/>
                    <a:p>
                      <a:pPr algn="r"/>
                      <a:r>
                        <a:rPr sz="1100" b="0">
                          <a:solidFill>
                            <a:srgbClr val="1E252D"/>
                          </a:solidFill>
                          <a:latin typeface="Arial"/>
                        </a:rPr>
                        <a:t>0.1</a:t>
                      </a:r>
                    </a:p>
                  </a:txBody>
                  <a:tcPr marL="73152" marR="73152" marT="41148" marB="41148" anchor="ctr">
                    <a:lnL w="0">
                      <a:noFill/>
                    </a:lnL>
                    <a:lnR w="0">
                      <a:noFill/>
                    </a:lnR>
                    <a:lnT w="0">
                      <a:noFill/>
                    </a:lnT>
                    <a:lnB w="6350" cap="flat">
                      <a:solidFill>
                        <a:srgbClr val="E3E7EB"/>
                      </a:solidFill>
                      <a:prstDash val="solid"/>
                    </a:lnB>
                    <a:solidFill>
                      <a:srgbClr val="EEF3F3"/>
                    </a:solidFill>
                  </a:tcPr>
                </a:tc>
                <a:tc>
                  <a:txBody>
                    <a:bodyPr wrap="square"/>
                    <a:lstStyle/>
                    <a:p>
                      <a:pPr algn="r"/>
                      <a:r>
                        <a:rPr sz="1100" b="0">
                          <a:solidFill>
                            <a:srgbClr val="1E252D"/>
                          </a:solidFill>
                          <a:latin typeface="Arial"/>
                        </a:rPr>
                        <a:t>0.0</a:t>
                      </a:r>
                    </a:p>
                  </a:txBody>
                  <a:tcPr marL="73152" marR="73152" marT="41148" marB="41148" anchor="ctr">
                    <a:lnL w="0">
                      <a:noFill/>
                    </a:lnL>
                    <a:lnR w="0">
                      <a:noFill/>
                    </a:lnR>
                    <a:lnT w="0">
                      <a:noFill/>
                    </a:lnT>
                    <a:lnB w="6350" cap="flat">
                      <a:solidFill>
                        <a:srgbClr val="E3E7EB"/>
                      </a:solidFill>
                      <a:prstDash val="solid"/>
                    </a:lnB>
                    <a:solidFill>
                      <a:srgbClr val="F4F6F8"/>
                    </a:solidFill>
                  </a:tcPr>
                </a:tc>
                <a:tc>
                  <a:txBody>
                    <a:bodyPr wrap="square"/>
                    <a:lstStyle/>
                    <a:p>
                      <a:pPr algn="r"/>
                      <a:r>
                        <a:rPr sz="1100" b="0">
                          <a:solidFill>
                            <a:srgbClr val="1E252D"/>
                          </a:solidFill>
                          <a:latin typeface="Arial"/>
                        </a:rPr>
                        <a:t>0.2</a:t>
                      </a:r>
                    </a:p>
                  </a:txBody>
                  <a:tcPr marL="73152" marR="73152" marT="41148" marB="41148" anchor="ctr">
                    <a:lnL w="0">
                      <a:noFill/>
                    </a:lnL>
                    <a:lnR w="0">
                      <a:noFill/>
                    </a:lnR>
                    <a:lnT w="0">
                      <a:noFill/>
                    </a:lnT>
                    <a:lnB w="6350" cap="flat">
                      <a:solidFill>
                        <a:srgbClr val="E3E7EB"/>
                      </a:solidFill>
                      <a:prstDash val="solid"/>
                    </a:lnB>
                    <a:solidFill>
                      <a:srgbClr val="E8F0EF"/>
                    </a:solidFill>
                  </a:tcPr>
                </a:tc>
                <a:tc>
                  <a:txBody>
                    <a:bodyPr wrap="square"/>
                    <a:lstStyle/>
                    <a:p>
                      <a:pPr algn="r"/>
                      <a:r>
                        <a:rPr sz="1100" b="0">
                          <a:solidFill>
                            <a:srgbClr val="1E252D"/>
                          </a:solidFill>
                          <a:latin typeface="Arial"/>
                        </a:rPr>
                        <a:t>0.1</a:t>
                      </a:r>
                    </a:p>
                  </a:txBody>
                  <a:tcPr marL="73152" marR="73152" marT="41148" marB="41148" anchor="ctr">
                    <a:lnL w="0">
                      <a:noFill/>
                    </a:lnL>
                    <a:lnR w="0">
                      <a:noFill/>
                    </a:lnR>
                    <a:lnT w="0">
                      <a:noFill/>
                    </a:lnT>
                    <a:lnB w="6350" cap="flat">
                      <a:solidFill>
                        <a:srgbClr val="E3E7EB"/>
                      </a:solidFill>
                      <a:prstDash val="solid"/>
                    </a:lnB>
                    <a:solidFill>
                      <a:srgbClr val="EEF3F3"/>
                    </a:solidFill>
                  </a:tcPr>
                </a:tc>
              </a:tr>
              <a:tr h="483489">
                <a:tc>
                  <a:txBody>
                    <a:bodyPr wrap="square"/>
                    <a:lstStyle/>
                    <a:p>
                      <a:pPr algn="l"/>
                      <a:r>
                        <a:rPr sz="1100" b="0">
                          <a:solidFill>
                            <a:srgbClr val="1E252D"/>
                          </a:solidFill>
                          <a:latin typeface="Arial"/>
                        </a:rPr>
                        <a:t>Household &amp; personal care</a:t>
                      </a:r>
                    </a:p>
                  </a:txBody>
                  <a:tcPr marL="73152" marR="73152" marT="41148" marB="41148" anchor="ctr">
                    <a:lnL w="0">
                      <a:noFill/>
                    </a:lnL>
                    <a:lnR w="0">
                      <a:noFill/>
                    </a:lnR>
                    <a:lnT w="0">
                      <a:noFill/>
                    </a:lnT>
                    <a:lnB w="6350" cap="flat">
                      <a:solidFill>
                        <a:srgbClr val="E3E7EB"/>
                      </a:solidFill>
                      <a:prstDash val="solid"/>
                    </a:lnB>
                    <a:noFill/>
                  </a:tcPr>
                </a:tc>
                <a:tc>
                  <a:txBody>
                    <a:bodyPr wrap="square"/>
                    <a:lstStyle/>
                    <a:p>
                      <a:pPr algn="r"/>
                      <a:r>
                        <a:rPr sz="1100" b="0">
                          <a:solidFill>
                            <a:srgbClr val="1E252D"/>
                          </a:solidFill>
                          <a:latin typeface="Arial"/>
                        </a:rPr>
                        <a:t>0.2</a:t>
                      </a:r>
                    </a:p>
                  </a:txBody>
                  <a:tcPr marL="73152" marR="73152" marT="41148" marB="41148" anchor="ctr">
                    <a:lnL w="0">
                      <a:noFill/>
                    </a:lnL>
                    <a:lnR w="0">
                      <a:noFill/>
                    </a:lnR>
                    <a:lnT w="0">
                      <a:noFill/>
                    </a:lnT>
                    <a:lnB w="6350" cap="flat">
                      <a:solidFill>
                        <a:srgbClr val="E3E7EB"/>
                      </a:solidFill>
                      <a:prstDash val="solid"/>
                    </a:lnB>
                    <a:solidFill>
                      <a:srgbClr val="E8F0EF"/>
                    </a:solidFill>
                  </a:tcPr>
                </a:tc>
                <a:tc>
                  <a:txBody>
                    <a:bodyPr wrap="square"/>
                    <a:lstStyle/>
                    <a:p>
                      <a:pPr algn="r"/>
                      <a:r>
                        <a:rPr sz="1100" b="0">
                          <a:solidFill>
                            <a:srgbClr val="1E252D"/>
                          </a:solidFill>
                          <a:latin typeface="Arial"/>
                        </a:rPr>
                        <a:t>0.1</a:t>
                      </a:r>
                    </a:p>
                  </a:txBody>
                  <a:tcPr marL="73152" marR="73152" marT="41148" marB="41148" anchor="ctr">
                    <a:lnL w="0">
                      <a:noFill/>
                    </a:lnL>
                    <a:lnR w="0">
                      <a:noFill/>
                    </a:lnR>
                    <a:lnT w="0">
                      <a:noFill/>
                    </a:lnT>
                    <a:lnB w="6350" cap="flat">
                      <a:solidFill>
                        <a:srgbClr val="E3E7EB"/>
                      </a:solidFill>
                      <a:prstDash val="solid"/>
                    </a:lnB>
                    <a:solidFill>
                      <a:srgbClr val="EEF3F3"/>
                    </a:solidFill>
                  </a:tcPr>
                </a:tc>
                <a:tc>
                  <a:txBody>
                    <a:bodyPr wrap="square"/>
                    <a:lstStyle/>
                    <a:p>
                      <a:pPr algn="r"/>
                      <a:r>
                        <a:rPr sz="1100" b="0">
                          <a:solidFill>
                            <a:srgbClr val="1E252D"/>
                          </a:solidFill>
                          <a:latin typeface="Arial"/>
                        </a:rPr>
                        <a:t>0.3</a:t>
                      </a:r>
                    </a:p>
                  </a:txBody>
                  <a:tcPr marL="73152" marR="73152" marT="41148" marB="41148" anchor="ctr">
                    <a:lnL w="0">
                      <a:noFill/>
                    </a:lnL>
                    <a:lnR w="0">
                      <a:noFill/>
                    </a:lnR>
                    <a:lnT w="0">
                      <a:noFill/>
                    </a:lnT>
                    <a:lnB w="6350" cap="flat">
                      <a:solidFill>
                        <a:srgbClr val="E3E7EB"/>
                      </a:solidFill>
                      <a:prstDash val="solid"/>
                    </a:lnB>
                    <a:solidFill>
                      <a:srgbClr val="E3EDEA"/>
                    </a:solidFill>
                  </a:tcPr>
                </a:tc>
                <a:tc>
                  <a:txBody>
                    <a:bodyPr wrap="square"/>
                    <a:lstStyle/>
                    <a:p>
                      <a:pPr algn="r"/>
                      <a:r>
                        <a:rPr sz="1100" b="0">
                          <a:solidFill>
                            <a:srgbClr val="1E252D"/>
                          </a:solidFill>
                          <a:latin typeface="Arial"/>
                        </a:rPr>
                        <a:t>0.2</a:t>
                      </a:r>
                    </a:p>
                  </a:txBody>
                  <a:tcPr marL="73152" marR="73152" marT="41148" marB="41148" anchor="ctr">
                    <a:lnL w="0">
                      <a:noFill/>
                    </a:lnL>
                    <a:lnR w="0">
                      <a:noFill/>
                    </a:lnR>
                    <a:lnT w="0">
                      <a:noFill/>
                    </a:lnT>
                    <a:lnB w="6350" cap="flat">
                      <a:solidFill>
                        <a:srgbClr val="E3E7EB"/>
                      </a:solidFill>
                      <a:prstDash val="solid"/>
                    </a:lnB>
                    <a:solidFill>
                      <a:srgbClr val="E8F0EF"/>
                    </a:solidFill>
                  </a:tcPr>
                </a:tc>
                <a:tc>
                  <a:txBody>
                    <a:bodyPr wrap="square"/>
                    <a:lstStyle/>
                    <a:p>
                      <a:pPr algn="r"/>
                      <a:r>
                        <a:rPr sz="1100" b="0">
                          <a:solidFill>
                            <a:srgbClr val="1E252D"/>
                          </a:solidFill>
                          <a:latin typeface="Arial"/>
                        </a:rPr>
                        <a:t>0.4</a:t>
                      </a:r>
                    </a:p>
                  </a:txBody>
                  <a:tcPr marL="73152" marR="73152" marT="41148" marB="41148" anchor="ctr">
                    <a:lnL w="0">
                      <a:noFill/>
                    </a:lnL>
                    <a:lnR w="0">
                      <a:noFill/>
                    </a:lnR>
                    <a:lnT w="0">
                      <a:noFill/>
                    </a:lnT>
                    <a:lnB w="6350" cap="flat">
                      <a:solidFill>
                        <a:srgbClr val="E3E7EB"/>
                      </a:solidFill>
                      <a:prstDash val="solid"/>
                    </a:lnB>
                    <a:solidFill>
                      <a:srgbClr val="DDEAE5"/>
                    </a:solidFill>
                  </a:tcPr>
                </a:tc>
                <a:tc>
                  <a:txBody>
                    <a:bodyPr wrap="square"/>
                    <a:lstStyle/>
                    <a:p>
                      <a:pPr algn="r"/>
                      <a:r>
                        <a:rPr sz="1100" b="0">
                          <a:solidFill>
                            <a:srgbClr val="1E252D"/>
                          </a:solidFill>
                          <a:latin typeface="Arial"/>
                        </a:rPr>
                        <a:t>0.3</a:t>
                      </a:r>
                    </a:p>
                  </a:txBody>
                  <a:tcPr marL="73152" marR="73152" marT="41148" marB="41148" anchor="ctr">
                    <a:lnL w="0">
                      <a:noFill/>
                    </a:lnL>
                    <a:lnR w="0">
                      <a:noFill/>
                    </a:lnR>
                    <a:lnT w="0">
                      <a:noFill/>
                    </a:lnT>
                    <a:lnB w="6350" cap="flat">
                      <a:solidFill>
                        <a:srgbClr val="E3E7EB"/>
                      </a:solidFill>
                      <a:prstDash val="solid"/>
                    </a:lnB>
                    <a:solidFill>
                      <a:srgbClr val="E3EDEA"/>
                    </a:solidFill>
                  </a:tcPr>
                </a:tc>
              </a:tr>
              <a:tr h="483489">
                <a:tc>
                  <a:txBody>
                    <a:bodyPr wrap="square"/>
                    <a:lstStyle/>
                    <a:p>
                      <a:pPr algn="l"/>
                      <a:r>
                        <a:rPr sz="1100" b="1">
                          <a:solidFill>
                            <a:srgbClr val="1E252D"/>
                          </a:solidFill>
                          <a:latin typeface="Arial"/>
                        </a:rPr>
                        <a:t>Total</a:t>
                      </a:r>
                    </a:p>
                  </a:txBody>
                  <a:tcPr marL="73152" marR="73152" marT="41148" marB="41148" anchor="ctr">
                    <a:lnL w="0">
                      <a:noFill/>
                    </a:lnL>
                    <a:lnR w="0">
                      <a:noFill/>
                    </a:lnR>
                    <a:lnT w="12382" cap="flat">
                      <a:solidFill>
                        <a:srgbClr val="0B1F3A"/>
                      </a:solidFill>
                      <a:prstDash val="solid"/>
                    </a:lnT>
                    <a:lnB w="9525" cap="flat">
                      <a:solidFill>
                        <a:srgbClr val="B7BFC8"/>
                      </a:solidFill>
                      <a:prstDash val="solid"/>
                    </a:lnB>
                    <a:noFill/>
                  </a:tcPr>
                </a:tc>
                <a:tc>
                  <a:txBody>
                    <a:bodyPr wrap="square"/>
                    <a:lstStyle/>
                    <a:p>
                      <a:pPr algn="r"/>
                      <a:r>
                        <a:rPr sz="1100" b="1">
                          <a:solidFill>
                            <a:srgbClr val="1E252D"/>
                          </a:solidFill>
                          <a:latin typeface="Arial"/>
                        </a:rPr>
                        <a:t>−1.6</a:t>
                      </a:r>
                    </a:p>
                  </a:txBody>
                  <a:tcPr marL="73152" marR="73152" marT="41148" marB="41148" anchor="ctr">
                    <a:lnL w="0">
                      <a:noFill/>
                    </a:lnL>
                    <a:lnR w="0">
                      <a:noFill/>
                    </a:lnR>
                    <a:lnT w="12382" cap="flat">
                      <a:solidFill>
                        <a:srgbClr val="0B1F3A"/>
                      </a:solidFill>
                      <a:prstDash val="solid"/>
                    </a:lnT>
                    <a:lnB w="9525" cap="flat">
                      <a:solidFill>
                        <a:srgbClr val="B7BFC8"/>
                      </a:solidFill>
                      <a:prstDash val="solid"/>
                    </a:lnB>
                    <a:noFill/>
                  </a:tcPr>
                </a:tc>
                <a:tc>
                  <a:txBody>
                    <a:bodyPr wrap="square"/>
                    <a:lstStyle/>
                    <a:p>
                      <a:pPr algn="r"/>
                      <a:r>
                        <a:rPr sz="1100" b="1">
                          <a:solidFill>
                            <a:srgbClr val="1E252D"/>
                          </a:solidFill>
                          <a:latin typeface="Arial"/>
                        </a:rPr>
                        <a:t>−1.4</a:t>
                      </a:r>
                    </a:p>
                  </a:txBody>
                  <a:tcPr marL="73152" marR="73152" marT="41148" marB="41148" anchor="ctr">
                    <a:lnL w="0">
                      <a:noFill/>
                    </a:lnL>
                    <a:lnR w="0">
                      <a:noFill/>
                    </a:lnR>
                    <a:lnT w="12382" cap="flat">
                      <a:solidFill>
                        <a:srgbClr val="0B1F3A"/>
                      </a:solidFill>
                      <a:prstDash val="solid"/>
                    </a:lnT>
                    <a:lnB w="9525" cap="flat">
                      <a:solidFill>
                        <a:srgbClr val="B7BFC8"/>
                      </a:solidFill>
                      <a:prstDash val="solid"/>
                    </a:lnB>
                    <a:noFill/>
                  </a:tcPr>
                </a:tc>
                <a:tc>
                  <a:txBody>
                    <a:bodyPr wrap="square"/>
                    <a:lstStyle/>
                    <a:p>
                      <a:pPr algn="r"/>
                      <a:r>
                        <a:rPr sz="1100" b="1">
                          <a:solidFill>
                            <a:srgbClr val="1E252D"/>
                          </a:solidFill>
                          <a:latin typeface="Arial"/>
                        </a:rPr>
                        <a:t>−0.6</a:t>
                      </a:r>
                    </a:p>
                  </a:txBody>
                  <a:tcPr marL="73152" marR="73152" marT="41148" marB="41148" anchor="ctr">
                    <a:lnL w="0">
                      <a:noFill/>
                    </a:lnL>
                    <a:lnR w="0">
                      <a:noFill/>
                    </a:lnR>
                    <a:lnT w="12382" cap="flat">
                      <a:solidFill>
                        <a:srgbClr val="0B1F3A"/>
                      </a:solidFill>
                      <a:prstDash val="solid"/>
                    </a:lnT>
                    <a:lnB w="9525" cap="flat">
                      <a:solidFill>
                        <a:srgbClr val="B7BFC8"/>
                      </a:solidFill>
                      <a:prstDash val="solid"/>
                    </a:lnB>
                    <a:noFill/>
                  </a:tcPr>
                </a:tc>
                <a:tc>
                  <a:txBody>
                    <a:bodyPr wrap="square"/>
                    <a:lstStyle/>
                    <a:p>
                      <a:pPr algn="r"/>
                      <a:r>
                        <a:rPr sz="1100" b="1">
                          <a:solidFill>
                            <a:srgbClr val="1E252D"/>
                          </a:solidFill>
                          <a:latin typeface="Arial"/>
                        </a:rPr>
                        <a:t>−0.5</a:t>
                      </a:r>
                    </a:p>
                  </a:txBody>
                  <a:tcPr marL="73152" marR="73152" marT="41148" marB="41148" anchor="ctr">
                    <a:lnL w="0">
                      <a:noFill/>
                    </a:lnL>
                    <a:lnR w="0">
                      <a:noFill/>
                    </a:lnR>
                    <a:lnT w="12382" cap="flat">
                      <a:solidFill>
                        <a:srgbClr val="0B1F3A"/>
                      </a:solidFill>
                      <a:prstDash val="solid"/>
                    </a:lnT>
                    <a:lnB w="9525" cap="flat">
                      <a:solidFill>
                        <a:srgbClr val="B7BFC8"/>
                      </a:solidFill>
                      <a:prstDash val="solid"/>
                    </a:lnB>
                    <a:noFill/>
                  </a:tcPr>
                </a:tc>
                <a:tc>
                  <a:txBody>
                    <a:bodyPr wrap="square"/>
                    <a:lstStyle/>
                    <a:p>
                      <a:pPr algn="r"/>
                      <a:r>
                        <a:rPr sz="1100" b="1">
                          <a:solidFill>
                            <a:srgbClr val="1E252D"/>
                          </a:solidFill>
                          <a:latin typeface="Arial"/>
                        </a:rPr>
                        <a:t>−0.3</a:t>
                      </a:r>
                    </a:p>
                  </a:txBody>
                  <a:tcPr marL="73152" marR="73152" marT="41148" marB="41148" anchor="ctr">
                    <a:lnL w="0">
                      <a:noFill/>
                    </a:lnL>
                    <a:lnR w="0">
                      <a:noFill/>
                    </a:lnR>
                    <a:lnT w="12382" cap="flat">
                      <a:solidFill>
                        <a:srgbClr val="0B1F3A"/>
                      </a:solidFill>
                      <a:prstDash val="solid"/>
                    </a:lnT>
                    <a:lnB w="9525" cap="flat">
                      <a:solidFill>
                        <a:srgbClr val="B7BFC8"/>
                      </a:solidFill>
                      <a:prstDash val="solid"/>
                    </a:lnB>
                    <a:noFill/>
                  </a:tcPr>
                </a:tc>
                <a:tc>
                  <a:txBody>
                    <a:bodyPr wrap="square"/>
                    <a:lstStyle/>
                    <a:p>
                      <a:pPr algn="r"/>
                      <a:r>
                        <a:rPr sz="1100" b="1">
                          <a:solidFill>
                            <a:srgbClr val="1E252D"/>
                          </a:solidFill>
                          <a:latin typeface="Arial"/>
                        </a:rPr>
                        <a:t>−0.2</a:t>
                      </a:r>
                    </a:p>
                  </a:txBody>
                  <a:tcPr marL="73152" marR="73152" marT="41148" marB="41148" anchor="ctr">
                    <a:lnL w="0">
                      <a:noFill/>
                    </a:lnL>
                    <a:lnR w="0">
                      <a:noFill/>
                    </a:lnR>
                    <a:lnT w="12382" cap="flat">
                      <a:solidFill>
                        <a:srgbClr val="0B1F3A"/>
                      </a:solidFill>
                      <a:prstDash val="solid"/>
                    </a:lnT>
                    <a:lnB w="9525" cap="flat">
                      <a:solidFill>
                        <a:srgbClr val="B7BFC8"/>
                      </a:solidFill>
                      <a:prstDash val="solid"/>
                    </a:lnB>
                    <a:noFill/>
                  </a:tcPr>
                </a:tc>
              </a:tr>
            </a:tbl>
          </a:graphicData>
        </a:graphic>
      </p:graphicFrame>
      <p:sp>
        <p:nvSpPr>
          <p:cNvPr id="8" name="cpe|takeaway|fill|7"/>
          <p:cNvSpPr/>
          <p:nvPr/>
        </p:nvSpPr>
        <p:spPr>
          <a:xfrm>
            <a:off x="502920" y="5632704"/>
            <a:ext cx="11185855" cy="566928"/>
          </a:xfrm>
          <a:prstGeom prst="rect">
            <a:avLst/>
          </a:prstGeom>
          <a:solidFill>
            <a:srgbClr val="EEF1F4"/>
          </a:solidFill>
          <a:ln>
            <a:noFill/>
          </a:ln>
        </p:spPr>
        <p:txBody>
          <a:bodyPr rtlCol="0" anchor="ctr" lIns="0" rIns="0" tIns="0" bIns="0"/>
          <a:lstStyle/>
          <a:p>
            <a:pPr algn="ctr"/>
          </a:p>
        </p:txBody>
      </p:sp>
      <p:sp>
        <p:nvSpPr>
          <p:cNvPr id="9" name="cpe|takeaway|fill|8"/>
          <p:cNvSpPr/>
          <p:nvPr/>
        </p:nvSpPr>
        <p:spPr>
          <a:xfrm>
            <a:off x="502920" y="5632704"/>
            <a:ext cx="64008" cy="566928"/>
          </a:xfrm>
          <a:prstGeom prst="rect">
            <a:avLst/>
          </a:prstGeom>
          <a:solidFill>
            <a:srgbClr val="00A3AD"/>
          </a:solidFill>
          <a:ln>
            <a:noFill/>
          </a:ln>
        </p:spPr>
        <p:txBody>
          <a:bodyPr rtlCol="0" anchor="ctr" lIns="0" rIns="0" tIns="0" bIns="0"/>
          <a:lstStyle/>
          <a:p>
            <a:pPr algn="ctr"/>
          </a:p>
        </p:txBody>
      </p:sp>
      <p:sp>
        <p:nvSpPr>
          <p:cNvPr id="10" name="cpe|takeaway|text|9"/>
          <p:cNvSpPr txBox="1"/>
          <p:nvPr/>
        </p:nvSpPr>
        <p:spPr>
          <a:xfrm>
            <a:off x="795528" y="5632704"/>
            <a:ext cx="10664647" cy="566928"/>
          </a:xfrm>
          <a:prstGeom prst="rect">
            <a:avLst/>
          </a:prstGeom>
          <a:noFill/>
        </p:spPr>
        <p:txBody>
          <a:bodyPr wrap="square" lIns="0" rIns="0" tIns="0" bIns="0" anchor="ctr">
            <a:noAutofit/>
          </a:bodyPr>
          <a:lstStyle/>
          <a:p>
            <a:pPr algn="l">
              <a:lnSpc>
                <a:spcPct val="100000"/>
              </a:lnSpc>
            </a:pPr>
            <a:r>
              <a:rPr sz="1300" b="1">
                <a:solidFill>
                  <a:srgbClr val="0B1F3A"/>
                </a:solidFill>
                <a:latin typeface="Arial"/>
              </a:rPr>
              <a:t>Fixing fresh and food-to-go in two regions addresses about two thirds of the margin gap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pe|chrome|text|1"/>
          <p:cNvSpPr txBox="1"/>
          <p:nvPr/>
        </p:nvSpPr>
        <p:spPr>
          <a:xfrm>
            <a:off x="502920" y="274320"/>
            <a:ext cx="7830099" cy="201168"/>
          </a:xfrm>
          <a:prstGeom prst="rect">
            <a:avLst/>
          </a:prstGeom>
          <a:noFill/>
        </p:spPr>
        <p:txBody>
          <a:bodyPr wrap="square" lIns="0" rIns="0" tIns="0" bIns="0" anchor="t">
            <a:noAutofit/>
          </a:bodyPr>
          <a:lstStyle/>
          <a:p>
            <a:pPr algn="l">
              <a:lnSpc>
                <a:spcPct val="100000"/>
              </a:lnSpc>
            </a:pPr>
            <a:r>
              <a:rPr sz="1000" b="1">
                <a:solidFill>
                  <a:srgbClr val="5E6A77"/>
                </a:solidFill>
                <a:latin typeface="Arial"/>
              </a:rPr>
              <a:t>COMPETITION</a:t>
            </a:r>
          </a:p>
        </p:txBody>
      </p:sp>
      <p:sp>
        <p:nvSpPr>
          <p:cNvPr id="3" name="cpe|chrome|text|2"/>
          <p:cNvSpPr txBox="1"/>
          <p:nvPr/>
        </p:nvSpPr>
        <p:spPr>
          <a:xfrm>
            <a:off x="502920" y="475488"/>
            <a:ext cx="10774375" cy="786384"/>
          </a:xfrm>
          <a:prstGeom prst="rect">
            <a:avLst/>
          </a:prstGeom>
          <a:noFill/>
        </p:spPr>
        <p:txBody>
          <a:bodyPr wrap="square" lIns="0" rIns="0" tIns="0" bIns="0" anchor="t">
            <a:noAutofit/>
          </a:bodyPr>
          <a:lstStyle/>
          <a:p>
            <a:pPr algn="l">
              <a:lnSpc>
                <a:spcPct val="100000"/>
              </a:lnSpc>
            </a:pPr>
            <a:r>
              <a:rPr sz="2200" b="1">
                <a:solidFill>
                  <a:srgbClr val="0B1F3A"/>
                </a:solidFill>
                <a:latin typeface="Arial"/>
              </a:rPr>
              <a:t>Alvora is stuck in the middle: priced above discounters without a clear experience edge</a:t>
            </a:r>
          </a:p>
        </p:txBody>
      </p:sp>
      <p:sp>
        <p:nvSpPr>
          <p:cNvPr id="4" name="cpe|chrome|text|3"/>
          <p:cNvSpPr txBox="1"/>
          <p:nvPr/>
        </p:nvSpPr>
        <p:spPr>
          <a:xfrm>
            <a:off x="502920" y="6272784"/>
            <a:ext cx="8808415" cy="402336"/>
          </a:xfrm>
          <a:prstGeom prst="rect">
            <a:avLst/>
          </a:prstGeom>
          <a:noFill/>
        </p:spPr>
        <p:txBody>
          <a:bodyPr wrap="square" lIns="0" rIns="0" tIns="0" bIns="0" anchor="b">
            <a:noAutofit/>
          </a:bodyPr>
          <a:lstStyle/>
          <a:p>
            <a:pPr algn="l">
              <a:lnSpc>
                <a:spcPct val="100000"/>
              </a:lnSpc>
            </a:pPr>
            <a:r>
              <a:rPr sz="800" b="0">
                <a:solidFill>
                  <a:srgbClr val="5E6A77"/>
                </a:solidFill>
                <a:latin typeface="Arial"/>
              </a:rPr>
              <a:t>Source: Customer survey 2025, n=4,000 (illustrative)</a:t>
            </a:r>
          </a:p>
        </p:txBody>
      </p:sp>
      <p:sp>
        <p:nvSpPr>
          <p:cNvPr id="5" name="cpe|chrome|text|4"/>
          <p:cNvSpPr txBox="1"/>
          <p:nvPr/>
        </p:nvSpPr>
        <p:spPr>
          <a:xfrm>
            <a:off x="9494215" y="6272784"/>
            <a:ext cx="2194560" cy="402336"/>
          </a:xfrm>
          <a:prstGeom prst="rect">
            <a:avLst/>
          </a:prstGeom>
          <a:noFill/>
        </p:spPr>
        <p:txBody>
          <a:bodyPr wrap="square" lIns="0" rIns="0" tIns="0" bIns="0" anchor="b">
            <a:noAutofit/>
          </a:bodyPr>
          <a:lstStyle/>
          <a:p>
            <a:pPr algn="r">
              <a:lnSpc>
                <a:spcPct val="100000"/>
              </a:lnSpc>
            </a:pPr>
            <a:r>
              <a:rPr sz="900" b="0">
                <a:solidFill>
                  <a:srgbClr val="5E6A77"/>
                </a:solidFill>
                <a:latin typeface="Arial"/>
              </a:rPr>
              <a:t>Illustrative data   8</a:t>
            </a:r>
          </a:p>
        </p:txBody>
      </p:sp>
      <p:sp>
        <p:nvSpPr>
          <p:cNvPr id="6" name="cpe|exhibit|text|5"/>
          <p:cNvSpPr txBox="1"/>
          <p:nvPr/>
        </p:nvSpPr>
        <p:spPr>
          <a:xfrm>
            <a:off x="502920" y="1481328"/>
            <a:ext cx="6441262" cy="274320"/>
          </a:xfrm>
          <a:prstGeom prst="rect">
            <a:avLst/>
          </a:prstGeom>
          <a:noFill/>
        </p:spPr>
        <p:txBody>
          <a:bodyPr wrap="square" lIns="0" rIns="0" tIns="0" bIns="0" anchor="t">
            <a:noAutofit/>
          </a:bodyPr>
          <a:lstStyle/>
          <a:p>
            <a:pPr algn="l">
              <a:lnSpc>
                <a:spcPct val="100000"/>
              </a:lnSpc>
            </a:pPr>
            <a:r>
              <a:rPr sz="1100" b="1">
                <a:solidFill>
                  <a:srgbClr val="1E252D"/>
                </a:solidFill>
                <a:latin typeface="Arial"/>
              </a:rPr>
              <a:t>Customer perception, 2025</a:t>
            </a:r>
            <a:r>
              <a:rPr sz="1100" b="0">
                <a:solidFill>
                  <a:srgbClr val="1E252D"/>
                </a:solidFill>
                <a:latin typeface="Arial"/>
              </a:rPr>
              <a:t>, index 0-1; bubble = revenue</a:t>
            </a:r>
          </a:p>
        </p:txBody>
      </p:sp>
      <p:sp>
        <p:nvSpPr>
          <p:cNvPr id="7" name="cpe|exhibit|fill|6"/>
          <p:cNvSpPr/>
          <p:nvPr/>
        </p:nvSpPr>
        <p:spPr>
          <a:xfrm>
            <a:off x="640080" y="2267712"/>
            <a:ext cx="3106331" cy="1773936"/>
          </a:xfrm>
          <a:prstGeom prst="rect">
            <a:avLst/>
          </a:prstGeom>
          <a:noFill/>
          <a:ln w="6350">
            <a:solidFill>
              <a:srgbClr val="B7BFC8"/>
            </a:solidFill>
          </a:ln>
        </p:spPr>
        <p:txBody>
          <a:bodyPr rtlCol="0" anchor="ctr" lIns="0" rIns="0" tIns="0" bIns="0"/>
          <a:lstStyle/>
          <a:p>
            <a:pPr algn="ctr"/>
          </a:p>
        </p:txBody>
      </p:sp>
      <p:sp>
        <p:nvSpPr>
          <p:cNvPr id="8" name="cpe|exhibit|fill|7"/>
          <p:cNvSpPr/>
          <p:nvPr/>
        </p:nvSpPr>
        <p:spPr>
          <a:xfrm>
            <a:off x="3746411" y="2267712"/>
            <a:ext cx="3106331" cy="1773936"/>
          </a:xfrm>
          <a:prstGeom prst="rect">
            <a:avLst/>
          </a:prstGeom>
          <a:noFill/>
          <a:ln w="6350">
            <a:solidFill>
              <a:srgbClr val="B7BFC8"/>
            </a:solidFill>
          </a:ln>
        </p:spPr>
        <p:txBody>
          <a:bodyPr rtlCol="0" anchor="ctr" lIns="0" rIns="0" tIns="0" bIns="0"/>
          <a:lstStyle/>
          <a:p>
            <a:pPr algn="ctr"/>
          </a:p>
        </p:txBody>
      </p:sp>
      <p:sp>
        <p:nvSpPr>
          <p:cNvPr id="9" name="cpe|exhibit|fill|8"/>
          <p:cNvSpPr/>
          <p:nvPr/>
        </p:nvSpPr>
        <p:spPr>
          <a:xfrm>
            <a:off x="640080" y="4041648"/>
            <a:ext cx="3106331" cy="1773936"/>
          </a:xfrm>
          <a:prstGeom prst="rect">
            <a:avLst/>
          </a:prstGeom>
          <a:solidFill>
            <a:srgbClr val="EEF1F4"/>
          </a:solidFill>
          <a:ln w="6350">
            <a:solidFill>
              <a:srgbClr val="B7BFC8"/>
            </a:solidFill>
          </a:ln>
        </p:spPr>
        <p:txBody>
          <a:bodyPr rtlCol="0" anchor="ctr" lIns="0" rIns="0" tIns="0" bIns="0"/>
          <a:lstStyle/>
          <a:p>
            <a:pPr algn="ctr"/>
          </a:p>
        </p:txBody>
      </p:sp>
      <p:sp>
        <p:nvSpPr>
          <p:cNvPr id="10" name="cpe|exhibit|fill|9"/>
          <p:cNvSpPr/>
          <p:nvPr/>
        </p:nvSpPr>
        <p:spPr>
          <a:xfrm>
            <a:off x="3746411" y="4041648"/>
            <a:ext cx="3106331" cy="1773936"/>
          </a:xfrm>
          <a:prstGeom prst="rect">
            <a:avLst/>
          </a:prstGeom>
          <a:noFill/>
          <a:ln w="6350">
            <a:solidFill>
              <a:srgbClr val="B7BFC8"/>
            </a:solidFill>
          </a:ln>
        </p:spPr>
        <p:txBody>
          <a:bodyPr rtlCol="0" anchor="ctr" lIns="0" rIns="0" tIns="0" bIns="0"/>
          <a:lstStyle/>
          <a:p>
            <a:pPr algn="ctr"/>
          </a:p>
        </p:txBody>
      </p:sp>
      <p:sp>
        <p:nvSpPr>
          <p:cNvPr id="11" name="cpe|exhibit|text|10"/>
          <p:cNvSpPr txBox="1"/>
          <p:nvPr/>
        </p:nvSpPr>
        <p:spPr>
          <a:xfrm>
            <a:off x="731520" y="2340864"/>
            <a:ext cx="2923451" cy="237744"/>
          </a:xfrm>
          <a:prstGeom prst="rect">
            <a:avLst/>
          </a:prstGeom>
          <a:noFill/>
        </p:spPr>
        <p:txBody>
          <a:bodyPr wrap="square" lIns="0" rIns="0" tIns="0" bIns="0" anchor="t">
            <a:noAutofit/>
          </a:bodyPr>
          <a:lstStyle/>
          <a:p>
            <a:pPr algn="l">
              <a:lnSpc>
                <a:spcPct val="100000"/>
              </a:lnSpc>
            </a:pPr>
            <a:r>
              <a:rPr sz="1000" b="1">
                <a:solidFill>
                  <a:srgbClr val="5E6A77"/>
                </a:solidFill>
                <a:latin typeface="Arial"/>
              </a:rPr>
              <a:t>Experience-led</a:t>
            </a:r>
          </a:p>
        </p:txBody>
      </p:sp>
      <p:sp>
        <p:nvSpPr>
          <p:cNvPr id="12" name="cpe|exhibit|text|11"/>
          <p:cNvSpPr txBox="1"/>
          <p:nvPr/>
        </p:nvSpPr>
        <p:spPr>
          <a:xfrm>
            <a:off x="3837851" y="2340864"/>
            <a:ext cx="2923451" cy="237744"/>
          </a:xfrm>
          <a:prstGeom prst="rect">
            <a:avLst/>
          </a:prstGeom>
          <a:noFill/>
        </p:spPr>
        <p:txBody>
          <a:bodyPr wrap="square" lIns="0" rIns="0" tIns="0" bIns="0" anchor="t">
            <a:noAutofit/>
          </a:bodyPr>
          <a:lstStyle/>
          <a:p>
            <a:pPr algn="r">
              <a:lnSpc>
                <a:spcPct val="100000"/>
              </a:lnSpc>
            </a:pPr>
            <a:r>
              <a:rPr sz="1000" b="1">
                <a:solidFill>
                  <a:srgbClr val="5E6A77"/>
                </a:solidFill>
                <a:latin typeface="Arial"/>
              </a:rPr>
              <a:t>Value leaders</a:t>
            </a:r>
          </a:p>
        </p:txBody>
      </p:sp>
      <p:sp>
        <p:nvSpPr>
          <p:cNvPr id="13" name="cpe|exhibit|text|12"/>
          <p:cNvSpPr txBox="1"/>
          <p:nvPr/>
        </p:nvSpPr>
        <p:spPr>
          <a:xfrm>
            <a:off x="731520" y="5504688"/>
            <a:ext cx="2923451" cy="237744"/>
          </a:xfrm>
          <a:prstGeom prst="rect">
            <a:avLst/>
          </a:prstGeom>
          <a:noFill/>
        </p:spPr>
        <p:txBody>
          <a:bodyPr wrap="square" lIns="0" rIns="0" tIns="0" bIns="0" anchor="t">
            <a:noAutofit/>
          </a:bodyPr>
          <a:lstStyle/>
          <a:p>
            <a:pPr algn="l">
              <a:lnSpc>
                <a:spcPct val="100000"/>
              </a:lnSpc>
            </a:pPr>
            <a:r>
              <a:rPr sz="1000" b="1">
                <a:solidFill>
                  <a:srgbClr val="0B1F3A"/>
                </a:solidFill>
                <a:latin typeface="Arial"/>
              </a:rPr>
              <a:t>Stuck in the middle</a:t>
            </a:r>
          </a:p>
        </p:txBody>
      </p:sp>
      <p:sp>
        <p:nvSpPr>
          <p:cNvPr id="14" name="cpe|exhibit|text|13"/>
          <p:cNvSpPr txBox="1"/>
          <p:nvPr/>
        </p:nvSpPr>
        <p:spPr>
          <a:xfrm>
            <a:off x="3837851" y="5504688"/>
            <a:ext cx="2923451" cy="237744"/>
          </a:xfrm>
          <a:prstGeom prst="rect">
            <a:avLst/>
          </a:prstGeom>
          <a:noFill/>
        </p:spPr>
        <p:txBody>
          <a:bodyPr wrap="square" lIns="0" rIns="0" tIns="0" bIns="0" anchor="t">
            <a:noAutofit/>
          </a:bodyPr>
          <a:lstStyle/>
          <a:p>
            <a:pPr algn="r">
              <a:lnSpc>
                <a:spcPct val="100000"/>
              </a:lnSpc>
            </a:pPr>
            <a:r>
              <a:rPr sz="1000" b="1">
                <a:solidFill>
                  <a:srgbClr val="5E6A77"/>
                </a:solidFill>
                <a:latin typeface="Arial"/>
              </a:rPr>
              <a:t>Price-led</a:t>
            </a:r>
          </a:p>
        </p:txBody>
      </p:sp>
      <p:cxnSp>
        <p:nvCxnSpPr>
          <p:cNvPr id="15" name="cpe|exhibit|line|14"/>
          <p:cNvCxnSpPr/>
          <p:nvPr/>
        </p:nvCxnSpPr>
        <p:spPr>
          <a:xfrm>
            <a:off x="640080" y="5815584"/>
            <a:ext cx="6258382" cy="0"/>
          </a:xfrm>
          <a:prstGeom prst="line">
            <a:avLst/>
          </a:prstGeom>
          <a:ln w="9525">
            <a:solidFill>
              <a:srgbClr val="1E252D"/>
            </a:solidFill>
            <a:tailEnd type="triangle" w="med" len="med"/>
          </a:ln>
        </p:spPr>
      </p:cxnSp>
      <p:cxnSp>
        <p:nvCxnSpPr>
          <p:cNvPr id="16" name="cpe|exhibit|line|15"/>
          <p:cNvCxnSpPr/>
          <p:nvPr/>
        </p:nvCxnSpPr>
        <p:spPr>
          <a:xfrm flipV="1">
            <a:off x="640080" y="2221992"/>
            <a:ext cx="0" cy="3593592"/>
          </a:xfrm>
          <a:prstGeom prst="line">
            <a:avLst/>
          </a:prstGeom>
          <a:ln w="9525">
            <a:solidFill>
              <a:srgbClr val="1E252D"/>
            </a:solidFill>
            <a:tailEnd type="triangle" w="med" len="med"/>
          </a:ln>
        </p:spPr>
      </p:cxnSp>
      <p:sp>
        <p:nvSpPr>
          <p:cNvPr id="17" name="cpe|exhibit|text|16"/>
          <p:cNvSpPr txBox="1"/>
          <p:nvPr/>
        </p:nvSpPr>
        <p:spPr>
          <a:xfrm>
            <a:off x="640080" y="5870448"/>
            <a:ext cx="6212662" cy="274320"/>
          </a:xfrm>
          <a:prstGeom prst="rect">
            <a:avLst/>
          </a:prstGeom>
          <a:noFill/>
        </p:spPr>
        <p:txBody>
          <a:bodyPr wrap="square" lIns="0" rIns="0" tIns="0" bIns="0" anchor="t">
            <a:noAutofit/>
          </a:bodyPr>
          <a:lstStyle/>
          <a:p>
            <a:pPr algn="ctr">
              <a:lnSpc>
                <a:spcPct val="100000"/>
              </a:lnSpc>
            </a:pPr>
            <a:r>
              <a:rPr sz="1000" b="0">
                <a:solidFill>
                  <a:srgbClr val="5E6A77"/>
                </a:solidFill>
                <a:latin typeface="Arial"/>
              </a:rPr>
              <a:t>Price perception (cheaper →)</a:t>
            </a:r>
          </a:p>
        </p:txBody>
      </p:sp>
      <p:sp>
        <p:nvSpPr>
          <p:cNvPr id="18" name="cpe|exhibit|label|17"/>
          <p:cNvSpPr txBox="1"/>
          <p:nvPr/>
        </p:nvSpPr>
        <p:spPr>
          <a:xfrm>
            <a:off x="594360" y="1938528"/>
            <a:ext cx="1234380" cy="237744"/>
          </a:xfrm>
          <a:prstGeom prst="rect">
            <a:avLst/>
          </a:prstGeom>
          <a:noFill/>
        </p:spPr>
        <p:txBody>
          <a:bodyPr wrap="square" lIns="0" rIns="0" tIns="0" bIns="0" anchor="t">
            <a:noAutofit/>
          </a:bodyPr>
          <a:lstStyle/>
          <a:p>
            <a:pPr algn="l">
              <a:lnSpc>
                <a:spcPct val="100000"/>
              </a:lnSpc>
            </a:pPr>
            <a:r>
              <a:rPr sz="1000" b="0">
                <a:solidFill>
                  <a:srgbClr val="5E6A77"/>
                </a:solidFill>
                <a:latin typeface="Arial"/>
              </a:rPr>
              <a:t>↑ Store experience</a:t>
            </a:r>
          </a:p>
        </p:txBody>
      </p:sp>
      <p:sp>
        <p:nvSpPr>
          <p:cNvPr id="19" name="cpe|exhibit|marker|18"/>
          <p:cNvSpPr/>
          <p:nvPr/>
        </p:nvSpPr>
        <p:spPr>
          <a:xfrm>
            <a:off x="3959594" y="3296595"/>
            <a:ext cx="567660" cy="567660"/>
          </a:xfrm>
          <a:prstGeom prst="ellipse">
            <a:avLst/>
          </a:prstGeom>
          <a:solidFill>
            <a:srgbClr val="0B1F3A"/>
          </a:solidFill>
          <a:ln w="9525">
            <a:solidFill>
              <a:srgbClr val="FFFFFF"/>
            </a:solidFill>
          </a:ln>
        </p:spPr>
        <p:txBody>
          <a:bodyPr rtlCol="0" anchor="ctr" lIns="0" rIns="0" tIns="0" bIns="0"/>
          <a:lstStyle/>
          <a:p>
            <a:pPr algn="ctr"/>
          </a:p>
        </p:txBody>
      </p:sp>
      <p:sp>
        <p:nvSpPr>
          <p:cNvPr id="20" name="cpe|exhibit|label|19"/>
          <p:cNvSpPr txBox="1"/>
          <p:nvPr/>
        </p:nvSpPr>
        <p:spPr>
          <a:xfrm>
            <a:off x="4563830" y="3470697"/>
            <a:ext cx="814217" cy="219456"/>
          </a:xfrm>
          <a:prstGeom prst="rect">
            <a:avLst/>
          </a:prstGeom>
          <a:noFill/>
        </p:spPr>
        <p:txBody>
          <a:bodyPr wrap="square" lIns="0" rIns="0" tIns="0" bIns="0" anchor="ctr">
            <a:noAutofit/>
          </a:bodyPr>
          <a:lstStyle/>
          <a:p>
            <a:pPr algn="l">
              <a:lnSpc>
                <a:spcPct val="100000"/>
              </a:lnSpc>
            </a:pPr>
            <a:r>
              <a:rPr sz="1000" b="0">
                <a:solidFill>
                  <a:srgbClr val="1E252D"/>
                </a:solidFill>
                <a:latin typeface="Arial"/>
              </a:rPr>
              <a:t>Competitor B</a:t>
            </a:r>
          </a:p>
        </p:txBody>
      </p:sp>
      <p:sp>
        <p:nvSpPr>
          <p:cNvPr id="21" name="cpe|exhibit|marker|20"/>
          <p:cNvSpPr/>
          <p:nvPr/>
        </p:nvSpPr>
        <p:spPr>
          <a:xfrm>
            <a:off x="5713789" y="4340127"/>
            <a:ext cx="538362" cy="538362"/>
          </a:xfrm>
          <a:prstGeom prst="ellipse">
            <a:avLst/>
          </a:prstGeom>
          <a:solidFill>
            <a:srgbClr val="0B1F3A"/>
          </a:solidFill>
          <a:ln w="9525">
            <a:solidFill>
              <a:srgbClr val="FFFFFF"/>
            </a:solidFill>
          </a:ln>
        </p:spPr>
        <p:txBody>
          <a:bodyPr rtlCol="0" anchor="ctr" lIns="0" rIns="0" tIns="0" bIns="0"/>
          <a:lstStyle/>
          <a:p>
            <a:pPr algn="ctr"/>
          </a:p>
        </p:txBody>
      </p:sp>
      <p:sp>
        <p:nvSpPr>
          <p:cNvPr id="22" name="cpe|exhibit|label|21"/>
          <p:cNvSpPr txBox="1"/>
          <p:nvPr/>
        </p:nvSpPr>
        <p:spPr>
          <a:xfrm>
            <a:off x="4870001" y="4499580"/>
            <a:ext cx="807212" cy="219456"/>
          </a:xfrm>
          <a:prstGeom prst="rect">
            <a:avLst/>
          </a:prstGeom>
          <a:noFill/>
        </p:spPr>
        <p:txBody>
          <a:bodyPr wrap="square" lIns="0" rIns="0" tIns="0" bIns="0" anchor="ctr">
            <a:noAutofit/>
          </a:bodyPr>
          <a:lstStyle/>
          <a:p>
            <a:pPr algn="l">
              <a:lnSpc>
                <a:spcPct val="100000"/>
              </a:lnSpc>
            </a:pPr>
            <a:r>
              <a:rPr sz="1000" b="0">
                <a:solidFill>
                  <a:srgbClr val="1E252D"/>
                </a:solidFill>
                <a:latin typeface="Arial"/>
              </a:rPr>
              <a:t>Competitor A</a:t>
            </a:r>
          </a:p>
        </p:txBody>
      </p:sp>
      <p:sp>
        <p:nvSpPr>
          <p:cNvPr id="23" name="cpe|exhibit|marker|22"/>
          <p:cNvSpPr/>
          <p:nvPr/>
        </p:nvSpPr>
        <p:spPr>
          <a:xfrm>
            <a:off x="2242330" y="2928610"/>
            <a:ext cx="523098" cy="523098"/>
          </a:xfrm>
          <a:prstGeom prst="ellipse">
            <a:avLst/>
          </a:prstGeom>
          <a:solidFill>
            <a:srgbClr val="0B1F3A"/>
          </a:solidFill>
          <a:ln w="9525">
            <a:solidFill>
              <a:srgbClr val="FFFFFF"/>
            </a:solidFill>
          </a:ln>
        </p:spPr>
        <p:txBody>
          <a:bodyPr rtlCol="0" anchor="ctr" lIns="0" rIns="0" tIns="0" bIns="0"/>
          <a:lstStyle/>
          <a:p>
            <a:pPr algn="ctr"/>
          </a:p>
        </p:txBody>
      </p:sp>
      <p:sp>
        <p:nvSpPr>
          <p:cNvPr id="24" name="cpe|exhibit|label|23"/>
          <p:cNvSpPr txBox="1"/>
          <p:nvPr/>
        </p:nvSpPr>
        <p:spPr>
          <a:xfrm>
            <a:off x="2802004" y="3080431"/>
            <a:ext cx="821222" cy="219456"/>
          </a:xfrm>
          <a:prstGeom prst="rect">
            <a:avLst/>
          </a:prstGeom>
          <a:noFill/>
        </p:spPr>
        <p:txBody>
          <a:bodyPr wrap="square" lIns="0" rIns="0" tIns="0" bIns="0" anchor="ctr">
            <a:noAutofit/>
          </a:bodyPr>
          <a:lstStyle/>
          <a:p>
            <a:pPr algn="l">
              <a:lnSpc>
                <a:spcPct val="100000"/>
              </a:lnSpc>
            </a:pPr>
            <a:r>
              <a:rPr sz="1000" b="0">
                <a:solidFill>
                  <a:srgbClr val="1E252D"/>
                </a:solidFill>
                <a:latin typeface="Arial"/>
              </a:rPr>
              <a:t>Competitor C</a:t>
            </a:r>
          </a:p>
        </p:txBody>
      </p:sp>
      <p:sp>
        <p:nvSpPr>
          <p:cNvPr id="25" name="cpe|exhibit|marker|24"/>
          <p:cNvSpPr/>
          <p:nvPr/>
        </p:nvSpPr>
        <p:spPr>
          <a:xfrm>
            <a:off x="2877744" y="4007120"/>
            <a:ext cx="494801" cy="494801"/>
          </a:xfrm>
          <a:prstGeom prst="ellipse">
            <a:avLst/>
          </a:prstGeom>
          <a:solidFill>
            <a:srgbClr val="00A3AD"/>
          </a:solidFill>
          <a:ln w="9525">
            <a:solidFill>
              <a:srgbClr val="FFFFFF"/>
            </a:solidFill>
          </a:ln>
        </p:spPr>
        <p:txBody>
          <a:bodyPr rtlCol="0" anchor="ctr" lIns="0" rIns="0" tIns="0" bIns="0"/>
          <a:lstStyle/>
          <a:p>
            <a:pPr algn="ctr"/>
          </a:p>
        </p:txBody>
      </p:sp>
      <p:sp>
        <p:nvSpPr>
          <p:cNvPr id="26" name="cpe|exhibit|label|25"/>
          <p:cNvSpPr txBox="1"/>
          <p:nvPr/>
        </p:nvSpPr>
        <p:spPr>
          <a:xfrm>
            <a:off x="3409122" y="4144792"/>
            <a:ext cx="433118" cy="219456"/>
          </a:xfrm>
          <a:prstGeom prst="rect">
            <a:avLst/>
          </a:prstGeom>
          <a:noFill/>
        </p:spPr>
        <p:txBody>
          <a:bodyPr wrap="square" lIns="0" rIns="0" tIns="0" bIns="0" anchor="ctr">
            <a:noAutofit/>
          </a:bodyPr>
          <a:lstStyle/>
          <a:p>
            <a:pPr algn="l">
              <a:lnSpc>
                <a:spcPct val="100000"/>
              </a:lnSpc>
            </a:pPr>
            <a:r>
              <a:rPr sz="1000" b="1">
                <a:solidFill>
                  <a:srgbClr val="1E252D"/>
                </a:solidFill>
                <a:latin typeface="Arial"/>
              </a:rPr>
              <a:t>Alvora</a:t>
            </a:r>
          </a:p>
        </p:txBody>
      </p:sp>
      <p:sp>
        <p:nvSpPr>
          <p:cNvPr id="27" name="cpe|exhibit|marker|26"/>
          <p:cNvSpPr/>
          <p:nvPr/>
        </p:nvSpPr>
        <p:spPr>
          <a:xfrm>
            <a:off x="4576111" y="2742003"/>
            <a:ext cx="328653" cy="328653"/>
          </a:xfrm>
          <a:prstGeom prst="ellipse">
            <a:avLst/>
          </a:prstGeom>
          <a:solidFill>
            <a:srgbClr val="0B1F3A"/>
          </a:solidFill>
          <a:ln w="9525">
            <a:solidFill>
              <a:srgbClr val="FFFFFF"/>
            </a:solidFill>
          </a:ln>
        </p:spPr>
        <p:txBody>
          <a:bodyPr rtlCol="0" anchor="ctr" lIns="0" rIns="0" tIns="0" bIns="0"/>
          <a:lstStyle/>
          <a:p>
            <a:pPr algn="ctr"/>
          </a:p>
        </p:txBody>
      </p:sp>
      <p:sp>
        <p:nvSpPr>
          <p:cNvPr id="28" name="cpe|exhibit|label|27"/>
          <p:cNvSpPr txBox="1"/>
          <p:nvPr/>
        </p:nvSpPr>
        <p:spPr>
          <a:xfrm>
            <a:off x="4941339" y="2796601"/>
            <a:ext cx="1181346" cy="219456"/>
          </a:xfrm>
          <a:prstGeom prst="rect">
            <a:avLst/>
          </a:prstGeom>
          <a:noFill/>
        </p:spPr>
        <p:txBody>
          <a:bodyPr wrap="square" lIns="0" rIns="0" tIns="0" bIns="0" anchor="ctr">
            <a:noAutofit/>
          </a:bodyPr>
          <a:lstStyle/>
          <a:p>
            <a:pPr algn="l">
              <a:lnSpc>
                <a:spcPct val="100000"/>
              </a:lnSpc>
            </a:pPr>
            <a:r>
              <a:rPr sz="1000" b="0">
                <a:solidFill>
                  <a:srgbClr val="1E252D"/>
                </a:solidFill>
                <a:latin typeface="Arial"/>
              </a:rPr>
              <a:t>Online pure-players</a:t>
            </a:r>
          </a:p>
        </p:txBody>
      </p:sp>
      <p:cxnSp>
        <p:nvCxnSpPr>
          <p:cNvPr id="29" name="cpe|commentary|line|28"/>
          <p:cNvCxnSpPr/>
          <p:nvPr/>
        </p:nvCxnSpPr>
        <p:spPr>
          <a:xfrm>
            <a:off x="7145350" y="1481328"/>
            <a:ext cx="0" cy="4718304"/>
          </a:xfrm>
          <a:prstGeom prst="line">
            <a:avLst/>
          </a:prstGeom>
          <a:ln w="9525">
            <a:solidFill>
              <a:srgbClr val="B7BFC8"/>
            </a:solidFill>
          </a:ln>
        </p:spPr>
      </p:cxnSp>
      <p:sp>
        <p:nvSpPr>
          <p:cNvPr id="30" name="cpe|commentary|text|29"/>
          <p:cNvSpPr txBox="1"/>
          <p:nvPr/>
        </p:nvSpPr>
        <p:spPr>
          <a:xfrm>
            <a:off x="7373950" y="1481328"/>
            <a:ext cx="4314825" cy="4718304"/>
          </a:xfrm>
          <a:prstGeom prst="rect">
            <a:avLst/>
          </a:prstGeom>
          <a:noFill/>
        </p:spPr>
        <p:txBody>
          <a:bodyPr wrap="square" lIns="0" rIns="0" tIns="0" bIns="0" anchor="t">
            <a:noAutofit/>
          </a:bodyPr>
          <a:lstStyle/>
          <a:p>
            <a:pPr algn="l" marL="155448" indent="-155448">
              <a:lnSpc>
                <a:spcPct val="108000"/>
              </a:lnSpc>
              <a:spcAft>
                <a:spcPts val="800"/>
              </a:spcAft>
              <a:buClr>
                <a:srgbClr val="1E252D"/>
              </a:buClr>
              <a:buSzPct val="100000"/>
              <a:buFont typeface="Arial"/>
              <a:buChar char="•"/>
            </a:pPr>
            <a:r>
              <a:rPr sz="1200" b="0">
                <a:solidFill>
                  <a:srgbClr val="1E252D"/>
                </a:solidFill>
                <a:latin typeface="Arial"/>
              </a:rPr>
              <a:t>Alvora's prices sit </a:t>
            </a:r>
            <a:r>
              <a:rPr sz="1200" b="1">
                <a:solidFill>
                  <a:srgbClr val="1E252D"/>
                </a:solidFill>
                <a:latin typeface="Arial"/>
              </a:rPr>
              <a:t>8% above</a:t>
            </a:r>
            <a:r>
              <a:rPr sz="1200" b="0">
                <a:solidFill>
                  <a:srgbClr val="1E252D"/>
                </a:solidFill>
                <a:latin typeface="Arial"/>
              </a:rPr>
              <a:t> Competitor A on a comparable basket</a:t>
            </a:r>
          </a:p>
          <a:p>
            <a:pPr algn="l" marL="155448" indent="-155448">
              <a:lnSpc>
                <a:spcPct val="108000"/>
              </a:lnSpc>
              <a:spcAft>
                <a:spcPts val="800"/>
              </a:spcAft>
              <a:buClr>
                <a:srgbClr val="1E252D"/>
              </a:buClr>
              <a:buSzPct val="100000"/>
              <a:buFont typeface="Arial"/>
              <a:buChar char="•"/>
            </a:pPr>
            <a:r>
              <a:rPr sz="1200" b="0">
                <a:solidFill>
                  <a:srgbClr val="1E252D"/>
                </a:solidFill>
                <a:latin typeface="Arial"/>
              </a:rPr>
              <a:t>Its experience score trails B and C on freshness and queues</a:t>
            </a:r>
          </a:p>
          <a:p>
            <a:pPr algn="l" marL="155448" indent="-155448">
              <a:lnSpc>
                <a:spcPct val="108000"/>
              </a:lnSpc>
              <a:buClr>
                <a:srgbClr val="1E252D"/>
              </a:buClr>
              <a:buSzPct val="100000"/>
              <a:buFont typeface="Arial"/>
              <a:buChar char="•"/>
            </a:pPr>
            <a:r>
              <a:rPr sz="1200" b="0">
                <a:solidFill>
                  <a:srgbClr val="1E252D"/>
                </a:solidFill>
                <a:latin typeface="Arial"/>
              </a:rPr>
              <a:t>Winning back price perception needs a separate low-cost format, not deeper promotions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pe|chrome|text|1"/>
          <p:cNvSpPr txBox="1"/>
          <p:nvPr/>
        </p:nvSpPr>
        <p:spPr>
          <a:xfrm>
            <a:off x="502920" y="274320"/>
            <a:ext cx="7830099" cy="201168"/>
          </a:xfrm>
          <a:prstGeom prst="rect">
            <a:avLst/>
          </a:prstGeom>
          <a:noFill/>
        </p:spPr>
        <p:txBody>
          <a:bodyPr wrap="square" lIns="0" rIns="0" tIns="0" bIns="0" anchor="t">
            <a:noAutofit/>
          </a:bodyPr>
          <a:lstStyle/>
          <a:p>
            <a:pPr algn="l">
              <a:lnSpc>
                <a:spcPct val="100000"/>
              </a:lnSpc>
            </a:pPr>
            <a:r>
              <a:rPr sz="1000" b="1">
                <a:solidFill>
                  <a:srgbClr val="5E6A77"/>
                </a:solidFill>
                <a:latin typeface="Arial"/>
              </a:rPr>
              <a:t>OPERATING MODEL</a:t>
            </a:r>
          </a:p>
        </p:txBody>
      </p:sp>
      <p:sp>
        <p:nvSpPr>
          <p:cNvPr id="3" name="cpe|chrome|text|2"/>
          <p:cNvSpPr txBox="1"/>
          <p:nvPr/>
        </p:nvSpPr>
        <p:spPr>
          <a:xfrm>
            <a:off x="502920" y="475488"/>
            <a:ext cx="10445191" cy="786384"/>
          </a:xfrm>
          <a:prstGeom prst="rect">
            <a:avLst/>
          </a:prstGeom>
          <a:noFill/>
        </p:spPr>
        <p:txBody>
          <a:bodyPr wrap="square" lIns="0" rIns="0" tIns="0" bIns="0" anchor="t">
            <a:noAutofit/>
          </a:bodyPr>
          <a:lstStyle/>
          <a:p>
            <a:pPr algn="l">
              <a:lnSpc>
                <a:spcPct val="100000"/>
              </a:lnSpc>
            </a:pPr>
            <a:r>
              <a:rPr sz="2200" b="1">
                <a:solidFill>
                  <a:srgbClr val="0B1F3A"/>
                </a:solidFill>
                <a:latin typeface="Arial"/>
              </a:rPr>
              <a:t>The target model adds a discount banner and central pricing to fund the growth moves</a:t>
            </a:r>
          </a:p>
        </p:txBody>
      </p:sp>
      <p:sp>
        <p:nvSpPr>
          <p:cNvPr id="4" name="cpe|chrome|text|3"/>
          <p:cNvSpPr txBox="1"/>
          <p:nvPr/>
        </p:nvSpPr>
        <p:spPr>
          <a:xfrm>
            <a:off x="502920" y="6272784"/>
            <a:ext cx="8808415" cy="402336"/>
          </a:xfrm>
          <a:prstGeom prst="rect">
            <a:avLst/>
          </a:prstGeom>
          <a:noFill/>
        </p:spPr>
        <p:txBody>
          <a:bodyPr wrap="square" lIns="0" rIns="0" tIns="0" bIns="0" anchor="b">
            <a:noAutofit/>
          </a:bodyPr>
          <a:lstStyle/>
          <a:p>
            <a:pPr algn="l">
              <a:lnSpc>
                <a:spcPct val="100000"/>
              </a:lnSpc>
            </a:pPr>
            <a:r>
              <a:rPr sz="800" b="0">
                <a:solidFill>
                  <a:srgbClr val="5E6A77"/>
                </a:solidFill>
                <a:latin typeface="Arial"/>
              </a:rPr>
              <a:t>Source: Team analysis (illustrative)</a:t>
            </a:r>
          </a:p>
        </p:txBody>
      </p:sp>
      <p:sp>
        <p:nvSpPr>
          <p:cNvPr id="5" name="cpe|chrome|text|4"/>
          <p:cNvSpPr txBox="1"/>
          <p:nvPr/>
        </p:nvSpPr>
        <p:spPr>
          <a:xfrm>
            <a:off x="9494215" y="6272784"/>
            <a:ext cx="2194560" cy="402336"/>
          </a:xfrm>
          <a:prstGeom prst="rect">
            <a:avLst/>
          </a:prstGeom>
          <a:noFill/>
        </p:spPr>
        <p:txBody>
          <a:bodyPr wrap="square" lIns="0" rIns="0" tIns="0" bIns="0" anchor="b">
            <a:noAutofit/>
          </a:bodyPr>
          <a:lstStyle/>
          <a:p>
            <a:pPr algn="r">
              <a:lnSpc>
                <a:spcPct val="100000"/>
              </a:lnSpc>
            </a:pPr>
            <a:r>
              <a:rPr sz="900" b="0">
                <a:solidFill>
                  <a:srgbClr val="5E6A77"/>
                </a:solidFill>
                <a:latin typeface="Arial"/>
              </a:rPr>
              <a:t>Illustrative data   9</a:t>
            </a:r>
          </a:p>
        </p:txBody>
      </p:sp>
      <p:sp>
        <p:nvSpPr>
          <p:cNvPr id="6" name="cpe|exhibit|fill|5"/>
          <p:cNvSpPr/>
          <p:nvPr/>
        </p:nvSpPr>
        <p:spPr>
          <a:xfrm>
            <a:off x="502920" y="1481328"/>
            <a:ext cx="2103120" cy="902970"/>
          </a:xfrm>
          <a:prstGeom prst="rect">
            <a:avLst/>
          </a:prstGeom>
          <a:solidFill>
            <a:srgbClr val="0B1F3A"/>
          </a:solidFill>
          <a:ln>
            <a:noFill/>
          </a:ln>
        </p:spPr>
        <p:txBody>
          <a:bodyPr rtlCol="0" anchor="ctr" lIns="0" rIns="0" tIns="0" bIns="0"/>
          <a:lstStyle/>
          <a:p>
            <a:pPr algn="ctr"/>
          </a:p>
        </p:txBody>
      </p:sp>
      <p:sp>
        <p:nvSpPr>
          <p:cNvPr id="7" name="cpe|exhibit|text|6"/>
          <p:cNvSpPr txBox="1"/>
          <p:nvPr/>
        </p:nvSpPr>
        <p:spPr>
          <a:xfrm>
            <a:off x="594360" y="1481328"/>
            <a:ext cx="1920240" cy="902970"/>
          </a:xfrm>
          <a:prstGeom prst="rect">
            <a:avLst/>
          </a:prstGeom>
          <a:noFill/>
        </p:spPr>
        <p:txBody>
          <a:bodyPr wrap="square" lIns="0" rIns="0" tIns="0" bIns="0" anchor="ctr">
            <a:noAutofit/>
          </a:bodyPr>
          <a:lstStyle/>
          <a:p>
            <a:pPr algn="l">
              <a:lnSpc>
                <a:spcPct val="100000"/>
              </a:lnSpc>
            </a:pPr>
            <a:r>
              <a:rPr sz="1200" b="0">
                <a:solidFill>
                  <a:srgbClr val="FFFFFF"/>
                </a:solidFill>
                <a:latin typeface="Arial"/>
              </a:rPr>
              <a:t>Propositions</a:t>
            </a:r>
          </a:p>
        </p:txBody>
      </p:sp>
      <p:sp>
        <p:nvSpPr>
          <p:cNvPr id="8" name="cpe|exhibit|fill|7"/>
          <p:cNvSpPr/>
          <p:nvPr/>
        </p:nvSpPr>
        <p:spPr>
          <a:xfrm>
            <a:off x="2697480" y="1481328"/>
            <a:ext cx="2032940" cy="902970"/>
          </a:xfrm>
          <a:prstGeom prst="rect">
            <a:avLst/>
          </a:prstGeom>
          <a:solidFill>
            <a:srgbClr val="00A3AD"/>
          </a:solidFill>
          <a:ln w="19050">
            <a:solidFill>
              <a:srgbClr val="00A3AD"/>
            </a:solidFill>
          </a:ln>
        </p:spPr>
        <p:txBody>
          <a:bodyPr rtlCol="0" anchor="ctr" lIns="0" rIns="0" tIns="0" bIns="0"/>
          <a:lstStyle/>
          <a:p>
            <a:pPr algn="ctr"/>
          </a:p>
        </p:txBody>
      </p:sp>
      <p:sp>
        <p:nvSpPr>
          <p:cNvPr id="9" name="cpe|exhibit|text|8"/>
          <p:cNvSpPr txBox="1"/>
          <p:nvPr/>
        </p:nvSpPr>
        <p:spPr>
          <a:xfrm>
            <a:off x="2752344" y="1481328"/>
            <a:ext cx="1923212" cy="902970"/>
          </a:xfrm>
          <a:prstGeom prst="rect">
            <a:avLst/>
          </a:prstGeom>
          <a:noFill/>
        </p:spPr>
        <p:txBody>
          <a:bodyPr wrap="square" lIns="0" rIns="0" tIns="0" bIns="0" anchor="ctr">
            <a:noAutofit/>
          </a:bodyPr>
          <a:lstStyle/>
          <a:p>
            <a:pPr algn="ctr">
              <a:lnSpc>
                <a:spcPct val="100000"/>
              </a:lnSpc>
            </a:pPr>
            <a:r>
              <a:rPr sz="1200" b="0">
                <a:solidFill>
                  <a:srgbClr val="1E252D"/>
                </a:solidFill>
                <a:latin typeface="Arial"/>
              </a:rPr>
              <a:t>Discount banner</a:t>
            </a:r>
          </a:p>
        </p:txBody>
      </p:sp>
      <p:sp>
        <p:nvSpPr>
          <p:cNvPr id="10" name="cpe|exhibit|fill|9"/>
          <p:cNvSpPr/>
          <p:nvPr/>
        </p:nvSpPr>
        <p:spPr>
          <a:xfrm>
            <a:off x="4803572" y="1481328"/>
            <a:ext cx="2032940" cy="902970"/>
          </a:xfrm>
          <a:prstGeom prst="rect">
            <a:avLst/>
          </a:prstGeom>
          <a:solidFill>
            <a:srgbClr val="EEF1F4"/>
          </a:solidFill>
          <a:ln>
            <a:noFill/>
          </a:ln>
        </p:spPr>
        <p:txBody>
          <a:bodyPr rtlCol="0" anchor="ctr" lIns="0" rIns="0" tIns="0" bIns="0"/>
          <a:lstStyle/>
          <a:p>
            <a:pPr algn="ctr"/>
          </a:p>
        </p:txBody>
      </p:sp>
      <p:sp>
        <p:nvSpPr>
          <p:cNvPr id="11" name="cpe|exhibit|text|10"/>
          <p:cNvSpPr txBox="1"/>
          <p:nvPr/>
        </p:nvSpPr>
        <p:spPr>
          <a:xfrm>
            <a:off x="4858436" y="1481328"/>
            <a:ext cx="1923212" cy="902970"/>
          </a:xfrm>
          <a:prstGeom prst="rect">
            <a:avLst/>
          </a:prstGeom>
          <a:noFill/>
        </p:spPr>
        <p:txBody>
          <a:bodyPr wrap="square" lIns="0" rIns="0" tIns="0" bIns="0" anchor="ctr">
            <a:noAutofit/>
          </a:bodyPr>
          <a:lstStyle/>
          <a:p>
            <a:pPr algn="ctr">
              <a:lnSpc>
                <a:spcPct val="100000"/>
              </a:lnSpc>
            </a:pPr>
            <a:r>
              <a:rPr sz="1200" b="0">
                <a:solidFill>
                  <a:srgbClr val="1E252D"/>
                </a:solidFill>
                <a:latin typeface="Arial"/>
              </a:rPr>
              <a:t>Supermarkets</a:t>
            </a:r>
          </a:p>
        </p:txBody>
      </p:sp>
      <p:sp>
        <p:nvSpPr>
          <p:cNvPr id="12" name="cpe|exhibit|fill|11"/>
          <p:cNvSpPr/>
          <p:nvPr/>
        </p:nvSpPr>
        <p:spPr>
          <a:xfrm>
            <a:off x="6909664" y="1481328"/>
            <a:ext cx="2032940" cy="902970"/>
          </a:xfrm>
          <a:prstGeom prst="rect">
            <a:avLst/>
          </a:prstGeom>
          <a:solidFill>
            <a:srgbClr val="EEF1F4"/>
          </a:solidFill>
          <a:ln>
            <a:noFill/>
          </a:ln>
        </p:spPr>
        <p:txBody>
          <a:bodyPr rtlCol="0" anchor="ctr" lIns="0" rIns="0" tIns="0" bIns="0"/>
          <a:lstStyle/>
          <a:p>
            <a:pPr algn="ctr"/>
          </a:p>
        </p:txBody>
      </p:sp>
      <p:sp>
        <p:nvSpPr>
          <p:cNvPr id="13" name="cpe|exhibit|text|12"/>
          <p:cNvSpPr txBox="1"/>
          <p:nvPr/>
        </p:nvSpPr>
        <p:spPr>
          <a:xfrm>
            <a:off x="6964528" y="1481328"/>
            <a:ext cx="1923212" cy="902970"/>
          </a:xfrm>
          <a:prstGeom prst="rect">
            <a:avLst/>
          </a:prstGeom>
          <a:noFill/>
        </p:spPr>
        <p:txBody>
          <a:bodyPr wrap="square" lIns="0" rIns="0" tIns="0" bIns="0" anchor="ctr">
            <a:noAutofit/>
          </a:bodyPr>
          <a:lstStyle/>
          <a:p>
            <a:pPr algn="ctr">
              <a:lnSpc>
                <a:spcPct val="100000"/>
              </a:lnSpc>
            </a:pPr>
            <a:r>
              <a:rPr sz="1200" b="0">
                <a:solidFill>
                  <a:srgbClr val="1E252D"/>
                </a:solidFill>
                <a:latin typeface="Arial"/>
              </a:rPr>
              <a:t>Convenience</a:t>
            </a:r>
          </a:p>
        </p:txBody>
      </p:sp>
      <p:sp>
        <p:nvSpPr>
          <p:cNvPr id="14" name="cpe|exhibit|fill|13"/>
          <p:cNvSpPr/>
          <p:nvPr/>
        </p:nvSpPr>
        <p:spPr>
          <a:xfrm>
            <a:off x="9015755" y="1481328"/>
            <a:ext cx="2032940" cy="902970"/>
          </a:xfrm>
          <a:prstGeom prst="rect">
            <a:avLst/>
          </a:prstGeom>
          <a:solidFill>
            <a:srgbClr val="EEF1F4"/>
          </a:solidFill>
          <a:ln w="19050">
            <a:solidFill>
              <a:srgbClr val="00A3AD"/>
            </a:solidFill>
            <a:prstDash val="dash"/>
          </a:ln>
        </p:spPr>
        <p:txBody>
          <a:bodyPr rtlCol="0" anchor="ctr" lIns="0" rIns="0" tIns="0" bIns="0"/>
          <a:lstStyle/>
          <a:p>
            <a:pPr algn="ctr"/>
          </a:p>
        </p:txBody>
      </p:sp>
      <p:sp>
        <p:nvSpPr>
          <p:cNvPr id="15" name="cpe|exhibit|text|14"/>
          <p:cNvSpPr txBox="1"/>
          <p:nvPr/>
        </p:nvSpPr>
        <p:spPr>
          <a:xfrm>
            <a:off x="9070619" y="1481328"/>
            <a:ext cx="1923212" cy="902970"/>
          </a:xfrm>
          <a:prstGeom prst="rect">
            <a:avLst/>
          </a:prstGeom>
          <a:noFill/>
        </p:spPr>
        <p:txBody>
          <a:bodyPr wrap="square" lIns="0" rIns="0" tIns="0" bIns="0" anchor="ctr">
            <a:noAutofit/>
          </a:bodyPr>
          <a:lstStyle/>
          <a:p>
            <a:pPr algn="ctr">
              <a:lnSpc>
                <a:spcPct val="100000"/>
              </a:lnSpc>
            </a:pPr>
            <a:r>
              <a:rPr sz="1200" b="0">
                <a:solidFill>
                  <a:srgbClr val="1E252D"/>
                </a:solidFill>
                <a:latin typeface="Arial"/>
              </a:rPr>
              <a:t>Online</a:t>
            </a:r>
          </a:p>
        </p:txBody>
      </p:sp>
      <p:sp>
        <p:nvSpPr>
          <p:cNvPr id="16" name="cpe|exhibit|fill|15"/>
          <p:cNvSpPr/>
          <p:nvPr/>
        </p:nvSpPr>
        <p:spPr>
          <a:xfrm>
            <a:off x="502920" y="2475738"/>
            <a:ext cx="2103120" cy="902970"/>
          </a:xfrm>
          <a:prstGeom prst="rect">
            <a:avLst/>
          </a:prstGeom>
          <a:solidFill>
            <a:srgbClr val="3D6399"/>
          </a:solidFill>
          <a:ln>
            <a:noFill/>
          </a:ln>
        </p:spPr>
        <p:txBody>
          <a:bodyPr rtlCol="0" anchor="ctr" lIns="0" rIns="0" tIns="0" bIns="0"/>
          <a:lstStyle/>
          <a:p>
            <a:pPr algn="ctr"/>
          </a:p>
        </p:txBody>
      </p:sp>
      <p:sp>
        <p:nvSpPr>
          <p:cNvPr id="17" name="cpe|exhibit|text|16"/>
          <p:cNvSpPr txBox="1"/>
          <p:nvPr/>
        </p:nvSpPr>
        <p:spPr>
          <a:xfrm>
            <a:off x="594360" y="2475738"/>
            <a:ext cx="1920240" cy="902970"/>
          </a:xfrm>
          <a:prstGeom prst="rect">
            <a:avLst/>
          </a:prstGeom>
          <a:noFill/>
        </p:spPr>
        <p:txBody>
          <a:bodyPr wrap="square" lIns="0" rIns="0" tIns="0" bIns="0" anchor="ctr">
            <a:noAutofit/>
          </a:bodyPr>
          <a:lstStyle/>
          <a:p>
            <a:pPr algn="l">
              <a:lnSpc>
                <a:spcPct val="100000"/>
              </a:lnSpc>
            </a:pPr>
            <a:r>
              <a:rPr sz="1200" b="0">
                <a:solidFill>
                  <a:srgbClr val="FFFFFF"/>
                </a:solidFill>
                <a:latin typeface="Arial"/>
              </a:rPr>
              <a:t>Commercial</a:t>
            </a:r>
          </a:p>
        </p:txBody>
      </p:sp>
      <p:sp>
        <p:nvSpPr>
          <p:cNvPr id="18" name="cpe|exhibit|fill|17"/>
          <p:cNvSpPr/>
          <p:nvPr/>
        </p:nvSpPr>
        <p:spPr>
          <a:xfrm>
            <a:off x="2697480" y="2475738"/>
            <a:ext cx="2734970" cy="902970"/>
          </a:xfrm>
          <a:prstGeom prst="rect">
            <a:avLst/>
          </a:prstGeom>
          <a:solidFill>
            <a:srgbClr val="EEF1F4"/>
          </a:solidFill>
          <a:ln w="19050">
            <a:solidFill>
              <a:srgbClr val="00A3AD"/>
            </a:solidFill>
            <a:prstDash val="dash"/>
          </a:ln>
        </p:spPr>
        <p:txBody>
          <a:bodyPr rtlCol="0" anchor="ctr" lIns="0" rIns="0" tIns="0" bIns="0"/>
          <a:lstStyle/>
          <a:p>
            <a:pPr algn="ctr"/>
          </a:p>
        </p:txBody>
      </p:sp>
      <p:sp>
        <p:nvSpPr>
          <p:cNvPr id="19" name="cpe|exhibit|text|18"/>
          <p:cNvSpPr txBox="1"/>
          <p:nvPr/>
        </p:nvSpPr>
        <p:spPr>
          <a:xfrm>
            <a:off x="2752344" y="2475738"/>
            <a:ext cx="2625242" cy="902970"/>
          </a:xfrm>
          <a:prstGeom prst="rect">
            <a:avLst/>
          </a:prstGeom>
          <a:noFill/>
        </p:spPr>
        <p:txBody>
          <a:bodyPr wrap="square" lIns="0" rIns="0" tIns="0" bIns="0" anchor="ctr">
            <a:noAutofit/>
          </a:bodyPr>
          <a:lstStyle/>
          <a:p>
            <a:pPr algn="ctr">
              <a:lnSpc>
                <a:spcPct val="100000"/>
              </a:lnSpc>
            </a:pPr>
            <a:r>
              <a:rPr sz="1200" b="0">
                <a:solidFill>
                  <a:srgbClr val="1E252D"/>
                </a:solidFill>
                <a:latin typeface="Arial"/>
              </a:rPr>
              <a:t>Central pricing &amp; promo</a:t>
            </a:r>
          </a:p>
        </p:txBody>
      </p:sp>
      <p:sp>
        <p:nvSpPr>
          <p:cNvPr id="20" name="cpe|exhibit|fill|19"/>
          <p:cNvSpPr/>
          <p:nvPr/>
        </p:nvSpPr>
        <p:spPr>
          <a:xfrm>
            <a:off x="5505602" y="2475738"/>
            <a:ext cx="2734970" cy="902970"/>
          </a:xfrm>
          <a:prstGeom prst="rect">
            <a:avLst/>
          </a:prstGeom>
          <a:solidFill>
            <a:srgbClr val="EEF1F4"/>
          </a:solidFill>
          <a:ln w="19050">
            <a:solidFill>
              <a:srgbClr val="00A3AD"/>
            </a:solidFill>
            <a:prstDash val="dash"/>
          </a:ln>
        </p:spPr>
        <p:txBody>
          <a:bodyPr rtlCol="0" anchor="ctr" lIns="0" rIns="0" tIns="0" bIns="0"/>
          <a:lstStyle/>
          <a:p>
            <a:pPr algn="ctr"/>
          </a:p>
        </p:txBody>
      </p:sp>
      <p:sp>
        <p:nvSpPr>
          <p:cNvPr id="21" name="cpe|exhibit|text|20"/>
          <p:cNvSpPr txBox="1"/>
          <p:nvPr/>
        </p:nvSpPr>
        <p:spPr>
          <a:xfrm>
            <a:off x="5560466" y="2475738"/>
            <a:ext cx="2625242" cy="902970"/>
          </a:xfrm>
          <a:prstGeom prst="rect">
            <a:avLst/>
          </a:prstGeom>
          <a:noFill/>
        </p:spPr>
        <p:txBody>
          <a:bodyPr wrap="square" lIns="0" rIns="0" tIns="0" bIns="0" anchor="ctr">
            <a:noAutofit/>
          </a:bodyPr>
          <a:lstStyle/>
          <a:p>
            <a:pPr algn="ctr">
              <a:lnSpc>
                <a:spcPct val="100000"/>
              </a:lnSpc>
            </a:pPr>
            <a:r>
              <a:rPr sz="1200" b="0">
                <a:solidFill>
                  <a:srgbClr val="1E252D"/>
                </a:solidFill>
                <a:latin typeface="Arial"/>
              </a:rPr>
              <a:t>Category management</a:t>
            </a:r>
          </a:p>
        </p:txBody>
      </p:sp>
      <p:sp>
        <p:nvSpPr>
          <p:cNvPr id="22" name="cpe|exhibit|fill|21"/>
          <p:cNvSpPr/>
          <p:nvPr/>
        </p:nvSpPr>
        <p:spPr>
          <a:xfrm>
            <a:off x="8313725" y="2475738"/>
            <a:ext cx="2734970" cy="902970"/>
          </a:xfrm>
          <a:prstGeom prst="rect">
            <a:avLst/>
          </a:prstGeom>
          <a:solidFill>
            <a:srgbClr val="EEF1F4"/>
          </a:solidFill>
          <a:ln w="19050">
            <a:solidFill>
              <a:srgbClr val="00A3AD"/>
            </a:solidFill>
          </a:ln>
        </p:spPr>
        <p:txBody>
          <a:bodyPr rtlCol="0" anchor="ctr" lIns="0" rIns="0" tIns="0" bIns="0"/>
          <a:lstStyle/>
          <a:p>
            <a:pPr algn="ctr"/>
          </a:p>
        </p:txBody>
      </p:sp>
      <p:sp>
        <p:nvSpPr>
          <p:cNvPr id="23" name="cpe|exhibit|text|22"/>
          <p:cNvSpPr txBox="1"/>
          <p:nvPr/>
        </p:nvSpPr>
        <p:spPr>
          <a:xfrm>
            <a:off x="8368589" y="2475738"/>
            <a:ext cx="2625242" cy="902970"/>
          </a:xfrm>
          <a:prstGeom prst="rect">
            <a:avLst/>
          </a:prstGeom>
          <a:noFill/>
        </p:spPr>
        <p:txBody>
          <a:bodyPr wrap="square" lIns="0" rIns="0" tIns="0" bIns="0" anchor="ctr">
            <a:noAutofit/>
          </a:bodyPr>
          <a:lstStyle/>
          <a:p>
            <a:pPr algn="ctr">
              <a:lnSpc>
                <a:spcPct val="100000"/>
              </a:lnSpc>
            </a:pPr>
            <a:r>
              <a:rPr sz="1200" b="0">
                <a:solidFill>
                  <a:srgbClr val="1E252D"/>
                </a:solidFill>
                <a:latin typeface="Arial"/>
              </a:rPr>
              <a:t>Private label</a:t>
            </a:r>
          </a:p>
        </p:txBody>
      </p:sp>
      <p:sp>
        <p:nvSpPr>
          <p:cNvPr id="24" name="cpe|exhibit|fill|23"/>
          <p:cNvSpPr/>
          <p:nvPr/>
        </p:nvSpPr>
        <p:spPr>
          <a:xfrm>
            <a:off x="502920" y="3470148"/>
            <a:ext cx="2103120" cy="902970"/>
          </a:xfrm>
          <a:prstGeom prst="rect">
            <a:avLst/>
          </a:prstGeom>
          <a:solidFill>
            <a:srgbClr val="3D6399"/>
          </a:solidFill>
          <a:ln>
            <a:noFill/>
          </a:ln>
        </p:spPr>
        <p:txBody>
          <a:bodyPr rtlCol="0" anchor="ctr" lIns="0" rIns="0" tIns="0" bIns="0"/>
          <a:lstStyle/>
          <a:p>
            <a:pPr algn="ctr"/>
          </a:p>
        </p:txBody>
      </p:sp>
      <p:sp>
        <p:nvSpPr>
          <p:cNvPr id="25" name="cpe|exhibit|text|24"/>
          <p:cNvSpPr txBox="1"/>
          <p:nvPr/>
        </p:nvSpPr>
        <p:spPr>
          <a:xfrm>
            <a:off x="594360" y="3470148"/>
            <a:ext cx="1920240" cy="902970"/>
          </a:xfrm>
          <a:prstGeom prst="rect">
            <a:avLst/>
          </a:prstGeom>
          <a:noFill/>
        </p:spPr>
        <p:txBody>
          <a:bodyPr wrap="square" lIns="0" rIns="0" tIns="0" bIns="0" anchor="ctr">
            <a:noAutofit/>
          </a:bodyPr>
          <a:lstStyle/>
          <a:p>
            <a:pPr algn="l">
              <a:lnSpc>
                <a:spcPct val="100000"/>
              </a:lnSpc>
            </a:pPr>
            <a:r>
              <a:rPr sz="1200" b="0">
                <a:solidFill>
                  <a:srgbClr val="FFFFFF"/>
                </a:solidFill>
                <a:latin typeface="Arial"/>
              </a:rPr>
              <a:t>Operations</a:t>
            </a:r>
          </a:p>
        </p:txBody>
      </p:sp>
      <p:sp>
        <p:nvSpPr>
          <p:cNvPr id="26" name="cpe|exhibit|fill|25"/>
          <p:cNvSpPr/>
          <p:nvPr/>
        </p:nvSpPr>
        <p:spPr>
          <a:xfrm>
            <a:off x="2697480" y="3470148"/>
            <a:ext cx="2734970" cy="902970"/>
          </a:xfrm>
          <a:prstGeom prst="rect">
            <a:avLst/>
          </a:prstGeom>
          <a:solidFill>
            <a:srgbClr val="EEF1F4"/>
          </a:solidFill>
          <a:ln>
            <a:noFill/>
          </a:ln>
        </p:spPr>
        <p:txBody>
          <a:bodyPr rtlCol="0" anchor="ctr" lIns="0" rIns="0" tIns="0" bIns="0"/>
          <a:lstStyle/>
          <a:p>
            <a:pPr algn="ctr"/>
          </a:p>
        </p:txBody>
      </p:sp>
      <p:sp>
        <p:nvSpPr>
          <p:cNvPr id="27" name="cpe|exhibit|text|26"/>
          <p:cNvSpPr txBox="1"/>
          <p:nvPr/>
        </p:nvSpPr>
        <p:spPr>
          <a:xfrm>
            <a:off x="2752344" y="3470148"/>
            <a:ext cx="2625242" cy="902970"/>
          </a:xfrm>
          <a:prstGeom prst="rect">
            <a:avLst/>
          </a:prstGeom>
          <a:noFill/>
        </p:spPr>
        <p:txBody>
          <a:bodyPr wrap="square" lIns="0" rIns="0" tIns="0" bIns="0" anchor="ctr">
            <a:noAutofit/>
          </a:bodyPr>
          <a:lstStyle/>
          <a:p>
            <a:pPr algn="ctr">
              <a:lnSpc>
                <a:spcPct val="100000"/>
              </a:lnSpc>
            </a:pPr>
            <a:r>
              <a:rPr sz="1200" b="0">
                <a:solidFill>
                  <a:srgbClr val="1E252D"/>
                </a:solidFill>
                <a:latin typeface="Arial"/>
              </a:rPr>
              <a:t>Stores</a:t>
            </a:r>
          </a:p>
        </p:txBody>
      </p:sp>
      <p:sp>
        <p:nvSpPr>
          <p:cNvPr id="28" name="cpe|exhibit|fill|27"/>
          <p:cNvSpPr/>
          <p:nvPr/>
        </p:nvSpPr>
        <p:spPr>
          <a:xfrm>
            <a:off x="5505602" y="3470148"/>
            <a:ext cx="2734970" cy="902970"/>
          </a:xfrm>
          <a:prstGeom prst="rect">
            <a:avLst/>
          </a:prstGeom>
          <a:solidFill>
            <a:srgbClr val="EEF1F4"/>
          </a:solidFill>
          <a:ln>
            <a:noFill/>
          </a:ln>
        </p:spPr>
        <p:txBody>
          <a:bodyPr rtlCol="0" anchor="ctr" lIns="0" rIns="0" tIns="0" bIns="0"/>
          <a:lstStyle/>
          <a:p>
            <a:pPr algn="ctr"/>
          </a:p>
        </p:txBody>
      </p:sp>
      <p:sp>
        <p:nvSpPr>
          <p:cNvPr id="29" name="cpe|exhibit|text|28"/>
          <p:cNvSpPr txBox="1"/>
          <p:nvPr/>
        </p:nvSpPr>
        <p:spPr>
          <a:xfrm>
            <a:off x="5560466" y="3470148"/>
            <a:ext cx="2625242" cy="902970"/>
          </a:xfrm>
          <a:prstGeom prst="rect">
            <a:avLst/>
          </a:prstGeom>
          <a:noFill/>
        </p:spPr>
        <p:txBody>
          <a:bodyPr wrap="square" lIns="0" rIns="0" tIns="0" bIns="0" anchor="ctr">
            <a:noAutofit/>
          </a:bodyPr>
          <a:lstStyle/>
          <a:p>
            <a:pPr algn="ctr">
              <a:lnSpc>
                <a:spcPct val="100000"/>
              </a:lnSpc>
            </a:pPr>
            <a:r>
              <a:rPr sz="1200" b="0">
                <a:solidFill>
                  <a:srgbClr val="1E252D"/>
                </a:solidFill>
                <a:latin typeface="Arial"/>
              </a:rPr>
              <a:t>Supply chain</a:t>
            </a:r>
          </a:p>
        </p:txBody>
      </p:sp>
      <p:sp>
        <p:nvSpPr>
          <p:cNvPr id="30" name="cpe|exhibit|fill|29"/>
          <p:cNvSpPr/>
          <p:nvPr/>
        </p:nvSpPr>
        <p:spPr>
          <a:xfrm>
            <a:off x="8313725" y="3470148"/>
            <a:ext cx="2734970" cy="902970"/>
          </a:xfrm>
          <a:prstGeom prst="rect">
            <a:avLst/>
          </a:prstGeom>
          <a:solidFill>
            <a:srgbClr val="EEF1F4"/>
          </a:solidFill>
          <a:ln w="19050">
            <a:solidFill>
              <a:srgbClr val="00A3AD"/>
            </a:solidFill>
          </a:ln>
        </p:spPr>
        <p:txBody>
          <a:bodyPr rtlCol="0" anchor="ctr" lIns="0" rIns="0" tIns="0" bIns="0"/>
          <a:lstStyle/>
          <a:p>
            <a:pPr algn="ctr"/>
          </a:p>
        </p:txBody>
      </p:sp>
      <p:sp>
        <p:nvSpPr>
          <p:cNvPr id="31" name="cpe|exhibit|text|30"/>
          <p:cNvSpPr txBox="1"/>
          <p:nvPr/>
        </p:nvSpPr>
        <p:spPr>
          <a:xfrm>
            <a:off x="8368589" y="3470148"/>
            <a:ext cx="2625242" cy="902970"/>
          </a:xfrm>
          <a:prstGeom prst="rect">
            <a:avLst/>
          </a:prstGeom>
          <a:noFill/>
        </p:spPr>
        <p:txBody>
          <a:bodyPr wrap="square" lIns="0" rIns="0" tIns="0" bIns="0" anchor="ctr">
            <a:noAutofit/>
          </a:bodyPr>
          <a:lstStyle/>
          <a:p>
            <a:pPr algn="ctr">
              <a:lnSpc>
                <a:spcPct val="100000"/>
              </a:lnSpc>
            </a:pPr>
            <a:r>
              <a:rPr sz="1200" b="0">
                <a:solidFill>
                  <a:srgbClr val="1E252D"/>
                </a:solidFill>
                <a:latin typeface="Arial"/>
              </a:rPr>
              <a:t>Fulfilment hubs</a:t>
            </a:r>
          </a:p>
        </p:txBody>
      </p:sp>
      <p:sp>
        <p:nvSpPr>
          <p:cNvPr id="32" name="cpe|exhibit|fill|31"/>
          <p:cNvSpPr/>
          <p:nvPr/>
        </p:nvSpPr>
        <p:spPr>
          <a:xfrm>
            <a:off x="502920" y="4464558"/>
            <a:ext cx="2103120" cy="902970"/>
          </a:xfrm>
          <a:prstGeom prst="rect">
            <a:avLst/>
          </a:prstGeom>
          <a:solidFill>
            <a:srgbClr val="3D6399"/>
          </a:solidFill>
          <a:ln>
            <a:noFill/>
          </a:ln>
        </p:spPr>
        <p:txBody>
          <a:bodyPr rtlCol="0" anchor="ctr" lIns="0" rIns="0" tIns="0" bIns="0"/>
          <a:lstStyle/>
          <a:p>
            <a:pPr algn="ctr"/>
          </a:p>
        </p:txBody>
      </p:sp>
      <p:sp>
        <p:nvSpPr>
          <p:cNvPr id="33" name="cpe|exhibit|text|32"/>
          <p:cNvSpPr txBox="1"/>
          <p:nvPr/>
        </p:nvSpPr>
        <p:spPr>
          <a:xfrm>
            <a:off x="594360" y="4464558"/>
            <a:ext cx="1920240" cy="902970"/>
          </a:xfrm>
          <a:prstGeom prst="rect">
            <a:avLst/>
          </a:prstGeom>
          <a:noFill/>
        </p:spPr>
        <p:txBody>
          <a:bodyPr wrap="square" lIns="0" rIns="0" tIns="0" bIns="0" anchor="ctr">
            <a:noAutofit/>
          </a:bodyPr>
          <a:lstStyle/>
          <a:p>
            <a:pPr algn="l">
              <a:lnSpc>
                <a:spcPct val="100000"/>
              </a:lnSpc>
            </a:pPr>
            <a:r>
              <a:rPr sz="1200" b="0">
                <a:solidFill>
                  <a:srgbClr val="FFFFFF"/>
                </a:solidFill>
                <a:latin typeface="Arial"/>
              </a:rPr>
              <a:t>Enablers</a:t>
            </a:r>
          </a:p>
        </p:txBody>
      </p:sp>
      <p:sp>
        <p:nvSpPr>
          <p:cNvPr id="34" name="cpe|exhibit|fill|33"/>
          <p:cNvSpPr/>
          <p:nvPr/>
        </p:nvSpPr>
        <p:spPr>
          <a:xfrm>
            <a:off x="2697480" y="4464558"/>
            <a:ext cx="2734970" cy="902970"/>
          </a:xfrm>
          <a:prstGeom prst="rect">
            <a:avLst/>
          </a:prstGeom>
          <a:solidFill>
            <a:srgbClr val="EEF1F4"/>
          </a:solidFill>
          <a:ln w="19050">
            <a:solidFill>
              <a:srgbClr val="00A3AD"/>
            </a:solidFill>
            <a:prstDash val="dash"/>
          </a:ln>
        </p:spPr>
        <p:txBody>
          <a:bodyPr rtlCol="0" anchor="ctr" lIns="0" rIns="0" tIns="0" bIns="0"/>
          <a:lstStyle/>
          <a:p>
            <a:pPr algn="ctr"/>
          </a:p>
        </p:txBody>
      </p:sp>
      <p:sp>
        <p:nvSpPr>
          <p:cNvPr id="35" name="cpe|exhibit|text|34"/>
          <p:cNvSpPr txBox="1"/>
          <p:nvPr/>
        </p:nvSpPr>
        <p:spPr>
          <a:xfrm>
            <a:off x="2752344" y="4464558"/>
            <a:ext cx="2625242" cy="902970"/>
          </a:xfrm>
          <a:prstGeom prst="rect">
            <a:avLst/>
          </a:prstGeom>
          <a:noFill/>
        </p:spPr>
        <p:txBody>
          <a:bodyPr wrap="square" lIns="0" rIns="0" tIns="0" bIns="0" anchor="ctr">
            <a:noAutofit/>
          </a:bodyPr>
          <a:lstStyle/>
          <a:p>
            <a:pPr algn="ctr">
              <a:lnSpc>
                <a:spcPct val="100000"/>
              </a:lnSpc>
            </a:pPr>
            <a:r>
              <a:rPr sz="1200" b="0">
                <a:solidFill>
                  <a:srgbClr val="1E252D"/>
                </a:solidFill>
                <a:latin typeface="Arial"/>
              </a:rPr>
              <a:t>Data &amp; analytics</a:t>
            </a:r>
          </a:p>
        </p:txBody>
      </p:sp>
      <p:sp>
        <p:nvSpPr>
          <p:cNvPr id="36" name="cpe|exhibit|fill|35"/>
          <p:cNvSpPr/>
          <p:nvPr/>
        </p:nvSpPr>
        <p:spPr>
          <a:xfrm>
            <a:off x="5505602" y="4464558"/>
            <a:ext cx="2734970" cy="902970"/>
          </a:xfrm>
          <a:prstGeom prst="rect">
            <a:avLst/>
          </a:prstGeom>
          <a:solidFill>
            <a:srgbClr val="EEF1F4"/>
          </a:solidFill>
          <a:ln>
            <a:noFill/>
          </a:ln>
        </p:spPr>
        <p:txBody>
          <a:bodyPr rtlCol="0" anchor="ctr" lIns="0" rIns="0" tIns="0" bIns="0"/>
          <a:lstStyle/>
          <a:p>
            <a:pPr algn="ctr"/>
          </a:p>
        </p:txBody>
      </p:sp>
      <p:sp>
        <p:nvSpPr>
          <p:cNvPr id="37" name="cpe|exhibit|text|36"/>
          <p:cNvSpPr txBox="1"/>
          <p:nvPr/>
        </p:nvSpPr>
        <p:spPr>
          <a:xfrm>
            <a:off x="5560466" y="4464558"/>
            <a:ext cx="2625242" cy="902970"/>
          </a:xfrm>
          <a:prstGeom prst="rect">
            <a:avLst/>
          </a:prstGeom>
          <a:noFill/>
        </p:spPr>
        <p:txBody>
          <a:bodyPr wrap="square" lIns="0" rIns="0" tIns="0" bIns="0" anchor="ctr">
            <a:noAutofit/>
          </a:bodyPr>
          <a:lstStyle/>
          <a:p>
            <a:pPr algn="ctr">
              <a:lnSpc>
                <a:spcPct val="100000"/>
              </a:lnSpc>
            </a:pPr>
            <a:r>
              <a:rPr sz="1200" b="0">
                <a:solidFill>
                  <a:srgbClr val="1E252D"/>
                </a:solidFill>
                <a:latin typeface="Arial"/>
              </a:rPr>
              <a:t>Technology</a:t>
            </a:r>
          </a:p>
        </p:txBody>
      </p:sp>
      <p:sp>
        <p:nvSpPr>
          <p:cNvPr id="38" name="cpe|exhibit|fill|37"/>
          <p:cNvSpPr/>
          <p:nvPr/>
        </p:nvSpPr>
        <p:spPr>
          <a:xfrm>
            <a:off x="8313725" y="4464558"/>
            <a:ext cx="2734970" cy="902970"/>
          </a:xfrm>
          <a:prstGeom prst="rect">
            <a:avLst/>
          </a:prstGeom>
          <a:solidFill>
            <a:srgbClr val="EEF1F4"/>
          </a:solidFill>
          <a:ln>
            <a:noFill/>
          </a:ln>
        </p:spPr>
        <p:txBody>
          <a:bodyPr rtlCol="0" anchor="ctr" lIns="0" rIns="0" tIns="0" bIns="0"/>
          <a:lstStyle/>
          <a:p>
            <a:pPr algn="ctr"/>
          </a:p>
        </p:txBody>
      </p:sp>
      <p:sp>
        <p:nvSpPr>
          <p:cNvPr id="39" name="cpe|exhibit|text|38"/>
          <p:cNvSpPr txBox="1"/>
          <p:nvPr/>
        </p:nvSpPr>
        <p:spPr>
          <a:xfrm>
            <a:off x="8368589" y="4464558"/>
            <a:ext cx="2625242" cy="902970"/>
          </a:xfrm>
          <a:prstGeom prst="rect">
            <a:avLst/>
          </a:prstGeom>
          <a:noFill/>
        </p:spPr>
        <p:txBody>
          <a:bodyPr wrap="square" lIns="0" rIns="0" tIns="0" bIns="0" anchor="ctr">
            <a:noAutofit/>
          </a:bodyPr>
          <a:lstStyle/>
          <a:p>
            <a:pPr algn="ctr">
              <a:lnSpc>
                <a:spcPct val="100000"/>
              </a:lnSpc>
            </a:pPr>
            <a:r>
              <a:rPr sz="1200" b="0">
                <a:solidFill>
                  <a:srgbClr val="1E252D"/>
                </a:solidFill>
                <a:latin typeface="Arial"/>
              </a:rPr>
              <a:t>People &amp; capabilities</a:t>
            </a:r>
          </a:p>
        </p:txBody>
      </p:sp>
      <p:sp>
        <p:nvSpPr>
          <p:cNvPr id="40" name="cpe|exhibit|fill|39"/>
          <p:cNvSpPr/>
          <p:nvPr/>
        </p:nvSpPr>
        <p:spPr>
          <a:xfrm>
            <a:off x="11121847" y="1481328"/>
            <a:ext cx="566928" cy="3886200"/>
          </a:xfrm>
          <a:prstGeom prst="rect">
            <a:avLst/>
          </a:prstGeom>
          <a:solidFill>
            <a:srgbClr val="F4F6F8"/>
          </a:solidFill>
          <a:ln w="6350">
            <a:solidFill>
              <a:srgbClr val="B7BFC8"/>
            </a:solidFill>
          </a:ln>
        </p:spPr>
        <p:txBody>
          <a:bodyPr rtlCol="0" anchor="ctr" lIns="0" rIns="0" tIns="0" bIns="0"/>
          <a:lstStyle/>
          <a:p>
            <a:pPr algn="ctr"/>
          </a:p>
        </p:txBody>
      </p:sp>
      <p:sp>
        <p:nvSpPr>
          <p:cNvPr id="41" name="cpe|exhibit|vtext|40"/>
          <p:cNvSpPr txBox="1"/>
          <p:nvPr/>
        </p:nvSpPr>
        <p:spPr>
          <a:xfrm>
            <a:off x="11121847" y="1572768"/>
            <a:ext cx="566928" cy="3703320"/>
          </a:xfrm>
          <a:prstGeom prst="rect">
            <a:avLst/>
          </a:prstGeom>
          <a:noFill/>
        </p:spPr>
        <p:txBody>
          <a:bodyPr wrap="square" lIns="0" rIns="0" tIns="0" bIns="0" anchor="ctr" vert="vert270">
            <a:noAutofit/>
          </a:bodyPr>
          <a:lstStyle/>
          <a:p>
            <a:pPr algn="ctr">
              <a:lnSpc>
                <a:spcPct val="100000"/>
              </a:lnSpc>
            </a:pPr>
            <a:r>
              <a:rPr sz="1200" b="1">
                <a:solidFill>
                  <a:srgbClr val="1E252D"/>
                </a:solidFill>
                <a:latin typeface="Arial"/>
              </a:rPr>
              <a:t>Transformation office</a:t>
            </a:r>
          </a:p>
        </p:txBody>
      </p:sp>
      <p:cxnSp>
        <p:nvCxnSpPr>
          <p:cNvPr id="42" name="cpe|commentary|line|41"/>
          <p:cNvCxnSpPr/>
          <p:nvPr/>
        </p:nvCxnSpPr>
        <p:spPr>
          <a:xfrm>
            <a:off x="502920" y="5568696"/>
            <a:ext cx="11185855" cy="0"/>
          </a:xfrm>
          <a:prstGeom prst="line">
            <a:avLst/>
          </a:prstGeom>
          <a:ln w="9525">
            <a:solidFill>
              <a:srgbClr val="B7BFC8"/>
            </a:solidFill>
          </a:ln>
        </p:spPr>
      </p:cxnSp>
      <p:sp>
        <p:nvSpPr>
          <p:cNvPr id="43" name="cpe|commentary|text|42"/>
          <p:cNvSpPr txBox="1"/>
          <p:nvPr/>
        </p:nvSpPr>
        <p:spPr>
          <a:xfrm>
            <a:off x="502920" y="5705856"/>
            <a:ext cx="3594506" cy="493776"/>
          </a:xfrm>
          <a:prstGeom prst="rect">
            <a:avLst/>
          </a:prstGeom>
          <a:noFill/>
        </p:spPr>
        <p:txBody>
          <a:bodyPr wrap="square" lIns="0" rIns="0" tIns="0" bIns="0" anchor="t">
            <a:noAutofit/>
          </a:bodyPr>
          <a:lstStyle/>
          <a:p>
            <a:pPr algn="l">
              <a:lnSpc>
                <a:spcPct val="100000"/>
              </a:lnSpc>
            </a:pPr>
            <a:r>
              <a:rPr sz="1200" b="1">
                <a:solidFill>
                  <a:srgbClr val="1E252D"/>
                </a:solidFill>
                <a:latin typeface="Arial"/>
              </a:rPr>
              <a:t>New:</a:t>
            </a:r>
            <a:r>
              <a:rPr sz="1200" b="0">
                <a:solidFill>
                  <a:srgbClr val="1E252D"/>
                </a:solidFill>
                <a:latin typeface="Arial"/>
              </a:rPr>
              <a:t> discount banner, private label, fulfilment hubs</a:t>
            </a:r>
          </a:p>
        </p:txBody>
      </p:sp>
      <p:sp>
        <p:nvSpPr>
          <p:cNvPr id="44" name="cpe|commentary|text|43"/>
          <p:cNvSpPr txBox="1"/>
          <p:nvPr/>
        </p:nvSpPr>
        <p:spPr>
          <a:xfrm>
            <a:off x="4298594" y="5705856"/>
            <a:ext cx="3594506" cy="493776"/>
          </a:xfrm>
          <a:prstGeom prst="rect">
            <a:avLst/>
          </a:prstGeom>
          <a:noFill/>
        </p:spPr>
        <p:txBody>
          <a:bodyPr wrap="square" lIns="0" rIns="0" tIns="0" bIns="0" anchor="t">
            <a:noAutofit/>
          </a:bodyPr>
          <a:lstStyle/>
          <a:p>
            <a:pPr algn="l">
              <a:lnSpc>
                <a:spcPct val="100000"/>
              </a:lnSpc>
            </a:pPr>
            <a:r>
              <a:rPr sz="1200" b="1">
                <a:solidFill>
                  <a:srgbClr val="1E252D"/>
                </a:solidFill>
                <a:latin typeface="Arial"/>
              </a:rPr>
              <a:t>Changed:</a:t>
            </a:r>
            <a:r>
              <a:rPr sz="1200" b="0">
                <a:solidFill>
                  <a:srgbClr val="1E252D"/>
                </a:solidFill>
                <a:latin typeface="Arial"/>
              </a:rPr>
              <a:t> pricing moves to the centre; category teams own margin</a:t>
            </a:r>
          </a:p>
        </p:txBody>
      </p:sp>
      <p:sp>
        <p:nvSpPr>
          <p:cNvPr id="45" name="cpe|commentary|text|44"/>
          <p:cNvSpPr txBox="1"/>
          <p:nvPr/>
        </p:nvSpPr>
        <p:spPr>
          <a:xfrm>
            <a:off x="8094269" y="5705856"/>
            <a:ext cx="3594506" cy="493776"/>
          </a:xfrm>
          <a:prstGeom prst="rect">
            <a:avLst/>
          </a:prstGeom>
          <a:noFill/>
        </p:spPr>
        <p:txBody>
          <a:bodyPr wrap="square" lIns="0" rIns="0" tIns="0" bIns="0" anchor="t">
            <a:noAutofit/>
          </a:bodyPr>
          <a:lstStyle/>
          <a:p>
            <a:pPr algn="l">
              <a:lnSpc>
                <a:spcPct val="100000"/>
              </a:lnSpc>
            </a:pPr>
            <a:r>
              <a:rPr sz="1200" b="0">
                <a:solidFill>
                  <a:srgbClr val="1E252D"/>
                </a:solidFill>
                <a:latin typeface="Arial"/>
              </a:rPr>
              <a:t>A transformation office steers the programme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pe|chrome|text|1"/>
          <p:cNvSpPr txBox="1"/>
          <p:nvPr/>
        </p:nvSpPr>
        <p:spPr>
          <a:xfrm>
            <a:off x="502920" y="274320"/>
            <a:ext cx="7830099" cy="201168"/>
          </a:xfrm>
          <a:prstGeom prst="rect">
            <a:avLst/>
          </a:prstGeom>
          <a:noFill/>
        </p:spPr>
        <p:txBody>
          <a:bodyPr wrap="square" lIns="0" rIns="0" tIns="0" bIns="0" anchor="t">
            <a:noAutofit/>
          </a:bodyPr>
          <a:lstStyle/>
          <a:p>
            <a:pPr algn="l">
              <a:lnSpc>
                <a:spcPct val="100000"/>
              </a:lnSpc>
            </a:pPr>
            <a:r>
              <a:rPr sz="1000" b="1">
                <a:solidFill>
                  <a:srgbClr val="5E6A77"/>
                </a:solidFill>
                <a:latin typeface="Arial"/>
              </a:rPr>
              <a:t>ROADMAP</a:t>
            </a:r>
          </a:p>
        </p:txBody>
      </p:sp>
      <p:sp>
        <p:nvSpPr>
          <p:cNvPr id="3" name="cpe|chrome|text|2"/>
          <p:cNvSpPr txBox="1"/>
          <p:nvPr/>
        </p:nvSpPr>
        <p:spPr>
          <a:xfrm>
            <a:off x="502920" y="475488"/>
            <a:ext cx="11185855" cy="786384"/>
          </a:xfrm>
          <a:prstGeom prst="rect">
            <a:avLst/>
          </a:prstGeom>
          <a:noFill/>
        </p:spPr>
        <p:txBody>
          <a:bodyPr wrap="square" lIns="0" rIns="0" tIns="0" bIns="0" anchor="t">
            <a:noAutofit/>
          </a:bodyPr>
          <a:lstStyle/>
          <a:p>
            <a:pPr algn="l">
              <a:lnSpc>
                <a:spcPct val="100000"/>
              </a:lnSpc>
            </a:pPr>
            <a:r>
              <a:rPr sz="2000" b="1">
                <a:solidFill>
                  <a:srgbClr val="0B1F3A"/>
                </a:solidFill>
                <a:latin typeface="Arial"/>
              </a:rPr>
              <a:t>A plan in three waves over 24 months secures quick margin wins in pricing, fresh and costs before we scale the discount banner, the private label range and the online fulfilment hubs</a:t>
            </a:r>
          </a:p>
        </p:txBody>
      </p:sp>
      <p:sp>
        <p:nvSpPr>
          <p:cNvPr id="4" name="cpe|chrome|text|3"/>
          <p:cNvSpPr txBox="1"/>
          <p:nvPr/>
        </p:nvSpPr>
        <p:spPr>
          <a:xfrm>
            <a:off x="502920" y="6272784"/>
            <a:ext cx="8808415" cy="402336"/>
          </a:xfrm>
          <a:prstGeom prst="rect">
            <a:avLst/>
          </a:prstGeom>
          <a:noFill/>
        </p:spPr>
        <p:txBody>
          <a:bodyPr wrap="square" lIns="0" rIns="0" tIns="0" bIns="0" anchor="b">
            <a:noAutofit/>
          </a:bodyPr>
          <a:lstStyle/>
          <a:p>
            <a:pPr algn="l">
              <a:lnSpc>
                <a:spcPct val="100000"/>
              </a:lnSpc>
            </a:pPr>
            <a:r>
              <a:rPr sz="800" b="0">
                <a:solidFill>
                  <a:srgbClr val="5E6A77"/>
                </a:solidFill>
                <a:latin typeface="Arial"/>
              </a:rPr>
              <a:t>Source: Programme plan (illustrative)</a:t>
            </a:r>
          </a:p>
        </p:txBody>
      </p:sp>
      <p:sp>
        <p:nvSpPr>
          <p:cNvPr id="5" name="cpe|chrome|text|4"/>
          <p:cNvSpPr txBox="1"/>
          <p:nvPr/>
        </p:nvSpPr>
        <p:spPr>
          <a:xfrm>
            <a:off x="9494215" y="6272784"/>
            <a:ext cx="2194560" cy="402336"/>
          </a:xfrm>
          <a:prstGeom prst="rect">
            <a:avLst/>
          </a:prstGeom>
          <a:noFill/>
        </p:spPr>
        <p:txBody>
          <a:bodyPr wrap="square" lIns="0" rIns="0" tIns="0" bIns="0" anchor="b">
            <a:noAutofit/>
          </a:bodyPr>
          <a:lstStyle/>
          <a:p>
            <a:pPr algn="r">
              <a:lnSpc>
                <a:spcPct val="100000"/>
              </a:lnSpc>
            </a:pPr>
            <a:r>
              <a:rPr sz="900" b="0">
                <a:solidFill>
                  <a:srgbClr val="5E6A77"/>
                </a:solidFill>
                <a:latin typeface="Arial"/>
              </a:rPr>
              <a:t>Illustrative data   10</a:t>
            </a:r>
          </a:p>
        </p:txBody>
      </p:sp>
      <p:sp>
        <p:nvSpPr>
          <p:cNvPr id="6" name="cpe|exhibit|fill|5"/>
          <p:cNvSpPr/>
          <p:nvPr/>
        </p:nvSpPr>
        <p:spPr>
          <a:xfrm>
            <a:off x="3310128" y="1481328"/>
            <a:ext cx="3112275" cy="274320"/>
          </a:xfrm>
          <a:prstGeom prst="rect">
            <a:avLst/>
          </a:prstGeom>
          <a:solidFill>
            <a:srgbClr val="0B1F3A"/>
          </a:solidFill>
          <a:ln>
            <a:noFill/>
          </a:ln>
        </p:spPr>
        <p:txBody>
          <a:bodyPr rtlCol="0" anchor="ctr" lIns="0" rIns="0" tIns="0" bIns="0"/>
          <a:lstStyle/>
          <a:p>
            <a:pPr algn="ctr"/>
          </a:p>
        </p:txBody>
      </p:sp>
      <p:sp>
        <p:nvSpPr>
          <p:cNvPr id="7" name="cpe|exhibit|text|6"/>
          <p:cNvSpPr txBox="1"/>
          <p:nvPr/>
        </p:nvSpPr>
        <p:spPr>
          <a:xfrm>
            <a:off x="3346704" y="1481328"/>
            <a:ext cx="3039123" cy="274320"/>
          </a:xfrm>
          <a:prstGeom prst="rect">
            <a:avLst/>
          </a:prstGeom>
          <a:noFill/>
        </p:spPr>
        <p:txBody>
          <a:bodyPr wrap="square" lIns="0" rIns="0" tIns="0" bIns="0" anchor="ctr">
            <a:noAutofit/>
          </a:bodyPr>
          <a:lstStyle/>
          <a:p>
            <a:pPr algn="ctr">
              <a:lnSpc>
                <a:spcPct val="100000"/>
              </a:lnSpc>
            </a:pPr>
            <a:r>
              <a:rPr sz="1000" b="1">
                <a:solidFill>
                  <a:srgbClr val="FFFFFF"/>
                </a:solidFill>
                <a:latin typeface="Arial"/>
              </a:rPr>
              <a:t>Wave 1: Fix margins</a:t>
            </a:r>
          </a:p>
        </p:txBody>
      </p:sp>
      <p:sp>
        <p:nvSpPr>
          <p:cNvPr id="8" name="cpe|exhibit|fill|7"/>
          <p:cNvSpPr/>
          <p:nvPr/>
        </p:nvSpPr>
        <p:spPr>
          <a:xfrm>
            <a:off x="6458979" y="1481328"/>
            <a:ext cx="2062658" cy="274320"/>
          </a:xfrm>
          <a:prstGeom prst="rect">
            <a:avLst/>
          </a:prstGeom>
          <a:solidFill>
            <a:srgbClr val="0B1F3A"/>
          </a:solidFill>
          <a:ln>
            <a:noFill/>
          </a:ln>
        </p:spPr>
        <p:txBody>
          <a:bodyPr rtlCol="0" anchor="ctr" lIns="0" rIns="0" tIns="0" bIns="0"/>
          <a:lstStyle/>
          <a:p>
            <a:pPr algn="ctr"/>
          </a:p>
        </p:txBody>
      </p:sp>
      <p:sp>
        <p:nvSpPr>
          <p:cNvPr id="9" name="cpe|exhibit|text|8"/>
          <p:cNvSpPr txBox="1"/>
          <p:nvPr/>
        </p:nvSpPr>
        <p:spPr>
          <a:xfrm>
            <a:off x="6495555" y="1481328"/>
            <a:ext cx="1989506" cy="274320"/>
          </a:xfrm>
          <a:prstGeom prst="rect">
            <a:avLst/>
          </a:prstGeom>
          <a:noFill/>
        </p:spPr>
        <p:txBody>
          <a:bodyPr wrap="square" lIns="0" rIns="0" tIns="0" bIns="0" anchor="ctr">
            <a:noAutofit/>
          </a:bodyPr>
          <a:lstStyle/>
          <a:p>
            <a:pPr algn="ctr">
              <a:lnSpc>
                <a:spcPct val="100000"/>
              </a:lnSpc>
            </a:pPr>
            <a:r>
              <a:rPr sz="1000" b="1">
                <a:solidFill>
                  <a:srgbClr val="FFFFFF"/>
                </a:solidFill>
                <a:latin typeface="Arial"/>
              </a:rPr>
              <a:t>Wave 2: Pilot</a:t>
            </a:r>
          </a:p>
        </p:txBody>
      </p:sp>
      <p:sp>
        <p:nvSpPr>
          <p:cNvPr id="10" name="cpe|exhibit|fill|9"/>
          <p:cNvSpPr/>
          <p:nvPr/>
        </p:nvSpPr>
        <p:spPr>
          <a:xfrm>
            <a:off x="8558212" y="1481328"/>
            <a:ext cx="3112275" cy="274320"/>
          </a:xfrm>
          <a:prstGeom prst="rect">
            <a:avLst/>
          </a:prstGeom>
          <a:solidFill>
            <a:srgbClr val="0B1F3A"/>
          </a:solidFill>
          <a:ln>
            <a:noFill/>
          </a:ln>
        </p:spPr>
        <p:txBody>
          <a:bodyPr rtlCol="0" anchor="ctr" lIns="0" rIns="0" tIns="0" bIns="0"/>
          <a:lstStyle/>
          <a:p>
            <a:pPr algn="ctr"/>
          </a:p>
        </p:txBody>
      </p:sp>
      <p:sp>
        <p:nvSpPr>
          <p:cNvPr id="11" name="cpe|exhibit|text|10"/>
          <p:cNvSpPr txBox="1"/>
          <p:nvPr/>
        </p:nvSpPr>
        <p:spPr>
          <a:xfrm>
            <a:off x="8594788" y="1481328"/>
            <a:ext cx="3039123" cy="274320"/>
          </a:xfrm>
          <a:prstGeom prst="rect">
            <a:avLst/>
          </a:prstGeom>
          <a:noFill/>
        </p:spPr>
        <p:txBody>
          <a:bodyPr wrap="square" lIns="0" rIns="0" tIns="0" bIns="0" anchor="ctr">
            <a:noAutofit/>
          </a:bodyPr>
          <a:lstStyle/>
          <a:p>
            <a:pPr algn="ctr">
              <a:lnSpc>
                <a:spcPct val="100000"/>
              </a:lnSpc>
            </a:pPr>
            <a:r>
              <a:rPr sz="1000" b="1">
                <a:solidFill>
                  <a:srgbClr val="FFFFFF"/>
                </a:solidFill>
                <a:latin typeface="Arial"/>
              </a:rPr>
              <a:t>Wave 3: Scale</a:t>
            </a:r>
          </a:p>
        </p:txBody>
      </p:sp>
      <p:sp>
        <p:nvSpPr>
          <p:cNvPr id="12" name="cpe|exhibit|text|11"/>
          <p:cNvSpPr txBox="1"/>
          <p:nvPr/>
        </p:nvSpPr>
        <p:spPr>
          <a:xfrm>
            <a:off x="3291840" y="1828800"/>
            <a:ext cx="1049617" cy="256032"/>
          </a:xfrm>
          <a:prstGeom prst="rect">
            <a:avLst/>
          </a:prstGeom>
          <a:noFill/>
        </p:spPr>
        <p:txBody>
          <a:bodyPr wrap="square" lIns="0" rIns="0" tIns="0" bIns="0" anchor="t">
            <a:noAutofit/>
          </a:bodyPr>
          <a:lstStyle/>
          <a:p>
            <a:pPr algn="ctr">
              <a:lnSpc>
                <a:spcPct val="100000"/>
              </a:lnSpc>
            </a:pPr>
            <a:r>
              <a:rPr sz="1000" b="0">
                <a:solidFill>
                  <a:srgbClr val="5E6A77"/>
                </a:solidFill>
                <a:latin typeface="Arial"/>
              </a:rPr>
              <a:t>Q1 26</a:t>
            </a:r>
          </a:p>
        </p:txBody>
      </p:sp>
      <p:sp>
        <p:nvSpPr>
          <p:cNvPr id="13" name="cpe|exhibit|text|12"/>
          <p:cNvSpPr txBox="1"/>
          <p:nvPr/>
        </p:nvSpPr>
        <p:spPr>
          <a:xfrm>
            <a:off x="4341457" y="1828800"/>
            <a:ext cx="1049617" cy="256032"/>
          </a:xfrm>
          <a:prstGeom prst="rect">
            <a:avLst/>
          </a:prstGeom>
          <a:noFill/>
        </p:spPr>
        <p:txBody>
          <a:bodyPr wrap="square" lIns="0" rIns="0" tIns="0" bIns="0" anchor="t">
            <a:noAutofit/>
          </a:bodyPr>
          <a:lstStyle/>
          <a:p>
            <a:pPr algn="ctr">
              <a:lnSpc>
                <a:spcPct val="100000"/>
              </a:lnSpc>
            </a:pPr>
            <a:r>
              <a:rPr sz="1000" b="0">
                <a:solidFill>
                  <a:srgbClr val="5E6A77"/>
                </a:solidFill>
                <a:latin typeface="Arial"/>
              </a:rPr>
              <a:t>Q2 26</a:t>
            </a:r>
          </a:p>
        </p:txBody>
      </p:sp>
      <p:sp>
        <p:nvSpPr>
          <p:cNvPr id="14" name="cpe|exhibit|text|13"/>
          <p:cNvSpPr txBox="1"/>
          <p:nvPr/>
        </p:nvSpPr>
        <p:spPr>
          <a:xfrm>
            <a:off x="5391074" y="1828800"/>
            <a:ext cx="1049617" cy="256032"/>
          </a:xfrm>
          <a:prstGeom prst="rect">
            <a:avLst/>
          </a:prstGeom>
          <a:noFill/>
        </p:spPr>
        <p:txBody>
          <a:bodyPr wrap="square" lIns="0" rIns="0" tIns="0" bIns="0" anchor="t">
            <a:noAutofit/>
          </a:bodyPr>
          <a:lstStyle/>
          <a:p>
            <a:pPr algn="ctr">
              <a:lnSpc>
                <a:spcPct val="100000"/>
              </a:lnSpc>
            </a:pPr>
            <a:r>
              <a:rPr sz="1000" b="0">
                <a:solidFill>
                  <a:srgbClr val="5E6A77"/>
                </a:solidFill>
                <a:latin typeface="Arial"/>
              </a:rPr>
              <a:t>Q3 26</a:t>
            </a:r>
          </a:p>
        </p:txBody>
      </p:sp>
      <p:sp>
        <p:nvSpPr>
          <p:cNvPr id="15" name="cpe|exhibit|text|14"/>
          <p:cNvSpPr txBox="1"/>
          <p:nvPr/>
        </p:nvSpPr>
        <p:spPr>
          <a:xfrm>
            <a:off x="6440691" y="1828800"/>
            <a:ext cx="1049617" cy="256032"/>
          </a:xfrm>
          <a:prstGeom prst="rect">
            <a:avLst/>
          </a:prstGeom>
          <a:noFill/>
        </p:spPr>
        <p:txBody>
          <a:bodyPr wrap="square" lIns="0" rIns="0" tIns="0" bIns="0" anchor="t">
            <a:noAutofit/>
          </a:bodyPr>
          <a:lstStyle/>
          <a:p>
            <a:pPr algn="ctr">
              <a:lnSpc>
                <a:spcPct val="100000"/>
              </a:lnSpc>
            </a:pPr>
            <a:r>
              <a:rPr sz="1000" b="0">
                <a:solidFill>
                  <a:srgbClr val="5E6A77"/>
                </a:solidFill>
                <a:latin typeface="Arial"/>
              </a:rPr>
              <a:t>Q4 26</a:t>
            </a:r>
          </a:p>
        </p:txBody>
      </p:sp>
      <p:sp>
        <p:nvSpPr>
          <p:cNvPr id="16" name="cpe|exhibit|text|15"/>
          <p:cNvSpPr txBox="1"/>
          <p:nvPr/>
        </p:nvSpPr>
        <p:spPr>
          <a:xfrm>
            <a:off x="7490308" y="1828800"/>
            <a:ext cx="1049617" cy="256032"/>
          </a:xfrm>
          <a:prstGeom prst="rect">
            <a:avLst/>
          </a:prstGeom>
          <a:noFill/>
        </p:spPr>
        <p:txBody>
          <a:bodyPr wrap="square" lIns="0" rIns="0" tIns="0" bIns="0" anchor="t">
            <a:noAutofit/>
          </a:bodyPr>
          <a:lstStyle/>
          <a:p>
            <a:pPr algn="ctr">
              <a:lnSpc>
                <a:spcPct val="100000"/>
              </a:lnSpc>
            </a:pPr>
            <a:r>
              <a:rPr sz="1000" b="0">
                <a:solidFill>
                  <a:srgbClr val="5E6A77"/>
                </a:solidFill>
                <a:latin typeface="Arial"/>
              </a:rPr>
              <a:t>Q1 27</a:t>
            </a:r>
          </a:p>
        </p:txBody>
      </p:sp>
      <p:sp>
        <p:nvSpPr>
          <p:cNvPr id="17" name="cpe|exhibit|text|16"/>
          <p:cNvSpPr txBox="1"/>
          <p:nvPr/>
        </p:nvSpPr>
        <p:spPr>
          <a:xfrm>
            <a:off x="8539924" y="1828800"/>
            <a:ext cx="1049617" cy="256032"/>
          </a:xfrm>
          <a:prstGeom prst="rect">
            <a:avLst/>
          </a:prstGeom>
          <a:noFill/>
        </p:spPr>
        <p:txBody>
          <a:bodyPr wrap="square" lIns="0" rIns="0" tIns="0" bIns="0" anchor="t">
            <a:noAutofit/>
          </a:bodyPr>
          <a:lstStyle/>
          <a:p>
            <a:pPr algn="ctr">
              <a:lnSpc>
                <a:spcPct val="100000"/>
              </a:lnSpc>
            </a:pPr>
            <a:r>
              <a:rPr sz="1000" b="0">
                <a:solidFill>
                  <a:srgbClr val="5E6A77"/>
                </a:solidFill>
                <a:latin typeface="Arial"/>
              </a:rPr>
              <a:t>Q2 27</a:t>
            </a:r>
          </a:p>
        </p:txBody>
      </p:sp>
      <p:sp>
        <p:nvSpPr>
          <p:cNvPr id="18" name="cpe|exhibit|text|17"/>
          <p:cNvSpPr txBox="1"/>
          <p:nvPr/>
        </p:nvSpPr>
        <p:spPr>
          <a:xfrm>
            <a:off x="9589541" y="1828800"/>
            <a:ext cx="1049617" cy="256032"/>
          </a:xfrm>
          <a:prstGeom prst="rect">
            <a:avLst/>
          </a:prstGeom>
          <a:noFill/>
        </p:spPr>
        <p:txBody>
          <a:bodyPr wrap="square" lIns="0" rIns="0" tIns="0" bIns="0" anchor="t">
            <a:noAutofit/>
          </a:bodyPr>
          <a:lstStyle/>
          <a:p>
            <a:pPr algn="ctr">
              <a:lnSpc>
                <a:spcPct val="100000"/>
              </a:lnSpc>
            </a:pPr>
            <a:r>
              <a:rPr sz="1000" b="0">
                <a:solidFill>
                  <a:srgbClr val="5E6A77"/>
                </a:solidFill>
                <a:latin typeface="Arial"/>
              </a:rPr>
              <a:t>Q3 27</a:t>
            </a:r>
          </a:p>
        </p:txBody>
      </p:sp>
      <p:sp>
        <p:nvSpPr>
          <p:cNvPr id="19" name="cpe|exhibit|text|18"/>
          <p:cNvSpPr txBox="1"/>
          <p:nvPr/>
        </p:nvSpPr>
        <p:spPr>
          <a:xfrm>
            <a:off x="10639158" y="1828800"/>
            <a:ext cx="1049617" cy="256032"/>
          </a:xfrm>
          <a:prstGeom prst="rect">
            <a:avLst/>
          </a:prstGeom>
          <a:noFill/>
        </p:spPr>
        <p:txBody>
          <a:bodyPr wrap="square" lIns="0" rIns="0" tIns="0" bIns="0" anchor="t">
            <a:noAutofit/>
          </a:bodyPr>
          <a:lstStyle/>
          <a:p>
            <a:pPr algn="ctr">
              <a:lnSpc>
                <a:spcPct val="100000"/>
              </a:lnSpc>
            </a:pPr>
            <a:r>
              <a:rPr sz="1000" b="0">
                <a:solidFill>
                  <a:srgbClr val="5E6A77"/>
                </a:solidFill>
                <a:latin typeface="Arial"/>
              </a:rPr>
              <a:t>Q4 27</a:t>
            </a:r>
          </a:p>
        </p:txBody>
      </p:sp>
      <p:cxnSp>
        <p:nvCxnSpPr>
          <p:cNvPr id="20" name="cpe|exhibit|line|19"/>
          <p:cNvCxnSpPr/>
          <p:nvPr/>
        </p:nvCxnSpPr>
        <p:spPr>
          <a:xfrm>
            <a:off x="502920" y="2121408"/>
            <a:ext cx="11185855" cy="0"/>
          </a:xfrm>
          <a:prstGeom prst="line">
            <a:avLst/>
          </a:prstGeom>
          <a:ln w="9525">
            <a:solidFill>
              <a:srgbClr val="0B1F3A"/>
            </a:solidFill>
          </a:ln>
        </p:spPr>
      </p:cxnSp>
      <p:cxnSp>
        <p:nvCxnSpPr>
          <p:cNvPr id="21" name="cpe|exhibit|line|20"/>
          <p:cNvCxnSpPr/>
          <p:nvPr/>
        </p:nvCxnSpPr>
        <p:spPr>
          <a:xfrm>
            <a:off x="4341457" y="2121408"/>
            <a:ext cx="0" cy="3401568"/>
          </a:xfrm>
          <a:prstGeom prst="line">
            <a:avLst/>
          </a:prstGeom>
          <a:ln w="6350">
            <a:solidFill>
              <a:srgbClr val="E3E7EB"/>
            </a:solidFill>
          </a:ln>
        </p:spPr>
      </p:cxnSp>
      <p:cxnSp>
        <p:nvCxnSpPr>
          <p:cNvPr id="22" name="cpe|exhibit|line|21"/>
          <p:cNvCxnSpPr/>
          <p:nvPr/>
        </p:nvCxnSpPr>
        <p:spPr>
          <a:xfrm>
            <a:off x="5391074" y="2121408"/>
            <a:ext cx="0" cy="3401568"/>
          </a:xfrm>
          <a:prstGeom prst="line">
            <a:avLst/>
          </a:prstGeom>
          <a:ln w="6350">
            <a:solidFill>
              <a:srgbClr val="E3E7EB"/>
            </a:solidFill>
          </a:ln>
        </p:spPr>
      </p:cxnSp>
      <p:cxnSp>
        <p:nvCxnSpPr>
          <p:cNvPr id="23" name="cpe|exhibit|line|22"/>
          <p:cNvCxnSpPr/>
          <p:nvPr/>
        </p:nvCxnSpPr>
        <p:spPr>
          <a:xfrm>
            <a:off x="6440691" y="2121408"/>
            <a:ext cx="0" cy="3401568"/>
          </a:xfrm>
          <a:prstGeom prst="line">
            <a:avLst/>
          </a:prstGeom>
          <a:ln w="6350">
            <a:solidFill>
              <a:srgbClr val="E3E7EB"/>
            </a:solidFill>
          </a:ln>
        </p:spPr>
      </p:cxnSp>
      <p:cxnSp>
        <p:nvCxnSpPr>
          <p:cNvPr id="24" name="cpe|exhibit|line|23"/>
          <p:cNvCxnSpPr/>
          <p:nvPr/>
        </p:nvCxnSpPr>
        <p:spPr>
          <a:xfrm>
            <a:off x="7490308" y="2121408"/>
            <a:ext cx="0" cy="3401568"/>
          </a:xfrm>
          <a:prstGeom prst="line">
            <a:avLst/>
          </a:prstGeom>
          <a:ln w="6350">
            <a:solidFill>
              <a:srgbClr val="E3E7EB"/>
            </a:solidFill>
          </a:ln>
        </p:spPr>
      </p:cxnSp>
      <p:cxnSp>
        <p:nvCxnSpPr>
          <p:cNvPr id="25" name="cpe|exhibit|line|24"/>
          <p:cNvCxnSpPr/>
          <p:nvPr/>
        </p:nvCxnSpPr>
        <p:spPr>
          <a:xfrm>
            <a:off x="8539924" y="2121408"/>
            <a:ext cx="0" cy="3401568"/>
          </a:xfrm>
          <a:prstGeom prst="line">
            <a:avLst/>
          </a:prstGeom>
          <a:ln w="6350">
            <a:solidFill>
              <a:srgbClr val="E3E7EB"/>
            </a:solidFill>
          </a:ln>
        </p:spPr>
      </p:cxnSp>
      <p:cxnSp>
        <p:nvCxnSpPr>
          <p:cNvPr id="26" name="cpe|exhibit|line|25"/>
          <p:cNvCxnSpPr/>
          <p:nvPr/>
        </p:nvCxnSpPr>
        <p:spPr>
          <a:xfrm>
            <a:off x="9589541" y="2121408"/>
            <a:ext cx="0" cy="3401568"/>
          </a:xfrm>
          <a:prstGeom prst="line">
            <a:avLst/>
          </a:prstGeom>
          <a:ln w="6350">
            <a:solidFill>
              <a:srgbClr val="E3E7EB"/>
            </a:solidFill>
          </a:ln>
        </p:spPr>
      </p:cxnSp>
      <p:cxnSp>
        <p:nvCxnSpPr>
          <p:cNvPr id="27" name="cpe|exhibit|line|26"/>
          <p:cNvCxnSpPr/>
          <p:nvPr/>
        </p:nvCxnSpPr>
        <p:spPr>
          <a:xfrm>
            <a:off x="10639158" y="2121408"/>
            <a:ext cx="0" cy="3401568"/>
          </a:xfrm>
          <a:prstGeom prst="line">
            <a:avLst/>
          </a:prstGeom>
          <a:ln w="6350">
            <a:solidFill>
              <a:srgbClr val="E3E7EB"/>
            </a:solidFill>
          </a:ln>
        </p:spPr>
      </p:cxnSp>
      <p:cxnSp>
        <p:nvCxnSpPr>
          <p:cNvPr id="28" name="cpe|exhibit|connector|27"/>
          <p:cNvCxnSpPr/>
          <p:nvPr/>
        </p:nvCxnSpPr>
        <p:spPr>
          <a:xfrm>
            <a:off x="3816648" y="2075688"/>
            <a:ext cx="0" cy="3447288"/>
          </a:xfrm>
          <a:prstGeom prst="line">
            <a:avLst/>
          </a:prstGeom>
          <a:ln w="9525">
            <a:solidFill>
              <a:srgbClr val="00A3AD"/>
            </a:solidFill>
            <a:prstDash val="dash"/>
          </a:ln>
        </p:spPr>
      </p:cxnSp>
      <p:sp>
        <p:nvSpPr>
          <p:cNvPr id="29" name="cpe|exhibit|label|28"/>
          <p:cNvSpPr txBox="1"/>
          <p:nvPr/>
        </p:nvSpPr>
        <p:spPr>
          <a:xfrm>
            <a:off x="3359448" y="5541264"/>
            <a:ext cx="914400" cy="201168"/>
          </a:xfrm>
          <a:prstGeom prst="rect">
            <a:avLst/>
          </a:prstGeom>
          <a:noFill/>
        </p:spPr>
        <p:txBody>
          <a:bodyPr wrap="square" lIns="0" rIns="0" tIns="0" bIns="0" anchor="t">
            <a:noAutofit/>
          </a:bodyPr>
          <a:lstStyle/>
          <a:p>
            <a:pPr algn="ctr">
              <a:lnSpc>
                <a:spcPct val="100000"/>
              </a:lnSpc>
            </a:pPr>
            <a:r>
              <a:rPr sz="900" b="1">
                <a:solidFill>
                  <a:srgbClr val="5E6A77"/>
                </a:solidFill>
                <a:latin typeface="Arial"/>
              </a:rPr>
              <a:t>Today</a:t>
            </a:r>
          </a:p>
        </p:txBody>
      </p:sp>
      <p:sp>
        <p:nvSpPr>
          <p:cNvPr id="30" name="cpe|exhibit|text|29"/>
          <p:cNvSpPr txBox="1"/>
          <p:nvPr/>
        </p:nvSpPr>
        <p:spPr>
          <a:xfrm>
            <a:off x="502920" y="2121408"/>
            <a:ext cx="2651760" cy="566928"/>
          </a:xfrm>
          <a:prstGeom prst="rect">
            <a:avLst/>
          </a:prstGeom>
          <a:noFill/>
        </p:spPr>
        <p:txBody>
          <a:bodyPr wrap="square" lIns="0" rIns="0" tIns="0" bIns="0" anchor="ctr">
            <a:noAutofit/>
          </a:bodyPr>
          <a:lstStyle/>
          <a:p>
            <a:pPr algn="l">
              <a:lnSpc>
                <a:spcPct val="100000"/>
              </a:lnSpc>
            </a:pPr>
            <a:r>
              <a:rPr sz="1150" b="0">
                <a:solidFill>
                  <a:srgbClr val="1E252D"/>
                </a:solidFill>
                <a:latin typeface="Arial"/>
              </a:rPr>
              <a:t>Pricing &amp; promo reset</a:t>
            </a:r>
          </a:p>
        </p:txBody>
      </p:sp>
      <p:sp>
        <p:nvSpPr>
          <p:cNvPr id="31" name="cpe|exhibit|fill|30"/>
          <p:cNvSpPr/>
          <p:nvPr/>
        </p:nvSpPr>
        <p:spPr>
          <a:xfrm>
            <a:off x="3319272" y="2257471"/>
            <a:ext cx="3093987" cy="294803"/>
          </a:xfrm>
          <a:prstGeom prst="rect">
            <a:avLst/>
          </a:prstGeom>
          <a:solidFill>
            <a:srgbClr val="3D6399"/>
          </a:solidFill>
          <a:ln>
            <a:noFill/>
          </a:ln>
        </p:spPr>
        <p:txBody>
          <a:bodyPr rtlCol="0" anchor="ctr" lIns="0" rIns="0" tIns="0" bIns="0"/>
          <a:lstStyle/>
          <a:p>
            <a:pPr algn="ctr"/>
          </a:p>
        </p:txBody>
      </p:sp>
      <p:sp>
        <p:nvSpPr>
          <p:cNvPr id="32" name="cpe|exhibit|text|31"/>
          <p:cNvSpPr txBox="1"/>
          <p:nvPr/>
        </p:nvSpPr>
        <p:spPr>
          <a:xfrm>
            <a:off x="3374136" y="2257471"/>
            <a:ext cx="2984259" cy="294803"/>
          </a:xfrm>
          <a:prstGeom prst="rect">
            <a:avLst/>
          </a:prstGeom>
          <a:noFill/>
        </p:spPr>
        <p:txBody>
          <a:bodyPr wrap="square" lIns="0" rIns="0" tIns="0" bIns="0" anchor="ctr">
            <a:noAutofit/>
          </a:bodyPr>
          <a:lstStyle/>
          <a:p>
            <a:pPr algn="l">
              <a:lnSpc>
                <a:spcPct val="100000"/>
              </a:lnSpc>
            </a:pPr>
            <a:r>
              <a:rPr sz="1000" b="0">
                <a:solidFill>
                  <a:srgbClr val="FFFFFF"/>
                </a:solidFill>
                <a:latin typeface="Arial"/>
              </a:rPr>
              <a:t>Reset 1,200 SKUs</a:t>
            </a:r>
          </a:p>
        </p:txBody>
      </p:sp>
      <p:cxnSp>
        <p:nvCxnSpPr>
          <p:cNvPr id="33" name="cpe|exhibit|line|32"/>
          <p:cNvCxnSpPr/>
          <p:nvPr/>
        </p:nvCxnSpPr>
        <p:spPr>
          <a:xfrm>
            <a:off x="502920" y="2688336"/>
            <a:ext cx="11185855" cy="0"/>
          </a:xfrm>
          <a:prstGeom prst="line">
            <a:avLst/>
          </a:prstGeom>
          <a:ln w="6350">
            <a:solidFill>
              <a:srgbClr val="E3E7EB"/>
            </a:solidFill>
          </a:ln>
        </p:spPr>
      </p:cxnSp>
      <p:sp>
        <p:nvSpPr>
          <p:cNvPr id="34" name="cpe|exhibit|text|33"/>
          <p:cNvSpPr txBox="1"/>
          <p:nvPr/>
        </p:nvSpPr>
        <p:spPr>
          <a:xfrm>
            <a:off x="502920" y="2688336"/>
            <a:ext cx="2651760" cy="566928"/>
          </a:xfrm>
          <a:prstGeom prst="rect">
            <a:avLst/>
          </a:prstGeom>
          <a:noFill/>
        </p:spPr>
        <p:txBody>
          <a:bodyPr wrap="square" lIns="0" rIns="0" tIns="0" bIns="0" anchor="ctr">
            <a:noAutofit/>
          </a:bodyPr>
          <a:lstStyle/>
          <a:p>
            <a:pPr algn="l">
              <a:lnSpc>
                <a:spcPct val="100000"/>
              </a:lnSpc>
            </a:pPr>
            <a:r>
              <a:rPr sz="1150" b="0">
                <a:solidFill>
                  <a:srgbClr val="1E252D"/>
                </a:solidFill>
                <a:latin typeface="Arial"/>
              </a:rPr>
              <a:t>Fresh &amp; food-to-go margins</a:t>
            </a:r>
          </a:p>
        </p:txBody>
      </p:sp>
      <p:sp>
        <p:nvSpPr>
          <p:cNvPr id="35" name="cpe|exhibit|fill|34"/>
          <p:cNvSpPr/>
          <p:nvPr/>
        </p:nvSpPr>
        <p:spPr>
          <a:xfrm>
            <a:off x="3319272" y="2824399"/>
            <a:ext cx="4143604" cy="294803"/>
          </a:xfrm>
          <a:prstGeom prst="rect">
            <a:avLst/>
          </a:prstGeom>
          <a:solidFill>
            <a:srgbClr val="3D6399"/>
          </a:solidFill>
          <a:ln>
            <a:noFill/>
          </a:ln>
        </p:spPr>
        <p:txBody>
          <a:bodyPr rtlCol="0" anchor="ctr" lIns="0" rIns="0" tIns="0" bIns="0"/>
          <a:lstStyle/>
          <a:p>
            <a:pPr algn="ctr"/>
          </a:p>
        </p:txBody>
      </p:sp>
      <p:sp>
        <p:nvSpPr>
          <p:cNvPr id="36" name="cpe|exhibit|text|35"/>
          <p:cNvSpPr txBox="1"/>
          <p:nvPr/>
        </p:nvSpPr>
        <p:spPr>
          <a:xfrm>
            <a:off x="3374136" y="2824399"/>
            <a:ext cx="4033876" cy="294803"/>
          </a:xfrm>
          <a:prstGeom prst="rect">
            <a:avLst/>
          </a:prstGeom>
          <a:noFill/>
        </p:spPr>
        <p:txBody>
          <a:bodyPr wrap="square" lIns="0" rIns="0" tIns="0" bIns="0" anchor="ctr">
            <a:noAutofit/>
          </a:bodyPr>
          <a:lstStyle/>
          <a:p>
            <a:pPr algn="l">
              <a:lnSpc>
                <a:spcPct val="100000"/>
              </a:lnSpc>
            </a:pPr>
            <a:r>
              <a:rPr sz="1000" b="0">
                <a:solidFill>
                  <a:srgbClr val="FFFFFF"/>
                </a:solidFill>
                <a:latin typeface="Arial"/>
              </a:rPr>
              <a:t>Waste &amp; range</a:t>
            </a:r>
          </a:p>
        </p:txBody>
      </p:sp>
      <p:cxnSp>
        <p:nvCxnSpPr>
          <p:cNvPr id="37" name="cpe|exhibit|line|36"/>
          <p:cNvCxnSpPr/>
          <p:nvPr/>
        </p:nvCxnSpPr>
        <p:spPr>
          <a:xfrm>
            <a:off x="502920" y="3255264"/>
            <a:ext cx="11185855" cy="0"/>
          </a:xfrm>
          <a:prstGeom prst="line">
            <a:avLst/>
          </a:prstGeom>
          <a:ln w="6350">
            <a:solidFill>
              <a:srgbClr val="E3E7EB"/>
            </a:solidFill>
          </a:ln>
        </p:spPr>
      </p:cxnSp>
      <p:sp>
        <p:nvSpPr>
          <p:cNvPr id="38" name="cpe|exhibit|text|37"/>
          <p:cNvSpPr txBox="1"/>
          <p:nvPr/>
        </p:nvSpPr>
        <p:spPr>
          <a:xfrm>
            <a:off x="502920" y="3255264"/>
            <a:ext cx="2651760" cy="566928"/>
          </a:xfrm>
          <a:prstGeom prst="rect">
            <a:avLst/>
          </a:prstGeom>
          <a:noFill/>
        </p:spPr>
        <p:txBody>
          <a:bodyPr wrap="square" lIns="0" rIns="0" tIns="0" bIns="0" anchor="ctr">
            <a:noAutofit/>
          </a:bodyPr>
          <a:lstStyle/>
          <a:p>
            <a:pPr algn="l">
              <a:lnSpc>
                <a:spcPct val="100000"/>
              </a:lnSpc>
            </a:pPr>
            <a:r>
              <a:rPr sz="1150" b="0">
                <a:solidFill>
                  <a:srgbClr val="1E252D"/>
                </a:solidFill>
                <a:latin typeface="Arial"/>
              </a:rPr>
              <a:t>Cost programme</a:t>
            </a:r>
          </a:p>
        </p:txBody>
      </p:sp>
      <p:sp>
        <p:nvSpPr>
          <p:cNvPr id="39" name="cpe|exhibit|fill|38"/>
          <p:cNvSpPr/>
          <p:nvPr/>
        </p:nvSpPr>
        <p:spPr>
          <a:xfrm>
            <a:off x="4368889" y="3391327"/>
            <a:ext cx="6242837" cy="294803"/>
          </a:xfrm>
          <a:prstGeom prst="rect">
            <a:avLst/>
          </a:prstGeom>
          <a:solidFill>
            <a:srgbClr val="3D6399"/>
          </a:solidFill>
          <a:ln>
            <a:noFill/>
          </a:ln>
        </p:spPr>
        <p:txBody>
          <a:bodyPr rtlCol="0" anchor="ctr" lIns="0" rIns="0" tIns="0" bIns="0"/>
          <a:lstStyle/>
          <a:p>
            <a:pPr algn="ctr"/>
          </a:p>
        </p:txBody>
      </p:sp>
      <p:sp>
        <p:nvSpPr>
          <p:cNvPr id="40" name="cpe|exhibit|text|39"/>
          <p:cNvSpPr txBox="1"/>
          <p:nvPr/>
        </p:nvSpPr>
        <p:spPr>
          <a:xfrm>
            <a:off x="4423753" y="3391327"/>
            <a:ext cx="6133109" cy="294803"/>
          </a:xfrm>
          <a:prstGeom prst="rect">
            <a:avLst/>
          </a:prstGeom>
          <a:noFill/>
        </p:spPr>
        <p:txBody>
          <a:bodyPr wrap="square" lIns="0" rIns="0" tIns="0" bIns="0" anchor="ctr">
            <a:noAutofit/>
          </a:bodyPr>
          <a:lstStyle/>
          <a:p>
            <a:pPr algn="l">
              <a:lnSpc>
                <a:spcPct val="100000"/>
              </a:lnSpc>
            </a:pPr>
            <a:r>
              <a:rPr sz="1000" b="0">
                <a:solidFill>
                  <a:srgbClr val="FFFFFF"/>
                </a:solidFill>
                <a:latin typeface="Arial"/>
              </a:rPr>
              <a:t>Labour scheduling, energy</a:t>
            </a:r>
          </a:p>
        </p:txBody>
      </p:sp>
      <p:cxnSp>
        <p:nvCxnSpPr>
          <p:cNvPr id="41" name="cpe|exhibit|line|40"/>
          <p:cNvCxnSpPr/>
          <p:nvPr/>
        </p:nvCxnSpPr>
        <p:spPr>
          <a:xfrm>
            <a:off x="502920" y="3822192"/>
            <a:ext cx="11185855" cy="0"/>
          </a:xfrm>
          <a:prstGeom prst="line">
            <a:avLst/>
          </a:prstGeom>
          <a:ln w="6350">
            <a:solidFill>
              <a:srgbClr val="E3E7EB"/>
            </a:solidFill>
          </a:ln>
        </p:spPr>
      </p:cxnSp>
      <p:sp>
        <p:nvSpPr>
          <p:cNvPr id="42" name="cpe|exhibit|text|41"/>
          <p:cNvSpPr txBox="1"/>
          <p:nvPr/>
        </p:nvSpPr>
        <p:spPr>
          <a:xfrm>
            <a:off x="502920" y="3822192"/>
            <a:ext cx="2651760" cy="566928"/>
          </a:xfrm>
          <a:prstGeom prst="rect">
            <a:avLst/>
          </a:prstGeom>
          <a:noFill/>
        </p:spPr>
        <p:txBody>
          <a:bodyPr wrap="square" lIns="0" rIns="0" tIns="0" bIns="0" anchor="ctr">
            <a:noAutofit/>
          </a:bodyPr>
          <a:lstStyle/>
          <a:p>
            <a:pPr algn="l">
              <a:lnSpc>
                <a:spcPct val="100000"/>
              </a:lnSpc>
            </a:pPr>
            <a:r>
              <a:rPr sz="1150" b="0">
                <a:solidFill>
                  <a:srgbClr val="1E252D"/>
                </a:solidFill>
                <a:latin typeface="Arial"/>
              </a:rPr>
              <a:t>Private label</a:t>
            </a:r>
          </a:p>
        </p:txBody>
      </p:sp>
      <p:sp>
        <p:nvSpPr>
          <p:cNvPr id="43" name="cpe|exhibit|fill|42"/>
          <p:cNvSpPr/>
          <p:nvPr/>
        </p:nvSpPr>
        <p:spPr>
          <a:xfrm>
            <a:off x="5418506" y="3958255"/>
            <a:ext cx="6242837" cy="294803"/>
          </a:xfrm>
          <a:prstGeom prst="rect">
            <a:avLst/>
          </a:prstGeom>
          <a:solidFill>
            <a:srgbClr val="3D6399"/>
          </a:solidFill>
          <a:ln>
            <a:noFill/>
          </a:ln>
        </p:spPr>
        <p:txBody>
          <a:bodyPr rtlCol="0" anchor="ctr" lIns="0" rIns="0" tIns="0" bIns="0"/>
          <a:lstStyle/>
          <a:p>
            <a:pPr algn="ctr"/>
          </a:p>
        </p:txBody>
      </p:sp>
      <p:sp>
        <p:nvSpPr>
          <p:cNvPr id="44" name="cpe|exhibit|text|43"/>
          <p:cNvSpPr txBox="1"/>
          <p:nvPr/>
        </p:nvSpPr>
        <p:spPr>
          <a:xfrm>
            <a:off x="5473370" y="3958255"/>
            <a:ext cx="6133109" cy="294803"/>
          </a:xfrm>
          <a:prstGeom prst="rect">
            <a:avLst/>
          </a:prstGeom>
          <a:noFill/>
        </p:spPr>
        <p:txBody>
          <a:bodyPr wrap="square" lIns="0" rIns="0" tIns="0" bIns="0" anchor="ctr">
            <a:noAutofit/>
          </a:bodyPr>
          <a:lstStyle/>
          <a:p>
            <a:pPr algn="l">
              <a:lnSpc>
                <a:spcPct val="100000"/>
              </a:lnSpc>
            </a:pPr>
            <a:r>
              <a:rPr sz="1000" b="0">
                <a:solidFill>
                  <a:srgbClr val="FFFFFF"/>
                </a:solidFill>
                <a:latin typeface="Arial"/>
              </a:rPr>
              <a:t>25% → 35% of sales</a:t>
            </a:r>
          </a:p>
        </p:txBody>
      </p:sp>
      <p:cxnSp>
        <p:nvCxnSpPr>
          <p:cNvPr id="45" name="cpe|exhibit|line|44"/>
          <p:cNvCxnSpPr/>
          <p:nvPr/>
        </p:nvCxnSpPr>
        <p:spPr>
          <a:xfrm>
            <a:off x="502920" y="4389120"/>
            <a:ext cx="11185855" cy="0"/>
          </a:xfrm>
          <a:prstGeom prst="line">
            <a:avLst/>
          </a:prstGeom>
          <a:ln w="6350">
            <a:solidFill>
              <a:srgbClr val="E3E7EB"/>
            </a:solidFill>
          </a:ln>
        </p:spPr>
      </p:cxnSp>
      <p:sp>
        <p:nvSpPr>
          <p:cNvPr id="46" name="cpe|exhibit|text|45"/>
          <p:cNvSpPr txBox="1"/>
          <p:nvPr/>
        </p:nvSpPr>
        <p:spPr>
          <a:xfrm>
            <a:off x="502920" y="4389120"/>
            <a:ext cx="2651760" cy="566928"/>
          </a:xfrm>
          <a:prstGeom prst="rect">
            <a:avLst/>
          </a:prstGeom>
          <a:noFill/>
        </p:spPr>
        <p:txBody>
          <a:bodyPr wrap="square" lIns="0" rIns="0" tIns="0" bIns="0" anchor="ctr">
            <a:noAutofit/>
          </a:bodyPr>
          <a:lstStyle/>
          <a:p>
            <a:pPr algn="l">
              <a:lnSpc>
                <a:spcPct val="100000"/>
              </a:lnSpc>
            </a:pPr>
            <a:r>
              <a:rPr sz="1150" b="0">
                <a:solidFill>
                  <a:srgbClr val="1E252D"/>
                </a:solidFill>
                <a:latin typeface="Arial"/>
              </a:rPr>
              <a:t>Discount banner</a:t>
            </a:r>
          </a:p>
        </p:txBody>
      </p:sp>
      <p:sp>
        <p:nvSpPr>
          <p:cNvPr id="47" name="cpe|exhibit|fill|46"/>
          <p:cNvSpPr/>
          <p:nvPr/>
        </p:nvSpPr>
        <p:spPr>
          <a:xfrm>
            <a:off x="6468123" y="4604553"/>
            <a:ext cx="2044370" cy="294803"/>
          </a:xfrm>
          <a:prstGeom prst="rect">
            <a:avLst/>
          </a:prstGeom>
          <a:solidFill>
            <a:srgbClr val="00A3AD"/>
          </a:solidFill>
          <a:ln>
            <a:noFill/>
          </a:ln>
        </p:spPr>
        <p:txBody>
          <a:bodyPr rtlCol="0" anchor="ctr" lIns="0" rIns="0" tIns="0" bIns="0"/>
          <a:lstStyle/>
          <a:p>
            <a:pPr algn="ctr"/>
          </a:p>
        </p:txBody>
      </p:sp>
      <p:sp>
        <p:nvSpPr>
          <p:cNvPr id="48" name="cpe|exhibit|text|47"/>
          <p:cNvSpPr txBox="1"/>
          <p:nvPr/>
        </p:nvSpPr>
        <p:spPr>
          <a:xfrm>
            <a:off x="6522987" y="4604553"/>
            <a:ext cx="1934642" cy="294803"/>
          </a:xfrm>
          <a:prstGeom prst="rect">
            <a:avLst/>
          </a:prstGeom>
          <a:noFill/>
        </p:spPr>
        <p:txBody>
          <a:bodyPr wrap="square" lIns="0" rIns="0" tIns="0" bIns="0" anchor="ctr">
            <a:noAutofit/>
          </a:bodyPr>
          <a:lstStyle/>
          <a:p>
            <a:pPr algn="l">
              <a:lnSpc>
                <a:spcPct val="100000"/>
              </a:lnSpc>
            </a:pPr>
            <a:r>
              <a:rPr sz="1000" b="0">
                <a:solidFill>
                  <a:srgbClr val="1E252D"/>
                </a:solidFill>
                <a:latin typeface="Arial"/>
              </a:rPr>
              <a:t>Pilot 20 stores</a:t>
            </a:r>
          </a:p>
        </p:txBody>
      </p:sp>
      <p:sp>
        <p:nvSpPr>
          <p:cNvPr id="49" name="cpe|exhibit|fill|48"/>
          <p:cNvSpPr/>
          <p:nvPr/>
        </p:nvSpPr>
        <p:spPr>
          <a:xfrm>
            <a:off x="8567356" y="4604553"/>
            <a:ext cx="3093987" cy="294803"/>
          </a:xfrm>
          <a:prstGeom prst="rect">
            <a:avLst/>
          </a:prstGeom>
          <a:solidFill>
            <a:srgbClr val="3D6399"/>
          </a:solidFill>
          <a:ln>
            <a:noFill/>
          </a:ln>
        </p:spPr>
        <p:txBody>
          <a:bodyPr rtlCol="0" anchor="ctr" lIns="0" rIns="0" tIns="0" bIns="0"/>
          <a:lstStyle/>
          <a:p>
            <a:pPr algn="ctr"/>
          </a:p>
        </p:txBody>
      </p:sp>
      <p:sp>
        <p:nvSpPr>
          <p:cNvPr id="50" name="cpe|exhibit|text|49"/>
          <p:cNvSpPr txBox="1"/>
          <p:nvPr/>
        </p:nvSpPr>
        <p:spPr>
          <a:xfrm>
            <a:off x="8750236" y="4604553"/>
            <a:ext cx="2856243" cy="294803"/>
          </a:xfrm>
          <a:prstGeom prst="rect">
            <a:avLst/>
          </a:prstGeom>
          <a:noFill/>
        </p:spPr>
        <p:txBody>
          <a:bodyPr wrap="square" lIns="0" rIns="0" tIns="0" bIns="0" anchor="ctr">
            <a:noAutofit/>
          </a:bodyPr>
          <a:lstStyle/>
          <a:p>
            <a:pPr algn="l">
              <a:lnSpc>
                <a:spcPct val="100000"/>
              </a:lnSpc>
            </a:pPr>
            <a:r>
              <a:rPr sz="1000" b="0">
                <a:solidFill>
                  <a:srgbClr val="FFFFFF"/>
                </a:solidFill>
                <a:latin typeface="Arial"/>
              </a:rPr>
              <a:t>Roll out 150 stores</a:t>
            </a:r>
          </a:p>
        </p:txBody>
      </p:sp>
      <p:sp>
        <p:nvSpPr>
          <p:cNvPr id="51" name="cpe|exhibit|marker|50"/>
          <p:cNvSpPr/>
          <p:nvPr/>
        </p:nvSpPr>
        <p:spPr>
          <a:xfrm>
            <a:off x="8448484" y="4660514"/>
            <a:ext cx="182880" cy="182880"/>
          </a:xfrm>
          <a:prstGeom prst="diamond">
            <a:avLst/>
          </a:prstGeom>
          <a:solidFill>
            <a:srgbClr val="00A3AD"/>
          </a:solidFill>
          <a:ln w="9525">
            <a:solidFill>
              <a:srgbClr val="FFFFFF"/>
            </a:solidFill>
          </a:ln>
        </p:spPr>
        <p:txBody>
          <a:bodyPr rtlCol="0" anchor="ctr" lIns="0" rIns="0" tIns="0" bIns="0"/>
          <a:lstStyle/>
          <a:p>
            <a:pPr algn="ctr"/>
          </a:p>
        </p:txBody>
      </p:sp>
      <p:sp>
        <p:nvSpPr>
          <p:cNvPr id="52" name="cpe|exhibit|label|51"/>
          <p:cNvSpPr txBox="1"/>
          <p:nvPr/>
        </p:nvSpPr>
        <p:spPr>
          <a:xfrm>
            <a:off x="8224201" y="4403385"/>
            <a:ext cx="631448" cy="182880"/>
          </a:xfrm>
          <a:prstGeom prst="rect">
            <a:avLst/>
          </a:prstGeom>
          <a:noFill/>
        </p:spPr>
        <p:txBody>
          <a:bodyPr wrap="square" lIns="0" rIns="0" tIns="0" bIns="0" anchor="b">
            <a:noAutofit/>
          </a:bodyPr>
          <a:lstStyle/>
          <a:p>
            <a:pPr algn="ctr">
              <a:lnSpc>
                <a:spcPct val="100000"/>
              </a:lnSpc>
            </a:pPr>
            <a:r>
              <a:rPr sz="900" b="1">
                <a:solidFill>
                  <a:srgbClr val="1E252D"/>
                </a:solidFill>
                <a:latin typeface="Arial"/>
              </a:rPr>
              <a:t>Go / no-go</a:t>
            </a:r>
          </a:p>
        </p:txBody>
      </p:sp>
      <p:cxnSp>
        <p:nvCxnSpPr>
          <p:cNvPr id="53" name="cpe|exhibit|line|52"/>
          <p:cNvCxnSpPr/>
          <p:nvPr/>
        </p:nvCxnSpPr>
        <p:spPr>
          <a:xfrm>
            <a:off x="502920" y="4956048"/>
            <a:ext cx="11185855" cy="0"/>
          </a:xfrm>
          <a:prstGeom prst="line">
            <a:avLst/>
          </a:prstGeom>
          <a:ln w="6350">
            <a:solidFill>
              <a:srgbClr val="E3E7EB"/>
            </a:solidFill>
          </a:ln>
        </p:spPr>
      </p:cxnSp>
      <p:sp>
        <p:nvSpPr>
          <p:cNvPr id="54" name="cpe|exhibit|text|53"/>
          <p:cNvSpPr txBox="1"/>
          <p:nvPr/>
        </p:nvSpPr>
        <p:spPr>
          <a:xfrm>
            <a:off x="502920" y="4956048"/>
            <a:ext cx="2651760" cy="566928"/>
          </a:xfrm>
          <a:prstGeom prst="rect">
            <a:avLst/>
          </a:prstGeom>
          <a:noFill/>
        </p:spPr>
        <p:txBody>
          <a:bodyPr wrap="square" lIns="0" rIns="0" tIns="0" bIns="0" anchor="ctr">
            <a:noAutofit/>
          </a:bodyPr>
          <a:lstStyle/>
          <a:p>
            <a:pPr algn="l">
              <a:lnSpc>
                <a:spcPct val="100000"/>
              </a:lnSpc>
            </a:pPr>
            <a:r>
              <a:rPr sz="1150" b="0">
                <a:solidFill>
                  <a:srgbClr val="1E252D"/>
                </a:solidFill>
                <a:latin typeface="Arial"/>
              </a:rPr>
              <a:t>Online fulfilment hubs</a:t>
            </a:r>
          </a:p>
        </p:txBody>
      </p:sp>
      <p:sp>
        <p:nvSpPr>
          <p:cNvPr id="55" name="cpe|exhibit|fill|54"/>
          <p:cNvSpPr/>
          <p:nvPr/>
        </p:nvSpPr>
        <p:spPr>
          <a:xfrm>
            <a:off x="7517740" y="5092111"/>
            <a:ext cx="4143604" cy="294803"/>
          </a:xfrm>
          <a:prstGeom prst="rect">
            <a:avLst/>
          </a:prstGeom>
          <a:solidFill>
            <a:srgbClr val="3D6399"/>
          </a:solidFill>
          <a:ln>
            <a:noFill/>
          </a:ln>
        </p:spPr>
        <p:txBody>
          <a:bodyPr rtlCol="0" anchor="ctr" lIns="0" rIns="0" tIns="0" bIns="0"/>
          <a:lstStyle/>
          <a:p>
            <a:pPr algn="ctr"/>
          </a:p>
        </p:txBody>
      </p:sp>
      <p:sp>
        <p:nvSpPr>
          <p:cNvPr id="56" name="cpe|exhibit|text|55"/>
          <p:cNvSpPr txBox="1"/>
          <p:nvPr/>
        </p:nvSpPr>
        <p:spPr>
          <a:xfrm>
            <a:off x="7572604" y="5092111"/>
            <a:ext cx="4033876" cy="294803"/>
          </a:xfrm>
          <a:prstGeom prst="rect">
            <a:avLst/>
          </a:prstGeom>
          <a:noFill/>
        </p:spPr>
        <p:txBody>
          <a:bodyPr wrap="square" lIns="0" rIns="0" tIns="0" bIns="0" anchor="ctr">
            <a:noAutofit/>
          </a:bodyPr>
          <a:lstStyle/>
          <a:p>
            <a:pPr algn="l">
              <a:lnSpc>
                <a:spcPct val="100000"/>
              </a:lnSpc>
            </a:pPr>
            <a:r>
              <a:rPr sz="1000" b="0">
                <a:solidFill>
                  <a:srgbClr val="FFFFFF"/>
                </a:solidFill>
                <a:latin typeface="Arial"/>
              </a:rPr>
              <a:t>2 hubs</a:t>
            </a:r>
          </a:p>
        </p:txBody>
      </p:sp>
      <p:cxnSp>
        <p:nvCxnSpPr>
          <p:cNvPr id="57" name="cpe|exhibit|line|56"/>
          <p:cNvCxnSpPr/>
          <p:nvPr/>
        </p:nvCxnSpPr>
        <p:spPr>
          <a:xfrm>
            <a:off x="502920" y="5522976"/>
            <a:ext cx="11185855" cy="0"/>
          </a:xfrm>
          <a:prstGeom prst="line">
            <a:avLst/>
          </a:prstGeom>
          <a:ln w="6350">
            <a:solidFill>
              <a:srgbClr val="E3E7EB"/>
            </a:solidFill>
          </a:ln>
        </p:spPr>
      </p:cxn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pe|chrome|text|1"/>
          <p:cNvSpPr txBox="1"/>
          <p:nvPr/>
        </p:nvSpPr>
        <p:spPr>
          <a:xfrm>
            <a:off x="502920" y="274320"/>
            <a:ext cx="7830099" cy="201168"/>
          </a:xfrm>
          <a:prstGeom prst="rect">
            <a:avLst/>
          </a:prstGeom>
          <a:noFill/>
        </p:spPr>
        <p:txBody>
          <a:bodyPr wrap="square" lIns="0" rIns="0" tIns="0" bIns="0" anchor="t">
            <a:noAutofit/>
          </a:bodyPr>
          <a:lstStyle/>
          <a:p>
            <a:pPr algn="l">
              <a:lnSpc>
                <a:spcPct val="100000"/>
              </a:lnSpc>
            </a:pPr>
            <a:r>
              <a:rPr sz="1000" b="1">
                <a:solidFill>
                  <a:srgbClr val="5E6A77"/>
                </a:solidFill>
                <a:latin typeface="Arial"/>
              </a:rPr>
              <a:t>VALUE AT STAKE</a:t>
            </a:r>
          </a:p>
        </p:txBody>
      </p:sp>
      <p:sp>
        <p:nvSpPr>
          <p:cNvPr id="3" name="cpe|chrome|text|2"/>
          <p:cNvSpPr txBox="1"/>
          <p:nvPr/>
        </p:nvSpPr>
        <p:spPr>
          <a:xfrm>
            <a:off x="502920" y="475488"/>
            <a:ext cx="10527487" cy="786384"/>
          </a:xfrm>
          <a:prstGeom prst="rect">
            <a:avLst/>
          </a:prstGeom>
          <a:noFill/>
        </p:spPr>
        <p:txBody>
          <a:bodyPr wrap="square" lIns="0" rIns="0" tIns="0" bIns="0" anchor="t">
            <a:noAutofit/>
          </a:bodyPr>
          <a:lstStyle/>
          <a:p>
            <a:pPr algn="l">
              <a:lnSpc>
                <a:spcPct val="100000"/>
              </a:lnSpc>
            </a:pPr>
            <a:r>
              <a:rPr sz="2200" b="1">
                <a:solidFill>
                  <a:srgbClr val="0B1F3A"/>
                </a:solidFill>
                <a:latin typeface="Arial"/>
              </a:rPr>
              <a:t>Five initiatives adding €250M lift EBITDA to €1,067M by 2028, net of €40M market headwinds</a:t>
            </a:r>
          </a:p>
        </p:txBody>
      </p:sp>
      <p:sp>
        <p:nvSpPr>
          <p:cNvPr id="4" name="cpe|chrome|text|3"/>
          <p:cNvSpPr txBox="1"/>
          <p:nvPr/>
        </p:nvSpPr>
        <p:spPr>
          <a:xfrm>
            <a:off x="502920" y="6272784"/>
            <a:ext cx="8808415" cy="402336"/>
          </a:xfrm>
          <a:prstGeom prst="rect">
            <a:avLst/>
          </a:prstGeom>
          <a:noFill/>
        </p:spPr>
        <p:txBody>
          <a:bodyPr wrap="square" lIns="0" rIns="0" tIns="0" bIns="0" anchor="b">
            <a:noAutofit/>
          </a:bodyPr>
          <a:lstStyle/>
          <a:p>
            <a:pPr algn="l">
              <a:lnSpc>
                <a:spcPct val="100000"/>
              </a:lnSpc>
            </a:pPr>
            <a:r>
              <a:rPr sz="800" b="0">
                <a:solidFill>
                  <a:srgbClr val="5E6A77"/>
                </a:solidFill>
                <a:latin typeface="Arial"/>
              </a:rPr>
              <a:t>Source: Initiative business cases (illustrative)</a:t>
            </a:r>
          </a:p>
        </p:txBody>
      </p:sp>
      <p:sp>
        <p:nvSpPr>
          <p:cNvPr id="5" name="cpe|chrome|text|4"/>
          <p:cNvSpPr txBox="1"/>
          <p:nvPr/>
        </p:nvSpPr>
        <p:spPr>
          <a:xfrm>
            <a:off x="9494215" y="6272784"/>
            <a:ext cx="2194560" cy="402336"/>
          </a:xfrm>
          <a:prstGeom prst="rect">
            <a:avLst/>
          </a:prstGeom>
          <a:noFill/>
        </p:spPr>
        <p:txBody>
          <a:bodyPr wrap="square" lIns="0" rIns="0" tIns="0" bIns="0" anchor="b">
            <a:noAutofit/>
          </a:bodyPr>
          <a:lstStyle/>
          <a:p>
            <a:pPr algn="r">
              <a:lnSpc>
                <a:spcPct val="100000"/>
              </a:lnSpc>
            </a:pPr>
            <a:r>
              <a:rPr sz="900" b="0">
                <a:solidFill>
                  <a:srgbClr val="5E6A77"/>
                </a:solidFill>
                <a:latin typeface="Arial"/>
              </a:rPr>
              <a:t>Illustrative data   11</a:t>
            </a:r>
          </a:p>
        </p:txBody>
      </p:sp>
      <p:sp>
        <p:nvSpPr>
          <p:cNvPr id="6" name="cpe|exhibit|text|5"/>
          <p:cNvSpPr txBox="1"/>
          <p:nvPr/>
        </p:nvSpPr>
        <p:spPr>
          <a:xfrm>
            <a:off x="502920" y="1481328"/>
            <a:ext cx="11185855" cy="274320"/>
          </a:xfrm>
          <a:prstGeom prst="rect">
            <a:avLst/>
          </a:prstGeom>
          <a:noFill/>
        </p:spPr>
        <p:txBody>
          <a:bodyPr wrap="square" lIns="0" rIns="0" tIns="0" bIns="0" anchor="t">
            <a:noAutofit/>
          </a:bodyPr>
          <a:lstStyle/>
          <a:p>
            <a:pPr algn="l">
              <a:lnSpc>
                <a:spcPct val="100000"/>
              </a:lnSpc>
            </a:pPr>
            <a:r>
              <a:rPr sz="1100" b="1">
                <a:solidFill>
                  <a:srgbClr val="1E252D"/>
                </a:solidFill>
                <a:latin typeface="Arial"/>
              </a:rPr>
              <a:t>EBITDA 2025 to 2028</a:t>
            </a:r>
            <a:r>
              <a:rPr sz="1100" b="0">
                <a:solidFill>
                  <a:srgbClr val="1E252D"/>
                </a:solidFill>
                <a:latin typeface="Arial"/>
              </a:rPr>
              <a:t>, €M</a:t>
            </a:r>
          </a:p>
        </p:txBody>
      </p:sp>
      <p:graphicFrame>
        <p:nvGraphicFramePr>
          <p:cNvPr id="7" name="cpe|exhibit|chart|6"/>
          <p:cNvGraphicFramePr>
            <a:graphicFrameLocks noGrp="1"/>
          </p:cNvGraphicFramePr>
          <p:nvPr/>
        </p:nvGraphicFramePr>
        <p:xfrm>
          <a:off x="502920" y="1901952"/>
          <a:ext cx="11185855" cy="3502152"/>
        </p:xfrm>
        <a:graphic>
          <a:graphicData uri="http://schemas.openxmlformats.org/drawingml/2006/chart">
            <c:chart xmlns:c="http://schemas.openxmlformats.org/drawingml/2006/chart" r:id="rId2"/>
          </a:graphicData>
        </a:graphic>
      </p:graphicFrame>
      <p:sp>
        <p:nvSpPr>
          <p:cNvPr id="8" name="cpe|exhibit|label|7"/>
          <p:cNvSpPr txBox="1"/>
          <p:nvPr/>
        </p:nvSpPr>
        <p:spPr>
          <a:xfrm>
            <a:off x="502920" y="3957860"/>
            <a:ext cx="1398232" cy="237744"/>
          </a:xfrm>
          <a:prstGeom prst="rect">
            <a:avLst/>
          </a:prstGeom>
          <a:noFill/>
        </p:spPr>
        <p:txBody>
          <a:bodyPr wrap="square" lIns="0" rIns="0" tIns="0" bIns="0" anchor="b">
            <a:noAutofit/>
          </a:bodyPr>
          <a:lstStyle/>
          <a:p>
            <a:pPr algn="ctr">
              <a:lnSpc>
                <a:spcPct val="100000"/>
              </a:lnSpc>
            </a:pPr>
            <a:r>
              <a:rPr sz="1100" b="1">
                <a:solidFill>
                  <a:srgbClr val="1E252D"/>
                </a:solidFill>
                <a:latin typeface="Arial"/>
              </a:rPr>
              <a:t>857</a:t>
            </a:r>
          </a:p>
        </p:txBody>
      </p:sp>
      <p:sp>
        <p:nvSpPr>
          <p:cNvPr id="9" name="cpe|exhibit|label|8"/>
          <p:cNvSpPr txBox="1"/>
          <p:nvPr/>
        </p:nvSpPr>
        <p:spPr>
          <a:xfrm>
            <a:off x="1901152" y="3605216"/>
            <a:ext cx="1398232" cy="237744"/>
          </a:xfrm>
          <a:prstGeom prst="rect">
            <a:avLst/>
          </a:prstGeom>
          <a:noFill/>
        </p:spPr>
        <p:txBody>
          <a:bodyPr wrap="square" lIns="0" rIns="0" tIns="0" bIns="0" anchor="b">
            <a:noAutofit/>
          </a:bodyPr>
          <a:lstStyle/>
          <a:p>
            <a:pPr algn="ctr">
              <a:lnSpc>
                <a:spcPct val="100000"/>
              </a:lnSpc>
            </a:pPr>
            <a:r>
              <a:rPr sz="1100" b="0">
                <a:solidFill>
                  <a:srgbClr val="1E252D"/>
                </a:solidFill>
                <a:latin typeface="Arial"/>
              </a:rPr>
              <a:t>+60</a:t>
            </a:r>
          </a:p>
        </p:txBody>
      </p:sp>
      <p:sp>
        <p:nvSpPr>
          <p:cNvPr id="10" name="cpe|exhibit|label|9"/>
          <p:cNvSpPr txBox="1"/>
          <p:nvPr/>
        </p:nvSpPr>
        <p:spPr>
          <a:xfrm>
            <a:off x="3299384" y="3340734"/>
            <a:ext cx="1398232" cy="237744"/>
          </a:xfrm>
          <a:prstGeom prst="rect">
            <a:avLst/>
          </a:prstGeom>
          <a:noFill/>
        </p:spPr>
        <p:txBody>
          <a:bodyPr wrap="square" lIns="0" rIns="0" tIns="0" bIns="0" anchor="b">
            <a:noAutofit/>
          </a:bodyPr>
          <a:lstStyle/>
          <a:p>
            <a:pPr algn="ctr">
              <a:lnSpc>
                <a:spcPct val="100000"/>
              </a:lnSpc>
            </a:pPr>
            <a:r>
              <a:rPr sz="1100" b="0">
                <a:solidFill>
                  <a:srgbClr val="1E252D"/>
                </a:solidFill>
                <a:latin typeface="Arial"/>
              </a:rPr>
              <a:t>+45</a:t>
            </a:r>
          </a:p>
        </p:txBody>
      </p:sp>
      <p:sp>
        <p:nvSpPr>
          <p:cNvPr id="11" name="cpe|exhibit|label|10"/>
          <p:cNvSpPr txBox="1"/>
          <p:nvPr/>
        </p:nvSpPr>
        <p:spPr>
          <a:xfrm>
            <a:off x="4697616" y="2929316"/>
            <a:ext cx="1398232" cy="237744"/>
          </a:xfrm>
          <a:prstGeom prst="rect">
            <a:avLst/>
          </a:prstGeom>
          <a:noFill/>
        </p:spPr>
        <p:txBody>
          <a:bodyPr wrap="square" lIns="0" rIns="0" tIns="0" bIns="0" anchor="b">
            <a:noAutofit/>
          </a:bodyPr>
          <a:lstStyle/>
          <a:p>
            <a:pPr algn="ctr">
              <a:lnSpc>
                <a:spcPct val="100000"/>
              </a:lnSpc>
            </a:pPr>
            <a:r>
              <a:rPr sz="1100" b="0">
                <a:solidFill>
                  <a:srgbClr val="1E252D"/>
                </a:solidFill>
                <a:latin typeface="Arial"/>
              </a:rPr>
              <a:t>+70</a:t>
            </a:r>
          </a:p>
        </p:txBody>
      </p:sp>
      <p:sp>
        <p:nvSpPr>
          <p:cNvPr id="12" name="cpe|exhibit|label|11"/>
          <p:cNvSpPr txBox="1"/>
          <p:nvPr/>
        </p:nvSpPr>
        <p:spPr>
          <a:xfrm>
            <a:off x="6095848" y="2606060"/>
            <a:ext cx="1398232" cy="237744"/>
          </a:xfrm>
          <a:prstGeom prst="rect">
            <a:avLst/>
          </a:prstGeom>
          <a:noFill/>
        </p:spPr>
        <p:txBody>
          <a:bodyPr wrap="square" lIns="0" rIns="0" tIns="0" bIns="0" anchor="b">
            <a:noAutofit/>
          </a:bodyPr>
          <a:lstStyle/>
          <a:p>
            <a:pPr algn="ctr">
              <a:lnSpc>
                <a:spcPct val="100000"/>
              </a:lnSpc>
            </a:pPr>
            <a:r>
              <a:rPr sz="1100" b="0">
                <a:solidFill>
                  <a:srgbClr val="1E252D"/>
                </a:solidFill>
                <a:latin typeface="Arial"/>
              </a:rPr>
              <a:t>+55</a:t>
            </a:r>
          </a:p>
        </p:txBody>
      </p:sp>
      <p:sp>
        <p:nvSpPr>
          <p:cNvPr id="13" name="cpe|exhibit|label|12"/>
          <p:cNvSpPr txBox="1"/>
          <p:nvPr/>
        </p:nvSpPr>
        <p:spPr>
          <a:xfrm>
            <a:off x="7494080" y="2488512"/>
            <a:ext cx="1398232" cy="237744"/>
          </a:xfrm>
          <a:prstGeom prst="rect">
            <a:avLst/>
          </a:prstGeom>
          <a:noFill/>
        </p:spPr>
        <p:txBody>
          <a:bodyPr wrap="square" lIns="0" rIns="0" tIns="0" bIns="0" anchor="b">
            <a:noAutofit/>
          </a:bodyPr>
          <a:lstStyle/>
          <a:p>
            <a:pPr algn="ctr">
              <a:lnSpc>
                <a:spcPct val="100000"/>
              </a:lnSpc>
            </a:pPr>
            <a:r>
              <a:rPr sz="1100" b="0">
                <a:solidFill>
                  <a:srgbClr val="1E252D"/>
                </a:solidFill>
                <a:latin typeface="Arial"/>
              </a:rPr>
              <a:t>+20</a:t>
            </a:r>
          </a:p>
        </p:txBody>
      </p:sp>
      <p:sp>
        <p:nvSpPr>
          <p:cNvPr id="14" name="cpe|exhibit|label|13"/>
          <p:cNvSpPr txBox="1"/>
          <p:nvPr/>
        </p:nvSpPr>
        <p:spPr>
          <a:xfrm>
            <a:off x="8892311" y="2488512"/>
            <a:ext cx="1398232" cy="237744"/>
          </a:xfrm>
          <a:prstGeom prst="rect">
            <a:avLst/>
          </a:prstGeom>
          <a:noFill/>
        </p:spPr>
        <p:txBody>
          <a:bodyPr wrap="square" lIns="0" rIns="0" tIns="0" bIns="0" anchor="b">
            <a:noAutofit/>
          </a:bodyPr>
          <a:lstStyle/>
          <a:p>
            <a:pPr algn="ctr">
              <a:lnSpc>
                <a:spcPct val="100000"/>
              </a:lnSpc>
            </a:pPr>
            <a:r>
              <a:rPr sz="1100" b="0">
                <a:solidFill>
                  <a:srgbClr val="1E252D"/>
                </a:solidFill>
                <a:latin typeface="Arial"/>
              </a:rPr>
              <a:t>−40</a:t>
            </a:r>
          </a:p>
        </p:txBody>
      </p:sp>
      <p:sp>
        <p:nvSpPr>
          <p:cNvPr id="15" name="cpe|exhibit|label|14"/>
          <p:cNvSpPr txBox="1"/>
          <p:nvPr/>
        </p:nvSpPr>
        <p:spPr>
          <a:xfrm>
            <a:off x="10290543" y="2723608"/>
            <a:ext cx="1398232" cy="237744"/>
          </a:xfrm>
          <a:prstGeom prst="rect">
            <a:avLst/>
          </a:prstGeom>
          <a:noFill/>
        </p:spPr>
        <p:txBody>
          <a:bodyPr wrap="square" lIns="0" rIns="0" tIns="0" bIns="0" anchor="b">
            <a:noAutofit/>
          </a:bodyPr>
          <a:lstStyle/>
          <a:p>
            <a:pPr algn="ctr">
              <a:lnSpc>
                <a:spcPct val="100000"/>
              </a:lnSpc>
            </a:pPr>
            <a:r>
              <a:rPr sz="1100" b="1">
                <a:solidFill>
                  <a:srgbClr val="1E252D"/>
                </a:solidFill>
                <a:latin typeface="Arial"/>
              </a:rPr>
              <a:t>1,067</a:t>
            </a:r>
          </a:p>
        </p:txBody>
      </p:sp>
      <p:cxnSp>
        <p:nvCxnSpPr>
          <p:cNvPr id="16" name="cpe|exhibit|connector|15"/>
          <p:cNvCxnSpPr/>
          <p:nvPr/>
        </p:nvCxnSpPr>
        <p:spPr>
          <a:xfrm>
            <a:off x="1684185" y="4223036"/>
            <a:ext cx="433934" cy="0"/>
          </a:xfrm>
          <a:prstGeom prst="line">
            <a:avLst/>
          </a:prstGeom>
          <a:ln w="6350">
            <a:solidFill>
              <a:srgbClr val="8A95A1"/>
            </a:solidFill>
          </a:ln>
        </p:spPr>
      </p:cxnSp>
      <p:cxnSp>
        <p:nvCxnSpPr>
          <p:cNvPr id="17" name="cpe|exhibit|connector|16"/>
          <p:cNvCxnSpPr/>
          <p:nvPr/>
        </p:nvCxnSpPr>
        <p:spPr>
          <a:xfrm>
            <a:off x="3082417" y="3870392"/>
            <a:ext cx="433934" cy="0"/>
          </a:xfrm>
          <a:prstGeom prst="line">
            <a:avLst/>
          </a:prstGeom>
          <a:ln w="6350">
            <a:solidFill>
              <a:srgbClr val="8A95A1"/>
            </a:solidFill>
          </a:ln>
        </p:spPr>
      </p:cxnSp>
      <p:cxnSp>
        <p:nvCxnSpPr>
          <p:cNvPr id="18" name="cpe|exhibit|connector|17"/>
          <p:cNvCxnSpPr/>
          <p:nvPr/>
        </p:nvCxnSpPr>
        <p:spPr>
          <a:xfrm>
            <a:off x="4480649" y="3605910"/>
            <a:ext cx="433934" cy="0"/>
          </a:xfrm>
          <a:prstGeom prst="line">
            <a:avLst/>
          </a:prstGeom>
          <a:ln w="6350">
            <a:solidFill>
              <a:srgbClr val="8A95A1"/>
            </a:solidFill>
          </a:ln>
        </p:spPr>
      </p:cxnSp>
      <p:cxnSp>
        <p:nvCxnSpPr>
          <p:cNvPr id="19" name="cpe|exhibit|connector|18"/>
          <p:cNvCxnSpPr/>
          <p:nvPr/>
        </p:nvCxnSpPr>
        <p:spPr>
          <a:xfrm>
            <a:off x="5878881" y="3194492"/>
            <a:ext cx="433934" cy="0"/>
          </a:xfrm>
          <a:prstGeom prst="line">
            <a:avLst/>
          </a:prstGeom>
          <a:ln w="6350">
            <a:solidFill>
              <a:srgbClr val="8A95A1"/>
            </a:solidFill>
          </a:ln>
        </p:spPr>
      </p:cxnSp>
      <p:cxnSp>
        <p:nvCxnSpPr>
          <p:cNvPr id="20" name="cpe|exhibit|connector|19"/>
          <p:cNvCxnSpPr/>
          <p:nvPr/>
        </p:nvCxnSpPr>
        <p:spPr>
          <a:xfrm>
            <a:off x="7277112" y="2871236"/>
            <a:ext cx="433935" cy="0"/>
          </a:xfrm>
          <a:prstGeom prst="line">
            <a:avLst/>
          </a:prstGeom>
          <a:ln w="6350">
            <a:solidFill>
              <a:srgbClr val="8A95A1"/>
            </a:solidFill>
          </a:ln>
        </p:spPr>
      </p:cxnSp>
      <p:cxnSp>
        <p:nvCxnSpPr>
          <p:cNvPr id="21" name="cpe|exhibit|connector|20"/>
          <p:cNvCxnSpPr/>
          <p:nvPr/>
        </p:nvCxnSpPr>
        <p:spPr>
          <a:xfrm>
            <a:off x="8675344" y="2753688"/>
            <a:ext cx="433934" cy="0"/>
          </a:xfrm>
          <a:prstGeom prst="line">
            <a:avLst/>
          </a:prstGeom>
          <a:ln w="6350">
            <a:solidFill>
              <a:srgbClr val="8A95A1"/>
            </a:solidFill>
          </a:ln>
        </p:spPr>
      </p:cxnSp>
      <p:cxnSp>
        <p:nvCxnSpPr>
          <p:cNvPr id="22" name="cpe|exhibit|connector|21"/>
          <p:cNvCxnSpPr/>
          <p:nvPr/>
        </p:nvCxnSpPr>
        <p:spPr>
          <a:xfrm>
            <a:off x="10073576" y="2988784"/>
            <a:ext cx="433934" cy="0"/>
          </a:xfrm>
          <a:prstGeom prst="line">
            <a:avLst/>
          </a:prstGeom>
          <a:ln w="6350">
            <a:solidFill>
              <a:srgbClr val="8A95A1"/>
            </a:solidFill>
          </a:ln>
        </p:spPr>
      </p:cxnSp>
      <p:sp>
        <p:nvSpPr>
          <p:cNvPr id="23" name="cpe|exhibit|marker|22"/>
          <p:cNvSpPr/>
          <p:nvPr/>
        </p:nvSpPr>
        <p:spPr>
          <a:xfrm>
            <a:off x="665023" y="4850735"/>
            <a:ext cx="1074026" cy="82296"/>
          </a:xfrm>
          <a:prstGeom prst="parallelogram">
            <a:avLst/>
          </a:prstGeom>
          <a:solidFill>
            <a:srgbClr val="FFFFFF"/>
          </a:solidFill>
          <a:ln>
            <a:noFill/>
          </a:ln>
        </p:spPr>
        <p:txBody>
          <a:bodyPr rtlCol="0" anchor="ctr" lIns="0" rIns="0" tIns="0" bIns="0"/>
          <a:lstStyle/>
          <a:p>
            <a:pPr algn="ctr"/>
          </a:p>
        </p:txBody>
      </p:sp>
      <p:sp>
        <p:nvSpPr>
          <p:cNvPr id="24" name="cpe|exhibit|marker|23"/>
          <p:cNvSpPr/>
          <p:nvPr/>
        </p:nvSpPr>
        <p:spPr>
          <a:xfrm>
            <a:off x="10452646" y="4850735"/>
            <a:ext cx="1074026" cy="82296"/>
          </a:xfrm>
          <a:prstGeom prst="parallelogram">
            <a:avLst/>
          </a:prstGeom>
          <a:solidFill>
            <a:srgbClr val="FFFFFF"/>
          </a:solidFill>
          <a:ln>
            <a:noFill/>
          </a:ln>
        </p:spPr>
        <p:txBody>
          <a:bodyPr rtlCol="0" anchor="ctr" lIns="0" rIns="0" tIns="0" bIns="0"/>
          <a:lstStyle/>
          <a:p>
            <a:pPr algn="ctr"/>
          </a:p>
        </p:txBody>
      </p:sp>
      <p:sp>
        <p:nvSpPr>
          <p:cNvPr id="25" name="cpe|takeaway|fill|24"/>
          <p:cNvSpPr/>
          <p:nvPr/>
        </p:nvSpPr>
        <p:spPr>
          <a:xfrm>
            <a:off x="502920" y="5632704"/>
            <a:ext cx="11185855" cy="566928"/>
          </a:xfrm>
          <a:prstGeom prst="rect">
            <a:avLst/>
          </a:prstGeom>
          <a:solidFill>
            <a:srgbClr val="EEF1F4"/>
          </a:solidFill>
          <a:ln>
            <a:noFill/>
          </a:ln>
        </p:spPr>
        <p:txBody>
          <a:bodyPr rtlCol="0" anchor="ctr" lIns="0" rIns="0" tIns="0" bIns="0"/>
          <a:lstStyle/>
          <a:p>
            <a:pPr algn="ctr"/>
          </a:p>
        </p:txBody>
      </p:sp>
      <p:sp>
        <p:nvSpPr>
          <p:cNvPr id="26" name="cpe|takeaway|fill|25"/>
          <p:cNvSpPr/>
          <p:nvPr/>
        </p:nvSpPr>
        <p:spPr>
          <a:xfrm>
            <a:off x="502920" y="5632704"/>
            <a:ext cx="64008" cy="566928"/>
          </a:xfrm>
          <a:prstGeom prst="rect">
            <a:avLst/>
          </a:prstGeom>
          <a:solidFill>
            <a:srgbClr val="00A3AD"/>
          </a:solidFill>
          <a:ln>
            <a:noFill/>
          </a:ln>
        </p:spPr>
        <p:txBody>
          <a:bodyPr rtlCol="0" anchor="ctr" lIns="0" rIns="0" tIns="0" bIns="0"/>
          <a:lstStyle/>
          <a:p>
            <a:pPr algn="ctr"/>
          </a:p>
        </p:txBody>
      </p:sp>
      <p:sp>
        <p:nvSpPr>
          <p:cNvPr id="27" name="cpe|takeaway|text|26"/>
          <p:cNvSpPr txBox="1"/>
          <p:nvPr/>
        </p:nvSpPr>
        <p:spPr>
          <a:xfrm>
            <a:off x="795528" y="5632704"/>
            <a:ext cx="10664647" cy="566928"/>
          </a:xfrm>
          <a:prstGeom prst="rect">
            <a:avLst/>
          </a:prstGeom>
          <a:noFill/>
        </p:spPr>
        <p:txBody>
          <a:bodyPr wrap="square" lIns="0" rIns="0" tIns="0" bIns="0" anchor="ctr">
            <a:noAutofit/>
          </a:bodyPr>
          <a:lstStyle/>
          <a:p>
            <a:pPr algn="l">
              <a:lnSpc>
                <a:spcPct val="100000"/>
              </a:lnSpc>
            </a:pPr>
            <a:r>
              <a:rPr sz="1300" b="1">
                <a:solidFill>
                  <a:srgbClr val="0B1F3A"/>
                </a:solidFill>
                <a:latin typeface="Arial"/>
              </a:rPr>
              <a:t>Cost and pricing levers deliver €130M of the uplift and are largely within management control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pe|chrome|text|1"/>
          <p:cNvSpPr txBox="1"/>
          <p:nvPr/>
        </p:nvSpPr>
        <p:spPr>
          <a:xfrm>
            <a:off x="502920" y="274320"/>
            <a:ext cx="7830099" cy="201168"/>
          </a:xfrm>
          <a:prstGeom prst="rect">
            <a:avLst/>
          </a:prstGeom>
          <a:noFill/>
        </p:spPr>
        <p:txBody>
          <a:bodyPr wrap="square" lIns="0" rIns="0" tIns="0" bIns="0" anchor="t">
            <a:noAutofit/>
          </a:bodyPr>
          <a:lstStyle/>
          <a:p>
            <a:pPr algn="l">
              <a:lnSpc>
                <a:spcPct val="100000"/>
              </a:lnSpc>
            </a:pPr>
            <a:r>
              <a:rPr sz="1000" b="1">
                <a:solidFill>
                  <a:srgbClr val="5E6A77"/>
                </a:solidFill>
                <a:latin typeface="Arial"/>
              </a:rPr>
              <a:t>DECISIONS</a:t>
            </a:r>
          </a:p>
        </p:txBody>
      </p:sp>
      <p:sp>
        <p:nvSpPr>
          <p:cNvPr id="3" name="cpe|chrome|text|2"/>
          <p:cNvSpPr txBox="1"/>
          <p:nvPr/>
        </p:nvSpPr>
        <p:spPr>
          <a:xfrm>
            <a:off x="502920" y="475488"/>
            <a:ext cx="11185855" cy="786384"/>
          </a:xfrm>
          <a:prstGeom prst="rect">
            <a:avLst/>
          </a:prstGeom>
          <a:noFill/>
        </p:spPr>
        <p:txBody>
          <a:bodyPr wrap="square" lIns="0" rIns="0" tIns="0" bIns="0" anchor="t">
            <a:noAutofit/>
          </a:bodyPr>
          <a:lstStyle/>
          <a:p>
            <a:pPr algn="l">
              <a:lnSpc>
                <a:spcPct val="100000"/>
              </a:lnSpc>
            </a:pPr>
            <a:r>
              <a:rPr sz="2200" b="1">
                <a:solidFill>
                  <a:srgbClr val="0B1F3A"/>
                </a:solidFill>
                <a:latin typeface="Arial"/>
              </a:rPr>
              <a:t>The board is asked to approve three decisions to start Wave 1 in January</a:t>
            </a:r>
          </a:p>
        </p:txBody>
      </p:sp>
      <p:sp>
        <p:nvSpPr>
          <p:cNvPr id="4" name="cpe|chrome|text|3"/>
          <p:cNvSpPr txBox="1"/>
          <p:nvPr/>
        </p:nvSpPr>
        <p:spPr>
          <a:xfrm>
            <a:off x="9494215" y="6272784"/>
            <a:ext cx="2194560" cy="402336"/>
          </a:xfrm>
          <a:prstGeom prst="rect">
            <a:avLst/>
          </a:prstGeom>
          <a:noFill/>
        </p:spPr>
        <p:txBody>
          <a:bodyPr wrap="square" lIns="0" rIns="0" tIns="0" bIns="0" anchor="b">
            <a:noAutofit/>
          </a:bodyPr>
          <a:lstStyle/>
          <a:p>
            <a:pPr algn="r">
              <a:lnSpc>
                <a:spcPct val="100000"/>
              </a:lnSpc>
            </a:pPr>
            <a:r>
              <a:rPr sz="900" b="0">
                <a:solidFill>
                  <a:srgbClr val="5E6A77"/>
                </a:solidFill>
                <a:latin typeface="Arial"/>
              </a:rPr>
              <a:t>Illustrative data   12</a:t>
            </a:r>
          </a:p>
        </p:txBody>
      </p:sp>
      <p:sp>
        <p:nvSpPr>
          <p:cNvPr id="5" name="cpe|exhibit|text|4"/>
          <p:cNvSpPr txBox="1"/>
          <p:nvPr/>
        </p:nvSpPr>
        <p:spPr>
          <a:xfrm>
            <a:off x="502920" y="1481328"/>
            <a:ext cx="11185855" cy="274320"/>
          </a:xfrm>
          <a:prstGeom prst="rect">
            <a:avLst/>
          </a:prstGeom>
          <a:noFill/>
        </p:spPr>
        <p:txBody>
          <a:bodyPr wrap="square" lIns="0" rIns="0" tIns="0" bIns="0" anchor="t">
            <a:noAutofit/>
          </a:bodyPr>
          <a:lstStyle/>
          <a:p>
            <a:pPr algn="l">
              <a:lnSpc>
                <a:spcPct val="100000"/>
              </a:lnSpc>
            </a:pPr>
            <a:r>
              <a:rPr sz="1100" b="1">
                <a:solidFill>
                  <a:srgbClr val="1E252D"/>
                </a:solidFill>
                <a:latin typeface="Arial"/>
              </a:rPr>
              <a:t>Decisions requested today</a:t>
            </a:r>
          </a:p>
        </p:txBody>
      </p:sp>
      <p:graphicFrame>
        <p:nvGraphicFramePr>
          <p:cNvPr id="6" name="cpe|exhibit|table|5"/>
          <p:cNvGraphicFramePr>
            <a:graphicFrameLocks noGrp="1"/>
          </p:cNvGraphicFramePr>
          <p:nvPr/>
        </p:nvGraphicFramePr>
        <p:xfrm>
          <a:off x="502920" y="1901952"/>
          <a:ext cx="11185855" cy="3491865"/>
        </p:xfrm>
        <a:graphic>
          <a:graphicData uri="http://schemas.openxmlformats.org/drawingml/2006/table">
            <a:tbl>
              <a:tblPr firstRow="0" bandRow="0">
                <a:tableStyleId>{2D5ABB26-0587-4C30-8999-92F81FD0307C}</a:tableStyleId>
              </a:tblPr>
              <a:tblGrid>
                <a:gridCol w="4206240"/>
                <a:gridCol w="2035429"/>
                <a:gridCol w="2200986"/>
                <a:gridCol w="1371600"/>
                <a:gridCol w="1371600"/>
              </a:tblGrid>
              <a:tr h="523494">
                <a:tc>
                  <a:txBody>
                    <a:bodyPr wrap="square"/>
                    <a:lstStyle/>
                    <a:p>
                      <a:pPr algn="l"/>
                      <a:r>
                        <a:rPr sz="1300" b="1">
                          <a:solidFill>
                            <a:srgbClr val="1E252D"/>
                          </a:solidFill>
                          <a:latin typeface="Arial"/>
                        </a:rPr>
                        <a:t>Decision</a:t>
                      </a:r>
                    </a:p>
                  </a:txBody>
                  <a:tcPr marL="73152" marR="73152" marT="41148" marB="41148" anchor="ctr">
                    <a:lnL w="0">
                      <a:noFill/>
                    </a:lnL>
                    <a:lnR w="0">
                      <a:noFill/>
                    </a:lnR>
                    <a:lnT w="0">
                      <a:noFill/>
                    </a:lnT>
                    <a:lnB w="12382" cap="flat">
                      <a:solidFill>
                        <a:srgbClr val="0B1F3A"/>
                      </a:solidFill>
                      <a:prstDash val="solid"/>
                    </a:lnB>
                    <a:noFill/>
                  </a:tcPr>
                </a:tc>
                <a:tc>
                  <a:txBody>
                    <a:bodyPr wrap="square"/>
                    <a:lstStyle/>
                    <a:p>
                      <a:pPr algn="l"/>
                      <a:r>
                        <a:rPr sz="1300" b="1">
                          <a:solidFill>
                            <a:srgbClr val="1E252D"/>
                          </a:solidFill>
                          <a:latin typeface="Arial"/>
                        </a:rPr>
                        <a:t>Owner</a:t>
                      </a:r>
                    </a:p>
                  </a:txBody>
                  <a:tcPr marL="73152" marR="73152" marT="41148" marB="41148" anchor="ctr">
                    <a:lnL w="0">
                      <a:noFill/>
                    </a:lnL>
                    <a:lnR w="0">
                      <a:noFill/>
                    </a:lnR>
                    <a:lnT w="0">
                      <a:noFill/>
                    </a:lnT>
                    <a:lnB w="12382" cap="flat">
                      <a:solidFill>
                        <a:srgbClr val="0B1F3A"/>
                      </a:solidFill>
                      <a:prstDash val="solid"/>
                    </a:lnB>
                    <a:noFill/>
                  </a:tcPr>
                </a:tc>
                <a:tc>
                  <a:txBody>
                    <a:bodyPr wrap="square"/>
                    <a:lstStyle/>
                    <a:p>
                      <a:pPr algn="l"/>
                      <a:r>
                        <a:rPr sz="1300" b="1">
                          <a:solidFill>
                            <a:srgbClr val="1E252D"/>
                          </a:solidFill>
                          <a:latin typeface="Arial"/>
                        </a:rPr>
                        <a:t>Timing</a:t>
                      </a:r>
                    </a:p>
                  </a:txBody>
                  <a:tcPr marL="73152" marR="73152" marT="41148" marB="41148" anchor="ctr">
                    <a:lnL w="0">
                      <a:noFill/>
                    </a:lnL>
                    <a:lnR w="0">
                      <a:noFill/>
                    </a:lnR>
                    <a:lnT w="0">
                      <a:noFill/>
                    </a:lnT>
                    <a:lnB w="12382" cap="flat">
                      <a:solidFill>
                        <a:srgbClr val="0B1F3A"/>
                      </a:solidFill>
                      <a:prstDash val="solid"/>
                    </a:lnB>
                    <a:noFill/>
                  </a:tcPr>
                </a:tc>
                <a:tc>
                  <a:txBody>
                    <a:bodyPr wrap="square"/>
                    <a:lstStyle/>
                    <a:p>
                      <a:pPr algn="r"/>
                      <a:r>
                        <a:rPr sz="1300" b="1">
                          <a:solidFill>
                            <a:srgbClr val="1E252D"/>
                          </a:solidFill>
                          <a:latin typeface="Arial"/>
                        </a:rPr>
                        <a:t>EBITDA 2028 (€M)</a:t>
                      </a:r>
                    </a:p>
                  </a:txBody>
                  <a:tcPr marL="73152" marR="73152" marT="41148" marB="41148" anchor="ctr">
                    <a:lnL w="0">
                      <a:noFill/>
                    </a:lnL>
                    <a:lnR w="0">
                      <a:noFill/>
                    </a:lnR>
                    <a:lnT w="0">
                      <a:noFill/>
                    </a:lnT>
                    <a:lnB w="12382" cap="flat">
                      <a:solidFill>
                        <a:srgbClr val="0B1F3A"/>
                      </a:solidFill>
                      <a:prstDash val="solid"/>
                    </a:lnB>
                    <a:noFill/>
                  </a:tcPr>
                </a:tc>
                <a:tc>
                  <a:txBody>
                    <a:bodyPr wrap="square"/>
                    <a:lstStyle/>
                    <a:p>
                      <a:pPr algn="ctr"/>
                      <a:r>
                        <a:rPr sz="1300" b="1">
                          <a:solidFill>
                            <a:srgbClr val="1E252D"/>
                          </a:solidFill>
                          <a:latin typeface="Arial"/>
                        </a:rPr>
                        <a:t>Status</a:t>
                      </a:r>
                    </a:p>
                  </a:txBody>
                  <a:tcPr marL="73152" marR="73152" marT="41148" marB="41148" anchor="ctr">
                    <a:lnL w="0">
                      <a:noFill/>
                    </a:lnL>
                    <a:lnR w="0">
                      <a:noFill/>
                    </a:lnR>
                    <a:lnT w="0">
                      <a:noFill/>
                    </a:lnT>
                    <a:lnB w="12382" cap="flat">
                      <a:solidFill>
                        <a:srgbClr val="0B1F3A"/>
                      </a:solidFill>
                      <a:prstDash val="solid"/>
                    </a:lnB>
                    <a:noFill/>
                  </a:tcPr>
                </a:tc>
              </a:tr>
              <a:tr h="860679">
                <a:tc>
                  <a:txBody>
                    <a:bodyPr wrap="square"/>
                    <a:lstStyle/>
                    <a:p>
                      <a:pPr algn="l"/>
                      <a:r>
                        <a:rPr sz="1300" b="0">
                          <a:solidFill>
                            <a:srgbClr val="1E252D"/>
                          </a:solidFill>
                          <a:latin typeface="Arial"/>
                        </a:rPr>
                        <a:t>Approve pricing &amp; promo reset across 1,200 SKUs</a:t>
                      </a:r>
                    </a:p>
                  </a:txBody>
                  <a:tcPr marL="73152" marR="73152" marT="41148" marB="41148" anchor="ctr">
                    <a:lnL w="0">
                      <a:noFill/>
                    </a:lnL>
                    <a:lnR w="0">
                      <a:noFill/>
                    </a:lnR>
                    <a:lnT w="0">
                      <a:noFill/>
                    </a:lnT>
                    <a:lnB w="6350" cap="flat">
                      <a:solidFill>
                        <a:srgbClr val="E3E7EB"/>
                      </a:solidFill>
                      <a:prstDash val="solid"/>
                    </a:lnB>
                    <a:noFill/>
                  </a:tcPr>
                </a:tc>
                <a:tc>
                  <a:txBody>
                    <a:bodyPr wrap="square"/>
                    <a:lstStyle/>
                    <a:p>
                      <a:pPr algn="l"/>
                      <a:r>
                        <a:rPr sz="1300" b="0">
                          <a:solidFill>
                            <a:srgbClr val="1E252D"/>
                          </a:solidFill>
                          <a:latin typeface="Arial"/>
                        </a:rPr>
                        <a:t>CCO</a:t>
                      </a:r>
                    </a:p>
                  </a:txBody>
                  <a:tcPr marL="73152" marR="73152" marT="41148" marB="41148" anchor="ctr">
                    <a:lnL w="0">
                      <a:noFill/>
                    </a:lnL>
                    <a:lnR w="0">
                      <a:noFill/>
                    </a:lnR>
                    <a:lnT w="0">
                      <a:noFill/>
                    </a:lnT>
                    <a:lnB w="6350" cap="flat">
                      <a:solidFill>
                        <a:srgbClr val="E3E7EB"/>
                      </a:solidFill>
                      <a:prstDash val="solid"/>
                    </a:lnB>
                    <a:noFill/>
                  </a:tcPr>
                </a:tc>
                <a:tc>
                  <a:txBody>
                    <a:bodyPr wrap="square"/>
                    <a:lstStyle/>
                    <a:p>
                      <a:pPr algn="l"/>
                      <a:r>
                        <a:rPr sz="1300" b="0">
                          <a:solidFill>
                            <a:srgbClr val="1E252D"/>
                          </a:solidFill>
                          <a:latin typeface="Arial"/>
                        </a:rPr>
                        <a:t>Jan 2026</a:t>
                      </a:r>
                    </a:p>
                  </a:txBody>
                  <a:tcPr marL="73152" marR="73152" marT="41148" marB="41148" anchor="ctr">
                    <a:lnL w="0">
                      <a:noFill/>
                    </a:lnL>
                    <a:lnR w="0">
                      <a:noFill/>
                    </a:lnR>
                    <a:lnT w="0">
                      <a:noFill/>
                    </a:lnT>
                    <a:lnB w="6350" cap="flat">
                      <a:solidFill>
                        <a:srgbClr val="E3E7EB"/>
                      </a:solidFill>
                      <a:prstDash val="solid"/>
                    </a:lnB>
                    <a:noFill/>
                  </a:tcPr>
                </a:tc>
                <a:tc>
                  <a:txBody>
                    <a:bodyPr wrap="square"/>
                    <a:lstStyle/>
                    <a:p>
                      <a:pPr algn="r"/>
                      <a:r>
                        <a:rPr sz="1300" b="0">
                          <a:solidFill>
                            <a:srgbClr val="1E252D"/>
                          </a:solidFill>
                          <a:latin typeface="Arial"/>
                        </a:rPr>
                        <a:t>60</a:t>
                      </a:r>
                    </a:p>
                  </a:txBody>
                  <a:tcPr marL="73152" marR="73152" marT="41148" marB="41148" anchor="ctr">
                    <a:lnL w="0">
                      <a:noFill/>
                    </a:lnL>
                    <a:lnR w="0">
                      <a:noFill/>
                    </a:lnR>
                    <a:lnT w="0">
                      <a:noFill/>
                    </a:lnT>
                    <a:lnB w="6350" cap="flat">
                      <a:solidFill>
                        <a:srgbClr val="E3E7EB"/>
                      </a:solidFill>
                      <a:prstDash val="solid"/>
                    </a:lnB>
                    <a:noFill/>
                  </a:tcPr>
                </a:tc>
                <a:tc>
                  <a:txBody>
                    <a:bodyPr wrap="square"/>
                    <a:lstStyle/>
                    <a:p>
                      <a:pPr algn="ctr"/>
                      <a:r>
                        <a:rPr sz="1300" b="0">
                          <a:solidFill>
                            <a:srgbClr val="1E252D"/>
                          </a:solidFill>
                          <a:latin typeface="Arial"/>
                        </a:rPr>
                        <a:t/>
                      </a:r>
                    </a:p>
                  </a:txBody>
                  <a:tcPr marL="73152" marR="73152" marT="41148" marB="41148" anchor="ctr">
                    <a:lnL w="0">
                      <a:noFill/>
                    </a:lnL>
                    <a:lnR w="0">
                      <a:noFill/>
                    </a:lnR>
                    <a:lnT w="0">
                      <a:noFill/>
                    </a:lnT>
                    <a:lnB w="6350" cap="flat">
                      <a:solidFill>
                        <a:srgbClr val="E3E7EB"/>
                      </a:solidFill>
                      <a:prstDash val="solid"/>
                    </a:lnB>
                    <a:noFill/>
                  </a:tcPr>
                </a:tc>
              </a:tr>
              <a:tr h="1053846">
                <a:tc>
                  <a:txBody>
                    <a:bodyPr wrap="square"/>
                    <a:lstStyle/>
                    <a:p>
                      <a:pPr algn="l"/>
                      <a:r>
                        <a:rPr sz="1300" b="0">
                          <a:solidFill>
                            <a:srgbClr val="1E252D"/>
                          </a:solidFill>
                          <a:latin typeface="Arial"/>
                        </a:rPr>
                        <a:t>Approve discount banner pilot in 20 stores (€18M capex)</a:t>
                      </a:r>
                    </a:p>
                  </a:txBody>
                  <a:tcPr marL="73152" marR="73152" marT="41148" marB="41148" anchor="ctr">
                    <a:lnL w="0">
                      <a:noFill/>
                    </a:lnL>
                    <a:lnR w="0">
                      <a:noFill/>
                    </a:lnR>
                    <a:lnT w="0">
                      <a:noFill/>
                    </a:lnT>
                    <a:lnB w="6350" cap="flat">
                      <a:solidFill>
                        <a:srgbClr val="E3E7EB"/>
                      </a:solidFill>
                      <a:prstDash val="solid"/>
                    </a:lnB>
                    <a:noFill/>
                  </a:tcPr>
                </a:tc>
                <a:tc>
                  <a:txBody>
                    <a:bodyPr wrap="square"/>
                    <a:lstStyle/>
                    <a:p>
                      <a:pPr algn="l"/>
                      <a:r>
                        <a:rPr sz="1300" b="0">
                          <a:solidFill>
                            <a:srgbClr val="1E252D"/>
                          </a:solidFill>
                          <a:latin typeface="Arial"/>
                        </a:rPr>
                        <a:t>CEO</a:t>
                      </a:r>
                    </a:p>
                  </a:txBody>
                  <a:tcPr marL="73152" marR="73152" marT="41148" marB="41148" anchor="ctr">
                    <a:lnL w="0">
                      <a:noFill/>
                    </a:lnL>
                    <a:lnR w="0">
                      <a:noFill/>
                    </a:lnR>
                    <a:lnT w="0">
                      <a:noFill/>
                    </a:lnT>
                    <a:lnB w="6350" cap="flat">
                      <a:solidFill>
                        <a:srgbClr val="E3E7EB"/>
                      </a:solidFill>
                      <a:prstDash val="solid"/>
                    </a:lnB>
                    <a:noFill/>
                  </a:tcPr>
                </a:tc>
                <a:tc>
                  <a:txBody>
                    <a:bodyPr wrap="square"/>
                    <a:lstStyle/>
                    <a:p>
                      <a:pPr algn="l"/>
                      <a:r>
                        <a:rPr sz="1300" b="0">
                          <a:solidFill>
                            <a:srgbClr val="1E252D"/>
                          </a:solidFill>
                          <a:latin typeface="Arial"/>
                        </a:rPr>
                        <a:t>Q4 2026</a:t>
                      </a:r>
                    </a:p>
                  </a:txBody>
                  <a:tcPr marL="73152" marR="73152" marT="41148" marB="41148" anchor="ctr">
                    <a:lnL w="0">
                      <a:noFill/>
                    </a:lnL>
                    <a:lnR w="0">
                      <a:noFill/>
                    </a:lnR>
                    <a:lnT w="0">
                      <a:noFill/>
                    </a:lnT>
                    <a:lnB w="6350" cap="flat">
                      <a:solidFill>
                        <a:srgbClr val="E3E7EB"/>
                      </a:solidFill>
                      <a:prstDash val="solid"/>
                    </a:lnB>
                    <a:noFill/>
                  </a:tcPr>
                </a:tc>
                <a:tc>
                  <a:txBody>
                    <a:bodyPr wrap="square"/>
                    <a:lstStyle/>
                    <a:p>
                      <a:pPr algn="r"/>
                      <a:r>
                        <a:rPr sz="1300" b="0">
                          <a:solidFill>
                            <a:srgbClr val="1E252D"/>
                          </a:solidFill>
                          <a:latin typeface="Arial"/>
                        </a:rPr>
                        <a:t>55</a:t>
                      </a:r>
                    </a:p>
                  </a:txBody>
                  <a:tcPr marL="73152" marR="73152" marT="41148" marB="41148" anchor="ctr">
                    <a:lnL w="0">
                      <a:noFill/>
                    </a:lnL>
                    <a:lnR w="0">
                      <a:noFill/>
                    </a:lnR>
                    <a:lnT w="0">
                      <a:noFill/>
                    </a:lnT>
                    <a:lnB w="6350" cap="flat">
                      <a:solidFill>
                        <a:srgbClr val="E3E7EB"/>
                      </a:solidFill>
                      <a:prstDash val="solid"/>
                    </a:lnB>
                    <a:noFill/>
                  </a:tcPr>
                </a:tc>
                <a:tc>
                  <a:txBody>
                    <a:bodyPr wrap="square"/>
                    <a:lstStyle/>
                    <a:p>
                      <a:pPr algn="ctr"/>
                      <a:r>
                        <a:rPr sz="1300" b="0">
                          <a:solidFill>
                            <a:srgbClr val="1E252D"/>
                          </a:solidFill>
                          <a:latin typeface="Arial"/>
                        </a:rPr>
                        <a:t/>
                      </a:r>
                    </a:p>
                  </a:txBody>
                  <a:tcPr marL="73152" marR="73152" marT="41148" marB="41148" anchor="ctr">
                    <a:lnL w="0">
                      <a:noFill/>
                    </a:lnL>
                    <a:lnR w="0">
                      <a:noFill/>
                    </a:lnR>
                    <a:lnT w="0">
                      <a:noFill/>
                    </a:lnT>
                    <a:lnB w="6350" cap="flat">
                      <a:solidFill>
                        <a:srgbClr val="E3E7EB"/>
                      </a:solidFill>
                      <a:prstDash val="solid"/>
                    </a:lnB>
                    <a:noFill/>
                  </a:tcPr>
                </a:tc>
              </a:tr>
              <a:tr h="1053846">
                <a:tc>
                  <a:txBody>
                    <a:bodyPr wrap="square"/>
                    <a:lstStyle/>
                    <a:p>
                      <a:pPr algn="l"/>
                      <a:r>
                        <a:rPr sz="1300" b="0">
                          <a:solidFill>
                            <a:srgbClr val="1E252D"/>
                          </a:solidFill>
                          <a:latin typeface="Arial"/>
                        </a:rPr>
                        <a:t>Approve €85M programme budget and transformation office</a:t>
                      </a:r>
                    </a:p>
                  </a:txBody>
                  <a:tcPr marL="73152" marR="73152" marT="41148" marB="41148" anchor="ctr">
                    <a:lnL w="0">
                      <a:noFill/>
                    </a:lnL>
                    <a:lnR w="0">
                      <a:noFill/>
                    </a:lnR>
                    <a:lnT w="0">
                      <a:noFill/>
                    </a:lnT>
                    <a:lnB w="9525" cap="flat">
                      <a:solidFill>
                        <a:srgbClr val="B7BFC8"/>
                      </a:solidFill>
                      <a:prstDash val="solid"/>
                    </a:lnB>
                    <a:noFill/>
                  </a:tcPr>
                </a:tc>
                <a:tc>
                  <a:txBody>
                    <a:bodyPr wrap="square"/>
                    <a:lstStyle/>
                    <a:p>
                      <a:pPr algn="l"/>
                      <a:r>
                        <a:rPr sz="1300" b="0">
                          <a:solidFill>
                            <a:srgbClr val="1E252D"/>
                          </a:solidFill>
                          <a:latin typeface="Arial"/>
                        </a:rPr>
                        <a:t>CFO</a:t>
                      </a:r>
                    </a:p>
                  </a:txBody>
                  <a:tcPr marL="73152" marR="73152" marT="41148" marB="41148" anchor="ctr">
                    <a:lnL w="0">
                      <a:noFill/>
                    </a:lnL>
                    <a:lnR w="0">
                      <a:noFill/>
                    </a:lnR>
                    <a:lnT w="0">
                      <a:noFill/>
                    </a:lnT>
                    <a:lnB w="9525" cap="flat">
                      <a:solidFill>
                        <a:srgbClr val="B7BFC8"/>
                      </a:solidFill>
                      <a:prstDash val="solid"/>
                    </a:lnB>
                    <a:noFill/>
                  </a:tcPr>
                </a:tc>
                <a:tc>
                  <a:txBody>
                    <a:bodyPr wrap="square"/>
                    <a:lstStyle/>
                    <a:p>
                      <a:pPr algn="l"/>
                      <a:r>
                        <a:rPr sz="1300" b="0">
                          <a:solidFill>
                            <a:srgbClr val="1E252D"/>
                          </a:solidFill>
                          <a:latin typeface="Arial"/>
                        </a:rPr>
                        <a:t>Jan 2026</a:t>
                      </a:r>
                    </a:p>
                  </a:txBody>
                  <a:tcPr marL="73152" marR="73152" marT="41148" marB="41148" anchor="ctr">
                    <a:lnL w="0">
                      <a:noFill/>
                    </a:lnL>
                    <a:lnR w="0">
                      <a:noFill/>
                    </a:lnR>
                    <a:lnT w="0">
                      <a:noFill/>
                    </a:lnT>
                    <a:lnB w="9525" cap="flat">
                      <a:solidFill>
                        <a:srgbClr val="B7BFC8"/>
                      </a:solidFill>
                      <a:prstDash val="solid"/>
                    </a:lnB>
                    <a:noFill/>
                  </a:tcPr>
                </a:tc>
                <a:tc>
                  <a:txBody>
                    <a:bodyPr wrap="square"/>
                    <a:lstStyle/>
                    <a:p>
                      <a:pPr algn="r"/>
                      <a:r>
                        <a:rPr sz="1300" b="0">
                          <a:solidFill>
                            <a:srgbClr val="1E252D"/>
                          </a:solidFill>
                          <a:latin typeface="Arial"/>
                        </a:rPr>
                        <a:t>135</a:t>
                      </a:r>
                    </a:p>
                  </a:txBody>
                  <a:tcPr marL="73152" marR="73152" marT="41148" marB="41148" anchor="ctr">
                    <a:lnL w="0">
                      <a:noFill/>
                    </a:lnL>
                    <a:lnR w="0">
                      <a:noFill/>
                    </a:lnR>
                    <a:lnT w="0">
                      <a:noFill/>
                    </a:lnT>
                    <a:lnB w="9525" cap="flat">
                      <a:solidFill>
                        <a:srgbClr val="B7BFC8"/>
                      </a:solidFill>
                      <a:prstDash val="solid"/>
                    </a:lnB>
                    <a:noFill/>
                  </a:tcPr>
                </a:tc>
                <a:tc>
                  <a:txBody>
                    <a:bodyPr wrap="square"/>
                    <a:lstStyle/>
                    <a:p>
                      <a:pPr algn="ctr"/>
                      <a:r>
                        <a:rPr sz="1300" b="0">
                          <a:solidFill>
                            <a:srgbClr val="1E252D"/>
                          </a:solidFill>
                          <a:latin typeface="Arial"/>
                        </a:rPr>
                        <a:t/>
                      </a:r>
                    </a:p>
                  </a:txBody>
                  <a:tcPr marL="73152" marR="73152" marT="41148" marB="41148" anchor="ctr">
                    <a:lnL w="0">
                      <a:noFill/>
                    </a:lnL>
                    <a:lnR w="0">
                      <a:noFill/>
                    </a:lnR>
                    <a:lnT w="0">
                      <a:noFill/>
                    </a:lnT>
                    <a:lnB w="9525" cap="flat">
                      <a:solidFill>
                        <a:srgbClr val="B7BFC8"/>
                      </a:solidFill>
                      <a:prstDash val="solid"/>
                    </a:lnB>
                    <a:noFill/>
                  </a:tcPr>
                </a:tc>
              </a:tr>
            </a:tbl>
          </a:graphicData>
        </a:graphic>
      </p:graphicFrame>
      <p:sp>
        <p:nvSpPr>
          <p:cNvPr id="7" name="cpe|exhibit|marker|6"/>
          <p:cNvSpPr/>
          <p:nvPr/>
        </p:nvSpPr>
        <p:spPr>
          <a:xfrm>
            <a:off x="10884103" y="2736914"/>
            <a:ext cx="237744" cy="237744"/>
          </a:xfrm>
          <a:prstGeom prst="ellipse">
            <a:avLst/>
          </a:prstGeom>
          <a:solidFill>
            <a:srgbClr val="2E7D4F"/>
          </a:solidFill>
          <a:ln>
            <a:noFill/>
          </a:ln>
        </p:spPr>
        <p:txBody>
          <a:bodyPr rtlCol="0" anchor="ctr" lIns="0" rIns="0" tIns="0" bIns="0"/>
          <a:lstStyle/>
          <a:p>
            <a:pPr algn="ctr"/>
          </a:p>
        </p:txBody>
      </p:sp>
      <p:sp>
        <p:nvSpPr>
          <p:cNvPr id="8" name="cpe|exhibit|marker|7"/>
          <p:cNvSpPr/>
          <p:nvPr/>
        </p:nvSpPr>
        <p:spPr>
          <a:xfrm>
            <a:off x="10884103" y="3694176"/>
            <a:ext cx="237744" cy="237744"/>
          </a:xfrm>
          <a:prstGeom prst="ellipse">
            <a:avLst/>
          </a:prstGeom>
          <a:solidFill>
            <a:srgbClr val="D98E04"/>
          </a:solidFill>
          <a:ln>
            <a:noFill/>
          </a:ln>
        </p:spPr>
        <p:txBody>
          <a:bodyPr rtlCol="0" anchor="ctr" lIns="0" rIns="0" tIns="0" bIns="0"/>
          <a:lstStyle/>
          <a:p>
            <a:pPr algn="ctr"/>
          </a:p>
        </p:txBody>
      </p:sp>
      <p:sp>
        <p:nvSpPr>
          <p:cNvPr id="9" name="cpe|exhibit|marker|8"/>
          <p:cNvSpPr/>
          <p:nvPr/>
        </p:nvSpPr>
        <p:spPr>
          <a:xfrm>
            <a:off x="10884103" y="4748022"/>
            <a:ext cx="237744" cy="237744"/>
          </a:xfrm>
          <a:prstGeom prst="ellipse">
            <a:avLst/>
          </a:prstGeom>
          <a:solidFill>
            <a:srgbClr val="2E7D4F"/>
          </a:solidFill>
          <a:ln>
            <a:noFill/>
          </a:ln>
        </p:spPr>
        <p:txBody>
          <a:bodyPr rtlCol="0" anchor="ctr" lIns="0" rIns="0" tIns="0" bIns="0"/>
          <a:lstStyle/>
          <a:p>
            <a:pPr algn="ctr"/>
          </a:p>
        </p:txBody>
      </p:sp>
      <p:cxnSp>
        <p:nvCxnSpPr>
          <p:cNvPr id="10" name="cpe|commentary|line|9"/>
          <p:cNvCxnSpPr/>
          <p:nvPr/>
        </p:nvCxnSpPr>
        <p:spPr>
          <a:xfrm>
            <a:off x="502920" y="5709856"/>
            <a:ext cx="11185855" cy="0"/>
          </a:xfrm>
          <a:prstGeom prst="line">
            <a:avLst/>
          </a:prstGeom>
          <a:ln w="9525">
            <a:solidFill>
              <a:srgbClr val="B7BFC8"/>
            </a:solidFill>
          </a:ln>
        </p:spPr>
      </p:cxnSp>
      <p:sp>
        <p:nvSpPr>
          <p:cNvPr id="11" name="cpe|commentary|text|10"/>
          <p:cNvSpPr txBox="1"/>
          <p:nvPr/>
        </p:nvSpPr>
        <p:spPr>
          <a:xfrm>
            <a:off x="502920" y="5847016"/>
            <a:ext cx="5492344" cy="352616"/>
          </a:xfrm>
          <a:prstGeom prst="rect">
            <a:avLst/>
          </a:prstGeom>
          <a:noFill/>
        </p:spPr>
        <p:txBody>
          <a:bodyPr wrap="square" lIns="0" rIns="0" tIns="0" bIns="0" anchor="t">
            <a:noAutofit/>
          </a:bodyPr>
          <a:lstStyle/>
          <a:p>
            <a:pPr algn="l">
              <a:lnSpc>
                <a:spcPct val="100000"/>
              </a:lnSpc>
            </a:pPr>
            <a:r>
              <a:rPr sz="1450" b="0">
                <a:solidFill>
                  <a:srgbClr val="1E252D"/>
                </a:solidFill>
                <a:latin typeface="Arial"/>
              </a:rPr>
              <a:t>Wave 1 is self-funding by Q4 2026</a:t>
            </a:r>
          </a:p>
        </p:txBody>
      </p:sp>
      <p:sp>
        <p:nvSpPr>
          <p:cNvPr id="12" name="cpe|commentary|text|11"/>
          <p:cNvSpPr txBox="1"/>
          <p:nvPr/>
        </p:nvSpPr>
        <p:spPr>
          <a:xfrm>
            <a:off x="6196432" y="5847016"/>
            <a:ext cx="5492344" cy="352616"/>
          </a:xfrm>
          <a:prstGeom prst="rect">
            <a:avLst/>
          </a:prstGeom>
          <a:noFill/>
        </p:spPr>
        <p:txBody>
          <a:bodyPr wrap="square" lIns="0" rIns="0" tIns="0" bIns="0" anchor="t">
            <a:noAutofit/>
          </a:bodyPr>
          <a:lstStyle/>
          <a:p>
            <a:pPr algn="l">
              <a:lnSpc>
                <a:spcPct val="100000"/>
              </a:lnSpc>
            </a:pPr>
            <a:r>
              <a:rPr sz="1450" b="0">
                <a:solidFill>
                  <a:srgbClr val="1E252D"/>
                </a:solidFill>
                <a:latin typeface="Arial"/>
              </a:rPr>
              <a:t>The go / no-go on the banner comes back to the board in Q2 2027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Repositioning Alvora for profitable growth</dc:title>
  <dc:subject>Alvora should reposition towards discount and fix category margins now to return EBITDA above €1bn by 2028</dc:subject>
  <dc:creator>Consulting Presentation Engine</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