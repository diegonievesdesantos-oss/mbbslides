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1"/>
          <c:y val="0.01064"/>
          <c:w val="0.83298"/>
          <c:h val="0.92926"/>
        </c:manualLayout>
      </c:layout>
      <c:barChart>
        <c:barDir val="col"/>
        <c:grouping val="stacked"/>
        <c:ser>
          <c:idx val="0"/>
          <c:order val="0"/>
          <c:tx>
            <c:strRef>
              <c:f>Sheet1!$B$1</c:f>
              <c:strCache>
                <c:ptCount val="1"/>
                <c:pt idx="0">
                  <c:v>Discount</c:v>
                </c:pt>
              </c:strCache>
            </c:strRef>
          </c:tx>
          <c:spPr>
            <a:solidFill>
              <a:srgbClr val="0B1F3A"/>
            </a:solidFill>
            <a:ln w="9525">
              <a:solidFill>
                <a:srgbClr val="FFFFFF"/>
              </a:solidFill>
            </a:ln>
          </c:spPr>
          <c:dLbls>
            <c:numFmt formatCode="#,##0.0;-#,##0.0" sourceLinked="0"/>
            <c:txPr>
              <a:bodyPr/>
              <a:lstStyle/>
              <a:p>
                <a:pPr>
                  <a:defRPr sz="1050" b="0">
                    <a:solidFill>
                      <a:srgbClr val="FFFFFF"/>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28.2</c:v>
                </c:pt>
                <c:pt idx="1">
                  <c:v>30.4</c:v>
                </c:pt>
                <c:pt idx="2">
                  <c:v>32.8</c:v>
                </c:pt>
                <c:pt idx="3">
                  <c:v>35.3</c:v>
                </c:pt>
                <c:pt idx="4">
                  <c:v>38.0</c:v>
                </c:pt>
              </c:numCache>
            </c:numRef>
          </c:val>
        </c:ser>
        <c:ser>
          <c:idx val="1"/>
          <c:order val="1"/>
          <c:tx>
            <c:strRef>
              <c:f>Sheet1!$C$1</c:f>
              <c:strCache>
                <c:ptCount val="1"/>
                <c:pt idx="0">
                  <c:v>Supermarkets</c:v>
                </c:pt>
              </c:strCache>
            </c:strRef>
          </c:tx>
          <c:spPr>
            <a:solidFill>
              <a:srgbClr val="C9D0D8"/>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48.1</c:v>
                </c:pt>
                <c:pt idx="1">
                  <c:v>49.0</c:v>
                </c:pt>
                <c:pt idx="2">
                  <c:v>50.1</c:v>
                </c:pt>
                <c:pt idx="3">
                  <c:v>51.1</c:v>
                </c:pt>
                <c:pt idx="4">
                  <c:v>52.0</c:v>
                </c:pt>
              </c:numCache>
            </c:numRef>
          </c:val>
        </c:ser>
        <c:ser>
          <c:idx val="2"/>
          <c:order val="2"/>
          <c:tx>
            <c:strRef>
              <c:f>Sheet1!$D$1</c:f>
              <c:strCache>
                <c:ptCount val="1"/>
                <c:pt idx="0">
                  <c:v>Hypermarkets</c:v>
                </c:pt>
              </c:strCache>
            </c:strRef>
          </c:tx>
          <c:spPr>
            <a:solidFill>
              <a:srgbClr val="E3E7EB"/>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Sheet1!$D$2:$D$6</c:f>
              <c:numCache>
                <c:formatCode>General</c:formatCode>
                <c:ptCount val="5"/>
                <c:pt idx="0">
                  <c:v>25.2</c:v>
                </c:pt>
                <c:pt idx="1">
                  <c:v>24.9</c:v>
                </c:pt>
                <c:pt idx="2">
                  <c:v>24.6</c:v>
                </c:pt>
                <c:pt idx="3">
                  <c:v>24.3</c:v>
                </c:pt>
                <c:pt idx="4">
                  <c:v>24.0</c:v>
                </c:pt>
              </c:numCache>
            </c:numRef>
          </c:val>
        </c:ser>
        <c:ser>
          <c:idx val="3"/>
          <c:order val="3"/>
          <c:tx>
            <c:strRef>
              <c:f>Sheet1!$E$1</c:f>
              <c:strCache>
                <c:ptCount val="1"/>
                <c:pt idx="0">
                  <c:v>Convenience</c:v>
                </c:pt>
              </c:strCache>
            </c:strRef>
          </c:tx>
          <c:spPr>
            <a:solidFill>
              <a:srgbClr val="B7BFC8"/>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Sheet1!$E$2:$E$6</c:f>
              <c:numCache>
                <c:formatCode>General</c:formatCode>
                <c:ptCount val="5"/>
                <c:pt idx="0">
                  <c:v>11.5</c:v>
                </c:pt>
                <c:pt idx="1">
                  <c:v>12.1</c:v>
                </c:pt>
                <c:pt idx="2">
                  <c:v>12.7</c:v>
                </c:pt>
                <c:pt idx="3">
                  <c:v>13.3</c:v>
                </c:pt>
                <c:pt idx="4">
                  <c:v>14.0</c:v>
                </c:pt>
              </c:numCache>
            </c:numRef>
          </c:val>
        </c:ser>
        <c:ser>
          <c:idx val="4"/>
          <c:order val="4"/>
          <c:tx>
            <c:strRef>
              <c:f>Sheet1!$F$1</c:f>
              <c:strCache>
                <c:ptCount val="1"/>
                <c:pt idx="0">
                  <c:v>Online</c:v>
                </c:pt>
              </c:strCache>
            </c:strRef>
          </c:tx>
          <c:spPr>
            <a:solidFill>
              <a:srgbClr val="00A3AD"/>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Sheet1!$F$2:$F$6</c:f>
              <c:numCache>
                <c:formatCode>General</c:formatCode>
                <c:ptCount val="5"/>
                <c:pt idx="0">
                  <c:v>8.3</c:v>
                </c:pt>
                <c:pt idx="1">
                  <c:v>9.5</c:v>
                </c:pt>
                <c:pt idx="2">
                  <c:v>10.9</c:v>
                </c:pt>
                <c:pt idx="3">
                  <c:v>12.4</c:v>
                </c:pt>
                <c:pt idx="4">
                  <c:v>14.0</c:v>
                </c:pt>
              </c:numCache>
            </c:numRef>
          </c:val>
        </c:ser>
        <c:gapWidth val="60"/>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175.0"/>
          <c:min val="0.0"/>
        </c:scaling>
        <c:delete/>
        <c:axPos val="l"/>
        <c:majorTickMark val="none"/>
        <c:minorTickMark val="none"/>
        <c:tickLblPos val="nextTo"/>
        <c:crossAx val="-2068027336"/>
        <c:crosses val="autoZero"/>
        <c:majorUnit val="5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1"/>
          <c:y val="0.02552"/>
          <c:w val="0.88831"/>
          <c:h val="0.83027"/>
        </c:manualLayout>
      </c:layout>
      <c:barChart>
        <c:barDir val="col"/>
        <c:grouping val="clustered"/>
        <c:ser>
          <c:idx val="0"/>
          <c:order val="0"/>
          <c:tx>
            <c:strRef>
              <c:f>Sheet1!$B$1</c:f>
              <c:strCache>
                <c:ptCount val="1"/>
                <c:pt idx="0">
                  <c:v>Alvora revenue (€bn)</c:v>
                </c:pt>
              </c:strCache>
            </c:strRef>
          </c:tx>
          <c:spPr>
            <a:solidFill>
              <a:srgbClr val="8FA9CC"/>
            </a:solidFill>
          </c:spPr>
          <c:invertIfNegative val="0"/>
          <c:dPt>
            <c:idx val="3"/>
            <c:spPr>
              <a:solidFill>
                <a:srgbClr val="0B1F3A"/>
              </a:solidFill>
            </c:spPr>
          </c:dPt>
          <c:dLbls>
            <c:numFmt formatCode="#,##0.0;-#,##0.0" sourceLinked="0"/>
            <c:txPr>
              <a:bodyPr/>
              <a:lstStyle/>
              <a:p>
                <a:pPr>
                  <a:defRPr sz="1100" b="0">
                    <a:solidFill>
                      <a:srgbClr val="1E252D"/>
                    </a:solidFill>
                    <a:latin typeface="Arial"/>
                  </a:defRPr>
                </a:pPr>
              </a:p>
            </c:txPr>
            <c:dLblPos val="outEnd"/>
            <c:showLegendKey val="0"/>
            <c:showVal val="1"/>
            <c:showCatName val="0"/>
            <c:showSerName val="0"/>
            <c:showPercent val="0"/>
            <c:showBubbleSize val="0"/>
            <c:showLeaderLines val="1"/>
          </c:dLbls>
          <c:cat>
            <c:strRef>
              <c:f>Sheet1!$A$2:$A$5</c:f>
              <c:strCache>
                <c:ptCount val="4"/>
                <c:pt idx="0">
                  <c:v>2022</c:v>
                </c:pt>
                <c:pt idx="1">
                  <c:v>2023</c:v>
                </c:pt>
                <c:pt idx="2">
                  <c:v>2024</c:v>
                </c:pt>
                <c:pt idx="3">
                  <c:v>2025</c:v>
                </c:pt>
              </c:strCache>
            </c:strRef>
          </c:cat>
          <c:val>
            <c:numRef>
              <c:f>Sheet1!$B$2:$B$5</c:f>
              <c:numCache>
                <c:formatCode>General</c:formatCode>
                <c:ptCount val="4"/>
                <c:pt idx="0">
                  <c:v>11.9</c:v>
                </c:pt>
                <c:pt idx="1">
                  <c:v>12.7</c:v>
                </c:pt>
                <c:pt idx="2">
                  <c:v>13.2</c:v>
                </c:pt>
                <c:pt idx="3">
                  <c:v>13.6</c:v>
                </c:pt>
              </c:numCache>
            </c:numRef>
          </c:val>
        </c:ser>
        <c:gapWidth val="6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26.25"/>
          <c:min val="0.0"/>
        </c:scaling>
        <c:delete/>
        <c:axPos val="l"/>
        <c:majorTickMark val="none"/>
        <c:minorTickMark val="none"/>
        <c:tickLblPos val="nextTo"/>
        <c:crossAx val="-2068027336"/>
        <c:crosses val="autoZero"/>
        <c:majorUnit val="5.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1"/>
          <c:y val="0.04276"/>
          <c:w val="0.88831"/>
          <c:h val="0.88883"/>
        </c:manualLayout>
      </c:layout>
      <c:lineChart>
        <c:grouping val="standard"/>
        <c:varyColors val="0"/>
        <c:ser>
          <c:idx val="0"/>
          <c:order val="0"/>
          <c:tx>
            <c:strRef>
              <c:f>Sheet1!$B$1</c:f>
              <c:strCache>
                <c:ptCount val="1"/>
                <c:pt idx="0">
                  <c:v>Alvora growth</c:v>
                </c:pt>
              </c:strCache>
            </c:strRef>
          </c:tx>
          <c:spPr>
            <a:ln w="31750">
              <a:solidFill>
                <a:srgbClr val="0B1F3A"/>
              </a:solidFill>
            </a:ln>
          </c:spPr>
          <c:marker>
            <c:symbol val="none"/>
          </c:marker>
          <c:cat>
            <c:strRef>
              <c:f>Sheet1!$A$2:$A$5</c:f>
              <c:strCache>
                <c:ptCount val="4"/>
                <c:pt idx="0">
                  <c:v>2022</c:v>
                </c:pt>
                <c:pt idx="1">
                  <c:v>2023</c:v>
                </c:pt>
                <c:pt idx="2">
                  <c:v>2024</c:v>
                </c:pt>
                <c:pt idx="3">
                  <c:v>2025</c:v>
                </c:pt>
              </c:strCache>
            </c:strRef>
          </c:cat>
          <c:val>
            <c:numRef>
              <c:f>Sheet1!$B$2:$B$5</c:f>
              <c:numCache>
                <c:formatCode>General</c:formatCode>
                <c:ptCount val="4"/>
                <c:pt idx="0">
                  <c:v>6.3</c:v>
                </c:pt>
                <c:pt idx="1">
                  <c:v>6.7</c:v>
                </c:pt>
                <c:pt idx="2">
                  <c:v>3.9</c:v>
                </c:pt>
                <c:pt idx="3">
                  <c:v>3.0</c:v>
                </c:pt>
              </c:numCache>
            </c:numRef>
          </c:val>
          <c:smooth val="0"/>
        </c:ser>
        <c:ser>
          <c:idx val="1"/>
          <c:order val="1"/>
          <c:tx>
            <c:strRef>
              <c:f>Sheet1!$C$1</c:f>
              <c:strCache>
                <c:ptCount val="1"/>
                <c:pt idx="0">
                  <c:v>Market growth</c:v>
                </c:pt>
              </c:strCache>
            </c:strRef>
          </c:tx>
          <c:spPr>
            <a:ln w="22225">
              <a:solidFill>
                <a:srgbClr val="8A95A1"/>
              </a:solidFill>
            </a:ln>
          </c:spPr>
          <c:marker>
            <c:symbol val="none"/>
          </c:marker>
          <c:cat>
            <c:strRef>
              <c:f>Sheet1!$A$2:$A$5</c:f>
              <c:strCache>
                <c:ptCount val="4"/>
                <c:pt idx="0">
                  <c:v>2022</c:v>
                </c:pt>
                <c:pt idx="1">
                  <c:v>2023</c:v>
                </c:pt>
                <c:pt idx="2">
                  <c:v>2024</c:v>
                </c:pt>
                <c:pt idx="3">
                  <c:v>2025</c:v>
                </c:pt>
              </c:strCache>
            </c:strRef>
          </c:cat>
          <c:val>
            <c:numRef>
              <c:f>Sheet1!$C$2:$C$5</c:f>
              <c:numCache>
                <c:formatCode>General</c:formatCode>
                <c:ptCount val="4"/>
                <c:pt idx="0">
                  <c:v>3.8</c:v>
                </c:pt>
                <c:pt idx="1">
                  <c:v>4.1</c:v>
                </c:pt>
                <c:pt idx="2">
                  <c:v>4.0</c:v>
                </c:pt>
                <c:pt idx="3">
                  <c:v>4.1</c:v>
                </c:pt>
              </c:numCache>
            </c:numRef>
          </c:val>
          <c:smooth val="0"/>
        </c:ser>
        <c:marker val="1"/>
        <c:smooth val="0"/>
        <c:axId val="2118791784"/>
        <c:axId val="2140495176"/>
      </c:lineChart>
      <c:catAx>
        <c:axId val="2118791784"/>
        <c:scaling>
          <c:orientation val="minMax"/>
        </c:scaling>
        <c:delete/>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40495176"/>
        <c:crosses val="autoZero"/>
        <c:auto val="1"/>
        <c:lblAlgn val="ctr"/>
        <c:lblOffset val="100"/>
        <c:noMultiLvlLbl val="0"/>
      </c:catAx>
      <c:valAx>
        <c:axId val="2140495176"/>
        <c:scaling>
          <c:max val="7.5"/>
          <c:min val="2.5"/>
        </c:scaling>
        <c:delete/>
        <c:axPos val="l"/>
        <c:majorTickMark val="none"/>
        <c:minorTickMark val="none"/>
        <c:tickLblPos val="nextTo"/>
        <c:crossAx val="2118791784"/>
        <c:crosses val="autoZero"/>
        <c:majorUnit val="1.0"/>
      </c:valAx>
      <c:spPr>
        <a:noFill/>
        <a:ln>
          <a:noFill/>
        </a:ln>
      </c:spPr>
    </c:plotArea>
    <c:plotVisOnly val="1"/>
    <c:dispBlanksAs val="gap"/>
    <c:showDLblsOverMax val="0"/>
  </c:chart>
  <c:spPr>
    <a:noFill/>
    <a:ln>
      <a:noFill/>
    </a:ln>
  </c:spPr>
  <c:txPr>
    <a:bodyPr/>
    <a:lstStyle/>
    <a:p>
      <a:pPr>
        <a:defRPr sz="11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
          <c:y val="0.02"/>
          <c:w val="1.0"/>
          <c:h val="0.88532"/>
        </c:manualLayout>
      </c:layout>
      <c:barChart>
        <c:barDir val="col"/>
        <c:grouping val="stacked"/>
        <c:ser>
          <c:idx val="0"/>
          <c:order val="0"/>
          <c:tx>
            <c:strRef>
              <c:f>Sheet1!$B$1</c:f>
              <c:strCache>
                <c:ptCount val="1"/>
                <c:pt idx="0">
                  <c:v>Base</c:v>
                </c:pt>
              </c:strCache>
            </c:strRef>
          </c:tx>
          <c:spPr>
            <a:noFill/>
            <a:ln>
              <a:noFill/>
            </a:ln>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Sheet1!$B$2:$B$10</c:f>
              <c:numCache>
                <c:formatCode>General</c:formatCode>
                <c:ptCount val="9"/>
                <c:pt idx="0">
                  <c:v>0.0</c:v>
                </c:pt>
                <c:pt idx="1">
                  <c:v>174.0</c:v>
                </c:pt>
                <c:pt idx="2">
                  <c:v>226.0</c:v>
                </c:pt>
                <c:pt idx="3">
                  <c:v>179.0</c:v>
                </c:pt>
                <c:pt idx="4">
                  <c:v>138.0</c:v>
                </c:pt>
                <c:pt idx="5">
                  <c:v>116.0</c:v>
                </c:pt>
                <c:pt idx="6">
                  <c:v>102.0</c:v>
                </c:pt>
                <c:pt idx="7">
                  <c:v>102.0</c:v>
                </c:pt>
                <c:pt idx="8">
                  <c:v>0.0</c:v>
                </c:pt>
              </c:numCache>
            </c:numRef>
          </c:val>
        </c:ser>
        <c:ser>
          <c:idx val="1"/>
          <c:order val="1"/>
          <c:tx>
            <c:strRef>
              <c:f>Sheet1!$C$1</c:f>
              <c:strCache>
                <c:ptCount val="1"/>
                <c:pt idx="0">
                  <c:v>Total</c:v>
                </c:pt>
              </c:strCache>
            </c:strRef>
          </c:tx>
          <c:spPr>
            <a:solidFill>
              <a:srgbClr val="0B1F3A"/>
            </a:solidFill>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Sheet1!$C$2:$C$10</c:f>
              <c:numCache>
                <c:formatCode>General</c:formatCode>
                <c:ptCount val="9"/>
                <c:pt idx="0">
                  <c:v>174.0</c:v>
                </c:pt>
                <c:pt idx="1">
                  <c:v>0.0</c:v>
                </c:pt>
                <c:pt idx="2">
                  <c:v>0.0</c:v>
                </c:pt>
                <c:pt idx="3">
                  <c:v>0.0</c:v>
                </c:pt>
                <c:pt idx="4">
                  <c:v>0.0</c:v>
                </c:pt>
                <c:pt idx="5">
                  <c:v>0.0</c:v>
                </c:pt>
                <c:pt idx="6">
                  <c:v>0.0</c:v>
                </c:pt>
                <c:pt idx="7">
                  <c:v>0.0</c:v>
                </c:pt>
                <c:pt idx="8">
                  <c:v>107.0</c:v>
                </c:pt>
              </c:numCache>
            </c:numRef>
          </c:val>
        </c:ser>
        <c:ser>
          <c:idx val="2"/>
          <c:order val="2"/>
          <c:tx>
            <c:strRef>
              <c:f>Sheet1!$D$1</c:f>
              <c:strCache>
                <c:ptCount val="1"/>
                <c:pt idx="0">
                  <c:v>Increase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Sheet1!$D$2:$D$10</c:f>
              <c:numCache>
                <c:formatCode>General</c:formatCode>
                <c:ptCount val="9"/>
                <c:pt idx="0">
                  <c:v>0.0</c:v>
                </c:pt>
                <c:pt idx="1">
                  <c:v>52.0</c:v>
                </c:pt>
                <c:pt idx="2">
                  <c:v>31.0</c:v>
                </c:pt>
                <c:pt idx="3">
                  <c:v>0.0</c:v>
                </c:pt>
                <c:pt idx="4">
                  <c:v>0.0</c:v>
                </c:pt>
                <c:pt idx="5">
                  <c:v>0.0</c:v>
                </c:pt>
                <c:pt idx="6">
                  <c:v>0.0</c:v>
                </c:pt>
                <c:pt idx="7">
                  <c:v>5.0</c:v>
                </c:pt>
                <c:pt idx="8">
                  <c:v>0.0</c:v>
                </c:pt>
              </c:numCache>
            </c:numRef>
          </c:val>
        </c:ser>
        <c:ser>
          <c:idx val="3"/>
          <c:order val="3"/>
          <c:tx>
            <c:strRef>
              <c:f>Sheet1!$E$1</c:f>
              <c:strCache>
                <c:ptCount val="1"/>
                <c:pt idx="0">
                  <c:v>Decrease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Sheet1!$E$2:$E$10</c:f>
              <c:numCache>
                <c:formatCode>General</c:formatCode>
                <c:ptCount val="9"/>
                <c:pt idx="0">
                  <c:v>0.0</c:v>
                </c:pt>
                <c:pt idx="1">
                  <c:v>0.0</c:v>
                </c:pt>
                <c:pt idx="2">
                  <c:v>0.0</c:v>
                </c:pt>
                <c:pt idx="3">
                  <c:v>78.0</c:v>
                </c:pt>
                <c:pt idx="4">
                  <c:v>41.0</c:v>
                </c:pt>
                <c:pt idx="5">
                  <c:v>22.0</c:v>
                </c:pt>
                <c:pt idx="6">
                  <c:v>14.0</c:v>
                </c:pt>
                <c:pt idx="7">
                  <c:v>0.0</c:v>
                </c:pt>
                <c:pt idx="8">
                  <c:v>0.0</c:v>
                </c:pt>
              </c:numCache>
            </c:numRef>
          </c:val>
        </c:ser>
        <c:gapWidth val="45"/>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340.0"/>
          <c:min val="0.0"/>
        </c:scaling>
        <c:delete/>
        <c:axPos val="l"/>
        <c:majorTickMark val="out"/>
        <c:minorTickMark val="none"/>
        <c:tickLblPos val="nextTo"/>
        <c:crossAx val="-2068027336"/>
        <c:crosses val="autoZero"/>
        <c:majorUnit val="10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
          <c:y val="0.02"/>
          <c:w val="1.0"/>
          <c:h val="0.90624"/>
        </c:manualLayout>
      </c:layout>
      <c:barChart>
        <c:barDir val="col"/>
        <c:grouping val="stacked"/>
        <c:ser>
          <c:idx val="0"/>
          <c:order val="0"/>
          <c:tx>
            <c:strRef>
              <c:f>Sheet1!$B$1</c:f>
              <c:strCache>
                <c:ptCount val="1"/>
                <c:pt idx="0">
                  <c:v>Base</c:v>
                </c:pt>
              </c:strCache>
            </c:strRef>
          </c:tx>
          <c:spPr>
            <a:noFill/>
            <a:ln>
              <a:noFill/>
            </a:ln>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Sheet1!$B$2:$B$9</c:f>
              <c:numCache>
                <c:formatCode>General</c:formatCode>
                <c:ptCount val="8"/>
                <c:pt idx="0">
                  <c:v>0.0</c:v>
                </c:pt>
                <c:pt idx="1">
                  <c:v>157.0</c:v>
                </c:pt>
                <c:pt idx="2">
                  <c:v>217.0</c:v>
                </c:pt>
                <c:pt idx="3">
                  <c:v>262.0</c:v>
                </c:pt>
                <c:pt idx="4">
                  <c:v>332.0</c:v>
                </c:pt>
                <c:pt idx="5">
                  <c:v>387.0</c:v>
                </c:pt>
                <c:pt idx="6">
                  <c:v>367.0</c:v>
                </c:pt>
                <c:pt idx="7">
                  <c:v>0.0</c:v>
                </c:pt>
              </c:numCache>
            </c:numRef>
          </c:val>
        </c:ser>
        <c:ser>
          <c:idx val="1"/>
          <c:order val="1"/>
          <c:tx>
            <c:strRef>
              <c:f>Sheet1!$C$1</c:f>
              <c:strCache>
                <c:ptCount val="1"/>
                <c:pt idx="0">
                  <c:v>Total</c:v>
                </c:pt>
              </c:strCache>
            </c:strRef>
          </c:tx>
          <c:spPr>
            <a:solidFill>
              <a:srgbClr val="0B1F3A"/>
            </a:solidFill>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Sheet1!$C$2:$C$9</c:f>
              <c:numCache>
                <c:formatCode>General</c:formatCode>
                <c:ptCount val="8"/>
                <c:pt idx="0">
                  <c:v>157.0</c:v>
                </c:pt>
                <c:pt idx="1">
                  <c:v>0.0</c:v>
                </c:pt>
                <c:pt idx="2">
                  <c:v>0.0</c:v>
                </c:pt>
                <c:pt idx="3">
                  <c:v>0.0</c:v>
                </c:pt>
                <c:pt idx="4">
                  <c:v>0.0</c:v>
                </c:pt>
                <c:pt idx="5">
                  <c:v>0.0</c:v>
                </c:pt>
                <c:pt idx="6">
                  <c:v>0.0</c:v>
                </c:pt>
                <c:pt idx="7">
                  <c:v>367.0</c:v>
                </c:pt>
              </c:numCache>
            </c:numRef>
          </c:val>
        </c:ser>
        <c:ser>
          <c:idx val="2"/>
          <c:order val="2"/>
          <c:tx>
            <c:strRef>
              <c:f>Sheet1!$D$1</c:f>
              <c:strCache>
                <c:ptCount val="1"/>
                <c:pt idx="0">
                  <c:v>Increase</c:v>
                </c:pt>
              </c:strCache>
            </c:strRef>
          </c:tx>
          <c:spPr>
            <a:solidFill>
              <a:srgbClr val="2E7D4F"/>
            </a:solidFill>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Sheet1!$D$2:$D$9</c:f>
              <c:numCache>
                <c:formatCode>General</c:formatCode>
                <c:ptCount val="8"/>
                <c:pt idx="0">
                  <c:v>0.0</c:v>
                </c:pt>
                <c:pt idx="1">
                  <c:v>60.0</c:v>
                </c:pt>
                <c:pt idx="2">
                  <c:v>45.0</c:v>
                </c:pt>
                <c:pt idx="3">
                  <c:v>70.0</c:v>
                </c:pt>
                <c:pt idx="4">
                  <c:v>55.0</c:v>
                </c:pt>
                <c:pt idx="5">
                  <c:v>20.0</c:v>
                </c:pt>
                <c:pt idx="6">
                  <c:v>0.0</c:v>
                </c:pt>
                <c:pt idx="7">
                  <c:v>0.0</c:v>
                </c:pt>
              </c:numCache>
            </c:numRef>
          </c:val>
        </c:ser>
        <c:ser>
          <c:idx val="3"/>
          <c:order val="3"/>
          <c:tx>
            <c:strRef>
              <c:f>Sheet1!$E$1</c:f>
              <c:strCache>
                <c:ptCount val="1"/>
                <c:pt idx="0">
                  <c:v>Decrease</c:v>
                </c:pt>
              </c:strCache>
            </c:strRef>
          </c:tx>
          <c:spPr>
            <a:solidFill>
              <a:srgbClr val="C0392B"/>
            </a:solidFill>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Sheet1!$E$2:$E$9</c:f>
              <c:numCache>
                <c:formatCode>General</c:formatCode>
                <c:ptCount val="8"/>
                <c:pt idx="0">
                  <c:v>0.0</c:v>
                </c:pt>
                <c:pt idx="1">
                  <c:v>0.0</c:v>
                </c:pt>
                <c:pt idx="2">
                  <c:v>0.0</c:v>
                </c:pt>
                <c:pt idx="3">
                  <c:v>0.0</c:v>
                </c:pt>
                <c:pt idx="4">
                  <c:v>0.0</c:v>
                </c:pt>
                <c:pt idx="5">
                  <c:v>0.0</c:v>
                </c:pt>
                <c:pt idx="6">
                  <c:v>40.0</c:v>
                </c:pt>
                <c:pt idx="7">
                  <c:v>0.0</c:v>
                </c:pt>
              </c:numCache>
            </c:numRef>
          </c:val>
        </c:ser>
        <c:gapWidth val="45"/>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540.0"/>
          <c:min val="0.0"/>
        </c:scaling>
        <c:delete/>
        <c:axPos val="l"/>
        <c:majorTickMark val="out"/>
        <c:minorTickMark val="none"/>
        <c:tickLblPos val="nextTo"/>
        <c:crossAx val="-2068027336"/>
        <c:crosses val="autoZero"/>
        <c:majorUnit val="10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board the whole answer on one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where market growth is coming from The market added €20.7bn in four years; €15.5bn went to discount and online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Alvora's growth has fallen below the market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Alvora is weakest where the market grows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what drove the EBITDA decline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margin erosion by category and region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Alvora's competitive position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target operating model and what changes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implementation plan and its sequencing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Quantify the EBITDA impact of the plan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explicit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text|fill|1"/>
          <p:cNvSpPr/>
          <p:nvPr/>
        </p:nvSpPr>
        <p:spPr>
          <a:xfrm>
            <a:off x="502920" y="2148840"/>
            <a:ext cx="822960" cy="64008"/>
          </a:xfrm>
          <a:prstGeom prst="rect">
            <a:avLst/>
          </a:prstGeom>
          <a:solidFill>
            <a:srgbClr val="00A3AD"/>
          </a:solidFill>
          <a:ln>
            <a:noFill/>
          </a:ln>
        </p:spPr>
        <p:txBody>
          <a:bodyPr rtlCol="0" anchor="ctr" lIns="0" rIns="0" tIns="0" bIns="0"/>
          <a:lstStyle/>
          <a:p>
            <a:pPr algn="ctr"/>
          </a:p>
        </p:txBody>
      </p:sp>
      <p:sp>
        <p:nvSpPr>
          <p:cNvPr id="3" name="cpe|text|text|2"/>
          <p:cNvSpPr txBox="1"/>
          <p:nvPr/>
        </p:nvSpPr>
        <p:spPr>
          <a:xfrm>
            <a:off x="502920" y="2377440"/>
            <a:ext cx="9288018" cy="1737360"/>
          </a:xfrm>
          <a:prstGeom prst="rect">
            <a:avLst/>
          </a:prstGeom>
          <a:noFill/>
        </p:spPr>
        <p:txBody>
          <a:bodyPr wrap="square" lIns="0" rIns="0" tIns="0" bIns="0" anchor="t">
            <a:noAutofit/>
          </a:bodyPr>
          <a:lstStyle/>
          <a:p>
            <a:pPr algn="l">
              <a:lnSpc>
                <a:spcPct val="100000"/>
              </a:lnSpc>
            </a:pPr>
            <a:r>
              <a:rPr sz="3600" b="1">
                <a:solidFill>
                  <a:srgbClr val="0B1F3A"/>
                </a:solidFill>
                <a:latin typeface="Arial"/>
              </a:rPr>
              <a:t>Repositioning Alvora for profitable growth</a:t>
            </a:r>
          </a:p>
        </p:txBody>
      </p:sp>
      <p:sp>
        <p:nvSpPr>
          <p:cNvPr id="4" name="cpe|text|text|3"/>
          <p:cNvSpPr txBox="1"/>
          <p:nvPr/>
        </p:nvSpPr>
        <p:spPr>
          <a:xfrm>
            <a:off x="502920" y="4160520"/>
            <a:ext cx="8339099" cy="822960"/>
          </a:xfrm>
          <a:prstGeom prst="rect">
            <a:avLst/>
          </a:prstGeom>
          <a:noFill/>
        </p:spPr>
        <p:txBody>
          <a:bodyPr wrap="square" lIns="0" rIns="0" tIns="0" bIns="0" anchor="t">
            <a:noAutofit/>
          </a:bodyPr>
          <a:lstStyle/>
          <a:p>
            <a:pPr algn="l">
              <a:lnSpc>
                <a:spcPct val="100000"/>
              </a:lnSpc>
            </a:pPr>
            <a:r>
              <a:rPr sz="1600" b="0">
                <a:solidFill>
                  <a:srgbClr val="5E6A77"/>
                </a:solidFill>
                <a:latin typeface="Arial"/>
              </a:rPr>
              <a:t>Board discussion: strategic options to restore EBITDA above €1bn by 2028</a:t>
            </a:r>
          </a:p>
        </p:txBody>
      </p:sp>
      <p:sp>
        <p:nvSpPr>
          <p:cNvPr id="5" name="cpe|text|text|4"/>
          <p:cNvSpPr txBox="1"/>
          <p:nvPr/>
        </p:nvSpPr>
        <p:spPr>
          <a:xfrm>
            <a:off x="502920" y="5989320"/>
            <a:ext cx="8339099" cy="320040"/>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Alvora Retail (fictitious)   |   October 2026   |   Illustrative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EXECUTIVE SUMMARY</a:t>
            </a:r>
          </a:p>
        </p:txBody>
      </p:sp>
      <p:sp>
        <p:nvSpPr>
          <p:cNvPr id="3" name="cpe|chrome|text|2"/>
          <p:cNvSpPr txBox="1"/>
          <p:nvPr/>
        </p:nvSpPr>
        <p:spPr>
          <a:xfrm>
            <a:off x="502920" y="475488"/>
            <a:ext cx="105000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 can restore EBITDA to €1,067M by 2028 if it repositions towards discount now</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market model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2</a:t>
            </a:r>
          </a:p>
        </p:txBody>
      </p:sp>
      <p:sp>
        <p:nvSpPr>
          <p:cNvPr id="6" name="cpe|statements|text|5"/>
          <p:cNvSpPr txBox="1"/>
          <p:nvPr/>
        </p:nvSpPr>
        <p:spPr>
          <a:xfrm>
            <a:off x="502920" y="1517904"/>
            <a:ext cx="411480" cy="1003554"/>
          </a:xfrm>
          <a:prstGeom prst="rect">
            <a:avLst/>
          </a:prstGeom>
          <a:noFill/>
        </p:spPr>
        <p:txBody>
          <a:bodyPr wrap="square" lIns="0" rIns="0" tIns="0" bIns="0" anchor="ctr">
            <a:noAutofit/>
          </a:bodyPr>
          <a:lstStyle/>
          <a:p>
            <a:pPr algn="l">
              <a:lnSpc>
                <a:spcPct val="100000"/>
              </a:lnSpc>
            </a:pPr>
            <a:r>
              <a:rPr sz="1800" b="1">
                <a:solidFill>
                  <a:srgbClr val="00A3AD"/>
                </a:solidFill>
                <a:latin typeface="Arial"/>
              </a:rPr>
              <a:t>1</a:t>
            </a:r>
          </a:p>
        </p:txBody>
      </p:sp>
      <p:sp>
        <p:nvSpPr>
          <p:cNvPr id="7" name="cpe|statements|text|6"/>
          <p:cNvSpPr txBox="1"/>
          <p:nvPr/>
        </p:nvSpPr>
        <p:spPr>
          <a:xfrm>
            <a:off x="1005840" y="1517904"/>
            <a:ext cx="4258233" cy="1003554"/>
          </a:xfrm>
          <a:prstGeom prst="rect">
            <a:avLst/>
          </a:prstGeom>
          <a:noFill/>
        </p:spPr>
        <p:txBody>
          <a:bodyPr wrap="square" lIns="0" rIns="0" tIns="0" bIns="0" anchor="ctr">
            <a:noAutofit/>
          </a:bodyPr>
          <a:lstStyle/>
          <a:p>
            <a:pPr algn="l">
              <a:lnSpc>
                <a:spcPct val="100000"/>
              </a:lnSpc>
            </a:pPr>
            <a:r>
              <a:rPr sz="1400" b="1">
                <a:solidFill>
                  <a:srgbClr val="0B1F3A"/>
                </a:solidFill>
                <a:latin typeface="Arial"/>
              </a:rPr>
              <a:t>The market grows 4% a year, but discount and online capture 75% of it</a:t>
            </a:r>
          </a:p>
        </p:txBody>
      </p:sp>
      <p:sp>
        <p:nvSpPr>
          <p:cNvPr id="8" name="cpe|statements|text|7"/>
          <p:cNvSpPr txBox="1"/>
          <p:nvPr/>
        </p:nvSpPr>
        <p:spPr>
          <a:xfrm>
            <a:off x="5492673" y="1517904"/>
            <a:ext cx="6196102" cy="1003554"/>
          </a:xfrm>
          <a:prstGeom prst="rect">
            <a:avLst/>
          </a:prstGeom>
          <a:noFill/>
        </p:spPr>
        <p:txBody>
          <a:bodyPr wrap="square" lIns="0" rIns="0" tIns="0" bIns="0" anchor="ctr">
            <a:noAutofit/>
          </a:bodyPr>
          <a:lstStyle/>
          <a:p>
            <a:pPr algn="l">
              <a:lnSpc>
                <a:spcPct val="100000"/>
              </a:lnSpc>
            </a:pPr>
            <a:r>
              <a:rPr sz="1200" b="0">
                <a:solidFill>
                  <a:srgbClr val="1E252D"/>
                </a:solidFill>
                <a:latin typeface="Arial"/>
              </a:rPr>
              <a:t>Iberian grocery reached €142bn in 2025; discount (+7.8% CAGR) and online (+14.0%) outgrow supermarkets (+2.0%).</a:t>
            </a:r>
          </a:p>
        </p:txBody>
      </p:sp>
      <p:cxnSp>
        <p:nvCxnSpPr>
          <p:cNvPr id="9" name="cpe|statements|line|8"/>
          <p:cNvCxnSpPr/>
          <p:nvPr/>
        </p:nvCxnSpPr>
        <p:spPr>
          <a:xfrm>
            <a:off x="502920" y="2626614"/>
            <a:ext cx="11185855" cy="0"/>
          </a:xfrm>
          <a:prstGeom prst="line">
            <a:avLst/>
          </a:prstGeom>
          <a:ln w="6350">
            <a:solidFill>
              <a:srgbClr val="E3E7EB"/>
            </a:solidFill>
          </a:ln>
        </p:spPr>
      </p:cxnSp>
      <p:sp>
        <p:nvSpPr>
          <p:cNvPr id="10" name="cpe|statements|text|9"/>
          <p:cNvSpPr txBox="1"/>
          <p:nvPr/>
        </p:nvSpPr>
        <p:spPr>
          <a:xfrm>
            <a:off x="502920" y="2731770"/>
            <a:ext cx="411480" cy="1003554"/>
          </a:xfrm>
          <a:prstGeom prst="rect">
            <a:avLst/>
          </a:prstGeom>
          <a:noFill/>
        </p:spPr>
        <p:txBody>
          <a:bodyPr wrap="square" lIns="0" rIns="0" tIns="0" bIns="0" anchor="ctr">
            <a:noAutofit/>
          </a:bodyPr>
          <a:lstStyle/>
          <a:p>
            <a:pPr algn="l">
              <a:lnSpc>
                <a:spcPct val="100000"/>
              </a:lnSpc>
            </a:pPr>
            <a:r>
              <a:rPr sz="1800" b="1">
                <a:solidFill>
                  <a:srgbClr val="00A3AD"/>
                </a:solidFill>
                <a:latin typeface="Arial"/>
              </a:rPr>
              <a:t>2</a:t>
            </a:r>
          </a:p>
        </p:txBody>
      </p:sp>
      <p:sp>
        <p:nvSpPr>
          <p:cNvPr id="11" name="cpe|statements|text|10"/>
          <p:cNvSpPr txBox="1"/>
          <p:nvPr/>
        </p:nvSpPr>
        <p:spPr>
          <a:xfrm>
            <a:off x="1005840" y="2731770"/>
            <a:ext cx="4258233" cy="1003554"/>
          </a:xfrm>
          <a:prstGeom prst="rect">
            <a:avLst/>
          </a:prstGeom>
          <a:noFill/>
        </p:spPr>
        <p:txBody>
          <a:bodyPr wrap="square" lIns="0" rIns="0" tIns="0" bIns="0" anchor="ctr">
            <a:noAutofit/>
          </a:bodyPr>
          <a:lstStyle/>
          <a:p>
            <a:pPr algn="l">
              <a:lnSpc>
                <a:spcPct val="100000"/>
              </a:lnSpc>
            </a:pPr>
            <a:r>
              <a:rPr sz="1400" b="1">
                <a:solidFill>
                  <a:srgbClr val="0B1F3A"/>
                </a:solidFill>
                <a:latin typeface="Arial"/>
              </a:rPr>
              <a:t>Alvora is falling behind: growth of 3.0% is below the market for a second year</a:t>
            </a:r>
          </a:p>
        </p:txBody>
      </p:sp>
      <p:sp>
        <p:nvSpPr>
          <p:cNvPr id="12" name="cpe|statements|text|11"/>
          <p:cNvSpPr txBox="1"/>
          <p:nvPr/>
        </p:nvSpPr>
        <p:spPr>
          <a:xfrm>
            <a:off x="5492673" y="2731770"/>
            <a:ext cx="6196102" cy="1003554"/>
          </a:xfrm>
          <a:prstGeom prst="rect">
            <a:avLst/>
          </a:prstGeom>
          <a:noFill/>
        </p:spPr>
        <p:txBody>
          <a:bodyPr wrap="square" lIns="0" rIns="0" tIns="0" bIns="0" anchor="ctr">
            <a:noAutofit/>
          </a:bodyPr>
          <a:lstStyle/>
          <a:p>
            <a:pPr algn="l">
              <a:lnSpc>
                <a:spcPct val="100000"/>
              </a:lnSpc>
            </a:pPr>
            <a:r>
              <a:rPr sz="1200" b="0">
                <a:solidFill>
                  <a:srgbClr val="1E252D"/>
                </a:solidFill>
                <a:latin typeface="Arial"/>
              </a:rPr>
              <a:t>Its mix is 54% supermarkets and only 14% discount; share slipped to 9.6%.</a:t>
            </a:r>
          </a:p>
        </p:txBody>
      </p:sp>
      <p:cxnSp>
        <p:nvCxnSpPr>
          <p:cNvPr id="13" name="cpe|statements|line|12"/>
          <p:cNvCxnSpPr/>
          <p:nvPr/>
        </p:nvCxnSpPr>
        <p:spPr>
          <a:xfrm>
            <a:off x="502920" y="3840480"/>
            <a:ext cx="11185855" cy="0"/>
          </a:xfrm>
          <a:prstGeom prst="line">
            <a:avLst/>
          </a:prstGeom>
          <a:ln w="6350">
            <a:solidFill>
              <a:srgbClr val="E3E7EB"/>
            </a:solidFill>
          </a:ln>
        </p:spPr>
      </p:cxnSp>
      <p:sp>
        <p:nvSpPr>
          <p:cNvPr id="14" name="cpe|statements|text|13"/>
          <p:cNvSpPr txBox="1"/>
          <p:nvPr/>
        </p:nvSpPr>
        <p:spPr>
          <a:xfrm>
            <a:off x="502920" y="3945636"/>
            <a:ext cx="411480" cy="1003554"/>
          </a:xfrm>
          <a:prstGeom prst="rect">
            <a:avLst/>
          </a:prstGeom>
          <a:noFill/>
        </p:spPr>
        <p:txBody>
          <a:bodyPr wrap="square" lIns="0" rIns="0" tIns="0" bIns="0" anchor="ctr">
            <a:noAutofit/>
          </a:bodyPr>
          <a:lstStyle/>
          <a:p>
            <a:pPr algn="l">
              <a:lnSpc>
                <a:spcPct val="100000"/>
              </a:lnSpc>
            </a:pPr>
            <a:r>
              <a:rPr sz="1800" b="1">
                <a:solidFill>
                  <a:srgbClr val="00A3AD"/>
                </a:solidFill>
                <a:latin typeface="Arial"/>
              </a:rPr>
              <a:t>3</a:t>
            </a:r>
          </a:p>
        </p:txBody>
      </p:sp>
      <p:sp>
        <p:nvSpPr>
          <p:cNvPr id="15" name="cpe|statements|text|14"/>
          <p:cNvSpPr txBox="1"/>
          <p:nvPr/>
        </p:nvSpPr>
        <p:spPr>
          <a:xfrm>
            <a:off x="1005840" y="3945636"/>
            <a:ext cx="4258233" cy="1003554"/>
          </a:xfrm>
          <a:prstGeom prst="rect">
            <a:avLst/>
          </a:prstGeom>
          <a:noFill/>
        </p:spPr>
        <p:txBody>
          <a:bodyPr wrap="square" lIns="0" rIns="0" tIns="0" bIns="0" anchor="ctr">
            <a:noAutofit/>
          </a:bodyPr>
          <a:lstStyle/>
          <a:p>
            <a:pPr algn="l">
              <a:lnSpc>
                <a:spcPct val="100000"/>
              </a:lnSpc>
            </a:pPr>
            <a:r>
              <a:rPr sz="1400" b="1">
                <a:solidFill>
                  <a:srgbClr val="0B1F3A"/>
                </a:solidFill>
                <a:latin typeface="Arial"/>
              </a:rPr>
              <a:t>Margin erosion in grocery and convenience cut EBITDA by €67M in 2025</a:t>
            </a:r>
          </a:p>
        </p:txBody>
      </p:sp>
      <p:sp>
        <p:nvSpPr>
          <p:cNvPr id="16" name="cpe|statements|text|15"/>
          <p:cNvSpPr txBox="1"/>
          <p:nvPr/>
        </p:nvSpPr>
        <p:spPr>
          <a:xfrm>
            <a:off x="5492673" y="3945636"/>
            <a:ext cx="6196102" cy="1003554"/>
          </a:xfrm>
          <a:prstGeom prst="rect">
            <a:avLst/>
          </a:prstGeom>
          <a:noFill/>
        </p:spPr>
        <p:txBody>
          <a:bodyPr wrap="square" lIns="0" rIns="0" tIns="0" bIns="0" anchor="ctr">
            <a:noAutofit/>
          </a:bodyPr>
          <a:lstStyle/>
          <a:p>
            <a:pPr algn="l">
              <a:lnSpc>
                <a:spcPct val="100000"/>
              </a:lnSpc>
            </a:pPr>
            <a:r>
              <a:rPr sz="1200" b="0">
                <a:solidFill>
                  <a:srgbClr val="1E252D"/>
                </a:solidFill>
                <a:latin typeface="Arial"/>
              </a:rPr>
              <a:t>EBITDA fell to €857M (6.3% margin); fresh and food-to-go in Madrid and Catalonia explain most of the loss.</a:t>
            </a:r>
          </a:p>
        </p:txBody>
      </p:sp>
      <p:cxnSp>
        <p:nvCxnSpPr>
          <p:cNvPr id="17" name="cpe|statements|line|16"/>
          <p:cNvCxnSpPr/>
          <p:nvPr/>
        </p:nvCxnSpPr>
        <p:spPr>
          <a:xfrm>
            <a:off x="502920" y="5054346"/>
            <a:ext cx="11185855" cy="0"/>
          </a:xfrm>
          <a:prstGeom prst="line">
            <a:avLst/>
          </a:prstGeom>
          <a:ln w="6350">
            <a:solidFill>
              <a:srgbClr val="E3E7EB"/>
            </a:solidFill>
          </a:ln>
        </p:spPr>
      </p:cxnSp>
      <p:sp>
        <p:nvSpPr>
          <p:cNvPr id="18" name="cpe|statements|text|17"/>
          <p:cNvSpPr txBox="1"/>
          <p:nvPr/>
        </p:nvSpPr>
        <p:spPr>
          <a:xfrm>
            <a:off x="502920" y="5159502"/>
            <a:ext cx="411480" cy="1003554"/>
          </a:xfrm>
          <a:prstGeom prst="rect">
            <a:avLst/>
          </a:prstGeom>
          <a:noFill/>
        </p:spPr>
        <p:txBody>
          <a:bodyPr wrap="square" lIns="0" rIns="0" tIns="0" bIns="0" anchor="ctr">
            <a:noAutofit/>
          </a:bodyPr>
          <a:lstStyle/>
          <a:p>
            <a:pPr algn="l">
              <a:lnSpc>
                <a:spcPct val="100000"/>
              </a:lnSpc>
            </a:pPr>
            <a:r>
              <a:rPr sz="1800" b="1">
                <a:solidFill>
                  <a:srgbClr val="00A3AD"/>
                </a:solidFill>
                <a:latin typeface="Arial"/>
              </a:rPr>
              <a:t>4</a:t>
            </a:r>
          </a:p>
        </p:txBody>
      </p:sp>
      <p:sp>
        <p:nvSpPr>
          <p:cNvPr id="19" name="cpe|statements|text|18"/>
          <p:cNvSpPr txBox="1"/>
          <p:nvPr/>
        </p:nvSpPr>
        <p:spPr>
          <a:xfrm>
            <a:off x="1005840" y="5159502"/>
            <a:ext cx="4258233" cy="1003554"/>
          </a:xfrm>
          <a:prstGeom prst="rect">
            <a:avLst/>
          </a:prstGeom>
          <a:noFill/>
        </p:spPr>
        <p:txBody>
          <a:bodyPr wrap="square" lIns="0" rIns="0" tIns="0" bIns="0" anchor="ctr">
            <a:noAutofit/>
          </a:bodyPr>
          <a:lstStyle/>
          <a:p>
            <a:pPr algn="l">
              <a:lnSpc>
                <a:spcPct val="100000"/>
              </a:lnSpc>
            </a:pPr>
            <a:r>
              <a:rPr sz="1400" b="1">
                <a:solidFill>
                  <a:srgbClr val="0B1F3A"/>
                </a:solidFill>
                <a:latin typeface="Arial"/>
              </a:rPr>
              <a:t>A discount banner, a pricing reset and a cost programme add €250M by 2028</a:t>
            </a:r>
          </a:p>
        </p:txBody>
      </p:sp>
      <p:sp>
        <p:nvSpPr>
          <p:cNvPr id="20" name="cpe|statements|text|19"/>
          <p:cNvSpPr txBox="1"/>
          <p:nvPr/>
        </p:nvSpPr>
        <p:spPr>
          <a:xfrm>
            <a:off x="5492673" y="5159502"/>
            <a:ext cx="6196102" cy="1003554"/>
          </a:xfrm>
          <a:prstGeom prst="rect">
            <a:avLst/>
          </a:prstGeom>
          <a:noFill/>
        </p:spPr>
        <p:txBody>
          <a:bodyPr wrap="square" lIns="0" rIns="0" tIns="0" bIns="0" anchor="ctr">
            <a:noAutofit/>
          </a:bodyPr>
          <a:lstStyle/>
          <a:p>
            <a:pPr algn="l">
              <a:lnSpc>
                <a:spcPct val="100000"/>
              </a:lnSpc>
            </a:pPr>
            <a:r>
              <a:rPr sz="1200" b="0">
                <a:solidFill>
                  <a:srgbClr val="1E252D"/>
                </a:solidFill>
                <a:latin typeface="Arial"/>
              </a:rPr>
              <a:t>Three waves over 24 months; the board is asked to approve the banner pilot and the €85M programme budget.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MARKET</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Discount and online captured 75% of Iberian grocery growth since 2021</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National statistics; retailer reports; team market model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3</a:t>
            </a:r>
          </a:p>
        </p:txBody>
      </p:sp>
      <p:sp>
        <p:nvSpPr>
          <p:cNvPr id="6" name="cpe|exhibit|text|5"/>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Iberian grocery market by channel</a:t>
            </a:r>
            <a:r>
              <a:rPr sz="1100" b="0">
                <a:solidFill>
                  <a:srgbClr val="1E252D"/>
                </a:solidFill>
                <a:latin typeface="Arial"/>
              </a:rPr>
              <a:t>, €bn</a:t>
            </a:r>
          </a:p>
        </p:txBody>
      </p:sp>
      <p:graphicFrame>
        <p:nvGraphicFramePr>
          <p:cNvPr id="7" name="cpe|exhibit|chart|6"/>
          <p:cNvGraphicFramePr>
            <a:graphicFrameLocks noGrp="1"/>
          </p:cNvGraphicFramePr>
          <p:nvPr/>
        </p:nvGraphicFramePr>
        <p:xfrm>
          <a:off x="502920" y="1901952"/>
          <a:ext cx="7390181" cy="4297680"/>
        </p:xfrm>
        <a:graphic>
          <a:graphicData uri="http://schemas.openxmlformats.org/drawingml/2006/chart">
            <c:chart xmlns:c="http://schemas.openxmlformats.org/drawingml/2006/chart" r:id="rId2"/>
          </a:graphicData>
        </a:graphic>
      </p:graphicFrame>
      <p:sp>
        <p:nvSpPr>
          <p:cNvPr id="8" name="cpe|exhibit|label|7"/>
          <p:cNvSpPr txBox="1"/>
          <p:nvPr/>
        </p:nvSpPr>
        <p:spPr>
          <a:xfrm>
            <a:off x="576822" y="2898830"/>
            <a:ext cx="123117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121.3</a:t>
            </a:r>
          </a:p>
        </p:txBody>
      </p:sp>
      <p:sp>
        <p:nvSpPr>
          <p:cNvPr id="9" name="cpe|exhibit|label|8"/>
          <p:cNvSpPr txBox="1"/>
          <p:nvPr/>
        </p:nvSpPr>
        <p:spPr>
          <a:xfrm>
            <a:off x="1807993" y="2793854"/>
            <a:ext cx="123117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125.9</a:t>
            </a:r>
          </a:p>
        </p:txBody>
      </p:sp>
      <p:sp>
        <p:nvSpPr>
          <p:cNvPr id="10" name="cpe|exhibit|label|9"/>
          <p:cNvSpPr txBox="1"/>
          <p:nvPr/>
        </p:nvSpPr>
        <p:spPr>
          <a:xfrm>
            <a:off x="3039164" y="2675186"/>
            <a:ext cx="123117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131.1</a:t>
            </a:r>
          </a:p>
        </p:txBody>
      </p:sp>
      <p:sp>
        <p:nvSpPr>
          <p:cNvPr id="11" name="cpe|exhibit|label|10"/>
          <p:cNvSpPr txBox="1"/>
          <p:nvPr/>
        </p:nvSpPr>
        <p:spPr>
          <a:xfrm>
            <a:off x="4270336" y="2554235"/>
            <a:ext cx="123117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136.4</a:t>
            </a:r>
          </a:p>
        </p:txBody>
      </p:sp>
      <p:sp>
        <p:nvSpPr>
          <p:cNvPr id="12" name="cpe|exhibit|label|11"/>
          <p:cNvSpPr txBox="1"/>
          <p:nvPr/>
        </p:nvSpPr>
        <p:spPr>
          <a:xfrm>
            <a:off x="5501507" y="2426439"/>
            <a:ext cx="123117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142.0</a:t>
            </a:r>
          </a:p>
        </p:txBody>
      </p:sp>
      <p:sp>
        <p:nvSpPr>
          <p:cNvPr id="13" name="cpe|exhibit|label|12"/>
          <p:cNvSpPr txBox="1"/>
          <p:nvPr/>
        </p:nvSpPr>
        <p:spPr>
          <a:xfrm>
            <a:off x="6593273" y="2741632"/>
            <a:ext cx="1299827" cy="237744"/>
          </a:xfrm>
          <a:prstGeom prst="rect">
            <a:avLst/>
          </a:prstGeom>
          <a:noFill/>
        </p:spPr>
        <p:txBody>
          <a:bodyPr wrap="square" lIns="0" rIns="0" tIns="0" bIns="0" anchor="ctr">
            <a:noAutofit/>
          </a:bodyPr>
          <a:lstStyle/>
          <a:p>
            <a:pPr algn="l">
              <a:lnSpc>
                <a:spcPct val="100000"/>
              </a:lnSpc>
            </a:pPr>
            <a:r>
              <a:rPr sz="1100" b="0">
                <a:solidFill>
                  <a:srgbClr val="1E252D"/>
                </a:solidFill>
                <a:latin typeface="Arial"/>
              </a:rPr>
              <a:t>Online</a:t>
            </a:r>
          </a:p>
        </p:txBody>
      </p:sp>
      <p:sp>
        <p:nvSpPr>
          <p:cNvPr id="14" name="cpe|exhibit|label|13"/>
          <p:cNvSpPr txBox="1"/>
          <p:nvPr/>
        </p:nvSpPr>
        <p:spPr>
          <a:xfrm>
            <a:off x="6593273" y="3061124"/>
            <a:ext cx="1299827" cy="237744"/>
          </a:xfrm>
          <a:prstGeom prst="rect">
            <a:avLst/>
          </a:prstGeom>
          <a:noFill/>
        </p:spPr>
        <p:txBody>
          <a:bodyPr wrap="square" lIns="0" rIns="0" tIns="0" bIns="0" anchor="ctr">
            <a:noAutofit/>
          </a:bodyPr>
          <a:lstStyle/>
          <a:p>
            <a:pPr algn="l">
              <a:lnSpc>
                <a:spcPct val="100000"/>
              </a:lnSpc>
            </a:pPr>
            <a:r>
              <a:rPr sz="1100" b="0">
                <a:solidFill>
                  <a:srgbClr val="1E252D"/>
                </a:solidFill>
                <a:latin typeface="Arial"/>
              </a:rPr>
              <a:t>Convenience</a:t>
            </a:r>
          </a:p>
        </p:txBody>
      </p:sp>
      <p:sp>
        <p:nvSpPr>
          <p:cNvPr id="15" name="cpe|exhibit|label|14"/>
          <p:cNvSpPr txBox="1"/>
          <p:nvPr/>
        </p:nvSpPr>
        <p:spPr>
          <a:xfrm>
            <a:off x="6593273" y="3494719"/>
            <a:ext cx="1299827" cy="237744"/>
          </a:xfrm>
          <a:prstGeom prst="rect">
            <a:avLst/>
          </a:prstGeom>
          <a:noFill/>
        </p:spPr>
        <p:txBody>
          <a:bodyPr wrap="square" lIns="0" rIns="0" tIns="0" bIns="0" anchor="ctr">
            <a:noAutofit/>
          </a:bodyPr>
          <a:lstStyle/>
          <a:p>
            <a:pPr algn="l">
              <a:lnSpc>
                <a:spcPct val="100000"/>
              </a:lnSpc>
            </a:pPr>
            <a:r>
              <a:rPr sz="1100" b="0">
                <a:solidFill>
                  <a:srgbClr val="1E252D"/>
                </a:solidFill>
                <a:latin typeface="Arial"/>
              </a:rPr>
              <a:t>Hypermarkets</a:t>
            </a:r>
          </a:p>
        </p:txBody>
      </p:sp>
      <p:sp>
        <p:nvSpPr>
          <p:cNvPr id="16" name="cpe|exhibit|label|15"/>
          <p:cNvSpPr txBox="1"/>
          <p:nvPr/>
        </p:nvSpPr>
        <p:spPr>
          <a:xfrm>
            <a:off x="6593273" y="4361910"/>
            <a:ext cx="1299827" cy="237744"/>
          </a:xfrm>
          <a:prstGeom prst="rect">
            <a:avLst/>
          </a:prstGeom>
          <a:noFill/>
        </p:spPr>
        <p:txBody>
          <a:bodyPr wrap="square" lIns="0" rIns="0" tIns="0" bIns="0" anchor="ctr">
            <a:noAutofit/>
          </a:bodyPr>
          <a:lstStyle/>
          <a:p>
            <a:pPr algn="l">
              <a:lnSpc>
                <a:spcPct val="100000"/>
              </a:lnSpc>
            </a:pPr>
            <a:r>
              <a:rPr sz="1100" b="0">
                <a:solidFill>
                  <a:srgbClr val="1E252D"/>
                </a:solidFill>
                <a:latin typeface="Arial"/>
              </a:rPr>
              <a:t>Supermarkets</a:t>
            </a:r>
          </a:p>
        </p:txBody>
      </p:sp>
      <p:sp>
        <p:nvSpPr>
          <p:cNvPr id="17" name="cpe|exhibit|label|16"/>
          <p:cNvSpPr txBox="1"/>
          <p:nvPr/>
        </p:nvSpPr>
        <p:spPr>
          <a:xfrm>
            <a:off x="6593273" y="5388847"/>
            <a:ext cx="1299827" cy="237744"/>
          </a:xfrm>
          <a:prstGeom prst="rect">
            <a:avLst/>
          </a:prstGeom>
          <a:noFill/>
        </p:spPr>
        <p:txBody>
          <a:bodyPr wrap="square" lIns="0" rIns="0" tIns="0" bIns="0" anchor="ctr">
            <a:noAutofit/>
          </a:bodyPr>
          <a:lstStyle/>
          <a:p>
            <a:pPr algn="l">
              <a:lnSpc>
                <a:spcPct val="100000"/>
              </a:lnSpc>
            </a:pPr>
            <a:r>
              <a:rPr sz="1100" b="0">
                <a:solidFill>
                  <a:srgbClr val="1E252D"/>
                </a:solidFill>
                <a:latin typeface="Arial"/>
              </a:rPr>
              <a:t>Discount</a:t>
            </a:r>
          </a:p>
        </p:txBody>
      </p:sp>
      <p:cxnSp>
        <p:nvCxnSpPr>
          <p:cNvPr id="18" name="cpe|exhibit|connector|17"/>
          <p:cNvCxnSpPr/>
          <p:nvPr/>
        </p:nvCxnSpPr>
        <p:spPr>
          <a:xfrm>
            <a:off x="1192407" y="2316711"/>
            <a:ext cx="4924685" cy="0"/>
          </a:xfrm>
          <a:prstGeom prst="line">
            <a:avLst/>
          </a:prstGeom>
          <a:ln w="9525">
            <a:solidFill>
              <a:srgbClr val="1E252D"/>
            </a:solidFill>
            <a:tailEnd type="triangle" w="med" len="med"/>
          </a:ln>
        </p:spPr>
      </p:cxnSp>
      <p:cxnSp>
        <p:nvCxnSpPr>
          <p:cNvPr id="19" name="cpe|exhibit|connector|18"/>
          <p:cNvCxnSpPr/>
          <p:nvPr/>
        </p:nvCxnSpPr>
        <p:spPr>
          <a:xfrm>
            <a:off x="1192407" y="2316711"/>
            <a:ext cx="0" cy="91440"/>
          </a:xfrm>
          <a:prstGeom prst="line">
            <a:avLst/>
          </a:prstGeom>
          <a:ln w="9525">
            <a:solidFill>
              <a:srgbClr val="1E252D"/>
            </a:solidFill>
          </a:ln>
        </p:spPr>
      </p:cxnSp>
      <p:sp>
        <p:nvSpPr>
          <p:cNvPr id="20" name="cpe|exhibit|label|19"/>
          <p:cNvSpPr txBox="1"/>
          <p:nvPr/>
        </p:nvSpPr>
        <p:spPr>
          <a:xfrm>
            <a:off x="3158595" y="2179551"/>
            <a:ext cx="992311" cy="274320"/>
          </a:xfrm>
          <a:prstGeom prst="rect">
            <a:avLst/>
          </a:prstGeom>
          <a:solidFill>
            <a:srgbClr val="FFFFFF"/>
          </a:solidFill>
        </p:spPr>
        <p:txBody>
          <a:bodyPr wrap="square" lIns="0" rIns="0" tIns="0" bIns="0" anchor="ctr">
            <a:noAutofit/>
          </a:bodyPr>
          <a:lstStyle/>
          <a:p>
            <a:pPr algn="ctr">
              <a:lnSpc>
                <a:spcPct val="100000"/>
              </a:lnSpc>
            </a:pPr>
            <a:r>
              <a:rPr sz="1000" b="1">
                <a:solidFill>
                  <a:srgbClr val="1E252D"/>
                </a:solidFill>
                <a:latin typeface="Arial"/>
              </a:rPr>
              <a:t>CAGR +4.0%</a:t>
            </a:r>
          </a:p>
        </p:txBody>
      </p:sp>
      <p:cxnSp>
        <p:nvCxnSpPr>
          <p:cNvPr id="21" name="cpe|commentary|line|20"/>
          <p:cNvCxnSpPr/>
          <p:nvPr/>
        </p:nvCxnSpPr>
        <p:spPr>
          <a:xfrm>
            <a:off x="8094269" y="1481328"/>
            <a:ext cx="0" cy="4718304"/>
          </a:xfrm>
          <a:prstGeom prst="line">
            <a:avLst/>
          </a:prstGeom>
          <a:ln w="9525">
            <a:solidFill>
              <a:srgbClr val="B7BFC8"/>
            </a:solidFill>
          </a:ln>
        </p:spPr>
      </p:cxnSp>
      <p:sp>
        <p:nvSpPr>
          <p:cNvPr id="22" name="cpe|commentary|text|21"/>
          <p:cNvSpPr txBox="1"/>
          <p:nvPr/>
        </p:nvSpPr>
        <p:spPr>
          <a:xfrm>
            <a:off x="8322869" y="1481328"/>
            <a:ext cx="3365906" cy="196596"/>
          </a:xfrm>
          <a:prstGeom prst="rect">
            <a:avLst/>
          </a:prstGeom>
          <a:noFill/>
        </p:spPr>
        <p:txBody>
          <a:bodyPr wrap="square" lIns="0" rIns="0" tIns="0" bIns="0" anchor="t">
            <a:noAutofit/>
          </a:bodyPr>
          <a:lstStyle/>
          <a:p>
            <a:pPr algn="l">
              <a:lnSpc>
                <a:spcPct val="100000"/>
              </a:lnSpc>
            </a:pPr>
            <a:r>
              <a:rPr sz="1200" b="1">
                <a:solidFill>
                  <a:srgbClr val="0B1F3A"/>
                </a:solidFill>
                <a:latin typeface="Arial"/>
              </a:rPr>
              <a:t>What moves the market</a:t>
            </a:r>
          </a:p>
        </p:txBody>
      </p:sp>
      <p:sp>
        <p:nvSpPr>
          <p:cNvPr id="23" name="cpe|commentary|text|22"/>
          <p:cNvSpPr txBox="1"/>
          <p:nvPr/>
        </p:nvSpPr>
        <p:spPr>
          <a:xfrm>
            <a:off x="8322869" y="1796796"/>
            <a:ext cx="3365906" cy="4402836"/>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Discount</a:t>
            </a:r>
            <a:r>
              <a:rPr sz="1200" b="0">
                <a:solidFill>
                  <a:srgbClr val="1E252D"/>
                </a:solidFill>
                <a:latin typeface="Arial"/>
              </a:rPr>
              <a:t> grows 7.8% a year on price-sensitive households, who have been trading down across all categories since the energy shock and now visit discounters at least once a week in most regions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Online</a:t>
            </a:r>
            <a:r>
              <a:rPr sz="1200" b="0">
                <a:solidFill>
                  <a:srgbClr val="1E252D"/>
                </a:solidFill>
                <a:latin typeface="Arial"/>
              </a:rPr>
              <a:t> is still small but compounding at 14% a year, driven by quick-commerce in the two largest metropolitan areas and by subscription models from the pure players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Supermarkets</a:t>
            </a:r>
            <a:r>
              <a:rPr sz="1200" b="0">
                <a:solidFill>
                  <a:srgbClr val="1E252D"/>
                </a:solidFill>
                <a:latin typeface="Arial"/>
              </a:rPr>
              <a:t> grow at 2%, below food inflation, which means volumes are shrinking in real terms for the first time in a decade</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Hypermarkets</a:t>
            </a:r>
            <a:r>
              <a:rPr sz="1200" b="0">
                <a:solidFill>
                  <a:srgbClr val="1E252D"/>
                </a:solidFill>
                <a:latin typeface="Arial"/>
              </a:rPr>
              <a:t> shrink as shopping trips move to proximity formats, and several operators are converting out-of-town boxes</a:t>
            </a:r>
          </a:p>
          <a:p>
            <a:pPr algn="l" marL="155448" indent="-155448">
              <a:lnSpc>
                <a:spcPct val="108000"/>
              </a:lnSpc>
              <a:buClr>
                <a:srgbClr val="1E252D"/>
              </a:buClr>
              <a:buSzPct val="100000"/>
              <a:buFont typeface="Arial"/>
              <a:buChar char="•"/>
            </a:pPr>
            <a:r>
              <a:rPr sz="1200" b="1">
                <a:solidFill>
                  <a:srgbClr val="1E252D"/>
                </a:solidFill>
                <a:latin typeface="Arial"/>
              </a:rPr>
              <a:t>Convenience</a:t>
            </a:r>
            <a:r>
              <a:rPr sz="1200" b="0">
                <a:solidFill>
                  <a:srgbClr val="1E252D"/>
                </a:solidFill>
                <a:latin typeface="Arial"/>
              </a:rPr>
              <a:t> keeps growing at 5% thanks to food-to-go, although margins are under pressure from waste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PERFORMANCE</a:t>
            </a:r>
          </a:p>
        </p:txBody>
      </p:sp>
      <p:sp>
        <p:nvSpPr>
          <p:cNvPr id="3" name="cpe|chrome|text|2"/>
          <p:cNvSpPr txBox="1"/>
          <p:nvPr/>
        </p:nvSpPr>
        <p:spPr>
          <a:xfrm>
            <a:off x="502920" y="475488"/>
            <a:ext cx="10417759"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Alvora's growth slowed to 3.0% in 2025, below the market (4.1%) for the second year</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market model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4</a:t>
            </a:r>
          </a:p>
        </p:txBody>
      </p:sp>
      <p:sp>
        <p:nvSpPr>
          <p:cNvPr id="6" name="cpe|kpis|text|5"/>
          <p:cNvSpPr txBox="1"/>
          <p:nvPr/>
        </p:nvSpPr>
        <p:spPr>
          <a:xfrm>
            <a:off x="502920"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€13.6bn</a:t>
            </a:r>
          </a:p>
        </p:txBody>
      </p:sp>
      <p:sp>
        <p:nvSpPr>
          <p:cNvPr id="7" name="cpe|kpis|text|6"/>
          <p:cNvSpPr txBox="1"/>
          <p:nvPr/>
        </p:nvSpPr>
        <p:spPr>
          <a:xfrm>
            <a:off x="502920" y="2048256"/>
            <a:ext cx="2494712" cy="237744"/>
          </a:xfrm>
          <a:prstGeom prst="rect">
            <a:avLst/>
          </a:prstGeom>
          <a:noFill/>
        </p:spPr>
        <p:txBody>
          <a:bodyPr wrap="square" lIns="0" rIns="0" tIns="0" bIns="0" anchor="t">
            <a:noAutofit/>
          </a:bodyPr>
          <a:lstStyle/>
          <a:p>
            <a:pPr algn="l">
              <a:lnSpc>
                <a:spcPct val="100000"/>
              </a:lnSpc>
            </a:pPr>
            <a:r>
              <a:rPr sz="1100" b="1">
                <a:solidFill>
                  <a:srgbClr val="2E7D4F"/>
                </a:solidFill>
                <a:latin typeface="Arial"/>
              </a:rPr>
              <a:t>▲ +3.0% YoY</a:t>
            </a:r>
          </a:p>
        </p:txBody>
      </p:sp>
      <p:sp>
        <p:nvSpPr>
          <p:cNvPr id="8" name="cpe|kpis|text|7"/>
          <p:cNvSpPr txBox="1"/>
          <p:nvPr/>
        </p:nvSpPr>
        <p:spPr>
          <a:xfrm>
            <a:off x="502920"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Revenue 2025</a:t>
            </a:r>
          </a:p>
        </p:txBody>
      </p:sp>
      <p:cxnSp>
        <p:nvCxnSpPr>
          <p:cNvPr id="9" name="cpe|kpis|line|8"/>
          <p:cNvCxnSpPr/>
          <p:nvPr/>
        </p:nvCxnSpPr>
        <p:spPr>
          <a:xfrm>
            <a:off x="3198800" y="1527048"/>
            <a:ext cx="0" cy="1034735"/>
          </a:xfrm>
          <a:prstGeom prst="line">
            <a:avLst/>
          </a:prstGeom>
          <a:ln w="9525">
            <a:solidFill>
              <a:srgbClr val="E3E7EB"/>
            </a:solidFill>
          </a:ln>
        </p:spPr>
      </p:cxnSp>
      <p:sp>
        <p:nvSpPr>
          <p:cNvPr id="10" name="cpe|kpis|text|9"/>
          <p:cNvSpPr txBox="1"/>
          <p:nvPr/>
        </p:nvSpPr>
        <p:spPr>
          <a:xfrm>
            <a:off x="3399968"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6.3%</a:t>
            </a:r>
          </a:p>
        </p:txBody>
      </p:sp>
      <p:sp>
        <p:nvSpPr>
          <p:cNvPr id="11" name="cpe|kpis|text|10"/>
          <p:cNvSpPr txBox="1"/>
          <p:nvPr/>
        </p:nvSpPr>
        <p:spPr>
          <a:xfrm>
            <a:off x="3399968" y="2048256"/>
            <a:ext cx="2494712" cy="237744"/>
          </a:xfrm>
          <a:prstGeom prst="rect">
            <a:avLst/>
          </a:prstGeom>
          <a:noFill/>
        </p:spPr>
        <p:txBody>
          <a:bodyPr wrap="square" lIns="0" rIns="0" tIns="0" bIns="0" anchor="t">
            <a:noAutofit/>
          </a:bodyPr>
          <a:lstStyle/>
          <a:p>
            <a:pPr algn="l">
              <a:lnSpc>
                <a:spcPct val="100000"/>
              </a:lnSpc>
            </a:pPr>
            <a:r>
              <a:rPr sz="1100" b="1">
                <a:solidFill>
                  <a:srgbClr val="C0392B"/>
                </a:solidFill>
                <a:latin typeface="Arial"/>
              </a:rPr>
              <a:t>▼ −0.7pp</a:t>
            </a:r>
          </a:p>
        </p:txBody>
      </p:sp>
      <p:sp>
        <p:nvSpPr>
          <p:cNvPr id="12" name="cpe|kpis|text|11"/>
          <p:cNvSpPr txBox="1"/>
          <p:nvPr/>
        </p:nvSpPr>
        <p:spPr>
          <a:xfrm>
            <a:off x="3399968"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EBITDA margin 2025</a:t>
            </a:r>
          </a:p>
        </p:txBody>
      </p:sp>
      <p:cxnSp>
        <p:nvCxnSpPr>
          <p:cNvPr id="13" name="cpe|kpis|line|12"/>
          <p:cNvCxnSpPr/>
          <p:nvPr/>
        </p:nvCxnSpPr>
        <p:spPr>
          <a:xfrm>
            <a:off x="6095848" y="1527048"/>
            <a:ext cx="0" cy="1034735"/>
          </a:xfrm>
          <a:prstGeom prst="line">
            <a:avLst/>
          </a:prstGeom>
          <a:ln w="9525">
            <a:solidFill>
              <a:srgbClr val="E3E7EB"/>
            </a:solidFill>
          </a:ln>
        </p:spPr>
      </p:cxnSp>
      <p:sp>
        <p:nvSpPr>
          <p:cNvPr id="14" name="cpe|kpis|text|13"/>
          <p:cNvSpPr txBox="1"/>
          <p:nvPr/>
        </p:nvSpPr>
        <p:spPr>
          <a:xfrm>
            <a:off x="6297016"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9.6%</a:t>
            </a:r>
          </a:p>
        </p:txBody>
      </p:sp>
      <p:sp>
        <p:nvSpPr>
          <p:cNvPr id="15" name="cpe|kpis|text|14"/>
          <p:cNvSpPr txBox="1"/>
          <p:nvPr/>
        </p:nvSpPr>
        <p:spPr>
          <a:xfrm>
            <a:off x="6297016" y="2048256"/>
            <a:ext cx="2494712" cy="237744"/>
          </a:xfrm>
          <a:prstGeom prst="rect">
            <a:avLst/>
          </a:prstGeom>
          <a:noFill/>
        </p:spPr>
        <p:txBody>
          <a:bodyPr wrap="square" lIns="0" rIns="0" tIns="0" bIns="0" anchor="t">
            <a:noAutofit/>
          </a:bodyPr>
          <a:lstStyle/>
          <a:p>
            <a:pPr algn="l">
              <a:lnSpc>
                <a:spcPct val="100000"/>
              </a:lnSpc>
            </a:pPr>
            <a:r>
              <a:rPr sz="1100" b="1">
                <a:solidFill>
                  <a:srgbClr val="C0392B"/>
                </a:solidFill>
                <a:latin typeface="Arial"/>
              </a:rPr>
              <a:t>▼ −0.1pp</a:t>
            </a:r>
          </a:p>
        </p:txBody>
      </p:sp>
      <p:sp>
        <p:nvSpPr>
          <p:cNvPr id="16" name="cpe|kpis|text|15"/>
          <p:cNvSpPr txBox="1"/>
          <p:nvPr/>
        </p:nvSpPr>
        <p:spPr>
          <a:xfrm>
            <a:off x="6297016"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Market share 2025</a:t>
            </a:r>
          </a:p>
        </p:txBody>
      </p:sp>
      <p:cxnSp>
        <p:nvCxnSpPr>
          <p:cNvPr id="17" name="cpe|kpis|line|16"/>
          <p:cNvCxnSpPr/>
          <p:nvPr/>
        </p:nvCxnSpPr>
        <p:spPr>
          <a:xfrm>
            <a:off x="8992895" y="1527048"/>
            <a:ext cx="0" cy="1034735"/>
          </a:xfrm>
          <a:prstGeom prst="line">
            <a:avLst/>
          </a:prstGeom>
          <a:ln w="9525">
            <a:solidFill>
              <a:srgbClr val="E3E7EB"/>
            </a:solidFill>
          </a:ln>
        </p:spPr>
      </p:cxnSp>
      <p:sp>
        <p:nvSpPr>
          <p:cNvPr id="18" name="cpe|kpis|text|17"/>
          <p:cNvSpPr txBox="1"/>
          <p:nvPr/>
        </p:nvSpPr>
        <p:spPr>
          <a:xfrm>
            <a:off x="9194063"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+1.2%</a:t>
            </a:r>
          </a:p>
        </p:txBody>
      </p:sp>
      <p:sp>
        <p:nvSpPr>
          <p:cNvPr id="19" name="cpe|kpis|text|18"/>
          <p:cNvSpPr txBox="1"/>
          <p:nvPr/>
        </p:nvSpPr>
        <p:spPr>
          <a:xfrm>
            <a:off x="9194063" y="2048256"/>
            <a:ext cx="2494712" cy="237744"/>
          </a:xfrm>
          <a:prstGeom prst="rect">
            <a:avLst/>
          </a:prstGeom>
          <a:noFill/>
        </p:spPr>
        <p:txBody>
          <a:bodyPr wrap="square" lIns="0" rIns="0" tIns="0" bIns="0" anchor="t">
            <a:noAutofit/>
          </a:bodyPr>
          <a:lstStyle/>
          <a:p>
            <a:pPr algn="l">
              <a:lnSpc>
                <a:spcPct val="100000"/>
              </a:lnSpc>
            </a:pPr>
            <a:r>
              <a:rPr sz="1100" b="1">
                <a:solidFill>
                  <a:srgbClr val="C0392B"/>
                </a:solidFill>
                <a:latin typeface="Arial"/>
              </a:rPr>
              <a:t>▼ −1.8pp vs 2024</a:t>
            </a:r>
          </a:p>
        </p:txBody>
      </p:sp>
      <p:sp>
        <p:nvSpPr>
          <p:cNvPr id="20" name="cpe|kpis|text|19"/>
          <p:cNvSpPr txBox="1"/>
          <p:nvPr/>
        </p:nvSpPr>
        <p:spPr>
          <a:xfrm>
            <a:off x="9194063"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Like-for-like sales 2025</a:t>
            </a:r>
          </a:p>
        </p:txBody>
      </p:sp>
      <p:sp>
        <p:nvSpPr>
          <p:cNvPr id="21" name="cpe|exhibit|text|20"/>
          <p:cNvSpPr txBox="1"/>
          <p:nvPr/>
        </p:nvSpPr>
        <p:spPr>
          <a:xfrm>
            <a:off x="502920" y="2808671"/>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Alvora revenue and growth vs market</a:t>
            </a:r>
            <a:r>
              <a:rPr sz="1100" b="0">
                <a:solidFill>
                  <a:srgbClr val="1E252D"/>
                </a:solidFill>
                <a:latin typeface="Arial"/>
              </a:rPr>
              <a:t>, €bn, % YoY</a:t>
            </a:r>
          </a:p>
        </p:txBody>
      </p:sp>
      <p:graphicFrame>
        <p:nvGraphicFramePr>
          <p:cNvPr id="22" name="cpe|exhibit|chart|21"/>
          <p:cNvGraphicFramePr>
            <a:graphicFrameLocks noGrp="1"/>
          </p:cNvGraphicFramePr>
          <p:nvPr/>
        </p:nvGraphicFramePr>
        <p:xfrm>
          <a:off x="502920" y="4408344"/>
          <a:ext cx="11185855" cy="1791288"/>
        </p:xfrm>
        <a:graphic>
          <a:graphicData uri="http://schemas.openxmlformats.org/drawingml/2006/chart">
            <c:chart xmlns:c="http://schemas.openxmlformats.org/drawingml/2006/chart" r:id="rId2"/>
          </a:graphicData>
        </a:graphic>
      </p:graphicFrame>
      <p:cxnSp>
        <p:nvCxnSpPr>
          <p:cNvPr id="23" name="cpe|exhibit|connector|22"/>
          <p:cNvCxnSpPr/>
          <p:nvPr/>
        </p:nvCxnSpPr>
        <p:spPr>
          <a:xfrm>
            <a:off x="6825062" y="4786729"/>
            <a:ext cx="2484114" cy="0"/>
          </a:xfrm>
          <a:prstGeom prst="line">
            <a:avLst/>
          </a:prstGeom>
          <a:ln w="9525">
            <a:solidFill>
              <a:srgbClr val="1E252D"/>
            </a:solidFill>
            <a:tailEnd type="triangle" w="med" len="med"/>
          </a:ln>
        </p:spPr>
      </p:cxnSp>
      <p:cxnSp>
        <p:nvCxnSpPr>
          <p:cNvPr id="24" name="cpe|exhibit|connector|23"/>
          <p:cNvCxnSpPr/>
          <p:nvPr/>
        </p:nvCxnSpPr>
        <p:spPr>
          <a:xfrm>
            <a:off x="6825062" y="4786729"/>
            <a:ext cx="0" cy="91440"/>
          </a:xfrm>
          <a:prstGeom prst="line">
            <a:avLst/>
          </a:prstGeom>
          <a:ln w="9525">
            <a:solidFill>
              <a:srgbClr val="1E252D"/>
            </a:solidFill>
          </a:ln>
        </p:spPr>
      </p:cxnSp>
      <p:sp>
        <p:nvSpPr>
          <p:cNvPr id="25" name="cpe|exhibit|label|24"/>
          <p:cNvSpPr txBox="1"/>
          <p:nvPr/>
        </p:nvSpPr>
        <p:spPr>
          <a:xfrm>
            <a:off x="7828525" y="4649569"/>
            <a:ext cx="477187" cy="274320"/>
          </a:xfrm>
          <a:prstGeom prst="rect">
            <a:avLst/>
          </a:prstGeom>
          <a:solidFill>
            <a:srgbClr val="FFFFFF"/>
          </a:solidFill>
        </p:spPr>
        <p:txBody>
          <a:bodyPr wrap="square" lIns="0" rIns="0" tIns="0" bIns="0" anchor="ctr">
            <a:noAutofit/>
          </a:bodyPr>
          <a:lstStyle/>
          <a:p>
            <a:pPr algn="ctr">
              <a:lnSpc>
                <a:spcPct val="100000"/>
              </a:lnSpc>
            </a:pPr>
            <a:r>
              <a:rPr sz="1000" b="1">
                <a:solidFill>
                  <a:srgbClr val="1E252D"/>
                </a:solidFill>
                <a:latin typeface="Arial"/>
              </a:rPr>
              <a:t>+3%</a:t>
            </a:r>
          </a:p>
        </p:txBody>
      </p:sp>
      <p:graphicFrame>
        <p:nvGraphicFramePr>
          <p:cNvPr id="26" name="cpe|exhibit|chart|25"/>
          <p:cNvGraphicFramePr>
            <a:graphicFrameLocks noGrp="1"/>
          </p:cNvGraphicFramePr>
          <p:nvPr/>
        </p:nvGraphicFramePr>
        <p:xfrm>
          <a:off x="502920" y="3229295"/>
          <a:ext cx="11185855" cy="1069321"/>
        </p:xfrm>
        <a:graphic>
          <a:graphicData uri="http://schemas.openxmlformats.org/drawingml/2006/chart">
            <c:chart xmlns:c="http://schemas.openxmlformats.org/drawingml/2006/chart" r:id="rId3"/>
          </a:graphicData>
        </a:graphic>
      </p:graphicFrame>
      <p:sp>
        <p:nvSpPr>
          <p:cNvPr id="27" name="cpe|exhibit|label|26"/>
          <p:cNvSpPr txBox="1"/>
          <p:nvPr/>
        </p:nvSpPr>
        <p:spPr>
          <a:xfrm>
            <a:off x="9400616" y="3802449"/>
            <a:ext cx="2288160" cy="237744"/>
          </a:xfrm>
          <a:prstGeom prst="rect">
            <a:avLst/>
          </a:prstGeom>
          <a:noFill/>
        </p:spPr>
        <p:txBody>
          <a:bodyPr wrap="square" lIns="0" rIns="0" tIns="0" bIns="0" anchor="ctr">
            <a:noAutofit/>
          </a:bodyPr>
          <a:lstStyle/>
          <a:p>
            <a:pPr algn="l">
              <a:lnSpc>
                <a:spcPct val="100000"/>
              </a:lnSpc>
            </a:pPr>
            <a:r>
              <a:rPr sz="1100" b="1">
                <a:solidFill>
                  <a:srgbClr val="5E6A77"/>
                </a:solidFill>
                <a:latin typeface="Arial"/>
              </a:rPr>
              <a:t>Market growth</a:t>
            </a:r>
          </a:p>
        </p:txBody>
      </p:sp>
      <p:sp>
        <p:nvSpPr>
          <p:cNvPr id="28" name="cpe|exhibit|label|27"/>
          <p:cNvSpPr txBox="1"/>
          <p:nvPr/>
        </p:nvSpPr>
        <p:spPr>
          <a:xfrm>
            <a:off x="9400616" y="4021905"/>
            <a:ext cx="2288160" cy="237744"/>
          </a:xfrm>
          <a:prstGeom prst="rect">
            <a:avLst/>
          </a:prstGeom>
          <a:noFill/>
        </p:spPr>
        <p:txBody>
          <a:bodyPr wrap="square" lIns="0" rIns="0" tIns="0" bIns="0" anchor="ctr">
            <a:noAutofit/>
          </a:bodyPr>
          <a:lstStyle/>
          <a:p>
            <a:pPr algn="l">
              <a:lnSpc>
                <a:spcPct val="100000"/>
              </a:lnSpc>
            </a:pPr>
            <a:r>
              <a:rPr sz="1100" b="1">
                <a:solidFill>
                  <a:srgbClr val="0B1F3A"/>
                </a:solidFill>
                <a:latin typeface="Arial"/>
              </a:rPr>
              <a:t>Alvora growth</a:t>
            </a:r>
          </a:p>
        </p:txBody>
      </p:sp>
      <p:sp>
        <p:nvSpPr>
          <p:cNvPr id="29" name="cpe|exhibit|label|28"/>
          <p:cNvSpPr txBox="1"/>
          <p:nvPr/>
        </p:nvSpPr>
        <p:spPr>
          <a:xfrm>
            <a:off x="1399635" y="3201371"/>
            <a:ext cx="914400" cy="237744"/>
          </a:xfrm>
          <a:prstGeom prst="rect">
            <a:avLst/>
          </a:prstGeom>
          <a:noFill/>
        </p:spPr>
        <p:txBody>
          <a:bodyPr wrap="square" lIns="0" rIns="0" tIns="0" bIns="0" anchor="b">
            <a:noAutofit/>
          </a:bodyPr>
          <a:lstStyle/>
          <a:p>
            <a:pPr algn="ctr">
              <a:lnSpc>
                <a:spcPct val="100000"/>
              </a:lnSpc>
            </a:pPr>
            <a:r>
              <a:rPr sz="1100" b="1">
                <a:solidFill>
                  <a:srgbClr val="0B1F3A"/>
                </a:solidFill>
                <a:latin typeface="Arial"/>
              </a:rPr>
              <a:t>6.3%</a:t>
            </a:r>
          </a:p>
        </p:txBody>
      </p:sp>
      <p:sp>
        <p:nvSpPr>
          <p:cNvPr id="30" name="cpe|exhibit|label|29"/>
          <p:cNvSpPr txBox="1"/>
          <p:nvPr/>
        </p:nvSpPr>
        <p:spPr>
          <a:xfrm>
            <a:off x="1399635" y="3676596"/>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3.8%</a:t>
            </a:r>
          </a:p>
        </p:txBody>
      </p:sp>
      <p:sp>
        <p:nvSpPr>
          <p:cNvPr id="31" name="cpe|exhibit|label|30"/>
          <p:cNvSpPr txBox="1"/>
          <p:nvPr/>
        </p:nvSpPr>
        <p:spPr>
          <a:xfrm>
            <a:off x="3883749" y="3125335"/>
            <a:ext cx="914400" cy="237744"/>
          </a:xfrm>
          <a:prstGeom prst="rect">
            <a:avLst/>
          </a:prstGeom>
          <a:noFill/>
        </p:spPr>
        <p:txBody>
          <a:bodyPr wrap="square" lIns="0" rIns="0" tIns="0" bIns="0" anchor="b">
            <a:noAutofit/>
          </a:bodyPr>
          <a:lstStyle/>
          <a:p>
            <a:pPr algn="ctr">
              <a:lnSpc>
                <a:spcPct val="100000"/>
              </a:lnSpc>
            </a:pPr>
            <a:r>
              <a:rPr sz="1100" b="1">
                <a:solidFill>
                  <a:srgbClr val="0B1F3A"/>
                </a:solidFill>
                <a:latin typeface="Arial"/>
              </a:rPr>
              <a:t>6.7%</a:t>
            </a:r>
          </a:p>
        </p:txBody>
      </p:sp>
      <p:sp>
        <p:nvSpPr>
          <p:cNvPr id="32" name="cpe|exhibit|label|31"/>
          <p:cNvSpPr txBox="1"/>
          <p:nvPr/>
        </p:nvSpPr>
        <p:spPr>
          <a:xfrm>
            <a:off x="3883749" y="3619569"/>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4.1%</a:t>
            </a:r>
          </a:p>
        </p:txBody>
      </p:sp>
      <p:sp>
        <p:nvSpPr>
          <p:cNvPr id="33" name="cpe|exhibit|label|32"/>
          <p:cNvSpPr txBox="1"/>
          <p:nvPr/>
        </p:nvSpPr>
        <p:spPr>
          <a:xfrm>
            <a:off x="6367862" y="3638578"/>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4.0%</a:t>
            </a:r>
          </a:p>
        </p:txBody>
      </p:sp>
      <p:sp>
        <p:nvSpPr>
          <p:cNvPr id="34" name="cpe|exhibit|label|33"/>
          <p:cNvSpPr txBox="1"/>
          <p:nvPr/>
        </p:nvSpPr>
        <p:spPr>
          <a:xfrm>
            <a:off x="6367862" y="4023347"/>
            <a:ext cx="914400" cy="237744"/>
          </a:xfrm>
          <a:prstGeom prst="rect">
            <a:avLst/>
          </a:prstGeom>
          <a:noFill/>
        </p:spPr>
        <p:txBody>
          <a:bodyPr wrap="square" lIns="0" rIns="0" tIns="0" bIns="0" anchor="t">
            <a:noAutofit/>
          </a:bodyPr>
          <a:lstStyle/>
          <a:p>
            <a:pPr algn="ctr">
              <a:lnSpc>
                <a:spcPct val="100000"/>
              </a:lnSpc>
            </a:pPr>
            <a:r>
              <a:rPr sz="1100" b="1">
                <a:solidFill>
                  <a:srgbClr val="0B1F3A"/>
                </a:solidFill>
                <a:latin typeface="Arial"/>
              </a:rPr>
              <a:t>3.9%</a:t>
            </a:r>
          </a:p>
        </p:txBody>
      </p:sp>
      <p:sp>
        <p:nvSpPr>
          <p:cNvPr id="35" name="cpe|exhibit|label|34"/>
          <p:cNvSpPr txBox="1"/>
          <p:nvPr/>
        </p:nvSpPr>
        <p:spPr>
          <a:xfrm>
            <a:off x="8851976" y="3619569"/>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4.1%</a:t>
            </a:r>
          </a:p>
        </p:txBody>
      </p:sp>
      <p:sp>
        <p:nvSpPr>
          <p:cNvPr id="36" name="cpe|exhibit|label|35"/>
          <p:cNvSpPr txBox="1"/>
          <p:nvPr/>
        </p:nvSpPr>
        <p:spPr>
          <a:xfrm>
            <a:off x="8851976" y="4194427"/>
            <a:ext cx="914400" cy="237744"/>
          </a:xfrm>
          <a:prstGeom prst="rect">
            <a:avLst/>
          </a:prstGeom>
          <a:noFill/>
        </p:spPr>
        <p:txBody>
          <a:bodyPr wrap="square" lIns="0" rIns="0" tIns="0" bIns="0" anchor="t">
            <a:noAutofit/>
          </a:bodyPr>
          <a:lstStyle/>
          <a:p>
            <a:pPr algn="ctr">
              <a:lnSpc>
                <a:spcPct val="100000"/>
              </a:lnSpc>
            </a:pPr>
            <a:r>
              <a:rPr sz="1100" b="1">
                <a:solidFill>
                  <a:srgbClr val="0B1F3A"/>
                </a:solidFill>
                <a:latin typeface="Arial"/>
              </a:rPr>
              <a:t>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PORTFOLIO</a:t>
            </a:r>
          </a:p>
        </p:txBody>
      </p:sp>
      <p:sp>
        <p:nvSpPr>
          <p:cNvPr id="3" name="cpe|chrome|text|2"/>
          <p:cNvSpPr txBox="1"/>
          <p:nvPr/>
        </p:nvSpPr>
        <p:spPr>
          <a:xfrm>
            <a:off x="502920" y="475488"/>
            <a:ext cx="10472623"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 holds 14% of supermarkets but only 5% of discount, the segment driving growth</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Retailer reports; consumer panel; team estimates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5</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Market share by channel, 2025</a:t>
            </a:r>
            <a:r>
              <a:rPr sz="1100" b="0">
                <a:solidFill>
                  <a:srgbClr val="1E252D"/>
                </a:solidFill>
                <a:latin typeface="Arial"/>
              </a:rPr>
              <a:t>, % of channel sales; width = channel size (€bn)</a:t>
            </a:r>
          </a:p>
        </p:txBody>
      </p:sp>
      <p:sp>
        <p:nvSpPr>
          <p:cNvPr id="7" name="cpe|exhibit|fill|6"/>
          <p:cNvSpPr/>
          <p:nvPr/>
        </p:nvSpPr>
        <p:spPr>
          <a:xfrm>
            <a:off x="502920" y="4669384"/>
            <a:ext cx="2428144" cy="131216"/>
          </a:xfrm>
          <a:prstGeom prst="rect">
            <a:avLst/>
          </a:prstGeom>
          <a:solidFill>
            <a:srgbClr val="0B1F3A"/>
          </a:solidFill>
          <a:ln w="9525">
            <a:solidFill>
              <a:srgbClr val="FFFFFF"/>
            </a:solidFill>
          </a:ln>
        </p:spPr>
        <p:txBody>
          <a:bodyPr rtlCol="0" anchor="ctr" lIns="0" rIns="0" tIns="0" bIns="0"/>
          <a:lstStyle/>
          <a:p>
            <a:pPr algn="ctr"/>
          </a:p>
        </p:txBody>
      </p:sp>
      <p:sp>
        <p:nvSpPr>
          <p:cNvPr id="8" name="cpe|exhibit|fill|7"/>
          <p:cNvSpPr/>
          <p:nvPr/>
        </p:nvSpPr>
        <p:spPr>
          <a:xfrm>
            <a:off x="502920" y="3593409"/>
            <a:ext cx="2428144" cy="1075974"/>
          </a:xfrm>
          <a:prstGeom prst="rect">
            <a:avLst/>
          </a:prstGeom>
          <a:solidFill>
            <a:srgbClr val="C9D0D8"/>
          </a:solidFill>
          <a:ln w="9525">
            <a:solidFill>
              <a:srgbClr val="FFFFFF"/>
            </a:solidFill>
          </a:ln>
        </p:spPr>
        <p:txBody>
          <a:bodyPr rtlCol="0" anchor="ctr" lIns="0" rIns="0" tIns="0" bIns="0"/>
          <a:lstStyle/>
          <a:p>
            <a:pPr algn="ctr"/>
          </a:p>
        </p:txBody>
      </p:sp>
      <p:sp>
        <p:nvSpPr>
          <p:cNvPr id="9" name="cpe|exhibit|fill|8"/>
          <p:cNvSpPr/>
          <p:nvPr/>
        </p:nvSpPr>
        <p:spPr>
          <a:xfrm>
            <a:off x="502920" y="3278490"/>
            <a:ext cx="2428144" cy="314919"/>
          </a:xfrm>
          <a:prstGeom prst="rect">
            <a:avLst/>
          </a:prstGeom>
          <a:solidFill>
            <a:srgbClr val="C9D0D8"/>
          </a:solidFill>
          <a:ln w="9525">
            <a:solidFill>
              <a:srgbClr val="FFFFFF"/>
            </a:solidFill>
          </a:ln>
        </p:spPr>
        <p:txBody>
          <a:bodyPr rtlCol="0" anchor="ctr" lIns="0" rIns="0" tIns="0" bIns="0"/>
          <a:lstStyle/>
          <a:p>
            <a:pPr algn="ctr"/>
          </a:p>
        </p:txBody>
      </p:sp>
      <p:sp>
        <p:nvSpPr>
          <p:cNvPr id="10" name="cpe|exhibit|fill|9"/>
          <p:cNvSpPr/>
          <p:nvPr/>
        </p:nvSpPr>
        <p:spPr>
          <a:xfrm>
            <a:off x="502920" y="2176272"/>
            <a:ext cx="2428144" cy="1102218"/>
          </a:xfrm>
          <a:prstGeom prst="rect">
            <a:avLst/>
          </a:prstGeom>
          <a:solidFill>
            <a:srgbClr val="C9D0D8"/>
          </a:solidFill>
          <a:ln w="9525">
            <a:solidFill>
              <a:srgbClr val="FFFFFF"/>
            </a:solidFill>
          </a:ln>
        </p:spPr>
        <p:txBody>
          <a:bodyPr rtlCol="0" anchor="ctr" lIns="0" rIns="0" tIns="0" bIns="0"/>
          <a:lstStyle/>
          <a:p>
            <a:pPr algn="ctr"/>
          </a:p>
        </p:txBody>
      </p:sp>
      <p:sp>
        <p:nvSpPr>
          <p:cNvPr id="11" name="cpe|exhibit|label|10"/>
          <p:cNvSpPr txBox="1"/>
          <p:nvPr/>
        </p:nvSpPr>
        <p:spPr>
          <a:xfrm>
            <a:off x="502920" y="1901952"/>
            <a:ext cx="2428144"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38</a:t>
            </a:r>
          </a:p>
        </p:txBody>
      </p:sp>
      <p:sp>
        <p:nvSpPr>
          <p:cNvPr id="12" name="cpe|exhibit|text|11"/>
          <p:cNvSpPr txBox="1"/>
          <p:nvPr/>
        </p:nvSpPr>
        <p:spPr>
          <a:xfrm>
            <a:off x="502920" y="4855464"/>
            <a:ext cx="2428144"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Discount</a:t>
            </a:r>
          </a:p>
        </p:txBody>
      </p:sp>
      <p:sp>
        <p:nvSpPr>
          <p:cNvPr id="13" name="cpe|exhibit|fill|12"/>
          <p:cNvSpPr/>
          <p:nvPr/>
        </p:nvSpPr>
        <p:spPr>
          <a:xfrm>
            <a:off x="2967640" y="4433194"/>
            <a:ext cx="3322724" cy="367406"/>
          </a:xfrm>
          <a:prstGeom prst="rect">
            <a:avLst/>
          </a:prstGeom>
          <a:solidFill>
            <a:srgbClr val="0B1F3A"/>
          </a:solidFill>
          <a:ln w="9525">
            <a:solidFill>
              <a:srgbClr val="FFFFFF"/>
            </a:solidFill>
          </a:ln>
        </p:spPr>
        <p:txBody>
          <a:bodyPr rtlCol="0" anchor="ctr" lIns="0" rIns="0" tIns="0" bIns="0"/>
          <a:lstStyle/>
          <a:p>
            <a:pPr algn="ctr"/>
          </a:p>
        </p:txBody>
      </p:sp>
      <p:sp>
        <p:nvSpPr>
          <p:cNvPr id="14" name="cpe|exhibit|fill|13"/>
          <p:cNvSpPr/>
          <p:nvPr/>
        </p:nvSpPr>
        <p:spPr>
          <a:xfrm>
            <a:off x="2967640" y="4328221"/>
            <a:ext cx="3322724" cy="104973"/>
          </a:xfrm>
          <a:prstGeom prst="rect">
            <a:avLst/>
          </a:prstGeom>
          <a:solidFill>
            <a:srgbClr val="C9D0D8"/>
          </a:solidFill>
          <a:ln w="9525">
            <a:solidFill>
              <a:srgbClr val="FFFFFF"/>
            </a:solidFill>
          </a:ln>
        </p:spPr>
        <p:txBody>
          <a:bodyPr rtlCol="0" anchor="ctr" lIns="0" rIns="0" tIns="0" bIns="0"/>
          <a:lstStyle/>
          <a:p>
            <a:pPr algn="ctr"/>
          </a:p>
        </p:txBody>
      </p:sp>
      <p:sp>
        <p:nvSpPr>
          <p:cNvPr id="15" name="cpe|exhibit|fill|14"/>
          <p:cNvSpPr/>
          <p:nvPr/>
        </p:nvSpPr>
        <p:spPr>
          <a:xfrm>
            <a:off x="2967640" y="3750869"/>
            <a:ext cx="3322724" cy="577352"/>
          </a:xfrm>
          <a:prstGeom prst="rect">
            <a:avLst/>
          </a:prstGeom>
          <a:solidFill>
            <a:srgbClr val="C9D0D8"/>
          </a:solidFill>
          <a:ln w="9525">
            <a:solidFill>
              <a:srgbClr val="FFFFFF"/>
            </a:solidFill>
          </a:ln>
        </p:spPr>
        <p:txBody>
          <a:bodyPr rtlCol="0" anchor="ctr" lIns="0" rIns="0" tIns="0" bIns="0"/>
          <a:lstStyle/>
          <a:p>
            <a:pPr algn="ctr"/>
          </a:p>
        </p:txBody>
      </p:sp>
      <p:sp>
        <p:nvSpPr>
          <p:cNvPr id="16" name="cpe|exhibit|fill|15"/>
          <p:cNvSpPr/>
          <p:nvPr/>
        </p:nvSpPr>
        <p:spPr>
          <a:xfrm>
            <a:off x="2967640" y="3278490"/>
            <a:ext cx="3322724" cy="472379"/>
          </a:xfrm>
          <a:prstGeom prst="rect">
            <a:avLst/>
          </a:prstGeom>
          <a:solidFill>
            <a:srgbClr val="C9D0D8"/>
          </a:solidFill>
          <a:ln w="9525">
            <a:solidFill>
              <a:srgbClr val="FFFFFF"/>
            </a:solidFill>
          </a:ln>
        </p:spPr>
        <p:txBody>
          <a:bodyPr rtlCol="0" anchor="ctr" lIns="0" rIns="0" tIns="0" bIns="0"/>
          <a:lstStyle/>
          <a:p>
            <a:pPr algn="ctr"/>
          </a:p>
        </p:txBody>
      </p:sp>
      <p:sp>
        <p:nvSpPr>
          <p:cNvPr id="17" name="cpe|exhibit|fill|16"/>
          <p:cNvSpPr/>
          <p:nvPr/>
        </p:nvSpPr>
        <p:spPr>
          <a:xfrm>
            <a:off x="2967640" y="2176272"/>
            <a:ext cx="3322724" cy="1102218"/>
          </a:xfrm>
          <a:prstGeom prst="rect">
            <a:avLst/>
          </a:prstGeom>
          <a:solidFill>
            <a:srgbClr val="C9D0D8"/>
          </a:solidFill>
          <a:ln w="9525">
            <a:solidFill>
              <a:srgbClr val="FFFFFF"/>
            </a:solidFill>
          </a:ln>
        </p:spPr>
        <p:txBody>
          <a:bodyPr rtlCol="0" anchor="ctr" lIns="0" rIns="0" tIns="0" bIns="0"/>
          <a:lstStyle/>
          <a:p>
            <a:pPr algn="ctr"/>
          </a:p>
        </p:txBody>
      </p:sp>
      <p:sp>
        <p:nvSpPr>
          <p:cNvPr id="18" name="cpe|exhibit|label|17"/>
          <p:cNvSpPr txBox="1"/>
          <p:nvPr/>
        </p:nvSpPr>
        <p:spPr>
          <a:xfrm>
            <a:off x="2967640" y="1901952"/>
            <a:ext cx="3322724"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52</a:t>
            </a:r>
          </a:p>
        </p:txBody>
      </p:sp>
      <p:sp>
        <p:nvSpPr>
          <p:cNvPr id="19" name="cpe|exhibit|text|18"/>
          <p:cNvSpPr txBox="1"/>
          <p:nvPr/>
        </p:nvSpPr>
        <p:spPr>
          <a:xfrm>
            <a:off x="2967640" y="4855464"/>
            <a:ext cx="3322724"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Supermarkets</a:t>
            </a:r>
          </a:p>
        </p:txBody>
      </p:sp>
      <p:sp>
        <p:nvSpPr>
          <p:cNvPr id="20" name="cpe|exhibit|fill|19"/>
          <p:cNvSpPr/>
          <p:nvPr/>
        </p:nvSpPr>
        <p:spPr>
          <a:xfrm>
            <a:off x="6326940" y="4564410"/>
            <a:ext cx="1533565" cy="236190"/>
          </a:xfrm>
          <a:prstGeom prst="rect">
            <a:avLst/>
          </a:prstGeom>
          <a:solidFill>
            <a:srgbClr val="0B1F3A"/>
          </a:solidFill>
          <a:ln w="9525">
            <a:solidFill>
              <a:srgbClr val="FFFFFF"/>
            </a:solidFill>
          </a:ln>
        </p:spPr>
        <p:txBody>
          <a:bodyPr rtlCol="0" anchor="ctr" lIns="0" rIns="0" tIns="0" bIns="0"/>
          <a:lstStyle/>
          <a:p>
            <a:pPr algn="ctr"/>
          </a:p>
        </p:txBody>
      </p:sp>
      <p:sp>
        <p:nvSpPr>
          <p:cNvPr id="21" name="cpe|exhibit|fill|20"/>
          <p:cNvSpPr/>
          <p:nvPr/>
        </p:nvSpPr>
        <p:spPr>
          <a:xfrm>
            <a:off x="6326940" y="4170761"/>
            <a:ext cx="1533565" cy="393649"/>
          </a:xfrm>
          <a:prstGeom prst="rect">
            <a:avLst/>
          </a:prstGeom>
          <a:solidFill>
            <a:srgbClr val="C9D0D8"/>
          </a:solidFill>
          <a:ln w="9525">
            <a:solidFill>
              <a:srgbClr val="FFFFFF"/>
            </a:solidFill>
          </a:ln>
        </p:spPr>
        <p:txBody>
          <a:bodyPr rtlCol="0" anchor="ctr" lIns="0" rIns="0" tIns="0" bIns="0"/>
          <a:lstStyle/>
          <a:p>
            <a:pPr algn="ctr"/>
          </a:p>
        </p:txBody>
      </p:sp>
      <p:sp>
        <p:nvSpPr>
          <p:cNvPr id="22" name="cpe|exhibit|fill|21"/>
          <p:cNvSpPr/>
          <p:nvPr/>
        </p:nvSpPr>
        <p:spPr>
          <a:xfrm>
            <a:off x="6326940" y="3357220"/>
            <a:ext cx="1533565" cy="813542"/>
          </a:xfrm>
          <a:prstGeom prst="rect">
            <a:avLst/>
          </a:prstGeom>
          <a:solidFill>
            <a:srgbClr val="C9D0D8"/>
          </a:solidFill>
          <a:ln w="9525">
            <a:solidFill>
              <a:srgbClr val="FFFFFF"/>
            </a:solidFill>
          </a:ln>
        </p:spPr>
        <p:txBody>
          <a:bodyPr rtlCol="0" anchor="ctr" lIns="0" rIns="0" tIns="0" bIns="0"/>
          <a:lstStyle/>
          <a:p>
            <a:pPr algn="ctr"/>
          </a:p>
        </p:txBody>
      </p:sp>
      <p:sp>
        <p:nvSpPr>
          <p:cNvPr id="23" name="cpe|exhibit|fill|22"/>
          <p:cNvSpPr/>
          <p:nvPr/>
        </p:nvSpPr>
        <p:spPr>
          <a:xfrm>
            <a:off x="6326940" y="2176272"/>
            <a:ext cx="1533565" cy="1180948"/>
          </a:xfrm>
          <a:prstGeom prst="rect">
            <a:avLst/>
          </a:prstGeom>
          <a:solidFill>
            <a:srgbClr val="C9D0D8"/>
          </a:solidFill>
          <a:ln w="9525">
            <a:solidFill>
              <a:srgbClr val="FFFFFF"/>
            </a:solidFill>
          </a:ln>
        </p:spPr>
        <p:txBody>
          <a:bodyPr rtlCol="0" anchor="ctr" lIns="0" rIns="0" tIns="0" bIns="0"/>
          <a:lstStyle/>
          <a:p>
            <a:pPr algn="ctr"/>
          </a:p>
        </p:txBody>
      </p:sp>
      <p:sp>
        <p:nvSpPr>
          <p:cNvPr id="24" name="cpe|exhibit|label|23"/>
          <p:cNvSpPr txBox="1"/>
          <p:nvPr/>
        </p:nvSpPr>
        <p:spPr>
          <a:xfrm>
            <a:off x="6326940" y="1901952"/>
            <a:ext cx="1533565"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24</a:t>
            </a:r>
          </a:p>
        </p:txBody>
      </p:sp>
      <p:sp>
        <p:nvSpPr>
          <p:cNvPr id="25" name="cpe|exhibit|text|24"/>
          <p:cNvSpPr txBox="1"/>
          <p:nvPr/>
        </p:nvSpPr>
        <p:spPr>
          <a:xfrm>
            <a:off x="6326940" y="4855464"/>
            <a:ext cx="1533565"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Hypermarkets</a:t>
            </a:r>
          </a:p>
        </p:txBody>
      </p:sp>
      <p:sp>
        <p:nvSpPr>
          <p:cNvPr id="26" name="cpe|exhibit|fill|25"/>
          <p:cNvSpPr/>
          <p:nvPr/>
        </p:nvSpPr>
        <p:spPr>
          <a:xfrm>
            <a:off x="7897080" y="4485681"/>
            <a:ext cx="894579" cy="314919"/>
          </a:xfrm>
          <a:prstGeom prst="rect">
            <a:avLst/>
          </a:prstGeom>
          <a:solidFill>
            <a:srgbClr val="0B1F3A"/>
          </a:solidFill>
          <a:ln w="9525">
            <a:solidFill>
              <a:srgbClr val="FFFFFF"/>
            </a:solidFill>
          </a:ln>
        </p:spPr>
        <p:txBody>
          <a:bodyPr rtlCol="0" anchor="ctr" lIns="0" rIns="0" tIns="0" bIns="0"/>
          <a:lstStyle/>
          <a:p>
            <a:pPr algn="ctr"/>
          </a:p>
        </p:txBody>
      </p:sp>
      <p:sp>
        <p:nvSpPr>
          <p:cNvPr id="27" name="cpe|exhibit|fill|26"/>
          <p:cNvSpPr/>
          <p:nvPr/>
        </p:nvSpPr>
        <p:spPr>
          <a:xfrm>
            <a:off x="7897080" y="4328221"/>
            <a:ext cx="894579" cy="157460"/>
          </a:xfrm>
          <a:prstGeom prst="rect">
            <a:avLst/>
          </a:prstGeom>
          <a:solidFill>
            <a:srgbClr val="C9D0D8"/>
          </a:solidFill>
          <a:ln w="9525">
            <a:solidFill>
              <a:srgbClr val="FFFFFF"/>
            </a:solidFill>
          </a:ln>
        </p:spPr>
        <p:txBody>
          <a:bodyPr rtlCol="0" anchor="ctr" lIns="0" rIns="0" tIns="0" bIns="0"/>
          <a:lstStyle/>
          <a:p>
            <a:pPr algn="ctr"/>
          </a:p>
        </p:txBody>
      </p:sp>
      <p:sp>
        <p:nvSpPr>
          <p:cNvPr id="28" name="cpe|exhibit|fill|27"/>
          <p:cNvSpPr/>
          <p:nvPr/>
        </p:nvSpPr>
        <p:spPr>
          <a:xfrm>
            <a:off x="7897080" y="4144518"/>
            <a:ext cx="894579" cy="183703"/>
          </a:xfrm>
          <a:prstGeom prst="rect">
            <a:avLst/>
          </a:prstGeom>
          <a:solidFill>
            <a:srgbClr val="C9D0D8"/>
          </a:solidFill>
          <a:ln w="9525">
            <a:solidFill>
              <a:srgbClr val="FFFFFF"/>
            </a:solidFill>
          </a:ln>
        </p:spPr>
        <p:txBody>
          <a:bodyPr rtlCol="0" anchor="ctr" lIns="0" rIns="0" tIns="0" bIns="0"/>
          <a:lstStyle/>
          <a:p>
            <a:pPr algn="ctr"/>
          </a:p>
        </p:txBody>
      </p:sp>
      <p:sp>
        <p:nvSpPr>
          <p:cNvPr id="29" name="cpe|exhibit|fill|28"/>
          <p:cNvSpPr/>
          <p:nvPr/>
        </p:nvSpPr>
        <p:spPr>
          <a:xfrm>
            <a:off x="7897080" y="2176272"/>
            <a:ext cx="894579" cy="1968246"/>
          </a:xfrm>
          <a:prstGeom prst="rect">
            <a:avLst/>
          </a:prstGeom>
          <a:solidFill>
            <a:srgbClr val="C9D0D8"/>
          </a:solidFill>
          <a:ln w="9525">
            <a:solidFill>
              <a:srgbClr val="FFFFFF"/>
            </a:solidFill>
          </a:ln>
        </p:spPr>
        <p:txBody>
          <a:bodyPr rtlCol="0" anchor="ctr" lIns="0" rIns="0" tIns="0" bIns="0"/>
          <a:lstStyle/>
          <a:p>
            <a:pPr algn="ctr"/>
          </a:p>
        </p:txBody>
      </p:sp>
      <p:sp>
        <p:nvSpPr>
          <p:cNvPr id="30" name="cpe|exhibit|label|29"/>
          <p:cNvSpPr txBox="1"/>
          <p:nvPr/>
        </p:nvSpPr>
        <p:spPr>
          <a:xfrm>
            <a:off x="7897080" y="1901952"/>
            <a:ext cx="894579"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14</a:t>
            </a:r>
          </a:p>
        </p:txBody>
      </p:sp>
      <p:sp>
        <p:nvSpPr>
          <p:cNvPr id="31" name="cpe|exhibit|text|30"/>
          <p:cNvSpPr txBox="1"/>
          <p:nvPr/>
        </p:nvSpPr>
        <p:spPr>
          <a:xfrm>
            <a:off x="7897080" y="4855464"/>
            <a:ext cx="894579"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Convenience</a:t>
            </a:r>
          </a:p>
        </p:txBody>
      </p:sp>
      <p:sp>
        <p:nvSpPr>
          <p:cNvPr id="32" name="cpe|exhibit|fill|31"/>
          <p:cNvSpPr/>
          <p:nvPr/>
        </p:nvSpPr>
        <p:spPr>
          <a:xfrm>
            <a:off x="8828236" y="4695627"/>
            <a:ext cx="894579" cy="104973"/>
          </a:xfrm>
          <a:prstGeom prst="rect">
            <a:avLst/>
          </a:prstGeom>
          <a:solidFill>
            <a:srgbClr val="0B1F3A"/>
          </a:solidFill>
          <a:ln w="9525">
            <a:solidFill>
              <a:srgbClr val="FFFFFF"/>
            </a:solidFill>
          </a:ln>
        </p:spPr>
        <p:txBody>
          <a:bodyPr rtlCol="0" anchor="ctr" lIns="0" rIns="0" tIns="0" bIns="0"/>
          <a:lstStyle/>
          <a:p>
            <a:pPr algn="ctr"/>
          </a:p>
        </p:txBody>
      </p:sp>
      <p:sp>
        <p:nvSpPr>
          <p:cNvPr id="33" name="cpe|exhibit|fill|32"/>
          <p:cNvSpPr/>
          <p:nvPr/>
        </p:nvSpPr>
        <p:spPr>
          <a:xfrm>
            <a:off x="8828236" y="4459437"/>
            <a:ext cx="894579" cy="236190"/>
          </a:xfrm>
          <a:prstGeom prst="rect">
            <a:avLst/>
          </a:prstGeom>
          <a:solidFill>
            <a:srgbClr val="C9D0D8"/>
          </a:solidFill>
          <a:ln w="9525">
            <a:solidFill>
              <a:srgbClr val="FFFFFF"/>
            </a:solidFill>
          </a:ln>
        </p:spPr>
        <p:txBody>
          <a:bodyPr rtlCol="0" anchor="ctr" lIns="0" rIns="0" tIns="0" bIns="0"/>
          <a:lstStyle/>
          <a:p>
            <a:pPr algn="ctr"/>
          </a:p>
        </p:txBody>
      </p:sp>
      <p:sp>
        <p:nvSpPr>
          <p:cNvPr id="34" name="cpe|exhibit|fill|33"/>
          <p:cNvSpPr/>
          <p:nvPr/>
        </p:nvSpPr>
        <p:spPr>
          <a:xfrm>
            <a:off x="8828236" y="4144518"/>
            <a:ext cx="894579" cy="314919"/>
          </a:xfrm>
          <a:prstGeom prst="rect">
            <a:avLst/>
          </a:prstGeom>
          <a:solidFill>
            <a:srgbClr val="C9D0D8"/>
          </a:solidFill>
          <a:ln w="9525">
            <a:solidFill>
              <a:srgbClr val="FFFFFF"/>
            </a:solidFill>
          </a:ln>
        </p:spPr>
        <p:txBody>
          <a:bodyPr rtlCol="0" anchor="ctr" lIns="0" rIns="0" tIns="0" bIns="0"/>
          <a:lstStyle/>
          <a:p>
            <a:pPr algn="ctr"/>
          </a:p>
        </p:txBody>
      </p:sp>
      <p:sp>
        <p:nvSpPr>
          <p:cNvPr id="35" name="cpe|exhibit|fill|34"/>
          <p:cNvSpPr/>
          <p:nvPr/>
        </p:nvSpPr>
        <p:spPr>
          <a:xfrm>
            <a:off x="8828236" y="2176272"/>
            <a:ext cx="894579" cy="1968246"/>
          </a:xfrm>
          <a:prstGeom prst="rect">
            <a:avLst/>
          </a:prstGeom>
          <a:solidFill>
            <a:srgbClr val="C9D0D8"/>
          </a:solidFill>
          <a:ln w="9525">
            <a:solidFill>
              <a:srgbClr val="FFFFFF"/>
            </a:solidFill>
          </a:ln>
        </p:spPr>
        <p:txBody>
          <a:bodyPr rtlCol="0" anchor="ctr" lIns="0" rIns="0" tIns="0" bIns="0"/>
          <a:lstStyle/>
          <a:p>
            <a:pPr algn="ctr"/>
          </a:p>
        </p:txBody>
      </p:sp>
      <p:sp>
        <p:nvSpPr>
          <p:cNvPr id="36" name="cpe|exhibit|label|35"/>
          <p:cNvSpPr txBox="1"/>
          <p:nvPr/>
        </p:nvSpPr>
        <p:spPr>
          <a:xfrm>
            <a:off x="8828236" y="1901952"/>
            <a:ext cx="894579"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14</a:t>
            </a:r>
          </a:p>
        </p:txBody>
      </p:sp>
      <p:sp>
        <p:nvSpPr>
          <p:cNvPr id="37" name="cpe|exhibit|text|36"/>
          <p:cNvSpPr txBox="1"/>
          <p:nvPr/>
        </p:nvSpPr>
        <p:spPr>
          <a:xfrm>
            <a:off x="8828236" y="4855464"/>
            <a:ext cx="894579"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Online</a:t>
            </a:r>
          </a:p>
        </p:txBody>
      </p:sp>
      <p:sp>
        <p:nvSpPr>
          <p:cNvPr id="38" name="cpe|exhibit|label|37"/>
          <p:cNvSpPr txBox="1"/>
          <p:nvPr/>
        </p:nvSpPr>
        <p:spPr>
          <a:xfrm>
            <a:off x="502920" y="4422496"/>
            <a:ext cx="2428144" cy="228600"/>
          </a:xfrm>
          <a:prstGeom prst="rect">
            <a:avLst/>
          </a:prstGeom>
          <a:noFill/>
        </p:spPr>
        <p:txBody>
          <a:bodyPr wrap="square" lIns="0" rIns="0" tIns="0" bIns="0" anchor="b">
            <a:noAutofit/>
          </a:bodyPr>
          <a:lstStyle/>
          <a:p>
            <a:pPr algn="ctr">
              <a:lnSpc>
                <a:spcPct val="100000"/>
              </a:lnSpc>
            </a:pPr>
            <a:r>
              <a:rPr sz="1000" b="1">
                <a:solidFill>
                  <a:srgbClr val="0B1F3A"/>
                </a:solidFill>
                <a:latin typeface="Arial"/>
              </a:rPr>
              <a:t>5%</a:t>
            </a:r>
          </a:p>
        </p:txBody>
      </p:sp>
      <p:sp>
        <p:nvSpPr>
          <p:cNvPr id="39" name="cpe|exhibit|label|38"/>
          <p:cNvSpPr txBox="1"/>
          <p:nvPr/>
        </p:nvSpPr>
        <p:spPr>
          <a:xfrm>
            <a:off x="2967640" y="4433194"/>
            <a:ext cx="3322724" cy="367406"/>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14%</a:t>
            </a:r>
          </a:p>
        </p:txBody>
      </p:sp>
      <p:sp>
        <p:nvSpPr>
          <p:cNvPr id="40" name="cpe|exhibit|label|39"/>
          <p:cNvSpPr txBox="1"/>
          <p:nvPr/>
        </p:nvSpPr>
        <p:spPr>
          <a:xfrm>
            <a:off x="6326940" y="4317522"/>
            <a:ext cx="1533565" cy="228600"/>
          </a:xfrm>
          <a:prstGeom prst="rect">
            <a:avLst/>
          </a:prstGeom>
          <a:noFill/>
        </p:spPr>
        <p:txBody>
          <a:bodyPr wrap="square" lIns="0" rIns="0" tIns="0" bIns="0" anchor="b">
            <a:noAutofit/>
          </a:bodyPr>
          <a:lstStyle/>
          <a:p>
            <a:pPr algn="ctr">
              <a:lnSpc>
                <a:spcPct val="100000"/>
              </a:lnSpc>
            </a:pPr>
            <a:r>
              <a:rPr sz="1000" b="1">
                <a:solidFill>
                  <a:srgbClr val="0B1F3A"/>
                </a:solidFill>
                <a:latin typeface="Arial"/>
              </a:rPr>
              <a:t>9%</a:t>
            </a:r>
          </a:p>
        </p:txBody>
      </p:sp>
      <p:sp>
        <p:nvSpPr>
          <p:cNvPr id="41" name="cpe|exhibit|label|40"/>
          <p:cNvSpPr txBox="1"/>
          <p:nvPr/>
        </p:nvSpPr>
        <p:spPr>
          <a:xfrm>
            <a:off x="7897080" y="4485681"/>
            <a:ext cx="894579" cy="314919"/>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12%</a:t>
            </a:r>
          </a:p>
        </p:txBody>
      </p:sp>
      <p:sp>
        <p:nvSpPr>
          <p:cNvPr id="42" name="cpe|exhibit|label|41"/>
          <p:cNvSpPr txBox="1"/>
          <p:nvPr/>
        </p:nvSpPr>
        <p:spPr>
          <a:xfrm>
            <a:off x="8828236" y="4448739"/>
            <a:ext cx="894579" cy="228600"/>
          </a:xfrm>
          <a:prstGeom prst="rect">
            <a:avLst/>
          </a:prstGeom>
          <a:noFill/>
        </p:spPr>
        <p:txBody>
          <a:bodyPr wrap="square" lIns="0" rIns="0" tIns="0" bIns="0" anchor="b">
            <a:noAutofit/>
          </a:bodyPr>
          <a:lstStyle/>
          <a:p>
            <a:pPr algn="ctr">
              <a:lnSpc>
                <a:spcPct val="100000"/>
              </a:lnSpc>
            </a:pPr>
            <a:r>
              <a:rPr sz="1000" b="1">
                <a:solidFill>
                  <a:srgbClr val="0B1F3A"/>
                </a:solidFill>
                <a:latin typeface="Arial"/>
              </a:rPr>
              <a:t>4%</a:t>
            </a:r>
          </a:p>
        </p:txBody>
      </p:sp>
      <p:sp>
        <p:nvSpPr>
          <p:cNvPr id="43" name="cpe|exhibit|marker|42"/>
          <p:cNvSpPr/>
          <p:nvPr/>
        </p:nvSpPr>
        <p:spPr>
          <a:xfrm>
            <a:off x="9905695" y="2240280"/>
            <a:ext cx="128016" cy="128016"/>
          </a:xfrm>
          <a:prstGeom prst="rect">
            <a:avLst/>
          </a:prstGeom>
          <a:solidFill>
            <a:srgbClr val="0B1F3A"/>
          </a:solidFill>
          <a:ln>
            <a:noFill/>
          </a:ln>
        </p:spPr>
        <p:txBody>
          <a:bodyPr rtlCol="0" anchor="ctr" lIns="0" rIns="0" tIns="0" bIns="0"/>
          <a:lstStyle/>
          <a:p>
            <a:pPr algn="ctr"/>
          </a:p>
        </p:txBody>
      </p:sp>
      <p:sp>
        <p:nvSpPr>
          <p:cNvPr id="44" name="cpe|exhibit|label|43"/>
          <p:cNvSpPr txBox="1"/>
          <p:nvPr/>
        </p:nvSpPr>
        <p:spPr>
          <a:xfrm>
            <a:off x="10106863" y="2176272"/>
            <a:ext cx="1554480" cy="274320"/>
          </a:xfrm>
          <a:prstGeom prst="rect">
            <a:avLst/>
          </a:prstGeom>
          <a:noFill/>
        </p:spPr>
        <p:txBody>
          <a:bodyPr wrap="square" lIns="0" rIns="0" tIns="0" bIns="0" anchor="ctr">
            <a:noAutofit/>
          </a:bodyPr>
          <a:lstStyle/>
          <a:p>
            <a:pPr algn="l">
              <a:lnSpc>
                <a:spcPct val="100000"/>
              </a:lnSpc>
            </a:pPr>
            <a:r>
              <a:rPr sz="1000" b="0">
                <a:solidFill>
                  <a:srgbClr val="5E6A77"/>
                </a:solidFill>
                <a:latin typeface="Arial"/>
              </a:rPr>
              <a:t>Alvora</a:t>
            </a:r>
          </a:p>
        </p:txBody>
      </p:sp>
      <p:sp>
        <p:nvSpPr>
          <p:cNvPr id="45" name="cpe|exhibit|marker|44"/>
          <p:cNvSpPr/>
          <p:nvPr/>
        </p:nvSpPr>
        <p:spPr>
          <a:xfrm>
            <a:off x="9905695" y="2532888"/>
            <a:ext cx="128016" cy="128016"/>
          </a:xfrm>
          <a:prstGeom prst="rect">
            <a:avLst/>
          </a:prstGeom>
          <a:solidFill>
            <a:srgbClr val="C9D0D8"/>
          </a:solidFill>
          <a:ln>
            <a:noFill/>
          </a:ln>
        </p:spPr>
        <p:txBody>
          <a:bodyPr rtlCol="0" anchor="ctr" lIns="0" rIns="0" tIns="0" bIns="0"/>
          <a:lstStyle/>
          <a:p>
            <a:pPr algn="ctr"/>
          </a:p>
        </p:txBody>
      </p:sp>
      <p:sp>
        <p:nvSpPr>
          <p:cNvPr id="46" name="cpe|exhibit|label|45"/>
          <p:cNvSpPr txBox="1"/>
          <p:nvPr/>
        </p:nvSpPr>
        <p:spPr>
          <a:xfrm>
            <a:off x="10106863" y="2468880"/>
            <a:ext cx="1554480" cy="274320"/>
          </a:xfrm>
          <a:prstGeom prst="rect">
            <a:avLst/>
          </a:prstGeom>
          <a:noFill/>
        </p:spPr>
        <p:txBody>
          <a:bodyPr wrap="square" lIns="0" rIns="0" tIns="0" bIns="0" anchor="ctr">
            <a:noAutofit/>
          </a:bodyPr>
          <a:lstStyle/>
          <a:p>
            <a:pPr algn="l">
              <a:lnSpc>
                <a:spcPct val="100000"/>
              </a:lnSpc>
            </a:pPr>
            <a:r>
              <a:rPr sz="1000" b="0">
                <a:solidFill>
                  <a:srgbClr val="5E6A77"/>
                </a:solidFill>
                <a:latin typeface="Arial"/>
              </a:rPr>
              <a:t>Other players</a:t>
            </a:r>
          </a:p>
        </p:txBody>
      </p:sp>
      <p:cxnSp>
        <p:nvCxnSpPr>
          <p:cNvPr id="47" name="cpe|commentary|line|46"/>
          <p:cNvCxnSpPr/>
          <p:nvPr/>
        </p:nvCxnSpPr>
        <p:spPr>
          <a:xfrm>
            <a:off x="502920" y="5568696"/>
            <a:ext cx="11185855" cy="0"/>
          </a:xfrm>
          <a:prstGeom prst="line">
            <a:avLst/>
          </a:prstGeom>
          <a:ln w="9525">
            <a:solidFill>
              <a:srgbClr val="B7BFC8"/>
            </a:solidFill>
          </a:ln>
        </p:spPr>
      </p:cxnSp>
      <p:sp>
        <p:nvSpPr>
          <p:cNvPr id="48" name="cpe|commentary|text|47"/>
          <p:cNvSpPr txBox="1"/>
          <p:nvPr/>
        </p:nvSpPr>
        <p:spPr>
          <a:xfrm>
            <a:off x="502920" y="5705856"/>
            <a:ext cx="3594506" cy="493776"/>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54% of Alvora sales come from </a:t>
            </a:r>
            <a:r>
              <a:rPr sz="1200" b="1">
                <a:solidFill>
                  <a:srgbClr val="1E252D"/>
                </a:solidFill>
                <a:latin typeface="Arial"/>
              </a:rPr>
              <a:t>supermarkets</a:t>
            </a:r>
            <a:r>
              <a:rPr sz="1200" b="0">
                <a:solidFill>
                  <a:srgbClr val="1E252D"/>
                </a:solidFill>
                <a:latin typeface="Arial"/>
              </a:rPr>
              <a:t>, a channel growing 2% a year</a:t>
            </a:r>
          </a:p>
        </p:txBody>
      </p:sp>
      <p:sp>
        <p:nvSpPr>
          <p:cNvPr id="49" name="cpe|commentary|text|48"/>
          <p:cNvSpPr txBox="1"/>
          <p:nvPr/>
        </p:nvSpPr>
        <p:spPr>
          <a:xfrm>
            <a:off x="4298594" y="5705856"/>
            <a:ext cx="3594506" cy="493776"/>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In </a:t>
            </a:r>
            <a:r>
              <a:rPr sz="1200" b="1">
                <a:solidFill>
                  <a:srgbClr val="1E252D"/>
                </a:solidFill>
                <a:latin typeface="Arial"/>
              </a:rPr>
              <a:t>discount</a:t>
            </a:r>
            <a:r>
              <a:rPr sz="1200" b="0">
                <a:solidFill>
                  <a:srgbClr val="1E252D"/>
                </a:solidFill>
                <a:latin typeface="Arial"/>
              </a:rPr>
              <a:t>, Competitor A holds 41% with a lower cost-to-serve</a:t>
            </a:r>
          </a:p>
        </p:txBody>
      </p:sp>
      <p:sp>
        <p:nvSpPr>
          <p:cNvPr id="50" name="cpe|commentary|text|49"/>
          <p:cNvSpPr txBox="1"/>
          <p:nvPr/>
        </p:nvSpPr>
        <p:spPr>
          <a:xfrm>
            <a:off x="8094269" y="5705856"/>
            <a:ext cx="3594506" cy="493776"/>
          </a:xfrm>
          <a:prstGeom prst="rect">
            <a:avLst/>
          </a:prstGeom>
          <a:noFill/>
        </p:spPr>
        <p:txBody>
          <a:bodyPr wrap="square" lIns="0" rIns="0" tIns="0" bIns="0" anchor="t">
            <a:noAutofit/>
          </a:bodyPr>
          <a:lstStyle/>
          <a:p>
            <a:pPr algn="l">
              <a:lnSpc>
                <a:spcPct val="100000"/>
              </a:lnSpc>
            </a:pPr>
            <a:r>
              <a:rPr sz="1200" b="1">
                <a:solidFill>
                  <a:srgbClr val="1E252D"/>
                </a:solidFill>
                <a:latin typeface="Arial"/>
              </a:rPr>
              <a:t>Online</a:t>
            </a:r>
            <a:r>
              <a:rPr sz="1200" b="0">
                <a:solidFill>
                  <a:srgbClr val="1E252D"/>
                </a:solidFill>
                <a:latin typeface="Arial"/>
              </a:rPr>
              <a:t> share of 4% trails B and C, whose hub networks are in place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Margin erosion in grocery and convenience (€119M) pushed EBITDA down to €857M</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6</a:t>
            </a:r>
          </a:p>
        </p:txBody>
      </p:sp>
      <p:sp>
        <p:nvSpPr>
          <p:cNvPr id="6" name="cpe|exhibit|text|5"/>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EBITDA bridge 2024 to 2025</a:t>
            </a:r>
            <a:r>
              <a:rPr sz="1100" b="0">
                <a:solidFill>
                  <a:srgbClr val="1E252D"/>
                </a:solidFill>
                <a:latin typeface="Arial"/>
              </a:rPr>
              <a:t>, €M</a:t>
            </a:r>
          </a:p>
        </p:txBody>
      </p:sp>
      <p:graphicFrame>
        <p:nvGraphicFramePr>
          <p:cNvPr id="7" name="cpe|exhibit|chart|6"/>
          <p:cNvGraphicFramePr>
            <a:graphicFrameLocks noGrp="1"/>
          </p:cNvGraphicFramePr>
          <p:nvPr/>
        </p:nvGraphicFramePr>
        <p:xfrm>
          <a:off x="502920" y="1901952"/>
          <a:ext cx="7390181" cy="4297680"/>
        </p:xfrm>
        <a:graphic>
          <a:graphicData uri="http://schemas.openxmlformats.org/drawingml/2006/chart">
            <c:chart xmlns:c="http://schemas.openxmlformats.org/drawingml/2006/chart" r:id="rId2"/>
          </a:graphicData>
        </a:graphic>
      </p:graphicFrame>
      <p:sp>
        <p:nvSpPr>
          <p:cNvPr id="8" name="cpe|exhibit|label|7"/>
          <p:cNvSpPr txBox="1"/>
          <p:nvPr/>
        </p:nvSpPr>
        <p:spPr>
          <a:xfrm>
            <a:off x="502920" y="3580376"/>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924</a:t>
            </a:r>
          </a:p>
        </p:txBody>
      </p:sp>
      <p:sp>
        <p:nvSpPr>
          <p:cNvPr id="9" name="cpe|exhibit|label|8"/>
          <p:cNvSpPr txBox="1"/>
          <p:nvPr/>
        </p:nvSpPr>
        <p:spPr>
          <a:xfrm>
            <a:off x="1324051" y="299846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+52</a:t>
            </a:r>
          </a:p>
        </p:txBody>
      </p:sp>
      <p:sp>
        <p:nvSpPr>
          <p:cNvPr id="10" name="cpe|exhibit|label|9"/>
          <p:cNvSpPr txBox="1"/>
          <p:nvPr/>
        </p:nvSpPr>
        <p:spPr>
          <a:xfrm>
            <a:off x="2145182"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+31</a:t>
            </a:r>
          </a:p>
        </p:txBody>
      </p:sp>
      <p:sp>
        <p:nvSpPr>
          <p:cNvPr id="11" name="cpe|exhibit|label|10"/>
          <p:cNvSpPr txBox="1"/>
          <p:nvPr/>
        </p:nvSpPr>
        <p:spPr>
          <a:xfrm>
            <a:off x="2966314"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−78</a:t>
            </a:r>
          </a:p>
        </p:txBody>
      </p:sp>
      <p:sp>
        <p:nvSpPr>
          <p:cNvPr id="12" name="cpe|exhibit|label|11"/>
          <p:cNvSpPr txBox="1"/>
          <p:nvPr/>
        </p:nvSpPr>
        <p:spPr>
          <a:xfrm>
            <a:off x="3787445" y="352442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−41</a:t>
            </a:r>
          </a:p>
        </p:txBody>
      </p:sp>
      <p:sp>
        <p:nvSpPr>
          <p:cNvPr id="13" name="cpe|exhibit|label|12"/>
          <p:cNvSpPr txBox="1"/>
          <p:nvPr/>
        </p:nvSpPr>
        <p:spPr>
          <a:xfrm>
            <a:off x="4608576" y="398323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−22</a:t>
            </a:r>
          </a:p>
        </p:txBody>
      </p:sp>
      <p:sp>
        <p:nvSpPr>
          <p:cNvPr id="14" name="cpe|exhibit|label|13"/>
          <p:cNvSpPr txBox="1"/>
          <p:nvPr/>
        </p:nvSpPr>
        <p:spPr>
          <a:xfrm>
            <a:off x="5429707" y="422943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−14</a:t>
            </a:r>
          </a:p>
        </p:txBody>
      </p:sp>
      <p:sp>
        <p:nvSpPr>
          <p:cNvPr id="15" name="cpe|exhibit|label|14"/>
          <p:cNvSpPr txBox="1"/>
          <p:nvPr/>
        </p:nvSpPr>
        <p:spPr>
          <a:xfrm>
            <a:off x="6250838" y="433014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a:t>
            </a:r>
          </a:p>
        </p:txBody>
      </p:sp>
      <p:sp>
        <p:nvSpPr>
          <p:cNvPr id="16" name="cpe|exhibit|label|15"/>
          <p:cNvSpPr txBox="1"/>
          <p:nvPr/>
        </p:nvSpPr>
        <p:spPr>
          <a:xfrm>
            <a:off x="7071970" y="4330149"/>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857</a:t>
            </a:r>
          </a:p>
        </p:txBody>
      </p:sp>
      <p:cxnSp>
        <p:nvCxnSpPr>
          <p:cNvPr id="17" name="cpe|exhibit|connector|16"/>
          <p:cNvCxnSpPr/>
          <p:nvPr/>
        </p:nvCxnSpPr>
        <p:spPr>
          <a:xfrm>
            <a:off x="1196634" y="3845552"/>
            <a:ext cx="254834" cy="0"/>
          </a:xfrm>
          <a:prstGeom prst="line">
            <a:avLst/>
          </a:prstGeom>
          <a:ln w="6350">
            <a:solidFill>
              <a:srgbClr val="8A95A1"/>
            </a:solidFill>
          </a:ln>
        </p:spPr>
      </p:cxnSp>
      <p:cxnSp>
        <p:nvCxnSpPr>
          <p:cNvPr id="18" name="cpe|exhibit|connector|17"/>
          <p:cNvCxnSpPr/>
          <p:nvPr/>
        </p:nvCxnSpPr>
        <p:spPr>
          <a:xfrm>
            <a:off x="2017765" y="3263639"/>
            <a:ext cx="254834" cy="0"/>
          </a:xfrm>
          <a:prstGeom prst="line">
            <a:avLst/>
          </a:prstGeom>
          <a:ln w="6350">
            <a:solidFill>
              <a:srgbClr val="8A95A1"/>
            </a:solidFill>
          </a:ln>
        </p:spPr>
      </p:cxnSp>
      <p:cxnSp>
        <p:nvCxnSpPr>
          <p:cNvPr id="19" name="cpe|exhibit|connector|18"/>
          <p:cNvCxnSpPr/>
          <p:nvPr/>
        </p:nvCxnSpPr>
        <p:spPr>
          <a:xfrm>
            <a:off x="2838897" y="2916729"/>
            <a:ext cx="254834" cy="0"/>
          </a:xfrm>
          <a:prstGeom prst="line">
            <a:avLst/>
          </a:prstGeom>
          <a:ln w="6350">
            <a:solidFill>
              <a:srgbClr val="8A95A1"/>
            </a:solidFill>
          </a:ln>
        </p:spPr>
      </p:cxnSp>
      <p:cxnSp>
        <p:nvCxnSpPr>
          <p:cNvPr id="20" name="cpe|exhibit|connector|19"/>
          <p:cNvCxnSpPr/>
          <p:nvPr/>
        </p:nvCxnSpPr>
        <p:spPr>
          <a:xfrm>
            <a:off x="3660028" y="3789599"/>
            <a:ext cx="254834" cy="0"/>
          </a:xfrm>
          <a:prstGeom prst="line">
            <a:avLst/>
          </a:prstGeom>
          <a:ln w="6350">
            <a:solidFill>
              <a:srgbClr val="8A95A1"/>
            </a:solidFill>
          </a:ln>
        </p:spPr>
      </p:cxnSp>
      <p:cxnSp>
        <p:nvCxnSpPr>
          <p:cNvPr id="21" name="cpe|exhibit|connector|20"/>
          <p:cNvCxnSpPr/>
          <p:nvPr/>
        </p:nvCxnSpPr>
        <p:spPr>
          <a:xfrm>
            <a:off x="4481159" y="4248415"/>
            <a:ext cx="254834" cy="0"/>
          </a:xfrm>
          <a:prstGeom prst="line">
            <a:avLst/>
          </a:prstGeom>
          <a:ln w="6350">
            <a:solidFill>
              <a:srgbClr val="8A95A1"/>
            </a:solidFill>
          </a:ln>
        </p:spPr>
      </p:cxnSp>
      <p:cxnSp>
        <p:nvCxnSpPr>
          <p:cNvPr id="22" name="cpe|exhibit|connector|21"/>
          <p:cNvCxnSpPr/>
          <p:nvPr/>
        </p:nvCxnSpPr>
        <p:spPr>
          <a:xfrm>
            <a:off x="5302290" y="4494609"/>
            <a:ext cx="254834" cy="0"/>
          </a:xfrm>
          <a:prstGeom prst="line">
            <a:avLst/>
          </a:prstGeom>
          <a:ln w="6350">
            <a:solidFill>
              <a:srgbClr val="8A95A1"/>
            </a:solidFill>
          </a:ln>
        </p:spPr>
      </p:cxnSp>
      <p:cxnSp>
        <p:nvCxnSpPr>
          <p:cNvPr id="23" name="cpe|exhibit|connector|22"/>
          <p:cNvCxnSpPr/>
          <p:nvPr/>
        </p:nvCxnSpPr>
        <p:spPr>
          <a:xfrm>
            <a:off x="6123421" y="4651278"/>
            <a:ext cx="254834" cy="0"/>
          </a:xfrm>
          <a:prstGeom prst="line">
            <a:avLst/>
          </a:prstGeom>
          <a:ln w="6350">
            <a:solidFill>
              <a:srgbClr val="8A95A1"/>
            </a:solidFill>
          </a:ln>
        </p:spPr>
      </p:cxnSp>
      <p:cxnSp>
        <p:nvCxnSpPr>
          <p:cNvPr id="24" name="cpe|exhibit|connector|23"/>
          <p:cNvCxnSpPr/>
          <p:nvPr/>
        </p:nvCxnSpPr>
        <p:spPr>
          <a:xfrm>
            <a:off x="6944553" y="4595325"/>
            <a:ext cx="254834" cy="0"/>
          </a:xfrm>
          <a:prstGeom prst="line">
            <a:avLst/>
          </a:prstGeom>
          <a:ln w="6350">
            <a:solidFill>
              <a:srgbClr val="8A95A1"/>
            </a:solidFill>
          </a:ln>
        </p:spPr>
      </p:cxnSp>
      <p:sp>
        <p:nvSpPr>
          <p:cNvPr id="25" name="cpe|exhibit|marker|24"/>
          <p:cNvSpPr/>
          <p:nvPr/>
        </p:nvSpPr>
        <p:spPr>
          <a:xfrm>
            <a:off x="575473" y="5447191"/>
            <a:ext cx="676025" cy="82296"/>
          </a:xfrm>
          <a:prstGeom prst="parallelogram">
            <a:avLst/>
          </a:prstGeom>
          <a:solidFill>
            <a:srgbClr val="FFFFFF"/>
          </a:solidFill>
          <a:ln>
            <a:noFill/>
          </a:ln>
        </p:spPr>
        <p:txBody>
          <a:bodyPr rtlCol="0" anchor="ctr" lIns="0" rIns="0" tIns="0" bIns="0"/>
          <a:lstStyle/>
          <a:p>
            <a:pPr algn="ctr"/>
          </a:p>
        </p:txBody>
      </p:sp>
      <p:sp>
        <p:nvSpPr>
          <p:cNvPr id="26" name="cpe|exhibit|marker|25"/>
          <p:cNvSpPr/>
          <p:nvPr/>
        </p:nvSpPr>
        <p:spPr>
          <a:xfrm>
            <a:off x="7144523" y="5447191"/>
            <a:ext cx="676025" cy="82296"/>
          </a:xfrm>
          <a:prstGeom prst="parallelogram">
            <a:avLst/>
          </a:prstGeom>
          <a:solidFill>
            <a:srgbClr val="FFFFFF"/>
          </a:solidFill>
          <a:ln>
            <a:noFill/>
          </a:ln>
        </p:spPr>
        <p:txBody>
          <a:bodyPr rtlCol="0" anchor="ctr" lIns="0" rIns="0" tIns="0" bIns="0"/>
          <a:lstStyle/>
          <a:p>
            <a:pPr algn="ctr"/>
          </a:p>
        </p:txBody>
      </p:sp>
      <p:cxnSp>
        <p:nvCxnSpPr>
          <p:cNvPr id="27" name="cpe|commentary|line|26"/>
          <p:cNvCxnSpPr/>
          <p:nvPr/>
        </p:nvCxnSpPr>
        <p:spPr>
          <a:xfrm>
            <a:off x="8094269" y="1481328"/>
            <a:ext cx="0" cy="4718304"/>
          </a:xfrm>
          <a:prstGeom prst="line">
            <a:avLst/>
          </a:prstGeom>
          <a:ln w="9525">
            <a:solidFill>
              <a:srgbClr val="B7BFC8"/>
            </a:solidFill>
          </a:ln>
        </p:spPr>
      </p:cxnSp>
      <p:sp>
        <p:nvSpPr>
          <p:cNvPr id="28" name="cpe|commentary|text|27"/>
          <p:cNvSpPr txBox="1"/>
          <p:nvPr/>
        </p:nvSpPr>
        <p:spPr>
          <a:xfrm>
            <a:off x="8322869" y="1481328"/>
            <a:ext cx="3365906" cy="196596"/>
          </a:xfrm>
          <a:prstGeom prst="rect">
            <a:avLst/>
          </a:prstGeom>
          <a:noFill/>
        </p:spPr>
        <p:txBody>
          <a:bodyPr wrap="square" lIns="0" rIns="0" tIns="0" bIns="0" anchor="t">
            <a:noAutofit/>
          </a:bodyPr>
          <a:lstStyle/>
          <a:p>
            <a:pPr algn="l">
              <a:lnSpc>
                <a:spcPct val="100000"/>
              </a:lnSpc>
            </a:pPr>
            <a:r>
              <a:rPr sz="1200" b="1">
                <a:solidFill>
                  <a:srgbClr val="0B1F3A"/>
                </a:solidFill>
                <a:latin typeface="Arial"/>
              </a:rPr>
              <a:t>Two categories explain the decline</a:t>
            </a:r>
          </a:p>
        </p:txBody>
      </p:sp>
      <p:sp>
        <p:nvSpPr>
          <p:cNvPr id="29" name="cpe|commentary|text|28"/>
          <p:cNvSpPr txBox="1"/>
          <p:nvPr/>
        </p:nvSpPr>
        <p:spPr>
          <a:xfrm>
            <a:off x="8322869" y="1796796"/>
            <a:ext cx="3365906" cy="4402836"/>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Grocery (−€78M):</a:t>
            </a:r>
            <a:r>
              <a:rPr sz="1200" b="0">
                <a:solidFill>
                  <a:srgbClr val="1E252D"/>
                </a:solidFill>
                <a:latin typeface="Arial"/>
              </a:rPr>
              <a:t> promo intensity up 3pp to match discounters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Convenience (−€41M):</a:t>
            </a:r>
            <a:r>
              <a:rPr sz="1200" b="0">
                <a:solidFill>
                  <a:srgbClr val="1E252D"/>
                </a:solidFill>
                <a:latin typeface="Arial"/>
              </a:rPr>
              <a:t> food-to-go waste doubled after the range extension</a:t>
            </a:r>
          </a:p>
          <a:p>
            <a:pPr algn="l" marL="155448" indent="-155448">
              <a:lnSpc>
                <a:spcPct val="108000"/>
              </a:lnSpc>
              <a:buClr>
                <a:srgbClr val="1E252D"/>
              </a:buClr>
              <a:buSzPct val="100000"/>
              <a:buFont typeface="Arial"/>
              <a:buChar char="•"/>
            </a:pPr>
            <a:r>
              <a:rPr sz="1200" b="0">
                <a:solidFill>
                  <a:srgbClr val="1E252D"/>
                </a:solidFill>
                <a:latin typeface="Arial"/>
              </a:rPr>
              <a:t>Volume and price added €83M, not enough to offset cost inflation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Gross margin change by category and region</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category P&amp;L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7</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Gross margin change by category and region, 2025 vs 2024</a:t>
            </a:r>
            <a:r>
              <a:rPr sz="1100" b="0">
                <a:solidFill>
                  <a:srgbClr val="1E252D"/>
                </a:solidFill>
                <a:latin typeface="Arial"/>
              </a:rPr>
              <a:t>, pp</a:t>
            </a:r>
          </a:p>
        </p:txBody>
      </p:sp>
      <p:graphicFrame>
        <p:nvGraphicFramePr>
          <p:cNvPr id="7" name="cpe|exhibit|table|6"/>
          <p:cNvGraphicFramePr>
            <a:graphicFrameLocks noGrp="1"/>
          </p:cNvGraphicFramePr>
          <p:nvPr/>
        </p:nvGraphicFramePr>
        <p:xfrm>
          <a:off x="502920" y="1901952"/>
          <a:ext cx="11185854" cy="3201543"/>
        </p:xfrm>
        <a:graphic>
          <a:graphicData uri="http://schemas.openxmlformats.org/drawingml/2006/table">
            <a:tbl>
              <a:tblPr firstRow="0" bandRow="0">
                <a:tableStyleId>{2D5ABB26-0587-4C30-8999-92F81FD0307C}</a:tableStyleId>
              </a:tblPr>
              <a:tblGrid>
                <a:gridCol w="2377440"/>
                <a:gridCol w="1468069"/>
                <a:gridCol w="1468069"/>
                <a:gridCol w="1468069"/>
                <a:gridCol w="1468069"/>
                <a:gridCol w="1468069"/>
                <a:gridCol w="1468069"/>
              </a:tblGrid>
              <a:tr h="300609">
                <a:tc>
                  <a:txBody>
                    <a:bodyPr wrap="square"/>
                    <a:lstStyle/>
                    <a:p>
                      <a:pPr algn="l"/>
                      <a:r>
                        <a:rPr sz="1100" b="1">
                          <a:solidFill>
                            <a:srgbClr val="1E252D"/>
                          </a:solidFill>
                          <a:latin typeface="Arial"/>
                        </a:rPr>
                        <a:t>Category</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Madrid</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Catalonia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Andalusia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Valencia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North</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Portugal</a:t>
                      </a:r>
                    </a:p>
                  </a:txBody>
                  <a:tcPr marL="73152" marR="73152" marT="41148" marB="41148" anchor="ctr">
                    <a:lnL w="0">
                      <a:noFill/>
                    </a:lnL>
                    <a:lnR w="0">
                      <a:noFill/>
                    </a:lnR>
                    <a:lnT w="0">
                      <a:noFill/>
                    </a:lnT>
                    <a:lnB w="12382" cap="flat">
                      <a:solidFill>
                        <a:srgbClr val="0B1F3A"/>
                      </a:solidFill>
                      <a:prstDash val="solid"/>
                    </a:lnB>
                    <a:noFill/>
                  </a:tcPr>
                </a:tc>
              </a:tr>
              <a:tr h="483489">
                <a:tc>
                  <a:txBody>
                    <a:bodyPr wrap="square"/>
                    <a:lstStyle/>
                    <a:p>
                      <a:pPr algn="l"/>
                      <a:r>
                        <a:rPr sz="1100" b="0">
                          <a:solidFill>
                            <a:srgbClr val="1E252D"/>
                          </a:solidFill>
                          <a:latin typeface="Arial"/>
                        </a:rPr>
                        <a:t>Fresh</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FFFFFF"/>
                          </a:solidFill>
                          <a:latin typeface="Arial"/>
                        </a:rPr>
                        <a:t>−2.9</a:t>
                      </a:r>
                    </a:p>
                  </a:txBody>
                  <a:tcPr marL="73152" marR="73152" marT="41148" marB="41148" anchor="ctr">
                    <a:lnL w="0">
                      <a:noFill/>
                    </a:lnL>
                    <a:lnR w="0">
                      <a:noFill/>
                    </a:lnR>
                    <a:lnT w="0">
                      <a:noFill/>
                    </a:lnT>
                    <a:lnB w="6350" cap="flat">
                      <a:solidFill>
                        <a:srgbClr val="E3E7EB"/>
                      </a:solidFill>
                      <a:prstDash val="solid"/>
                    </a:lnB>
                    <a:solidFill>
                      <a:srgbClr val="BA5950"/>
                    </a:solidFill>
                  </a:tcPr>
                </a:tc>
                <a:tc>
                  <a:txBody>
                    <a:bodyPr wrap="square"/>
                    <a:lstStyle/>
                    <a:p>
                      <a:pPr algn="r"/>
                      <a:r>
                        <a:rPr sz="1100" b="0">
                          <a:solidFill>
                            <a:srgbClr val="1E252D"/>
                          </a:solidFill>
                          <a:latin typeface="Arial"/>
                        </a:rPr>
                        <a:t>−2.6</a:t>
                      </a:r>
                    </a:p>
                  </a:txBody>
                  <a:tcPr marL="73152" marR="73152" marT="41148" marB="41148" anchor="ctr">
                    <a:lnL w="0">
                      <a:noFill/>
                    </a:lnL>
                    <a:lnR w="0">
                      <a:noFill/>
                    </a:lnR>
                    <a:lnT w="0">
                      <a:noFill/>
                    </a:lnT>
                    <a:lnB w="6350" cap="flat">
                      <a:solidFill>
                        <a:srgbClr val="E3E7EB"/>
                      </a:solidFill>
                      <a:prstDash val="solid"/>
                    </a:lnB>
                    <a:solidFill>
                      <a:srgbClr val="D57267"/>
                    </a:solidFill>
                  </a:tcPr>
                </a:tc>
                <a:tc>
                  <a:txBody>
                    <a:bodyPr wrap="square"/>
                    <a:lstStyle/>
                    <a:p>
                      <a:pPr algn="r"/>
                      <a:r>
                        <a:rPr sz="1100" b="0">
                          <a:solidFill>
                            <a:srgbClr val="1E252D"/>
                          </a:solidFill>
                          <a:latin typeface="Arial"/>
                        </a:rPr>
                        <a:t>−1.1</a:t>
                      </a:r>
                    </a:p>
                  </a:txBody>
                  <a:tcPr marL="73152" marR="73152" marT="41148" marB="41148" anchor="ctr">
                    <a:lnL w="0">
                      <a:noFill/>
                    </a:lnL>
                    <a:lnR w="0">
                      <a:noFill/>
                    </a:lnR>
                    <a:lnT w="0">
                      <a:noFill/>
                    </a:lnT>
                    <a:lnB w="6350" cap="flat">
                      <a:solidFill>
                        <a:srgbClr val="E3E7EB"/>
                      </a:solidFill>
                      <a:prstDash val="solid"/>
                    </a:lnB>
                    <a:solidFill>
                      <a:srgbClr val="ECC5C0"/>
                    </a:solidFill>
                  </a:tcPr>
                </a:tc>
                <a:tc>
                  <a:txBody>
                    <a:bodyPr wrap="square"/>
                    <a:lstStyle/>
                    <a:p>
                      <a:pPr algn="r"/>
                      <a:r>
                        <a:rPr sz="1100" b="0">
                          <a:solidFill>
                            <a:srgbClr val="1E252D"/>
                          </a:solidFill>
                          <a:latin typeface="Arial"/>
                        </a:rPr>
                        <a:t>−1.0</a:t>
                      </a:r>
                    </a:p>
                  </a:txBody>
                  <a:tcPr marL="73152" marR="73152" marT="41148" marB="41148" anchor="ctr">
                    <a:lnL w="0">
                      <a:noFill/>
                    </a:lnL>
                    <a:lnR w="0">
                      <a:noFill/>
                    </a:lnR>
                    <a:lnT w="0">
                      <a:noFill/>
                    </a:lnT>
                    <a:lnB w="6350" cap="flat">
                      <a:solidFill>
                        <a:srgbClr val="E3E7EB"/>
                      </a:solidFill>
                      <a:prstDash val="solid"/>
                    </a:lnB>
                    <a:solidFill>
                      <a:srgbClr val="EDC9C5"/>
                    </a:solidFill>
                  </a:tcPr>
                </a:tc>
                <a:tc>
                  <a:txBody>
                    <a:bodyPr wrap="square"/>
                    <a:lstStyle/>
                    <a:p>
                      <a:pPr algn="r"/>
                      <a:r>
                        <a:rPr sz="1100" b="0">
                          <a:solidFill>
                            <a:srgbClr val="1E252D"/>
                          </a:solidFill>
                          <a:latin typeface="Arial"/>
                        </a:rPr>
                        <a:t>−0.6</a:t>
                      </a:r>
                    </a:p>
                  </a:txBody>
                  <a:tcPr marL="73152" marR="73152" marT="41148" marB="41148" anchor="ctr">
                    <a:lnL w="0">
                      <a:noFill/>
                    </a:lnL>
                    <a:lnR w="0">
                      <a:noFill/>
                    </a:lnR>
                    <a:lnT w="0">
                      <a:noFill/>
                    </a:lnT>
                    <a:lnB w="6350" cap="flat">
                      <a:solidFill>
                        <a:srgbClr val="E3E7EB"/>
                      </a:solidFill>
                      <a:prstDash val="solid"/>
                    </a:lnB>
                    <a:solidFill>
                      <a:srgbClr val="F0DBD9"/>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r>
              <a:tr h="483489">
                <a:tc>
                  <a:txBody>
                    <a:bodyPr wrap="square"/>
                    <a:lstStyle/>
                    <a:p>
                      <a:pPr algn="l"/>
                      <a:r>
                        <a:rPr sz="1100" b="0">
                          <a:solidFill>
                            <a:srgbClr val="1E252D"/>
                          </a:solidFill>
                          <a:latin typeface="Arial"/>
                        </a:rPr>
                        <a:t>Food-to-go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FFFFFF"/>
                          </a:solidFill>
                          <a:latin typeface="Arial"/>
                        </a:rPr>
                        <a:t>−3.4</a:t>
                      </a:r>
                    </a:p>
                  </a:txBody>
                  <a:tcPr marL="73152" marR="73152" marT="41148" marB="41148" anchor="ctr">
                    <a:lnL w="0">
                      <a:noFill/>
                    </a:lnL>
                    <a:lnR w="0">
                      <a:noFill/>
                    </a:lnR>
                    <a:lnT w="0">
                      <a:noFill/>
                    </a:lnT>
                    <a:lnB w="6350" cap="flat">
                      <a:solidFill>
                        <a:srgbClr val="E3E7EB"/>
                      </a:solidFill>
                      <a:prstDash val="solid"/>
                    </a:lnB>
                    <a:solidFill>
                      <a:srgbClr val="C23F32"/>
                    </a:solidFill>
                  </a:tcPr>
                </a:tc>
                <a:tc>
                  <a:txBody>
                    <a:bodyPr wrap="square"/>
                    <a:lstStyle/>
                    <a:p>
                      <a:pPr algn="r"/>
                      <a:r>
                        <a:rPr sz="1100" b="0">
                          <a:solidFill>
                            <a:srgbClr val="FFFFFF"/>
                          </a:solidFill>
                          <a:latin typeface="Arial"/>
                        </a:rPr>
                        <a:t>−3.1</a:t>
                      </a:r>
                    </a:p>
                  </a:txBody>
                  <a:tcPr marL="73152" marR="73152" marT="41148" marB="41148" anchor="ctr">
                    <a:lnL w="0">
                      <a:noFill/>
                    </a:lnL>
                    <a:lnR w="0">
                      <a:noFill/>
                    </a:lnR>
                    <a:lnT w="0">
                      <a:noFill/>
                    </a:lnT>
                    <a:lnB w="6350" cap="flat">
                      <a:solidFill>
                        <a:srgbClr val="E3E7EB"/>
                      </a:solidFill>
                      <a:prstDash val="solid"/>
                    </a:lnB>
                    <a:solidFill>
                      <a:srgbClr val="B64D45"/>
                    </a:solidFill>
                  </a:tcPr>
                </a:tc>
                <a:tc>
                  <a:txBody>
                    <a:bodyPr wrap="square"/>
                    <a:lstStyle/>
                    <a:p>
                      <a:pPr algn="r"/>
                      <a:r>
                        <a:rPr sz="1100" b="0">
                          <a:solidFill>
                            <a:srgbClr val="1E252D"/>
                          </a:solidFill>
                          <a:latin typeface="Arial"/>
                        </a:rPr>
                        <a:t>−1.4</a:t>
                      </a:r>
                    </a:p>
                  </a:txBody>
                  <a:tcPr marL="73152" marR="73152" marT="41148" marB="41148" anchor="ctr">
                    <a:lnL w="0">
                      <a:noFill/>
                    </a:lnL>
                    <a:lnR w="0">
                      <a:noFill/>
                    </a:lnR>
                    <a:lnT w="0">
                      <a:noFill/>
                    </a:lnT>
                    <a:lnB w="6350" cap="flat">
                      <a:solidFill>
                        <a:srgbClr val="E3E7EB"/>
                      </a:solidFill>
                      <a:prstDash val="solid"/>
                    </a:lnB>
                    <a:solidFill>
                      <a:srgbClr val="EAB8B1"/>
                    </a:solidFill>
                  </a:tcPr>
                </a:tc>
                <a:tc>
                  <a:txBody>
                    <a:bodyPr wrap="square"/>
                    <a:lstStyle/>
                    <a:p>
                      <a:pPr algn="r"/>
                      <a:r>
                        <a:rPr sz="1100" b="0">
                          <a:solidFill>
                            <a:srgbClr val="1E252D"/>
                          </a:solidFill>
                          <a:latin typeface="Arial"/>
                        </a:rPr>
                        <a:t>−1.2</a:t>
                      </a:r>
                    </a:p>
                  </a:txBody>
                  <a:tcPr marL="73152" marR="73152" marT="41148" marB="41148" anchor="ctr">
                    <a:lnL w="0">
                      <a:noFill/>
                    </a:lnL>
                    <a:lnR w="0">
                      <a:noFill/>
                    </a:lnR>
                    <a:lnT w="0">
                      <a:noFill/>
                    </a:lnT>
                    <a:lnB w="6350" cap="flat">
                      <a:solidFill>
                        <a:srgbClr val="E3E7EB"/>
                      </a:solidFill>
                      <a:prstDash val="solid"/>
                    </a:lnB>
                    <a:solidFill>
                      <a:srgbClr val="ECC1BB"/>
                    </a:solidFill>
                  </a:tcPr>
                </a:tc>
                <a:tc>
                  <a:txBody>
                    <a:bodyPr wrap="square"/>
                    <a:lstStyle/>
                    <a:p>
                      <a:pPr algn="r"/>
                      <a:r>
                        <a:rPr sz="1100" b="0">
                          <a:solidFill>
                            <a:srgbClr val="1E252D"/>
                          </a:solidFill>
                          <a:latin typeface="Arial"/>
                        </a:rPr>
                        <a:t>−0.9</a:t>
                      </a:r>
                    </a:p>
                  </a:txBody>
                  <a:tcPr marL="73152" marR="73152" marT="41148" marB="41148" anchor="ctr">
                    <a:lnL w="0">
                      <a:noFill/>
                    </a:lnL>
                    <a:lnR w="0">
                      <a:noFill/>
                    </a:lnR>
                    <a:lnT w="0">
                      <a:noFill/>
                    </a:lnT>
                    <a:lnB w="6350" cap="flat">
                      <a:solidFill>
                        <a:srgbClr val="E3E7EB"/>
                      </a:solidFill>
                      <a:prstDash val="solid"/>
                    </a:lnB>
                    <a:solidFill>
                      <a:srgbClr val="EECECA"/>
                    </a:solidFill>
                  </a:tcPr>
                </a:tc>
                <a:tc>
                  <a:txBody>
                    <a:bodyPr wrap="square"/>
                    <a:lstStyle/>
                    <a:p>
                      <a:pPr algn="r"/>
                      <a:r>
                        <a:rPr sz="11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r>
              <a:tr h="483489">
                <a:tc>
                  <a:txBody>
                    <a:bodyPr wrap="square"/>
                    <a:lstStyle/>
                    <a:p>
                      <a:pPr algn="l"/>
                      <a:r>
                        <a:rPr sz="1100" b="0">
                          <a:solidFill>
                            <a:srgbClr val="1E252D"/>
                          </a:solidFill>
                          <a:latin typeface="Arial"/>
                        </a:rPr>
                        <a:t>Ambient grocery</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−0.8</a:t>
                      </a:r>
                    </a:p>
                  </a:txBody>
                  <a:tcPr marL="73152" marR="73152" marT="41148" marB="41148" anchor="ctr">
                    <a:lnL w="0">
                      <a:noFill/>
                    </a:lnL>
                    <a:lnR w="0">
                      <a:noFill/>
                    </a:lnR>
                    <a:lnT w="0">
                      <a:noFill/>
                    </a:lnT>
                    <a:lnB w="6350" cap="flat">
                      <a:solidFill>
                        <a:srgbClr val="E3E7EB"/>
                      </a:solidFill>
                      <a:prstDash val="solid"/>
                    </a:lnB>
                    <a:solidFill>
                      <a:srgbClr val="EFD2CF"/>
                    </a:solidFill>
                  </a:tcPr>
                </a:tc>
                <a:tc>
                  <a:txBody>
                    <a:bodyPr wrap="square"/>
                    <a:lstStyle/>
                    <a:p>
                      <a:pPr algn="r"/>
                      <a:r>
                        <a:rPr sz="11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c>
                  <a:txBody>
                    <a:bodyPr wrap="square"/>
                    <a:lstStyle/>
                    <a:p>
                      <a:pPr algn="r"/>
                      <a:r>
                        <a:rPr sz="1100" b="0">
                          <a:solidFill>
                            <a:srgbClr val="1E252D"/>
                          </a:solidFill>
                          <a:latin typeface="Arial"/>
                        </a:rPr>
                        <a:t>−0.5</a:t>
                      </a:r>
                    </a:p>
                  </a:txBody>
                  <a:tcPr marL="73152" marR="73152" marT="41148" marB="41148" anchor="ctr">
                    <a:lnL w="0">
                      <a:noFill/>
                    </a:lnL>
                    <a:lnR w="0">
                      <a:noFill/>
                    </a:lnR>
                    <a:lnT w="0">
                      <a:noFill/>
                    </a:lnT>
                    <a:lnB w="6350" cap="flat">
                      <a:solidFill>
                        <a:srgbClr val="E3E7EB"/>
                      </a:solidFill>
                      <a:prstDash val="solid"/>
                    </a:lnB>
                    <a:solidFill>
                      <a:srgbClr val="F1E0DF"/>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r>
              <a:tr h="483489">
                <a:tc>
                  <a:txBody>
                    <a:bodyPr wrap="square"/>
                    <a:lstStyle/>
                    <a:p>
                      <a:pPr algn="l"/>
                      <a:r>
                        <a:rPr sz="1100" b="0">
                          <a:solidFill>
                            <a:srgbClr val="1E252D"/>
                          </a:solidFill>
                          <a:latin typeface="Arial"/>
                        </a:rPr>
                        <a:t>Drinks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100" b="0">
                          <a:solidFill>
                            <a:srgbClr val="1E252D"/>
                          </a:solidFill>
                          <a:latin typeface="Arial"/>
                        </a:rPr>
                        <a:t>0.0</a:t>
                      </a:r>
                    </a:p>
                  </a:txBody>
                  <a:tcPr marL="73152" marR="73152" marT="41148" marB="41148" anchor="ctr">
                    <a:lnL w="0">
                      <a:noFill/>
                    </a:lnL>
                    <a:lnR w="0">
                      <a:noFill/>
                    </a:lnR>
                    <a:lnT w="0">
                      <a:noFill/>
                    </a:lnT>
                    <a:lnB w="6350" cap="flat">
                      <a:solidFill>
                        <a:srgbClr val="E3E7EB"/>
                      </a:solidFill>
                      <a:prstDash val="solid"/>
                    </a:lnB>
                    <a:solidFill>
                      <a:srgbClr val="F4F6F8"/>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r>
              <a:tr h="483489">
                <a:tc>
                  <a:txBody>
                    <a:bodyPr wrap="square"/>
                    <a:lstStyle/>
                    <a:p>
                      <a:pPr algn="l"/>
                      <a:r>
                        <a:rPr sz="1100" b="0">
                          <a:solidFill>
                            <a:srgbClr val="1E252D"/>
                          </a:solidFill>
                          <a:latin typeface="Arial"/>
                        </a:rPr>
                        <a:t>Household &amp; personal care</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DDEAE5"/>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r>
              <a:tr h="483489">
                <a:tc>
                  <a:txBody>
                    <a:bodyPr wrap="square"/>
                    <a:lstStyle/>
                    <a:p>
                      <a:pPr algn="l"/>
                      <a:r>
                        <a:rPr sz="1100" b="1">
                          <a:solidFill>
                            <a:srgbClr val="1E252D"/>
                          </a:solidFill>
                          <a:latin typeface="Arial"/>
                        </a:rPr>
                        <a:t>Total</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−1.6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−1.4</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−0.5</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−0.3</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−0.2</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r>
            </a:tbl>
          </a:graphicData>
        </a:graphic>
      </p:graphicFrame>
      <p:sp>
        <p:nvSpPr>
          <p:cNvPr id="8" name="cpe|takeaway|fill|7"/>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9" name="cpe|takeaway|fill|8"/>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10" name="cpe|takeaway|text|9"/>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Fixing fresh and food-to-go in two regions addresses about two thirds of the margin gap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COMPETITION</a:t>
            </a:r>
          </a:p>
        </p:txBody>
      </p:sp>
      <p:sp>
        <p:nvSpPr>
          <p:cNvPr id="3" name="cpe|chrome|text|2"/>
          <p:cNvSpPr txBox="1"/>
          <p:nvPr/>
        </p:nvSpPr>
        <p:spPr>
          <a:xfrm>
            <a:off x="502920" y="475488"/>
            <a:ext cx="1077437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 is stuck in the middle: priced above discounters without a clear experience edge</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Customer survey 2025, n=4,000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8</a:t>
            </a:r>
          </a:p>
        </p:txBody>
      </p:sp>
      <p:sp>
        <p:nvSpPr>
          <p:cNvPr id="6" name="cpe|exhibit|text|5"/>
          <p:cNvSpPr txBox="1"/>
          <p:nvPr/>
        </p:nvSpPr>
        <p:spPr>
          <a:xfrm>
            <a:off x="502920" y="1481328"/>
            <a:ext cx="6441262"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Customer perception, 2025</a:t>
            </a:r>
            <a:r>
              <a:rPr sz="1100" b="0">
                <a:solidFill>
                  <a:srgbClr val="1E252D"/>
                </a:solidFill>
                <a:latin typeface="Arial"/>
              </a:rPr>
              <a:t>, index 0-1; bubble = revenue</a:t>
            </a:r>
          </a:p>
        </p:txBody>
      </p:sp>
      <p:sp>
        <p:nvSpPr>
          <p:cNvPr id="7" name="cpe|exhibit|fill|6"/>
          <p:cNvSpPr/>
          <p:nvPr/>
        </p:nvSpPr>
        <p:spPr>
          <a:xfrm>
            <a:off x="640080" y="2267712"/>
            <a:ext cx="3106331" cy="1773936"/>
          </a:xfrm>
          <a:prstGeom prst="rect">
            <a:avLst/>
          </a:prstGeom>
          <a:noFill/>
          <a:ln w="6350">
            <a:solidFill>
              <a:srgbClr val="B7BFC8"/>
            </a:solidFill>
          </a:ln>
        </p:spPr>
        <p:txBody>
          <a:bodyPr rtlCol="0" anchor="ctr" lIns="0" rIns="0" tIns="0" bIns="0"/>
          <a:lstStyle/>
          <a:p>
            <a:pPr algn="ctr"/>
          </a:p>
        </p:txBody>
      </p:sp>
      <p:sp>
        <p:nvSpPr>
          <p:cNvPr id="8" name="cpe|exhibit|fill|7"/>
          <p:cNvSpPr/>
          <p:nvPr/>
        </p:nvSpPr>
        <p:spPr>
          <a:xfrm>
            <a:off x="3746411" y="2267712"/>
            <a:ext cx="3106331" cy="1773936"/>
          </a:xfrm>
          <a:prstGeom prst="rect">
            <a:avLst/>
          </a:prstGeom>
          <a:noFill/>
          <a:ln w="6350">
            <a:solidFill>
              <a:srgbClr val="B7BFC8"/>
            </a:solidFill>
          </a:ln>
        </p:spPr>
        <p:txBody>
          <a:bodyPr rtlCol="0" anchor="ctr" lIns="0" rIns="0" tIns="0" bIns="0"/>
          <a:lstStyle/>
          <a:p>
            <a:pPr algn="ctr"/>
          </a:p>
        </p:txBody>
      </p:sp>
      <p:sp>
        <p:nvSpPr>
          <p:cNvPr id="9" name="cpe|exhibit|fill|8"/>
          <p:cNvSpPr/>
          <p:nvPr/>
        </p:nvSpPr>
        <p:spPr>
          <a:xfrm>
            <a:off x="640080" y="4041648"/>
            <a:ext cx="3106331" cy="1773936"/>
          </a:xfrm>
          <a:prstGeom prst="rect">
            <a:avLst/>
          </a:prstGeom>
          <a:solidFill>
            <a:srgbClr val="EEF1F4"/>
          </a:solidFill>
          <a:ln w="6350">
            <a:solidFill>
              <a:srgbClr val="B7BFC8"/>
            </a:solidFill>
          </a:ln>
        </p:spPr>
        <p:txBody>
          <a:bodyPr rtlCol="0" anchor="ctr" lIns="0" rIns="0" tIns="0" bIns="0"/>
          <a:lstStyle/>
          <a:p>
            <a:pPr algn="ctr"/>
          </a:p>
        </p:txBody>
      </p:sp>
      <p:sp>
        <p:nvSpPr>
          <p:cNvPr id="10" name="cpe|exhibit|fill|9"/>
          <p:cNvSpPr/>
          <p:nvPr/>
        </p:nvSpPr>
        <p:spPr>
          <a:xfrm>
            <a:off x="3746411" y="4041648"/>
            <a:ext cx="3106331" cy="1773936"/>
          </a:xfrm>
          <a:prstGeom prst="rect">
            <a:avLst/>
          </a:prstGeom>
          <a:noFill/>
          <a:ln w="6350">
            <a:solidFill>
              <a:srgbClr val="B7BFC8"/>
            </a:solidFill>
          </a:ln>
        </p:spPr>
        <p:txBody>
          <a:bodyPr rtlCol="0" anchor="ctr" lIns="0" rIns="0" tIns="0" bIns="0"/>
          <a:lstStyle/>
          <a:p>
            <a:pPr algn="ctr"/>
          </a:p>
        </p:txBody>
      </p:sp>
      <p:sp>
        <p:nvSpPr>
          <p:cNvPr id="11" name="cpe|exhibit|text|10"/>
          <p:cNvSpPr txBox="1"/>
          <p:nvPr/>
        </p:nvSpPr>
        <p:spPr>
          <a:xfrm>
            <a:off x="731520" y="2340864"/>
            <a:ext cx="2923451" cy="237744"/>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Experience-led</a:t>
            </a:r>
          </a:p>
        </p:txBody>
      </p:sp>
      <p:sp>
        <p:nvSpPr>
          <p:cNvPr id="12" name="cpe|exhibit|text|11"/>
          <p:cNvSpPr txBox="1"/>
          <p:nvPr/>
        </p:nvSpPr>
        <p:spPr>
          <a:xfrm>
            <a:off x="3837851" y="2340864"/>
            <a:ext cx="2923451" cy="237744"/>
          </a:xfrm>
          <a:prstGeom prst="rect">
            <a:avLst/>
          </a:prstGeom>
          <a:noFill/>
        </p:spPr>
        <p:txBody>
          <a:bodyPr wrap="square" lIns="0" rIns="0" tIns="0" bIns="0" anchor="t">
            <a:noAutofit/>
          </a:bodyPr>
          <a:lstStyle/>
          <a:p>
            <a:pPr algn="r">
              <a:lnSpc>
                <a:spcPct val="100000"/>
              </a:lnSpc>
            </a:pPr>
            <a:r>
              <a:rPr sz="1000" b="1">
                <a:solidFill>
                  <a:srgbClr val="5E6A77"/>
                </a:solidFill>
                <a:latin typeface="Arial"/>
              </a:rPr>
              <a:t>Value leaders</a:t>
            </a:r>
          </a:p>
        </p:txBody>
      </p:sp>
      <p:sp>
        <p:nvSpPr>
          <p:cNvPr id="13" name="cpe|exhibit|text|12"/>
          <p:cNvSpPr txBox="1"/>
          <p:nvPr/>
        </p:nvSpPr>
        <p:spPr>
          <a:xfrm>
            <a:off x="731520" y="5504688"/>
            <a:ext cx="2923451" cy="237744"/>
          </a:xfrm>
          <a:prstGeom prst="rect">
            <a:avLst/>
          </a:prstGeom>
          <a:noFill/>
        </p:spPr>
        <p:txBody>
          <a:bodyPr wrap="square" lIns="0" rIns="0" tIns="0" bIns="0" anchor="t">
            <a:noAutofit/>
          </a:bodyPr>
          <a:lstStyle/>
          <a:p>
            <a:pPr algn="l">
              <a:lnSpc>
                <a:spcPct val="100000"/>
              </a:lnSpc>
            </a:pPr>
            <a:r>
              <a:rPr sz="1000" b="1">
                <a:solidFill>
                  <a:srgbClr val="0B1F3A"/>
                </a:solidFill>
                <a:latin typeface="Arial"/>
              </a:rPr>
              <a:t>Stuck in the middle</a:t>
            </a:r>
          </a:p>
        </p:txBody>
      </p:sp>
      <p:sp>
        <p:nvSpPr>
          <p:cNvPr id="14" name="cpe|exhibit|text|13"/>
          <p:cNvSpPr txBox="1"/>
          <p:nvPr/>
        </p:nvSpPr>
        <p:spPr>
          <a:xfrm>
            <a:off x="3837851" y="5504688"/>
            <a:ext cx="2923451" cy="237744"/>
          </a:xfrm>
          <a:prstGeom prst="rect">
            <a:avLst/>
          </a:prstGeom>
          <a:noFill/>
        </p:spPr>
        <p:txBody>
          <a:bodyPr wrap="square" lIns="0" rIns="0" tIns="0" bIns="0" anchor="t">
            <a:noAutofit/>
          </a:bodyPr>
          <a:lstStyle/>
          <a:p>
            <a:pPr algn="r">
              <a:lnSpc>
                <a:spcPct val="100000"/>
              </a:lnSpc>
            </a:pPr>
            <a:r>
              <a:rPr sz="1000" b="1">
                <a:solidFill>
                  <a:srgbClr val="5E6A77"/>
                </a:solidFill>
                <a:latin typeface="Arial"/>
              </a:rPr>
              <a:t>Price-led</a:t>
            </a:r>
          </a:p>
        </p:txBody>
      </p:sp>
      <p:cxnSp>
        <p:nvCxnSpPr>
          <p:cNvPr id="15" name="cpe|exhibit|line|14"/>
          <p:cNvCxnSpPr/>
          <p:nvPr/>
        </p:nvCxnSpPr>
        <p:spPr>
          <a:xfrm>
            <a:off x="640080" y="5815584"/>
            <a:ext cx="6258382" cy="0"/>
          </a:xfrm>
          <a:prstGeom prst="line">
            <a:avLst/>
          </a:prstGeom>
          <a:ln w="9525">
            <a:solidFill>
              <a:srgbClr val="1E252D"/>
            </a:solidFill>
            <a:tailEnd type="triangle" w="med" len="med"/>
          </a:ln>
        </p:spPr>
      </p:cxnSp>
      <p:cxnSp>
        <p:nvCxnSpPr>
          <p:cNvPr id="16" name="cpe|exhibit|line|15"/>
          <p:cNvCxnSpPr/>
          <p:nvPr/>
        </p:nvCxnSpPr>
        <p:spPr>
          <a:xfrm flipV="1">
            <a:off x="640080" y="2221992"/>
            <a:ext cx="0" cy="3593592"/>
          </a:xfrm>
          <a:prstGeom prst="line">
            <a:avLst/>
          </a:prstGeom>
          <a:ln w="9525">
            <a:solidFill>
              <a:srgbClr val="1E252D"/>
            </a:solidFill>
            <a:tailEnd type="triangle" w="med" len="med"/>
          </a:ln>
        </p:spPr>
      </p:cxnSp>
      <p:sp>
        <p:nvSpPr>
          <p:cNvPr id="17" name="cpe|exhibit|text|16"/>
          <p:cNvSpPr txBox="1"/>
          <p:nvPr/>
        </p:nvSpPr>
        <p:spPr>
          <a:xfrm>
            <a:off x="640080" y="5870448"/>
            <a:ext cx="6212662" cy="274320"/>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Price perception (cheaper →)</a:t>
            </a:r>
          </a:p>
        </p:txBody>
      </p:sp>
      <p:sp>
        <p:nvSpPr>
          <p:cNvPr id="18" name="cpe|exhibit|label|17"/>
          <p:cNvSpPr txBox="1"/>
          <p:nvPr/>
        </p:nvSpPr>
        <p:spPr>
          <a:xfrm>
            <a:off x="594360" y="1938528"/>
            <a:ext cx="1234380" cy="237744"/>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 Store experience</a:t>
            </a:r>
          </a:p>
        </p:txBody>
      </p:sp>
      <p:sp>
        <p:nvSpPr>
          <p:cNvPr id="19" name="cpe|exhibit|marker|18"/>
          <p:cNvSpPr/>
          <p:nvPr/>
        </p:nvSpPr>
        <p:spPr>
          <a:xfrm>
            <a:off x="3959594" y="3296595"/>
            <a:ext cx="567660" cy="567660"/>
          </a:xfrm>
          <a:prstGeom prst="ellipse">
            <a:avLst/>
          </a:prstGeom>
          <a:solidFill>
            <a:srgbClr val="0B1F3A"/>
          </a:solidFill>
          <a:ln w="9525">
            <a:solidFill>
              <a:srgbClr val="FFFFFF"/>
            </a:solidFill>
          </a:ln>
        </p:spPr>
        <p:txBody>
          <a:bodyPr rtlCol="0" anchor="ctr" lIns="0" rIns="0" tIns="0" bIns="0"/>
          <a:lstStyle/>
          <a:p>
            <a:pPr algn="ctr"/>
          </a:p>
        </p:txBody>
      </p:sp>
      <p:sp>
        <p:nvSpPr>
          <p:cNvPr id="20" name="cpe|exhibit|label|19"/>
          <p:cNvSpPr txBox="1"/>
          <p:nvPr/>
        </p:nvSpPr>
        <p:spPr>
          <a:xfrm>
            <a:off x="4563830" y="3470697"/>
            <a:ext cx="814217"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B</a:t>
            </a:r>
          </a:p>
        </p:txBody>
      </p:sp>
      <p:sp>
        <p:nvSpPr>
          <p:cNvPr id="21" name="cpe|exhibit|marker|20"/>
          <p:cNvSpPr/>
          <p:nvPr/>
        </p:nvSpPr>
        <p:spPr>
          <a:xfrm>
            <a:off x="5713789" y="4340127"/>
            <a:ext cx="538362" cy="538362"/>
          </a:xfrm>
          <a:prstGeom prst="ellipse">
            <a:avLst/>
          </a:prstGeom>
          <a:solidFill>
            <a:srgbClr val="0B1F3A"/>
          </a:solidFill>
          <a:ln w="9525">
            <a:solidFill>
              <a:srgbClr val="FFFFFF"/>
            </a:solidFill>
          </a:ln>
        </p:spPr>
        <p:txBody>
          <a:bodyPr rtlCol="0" anchor="ctr" lIns="0" rIns="0" tIns="0" bIns="0"/>
          <a:lstStyle/>
          <a:p>
            <a:pPr algn="ctr"/>
          </a:p>
        </p:txBody>
      </p:sp>
      <p:sp>
        <p:nvSpPr>
          <p:cNvPr id="22" name="cpe|exhibit|label|21"/>
          <p:cNvSpPr txBox="1"/>
          <p:nvPr/>
        </p:nvSpPr>
        <p:spPr>
          <a:xfrm>
            <a:off x="4870001" y="4499580"/>
            <a:ext cx="807212"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A</a:t>
            </a:r>
          </a:p>
        </p:txBody>
      </p:sp>
      <p:sp>
        <p:nvSpPr>
          <p:cNvPr id="23" name="cpe|exhibit|marker|22"/>
          <p:cNvSpPr/>
          <p:nvPr/>
        </p:nvSpPr>
        <p:spPr>
          <a:xfrm>
            <a:off x="2242330" y="2928610"/>
            <a:ext cx="523098" cy="523098"/>
          </a:xfrm>
          <a:prstGeom prst="ellipse">
            <a:avLst/>
          </a:prstGeom>
          <a:solidFill>
            <a:srgbClr val="0B1F3A"/>
          </a:solidFill>
          <a:ln w="9525">
            <a:solidFill>
              <a:srgbClr val="FFFFFF"/>
            </a:solidFill>
          </a:ln>
        </p:spPr>
        <p:txBody>
          <a:bodyPr rtlCol="0" anchor="ctr" lIns="0" rIns="0" tIns="0" bIns="0"/>
          <a:lstStyle/>
          <a:p>
            <a:pPr algn="ctr"/>
          </a:p>
        </p:txBody>
      </p:sp>
      <p:sp>
        <p:nvSpPr>
          <p:cNvPr id="24" name="cpe|exhibit|label|23"/>
          <p:cNvSpPr txBox="1"/>
          <p:nvPr/>
        </p:nvSpPr>
        <p:spPr>
          <a:xfrm>
            <a:off x="2802004" y="3080431"/>
            <a:ext cx="821222"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C</a:t>
            </a:r>
          </a:p>
        </p:txBody>
      </p:sp>
      <p:sp>
        <p:nvSpPr>
          <p:cNvPr id="25" name="cpe|exhibit|marker|24"/>
          <p:cNvSpPr/>
          <p:nvPr/>
        </p:nvSpPr>
        <p:spPr>
          <a:xfrm>
            <a:off x="2877744" y="4007120"/>
            <a:ext cx="494801" cy="494801"/>
          </a:xfrm>
          <a:prstGeom prst="ellipse">
            <a:avLst/>
          </a:prstGeom>
          <a:solidFill>
            <a:srgbClr val="00A3AD"/>
          </a:solidFill>
          <a:ln w="9525">
            <a:solidFill>
              <a:srgbClr val="FFFFFF"/>
            </a:solidFill>
          </a:ln>
        </p:spPr>
        <p:txBody>
          <a:bodyPr rtlCol="0" anchor="ctr" lIns="0" rIns="0" tIns="0" bIns="0"/>
          <a:lstStyle/>
          <a:p>
            <a:pPr algn="ctr"/>
          </a:p>
        </p:txBody>
      </p:sp>
      <p:sp>
        <p:nvSpPr>
          <p:cNvPr id="26" name="cpe|exhibit|label|25"/>
          <p:cNvSpPr txBox="1"/>
          <p:nvPr/>
        </p:nvSpPr>
        <p:spPr>
          <a:xfrm>
            <a:off x="3409122" y="4144792"/>
            <a:ext cx="433118" cy="219456"/>
          </a:xfrm>
          <a:prstGeom prst="rect">
            <a:avLst/>
          </a:prstGeom>
          <a:noFill/>
        </p:spPr>
        <p:txBody>
          <a:bodyPr wrap="square" lIns="0" rIns="0" tIns="0" bIns="0" anchor="ctr">
            <a:noAutofit/>
          </a:bodyPr>
          <a:lstStyle/>
          <a:p>
            <a:pPr algn="l">
              <a:lnSpc>
                <a:spcPct val="100000"/>
              </a:lnSpc>
            </a:pPr>
            <a:r>
              <a:rPr sz="1000" b="1">
                <a:solidFill>
                  <a:srgbClr val="1E252D"/>
                </a:solidFill>
                <a:latin typeface="Arial"/>
              </a:rPr>
              <a:t>Alvora</a:t>
            </a:r>
          </a:p>
        </p:txBody>
      </p:sp>
      <p:sp>
        <p:nvSpPr>
          <p:cNvPr id="27" name="cpe|exhibit|marker|26"/>
          <p:cNvSpPr/>
          <p:nvPr/>
        </p:nvSpPr>
        <p:spPr>
          <a:xfrm>
            <a:off x="4576111" y="2742003"/>
            <a:ext cx="328653" cy="328653"/>
          </a:xfrm>
          <a:prstGeom prst="ellipse">
            <a:avLst/>
          </a:prstGeom>
          <a:solidFill>
            <a:srgbClr val="0B1F3A"/>
          </a:solidFill>
          <a:ln w="9525">
            <a:solidFill>
              <a:srgbClr val="FFFFFF"/>
            </a:solidFill>
          </a:ln>
        </p:spPr>
        <p:txBody>
          <a:bodyPr rtlCol="0" anchor="ctr" lIns="0" rIns="0" tIns="0" bIns="0"/>
          <a:lstStyle/>
          <a:p>
            <a:pPr algn="ctr"/>
          </a:p>
        </p:txBody>
      </p:sp>
      <p:sp>
        <p:nvSpPr>
          <p:cNvPr id="28" name="cpe|exhibit|label|27"/>
          <p:cNvSpPr txBox="1"/>
          <p:nvPr/>
        </p:nvSpPr>
        <p:spPr>
          <a:xfrm>
            <a:off x="4941339" y="2796601"/>
            <a:ext cx="1181346"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Online pure-players</a:t>
            </a:r>
          </a:p>
        </p:txBody>
      </p:sp>
      <p:cxnSp>
        <p:nvCxnSpPr>
          <p:cNvPr id="29" name="cpe|commentary|line|28"/>
          <p:cNvCxnSpPr/>
          <p:nvPr/>
        </p:nvCxnSpPr>
        <p:spPr>
          <a:xfrm>
            <a:off x="7145350" y="1481328"/>
            <a:ext cx="0" cy="4718304"/>
          </a:xfrm>
          <a:prstGeom prst="line">
            <a:avLst/>
          </a:prstGeom>
          <a:ln w="9525">
            <a:solidFill>
              <a:srgbClr val="B7BFC8"/>
            </a:solidFill>
          </a:ln>
        </p:spPr>
      </p:cxnSp>
      <p:sp>
        <p:nvSpPr>
          <p:cNvPr id="30" name="cpe|commentary|text|29"/>
          <p:cNvSpPr txBox="1"/>
          <p:nvPr/>
        </p:nvSpPr>
        <p:spPr>
          <a:xfrm>
            <a:off x="7373950" y="1481328"/>
            <a:ext cx="4314825"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Alvora's prices sit </a:t>
            </a:r>
            <a:r>
              <a:rPr sz="1200" b="1">
                <a:solidFill>
                  <a:srgbClr val="1E252D"/>
                </a:solidFill>
                <a:latin typeface="Arial"/>
              </a:rPr>
              <a:t>8% above</a:t>
            </a:r>
            <a:r>
              <a:rPr sz="1200" b="0">
                <a:solidFill>
                  <a:srgbClr val="1E252D"/>
                </a:solidFill>
                <a:latin typeface="Arial"/>
              </a:rPr>
              <a:t> Competitor A on a comparable basket</a:t>
            </a:r>
          </a:p>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Its experience score trails B and C on freshness and queues</a:t>
            </a:r>
          </a:p>
          <a:p>
            <a:pPr algn="l" marL="155448" indent="-155448">
              <a:lnSpc>
                <a:spcPct val="108000"/>
              </a:lnSpc>
              <a:buClr>
                <a:srgbClr val="1E252D"/>
              </a:buClr>
              <a:buSzPct val="100000"/>
              <a:buFont typeface="Arial"/>
              <a:buChar char="•"/>
            </a:pPr>
            <a:r>
              <a:rPr sz="1200" b="0">
                <a:solidFill>
                  <a:srgbClr val="1E252D"/>
                </a:solidFill>
                <a:latin typeface="Arial"/>
              </a:rPr>
              <a:t>Winning back price perception needs a separate low-cost format, not deeper promotions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OPERATING MODEL</a:t>
            </a:r>
          </a:p>
        </p:txBody>
      </p:sp>
      <p:sp>
        <p:nvSpPr>
          <p:cNvPr id="3" name="cpe|chrome|text|2"/>
          <p:cNvSpPr txBox="1"/>
          <p:nvPr/>
        </p:nvSpPr>
        <p:spPr>
          <a:xfrm>
            <a:off x="502920" y="475488"/>
            <a:ext cx="10445191"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target model adds a discount banner and central pricing to fund the growth moves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Team analysis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9</a:t>
            </a:r>
          </a:p>
        </p:txBody>
      </p:sp>
      <p:sp>
        <p:nvSpPr>
          <p:cNvPr id="6" name="cpe|exhibit|fill|5"/>
          <p:cNvSpPr/>
          <p:nvPr/>
        </p:nvSpPr>
        <p:spPr>
          <a:xfrm>
            <a:off x="502920" y="1481328"/>
            <a:ext cx="2103120" cy="902970"/>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594360" y="1481328"/>
            <a:ext cx="1920240" cy="902970"/>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Propositions</a:t>
            </a:r>
          </a:p>
        </p:txBody>
      </p:sp>
      <p:sp>
        <p:nvSpPr>
          <p:cNvPr id="8" name="cpe|exhibit|fill|7"/>
          <p:cNvSpPr/>
          <p:nvPr/>
        </p:nvSpPr>
        <p:spPr>
          <a:xfrm>
            <a:off x="2697480" y="1481328"/>
            <a:ext cx="2032940" cy="902970"/>
          </a:xfrm>
          <a:prstGeom prst="rect">
            <a:avLst/>
          </a:prstGeom>
          <a:solidFill>
            <a:srgbClr val="00A3AD"/>
          </a:solidFill>
          <a:ln w="19050">
            <a:solidFill>
              <a:srgbClr val="00A3AD"/>
            </a:solidFill>
          </a:ln>
        </p:spPr>
        <p:txBody>
          <a:bodyPr rtlCol="0" anchor="ctr" lIns="0" rIns="0" tIns="0" bIns="0"/>
          <a:lstStyle/>
          <a:p>
            <a:pPr algn="ctr"/>
          </a:p>
        </p:txBody>
      </p:sp>
      <p:sp>
        <p:nvSpPr>
          <p:cNvPr id="9" name="cpe|exhibit|text|8"/>
          <p:cNvSpPr txBox="1"/>
          <p:nvPr/>
        </p:nvSpPr>
        <p:spPr>
          <a:xfrm>
            <a:off x="2752344" y="1481328"/>
            <a:ext cx="192321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Discount banner</a:t>
            </a:r>
          </a:p>
        </p:txBody>
      </p:sp>
      <p:sp>
        <p:nvSpPr>
          <p:cNvPr id="10" name="cpe|exhibit|fill|9"/>
          <p:cNvSpPr/>
          <p:nvPr/>
        </p:nvSpPr>
        <p:spPr>
          <a:xfrm>
            <a:off x="4803572" y="1481328"/>
            <a:ext cx="2032940" cy="902970"/>
          </a:xfrm>
          <a:prstGeom prst="rect">
            <a:avLst/>
          </a:prstGeom>
          <a:solidFill>
            <a:srgbClr val="EEF1F4"/>
          </a:solidFill>
          <a:ln>
            <a:noFill/>
          </a:ln>
        </p:spPr>
        <p:txBody>
          <a:bodyPr rtlCol="0" anchor="ctr" lIns="0" rIns="0" tIns="0" bIns="0"/>
          <a:lstStyle/>
          <a:p>
            <a:pPr algn="ctr"/>
          </a:p>
        </p:txBody>
      </p:sp>
      <p:sp>
        <p:nvSpPr>
          <p:cNvPr id="11" name="cpe|exhibit|text|10"/>
          <p:cNvSpPr txBox="1"/>
          <p:nvPr/>
        </p:nvSpPr>
        <p:spPr>
          <a:xfrm>
            <a:off x="4858436" y="1481328"/>
            <a:ext cx="192321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Supermarkets</a:t>
            </a:r>
          </a:p>
        </p:txBody>
      </p:sp>
      <p:sp>
        <p:nvSpPr>
          <p:cNvPr id="12" name="cpe|exhibit|fill|11"/>
          <p:cNvSpPr/>
          <p:nvPr/>
        </p:nvSpPr>
        <p:spPr>
          <a:xfrm>
            <a:off x="6909664" y="1481328"/>
            <a:ext cx="2032940" cy="902970"/>
          </a:xfrm>
          <a:prstGeom prst="rect">
            <a:avLst/>
          </a:prstGeom>
          <a:solidFill>
            <a:srgbClr val="EEF1F4"/>
          </a:solidFill>
          <a:ln>
            <a:noFill/>
          </a:ln>
        </p:spPr>
        <p:txBody>
          <a:bodyPr rtlCol="0" anchor="ctr" lIns="0" rIns="0" tIns="0" bIns="0"/>
          <a:lstStyle/>
          <a:p>
            <a:pPr algn="ctr"/>
          </a:p>
        </p:txBody>
      </p:sp>
      <p:sp>
        <p:nvSpPr>
          <p:cNvPr id="13" name="cpe|exhibit|text|12"/>
          <p:cNvSpPr txBox="1"/>
          <p:nvPr/>
        </p:nvSpPr>
        <p:spPr>
          <a:xfrm>
            <a:off x="6964528" y="1481328"/>
            <a:ext cx="192321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Convenience</a:t>
            </a:r>
          </a:p>
        </p:txBody>
      </p:sp>
      <p:sp>
        <p:nvSpPr>
          <p:cNvPr id="14" name="cpe|exhibit|fill|13"/>
          <p:cNvSpPr/>
          <p:nvPr/>
        </p:nvSpPr>
        <p:spPr>
          <a:xfrm>
            <a:off x="9015755" y="1481328"/>
            <a:ext cx="2032940" cy="902970"/>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5" name="cpe|exhibit|text|14"/>
          <p:cNvSpPr txBox="1"/>
          <p:nvPr/>
        </p:nvSpPr>
        <p:spPr>
          <a:xfrm>
            <a:off x="9070619" y="1481328"/>
            <a:ext cx="192321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Online</a:t>
            </a:r>
          </a:p>
        </p:txBody>
      </p:sp>
      <p:sp>
        <p:nvSpPr>
          <p:cNvPr id="16" name="cpe|exhibit|fill|15"/>
          <p:cNvSpPr/>
          <p:nvPr/>
        </p:nvSpPr>
        <p:spPr>
          <a:xfrm>
            <a:off x="502920" y="2475738"/>
            <a:ext cx="2103120" cy="902970"/>
          </a:xfrm>
          <a:prstGeom prst="rect">
            <a:avLst/>
          </a:prstGeom>
          <a:solidFill>
            <a:srgbClr val="3D6399"/>
          </a:solidFill>
          <a:ln>
            <a:noFill/>
          </a:ln>
        </p:spPr>
        <p:txBody>
          <a:bodyPr rtlCol="0" anchor="ctr" lIns="0" rIns="0" tIns="0" bIns="0"/>
          <a:lstStyle/>
          <a:p>
            <a:pPr algn="ctr"/>
          </a:p>
        </p:txBody>
      </p:sp>
      <p:sp>
        <p:nvSpPr>
          <p:cNvPr id="17" name="cpe|exhibit|text|16"/>
          <p:cNvSpPr txBox="1"/>
          <p:nvPr/>
        </p:nvSpPr>
        <p:spPr>
          <a:xfrm>
            <a:off x="594360" y="2475738"/>
            <a:ext cx="1920240" cy="902970"/>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Commercial</a:t>
            </a:r>
          </a:p>
        </p:txBody>
      </p:sp>
      <p:sp>
        <p:nvSpPr>
          <p:cNvPr id="18" name="cpe|exhibit|fill|17"/>
          <p:cNvSpPr/>
          <p:nvPr/>
        </p:nvSpPr>
        <p:spPr>
          <a:xfrm>
            <a:off x="2697480" y="2475738"/>
            <a:ext cx="2734970" cy="902970"/>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9" name="cpe|exhibit|text|18"/>
          <p:cNvSpPr txBox="1"/>
          <p:nvPr/>
        </p:nvSpPr>
        <p:spPr>
          <a:xfrm>
            <a:off x="2752344" y="247573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Central pricing &amp; promo</a:t>
            </a:r>
          </a:p>
        </p:txBody>
      </p:sp>
      <p:sp>
        <p:nvSpPr>
          <p:cNvPr id="20" name="cpe|exhibit|fill|19"/>
          <p:cNvSpPr/>
          <p:nvPr/>
        </p:nvSpPr>
        <p:spPr>
          <a:xfrm>
            <a:off x="5505602" y="2475738"/>
            <a:ext cx="2734970" cy="902970"/>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21" name="cpe|exhibit|text|20"/>
          <p:cNvSpPr txBox="1"/>
          <p:nvPr/>
        </p:nvSpPr>
        <p:spPr>
          <a:xfrm>
            <a:off x="5560466" y="247573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Category management</a:t>
            </a:r>
          </a:p>
        </p:txBody>
      </p:sp>
      <p:sp>
        <p:nvSpPr>
          <p:cNvPr id="22" name="cpe|exhibit|fill|21"/>
          <p:cNvSpPr/>
          <p:nvPr/>
        </p:nvSpPr>
        <p:spPr>
          <a:xfrm>
            <a:off x="8313725" y="2475738"/>
            <a:ext cx="2734970" cy="902970"/>
          </a:xfrm>
          <a:prstGeom prst="rect">
            <a:avLst/>
          </a:prstGeom>
          <a:solidFill>
            <a:srgbClr val="EEF1F4"/>
          </a:solidFill>
          <a:ln w="19050">
            <a:solidFill>
              <a:srgbClr val="00A3AD"/>
            </a:solidFill>
          </a:ln>
        </p:spPr>
        <p:txBody>
          <a:bodyPr rtlCol="0" anchor="ctr" lIns="0" rIns="0" tIns="0" bIns="0"/>
          <a:lstStyle/>
          <a:p>
            <a:pPr algn="ctr"/>
          </a:p>
        </p:txBody>
      </p:sp>
      <p:sp>
        <p:nvSpPr>
          <p:cNvPr id="23" name="cpe|exhibit|text|22"/>
          <p:cNvSpPr txBox="1"/>
          <p:nvPr/>
        </p:nvSpPr>
        <p:spPr>
          <a:xfrm>
            <a:off x="8368589" y="247573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Private label</a:t>
            </a:r>
          </a:p>
        </p:txBody>
      </p:sp>
      <p:sp>
        <p:nvSpPr>
          <p:cNvPr id="24" name="cpe|exhibit|fill|23"/>
          <p:cNvSpPr/>
          <p:nvPr/>
        </p:nvSpPr>
        <p:spPr>
          <a:xfrm>
            <a:off x="502920" y="3470148"/>
            <a:ext cx="2103120" cy="902970"/>
          </a:xfrm>
          <a:prstGeom prst="rect">
            <a:avLst/>
          </a:prstGeom>
          <a:solidFill>
            <a:srgbClr val="3D6399"/>
          </a:solidFill>
          <a:ln>
            <a:noFill/>
          </a:ln>
        </p:spPr>
        <p:txBody>
          <a:bodyPr rtlCol="0" anchor="ctr" lIns="0" rIns="0" tIns="0" bIns="0"/>
          <a:lstStyle/>
          <a:p>
            <a:pPr algn="ctr"/>
          </a:p>
        </p:txBody>
      </p:sp>
      <p:sp>
        <p:nvSpPr>
          <p:cNvPr id="25" name="cpe|exhibit|text|24"/>
          <p:cNvSpPr txBox="1"/>
          <p:nvPr/>
        </p:nvSpPr>
        <p:spPr>
          <a:xfrm>
            <a:off x="594360" y="3470148"/>
            <a:ext cx="1920240" cy="902970"/>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Operations</a:t>
            </a:r>
          </a:p>
        </p:txBody>
      </p:sp>
      <p:sp>
        <p:nvSpPr>
          <p:cNvPr id="26" name="cpe|exhibit|fill|25"/>
          <p:cNvSpPr/>
          <p:nvPr/>
        </p:nvSpPr>
        <p:spPr>
          <a:xfrm>
            <a:off x="2697480" y="3470148"/>
            <a:ext cx="2734970" cy="902970"/>
          </a:xfrm>
          <a:prstGeom prst="rect">
            <a:avLst/>
          </a:prstGeom>
          <a:solidFill>
            <a:srgbClr val="EEF1F4"/>
          </a:solidFill>
          <a:ln>
            <a:noFill/>
          </a:ln>
        </p:spPr>
        <p:txBody>
          <a:bodyPr rtlCol="0" anchor="ctr" lIns="0" rIns="0" tIns="0" bIns="0"/>
          <a:lstStyle/>
          <a:p>
            <a:pPr algn="ctr"/>
          </a:p>
        </p:txBody>
      </p:sp>
      <p:sp>
        <p:nvSpPr>
          <p:cNvPr id="27" name="cpe|exhibit|text|26"/>
          <p:cNvSpPr txBox="1"/>
          <p:nvPr/>
        </p:nvSpPr>
        <p:spPr>
          <a:xfrm>
            <a:off x="2752344" y="347014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Stores</a:t>
            </a:r>
          </a:p>
        </p:txBody>
      </p:sp>
      <p:sp>
        <p:nvSpPr>
          <p:cNvPr id="28" name="cpe|exhibit|fill|27"/>
          <p:cNvSpPr/>
          <p:nvPr/>
        </p:nvSpPr>
        <p:spPr>
          <a:xfrm>
            <a:off x="5505602" y="3470148"/>
            <a:ext cx="2734970" cy="902970"/>
          </a:xfrm>
          <a:prstGeom prst="rect">
            <a:avLst/>
          </a:prstGeom>
          <a:solidFill>
            <a:srgbClr val="EEF1F4"/>
          </a:solidFill>
          <a:ln>
            <a:noFill/>
          </a:ln>
        </p:spPr>
        <p:txBody>
          <a:bodyPr rtlCol="0" anchor="ctr" lIns="0" rIns="0" tIns="0" bIns="0"/>
          <a:lstStyle/>
          <a:p>
            <a:pPr algn="ctr"/>
          </a:p>
        </p:txBody>
      </p:sp>
      <p:sp>
        <p:nvSpPr>
          <p:cNvPr id="29" name="cpe|exhibit|text|28"/>
          <p:cNvSpPr txBox="1"/>
          <p:nvPr/>
        </p:nvSpPr>
        <p:spPr>
          <a:xfrm>
            <a:off x="5560466" y="347014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Supply chain</a:t>
            </a:r>
          </a:p>
        </p:txBody>
      </p:sp>
      <p:sp>
        <p:nvSpPr>
          <p:cNvPr id="30" name="cpe|exhibit|fill|29"/>
          <p:cNvSpPr/>
          <p:nvPr/>
        </p:nvSpPr>
        <p:spPr>
          <a:xfrm>
            <a:off x="8313725" y="3470148"/>
            <a:ext cx="2734970" cy="902970"/>
          </a:xfrm>
          <a:prstGeom prst="rect">
            <a:avLst/>
          </a:prstGeom>
          <a:solidFill>
            <a:srgbClr val="EEF1F4"/>
          </a:solidFill>
          <a:ln w="19050">
            <a:solidFill>
              <a:srgbClr val="00A3AD"/>
            </a:solidFill>
          </a:ln>
        </p:spPr>
        <p:txBody>
          <a:bodyPr rtlCol="0" anchor="ctr" lIns="0" rIns="0" tIns="0" bIns="0"/>
          <a:lstStyle/>
          <a:p>
            <a:pPr algn="ctr"/>
          </a:p>
        </p:txBody>
      </p:sp>
      <p:sp>
        <p:nvSpPr>
          <p:cNvPr id="31" name="cpe|exhibit|text|30"/>
          <p:cNvSpPr txBox="1"/>
          <p:nvPr/>
        </p:nvSpPr>
        <p:spPr>
          <a:xfrm>
            <a:off x="8368589" y="347014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Fulfilment hubs</a:t>
            </a:r>
          </a:p>
        </p:txBody>
      </p:sp>
      <p:sp>
        <p:nvSpPr>
          <p:cNvPr id="32" name="cpe|exhibit|fill|31"/>
          <p:cNvSpPr/>
          <p:nvPr/>
        </p:nvSpPr>
        <p:spPr>
          <a:xfrm>
            <a:off x="502920" y="4464558"/>
            <a:ext cx="2103120" cy="902970"/>
          </a:xfrm>
          <a:prstGeom prst="rect">
            <a:avLst/>
          </a:prstGeom>
          <a:solidFill>
            <a:srgbClr val="3D6399"/>
          </a:solidFill>
          <a:ln>
            <a:noFill/>
          </a:ln>
        </p:spPr>
        <p:txBody>
          <a:bodyPr rtlCol="0" anchor="ctr" lIns="0" rIns="0" tIns="0" bIns="0"/>
          <a:lstStyle/>
          <a:p>
            <a:pPr algn="ctr"/>
          </a:p>
        </p:txBody>
      </p:sp>
      <p:sp>
        <p:nvSpPr>
          <p:cNvPr id="33" name="cpe|exhibit|text|32"/>
          <p:cNvSpPr txBox="1"/>
          <p:nvPr/>
        </p:nvSpPr>
        <p:spPr>
          <a:xfrm>
            <a:off x="594360" y="4464558"/>
            <a:ext cx="1920240" cy="902970"/>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Enablers</a:t>
            </a:r>
          </a:p>
        </p:txBody>
      </p:sp>
      <p:sp>
        <p:nvSpPr>
          <p:cNvPr id="34" name="cpe|exhibit|fill|33"/>
          <p:cNvSpPr/>
          <p:nvPr/>
        </p:nvSpPr>
        <p:spPr>
          <a:xfrm>
            <a:off x="2697480" y="4464558"/>
            <a:ext cx="2734970" cy="902970"/>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35" name="cpe|exhibit|text|34"/>
          <p:cNvSpPr txBox="1"/>
          <p:nvPr/>
        </p:nvSpPr>
        <p:spPr>
          <a:xfrm>
            <a:off x="2752344" y="446455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Data &amp; analytics</a:t>
            </a:r>
          </a:p>
        </p:txBody>
      </p:sp>
      <p:sp>
        <p:nvSpPr>
          <p:cNvPr id="36" name="cpe|exhibit|fill|35"/>
          <p:cNvSpPr/>
          <p:nvPr/>
        </p:nvSpPr>
        <p:spPr>
          <a:xfrm>
            <a:off x="5505602" y="4464558"/>
            <a:ext cx="2734970" cy="902970"/>
          </a:xfrm>
          <a:prstGeom prst="rect">
            <a:avLst/>
          </a:prstGeom>
          <a:solidFill>
            <a:srgbClr val="EEF1F4"/>
          </a:solidFill>
          <a:ln>
            <a:noFill/>
          </a:ln>
        </p:spPr>
        <p:txBody>
          <a:bodyPr rtlCol="0" anchor="ctr" lIns="0" rIns="0" tIns="0" bIns="0"/>
          <a:lstStyle/>
          <a:p>
            <a:pPr algn="ctr"/>
          </a:p>
        </p:txBody>
      </p:sp>
      <p:sp>
        <p:nvSpPr>
          <p:cNvPr id="37" name="cpe|exhibit|text|36"/>
          <p:cNvSpPr txBox="1"/>
          <p:nvPr/>
        </p:nvSpPr>
        <p:spPr>
          <a:xfrm>
            <a:off x="5560466" y="446455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Technology</a:t>
            </a:r>
          </a:p>
        </p:txBody>
      </p:sp>
      <p:sp>
        <p:nvSpPr>
          <p:cNvPr id="38" name="cpe|exhibit|fill|37"/>
          <p:cNvSpPr/>
          <p:nvPr/>
        </p:nvSpPr>
        <p:spPr>
          <a:xfrm>
            <a:off x="8313725" y="4464558"/>
            <a:ext cx="2734970" cy="902970"/>
          </a:xfrm>
          <a:prstGeom prst="rect">
            <a:avLst/>
          </a:prstGeom>
          <a:solidFill>
            <a:srgbClr val="EEF1F4"/>
          </a:solidFill>
          <a:ln>
            <a:noFill/>
          </a:ln>
        </p:spPr>
        <p:txBody>
          <a:bodyPr rtlCol="0" anchor="ctr" lIns="0" rIns="0" tIns="0" bIns="0"/>
          <a:lstStyle/>
          <a:p>
            <a:pPr algn="ctr"/>
          </a:p>
        </p:txBody>
      </p:sp>
      <p:sp>
        <p:nvSpPr>
          <p:cNvPr id="39" name="cpe|exhibit|text|38"/>
          <p:cNvSpPr txBox="1"/>
          <p:nvPr/>
        </p:nvSpPr>
        <p:spPr>
          <a:xfrm>
            <a:off x="8368589" y="446455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People &amp; capabilities</a:t>
            </a:r>
          </a:p>
        </p:txBody>
      </p:sp>
      <p:sp>
        <p:nvSpPr>
          <p:cNvPr id="40" name="cpe|exhibit|fill|39"/>
          <p:cNvSpPr/>
          <p:nvPr/>
        </p:nvSpPr>
        <p:spPr>
          <a:xfrm>
            <a:off x="11121847" y="1481328"/>
            <a:ext cx="566928" cy="3886200"/>
          </a:xfrm>
          <a:prstGeom prst="rect">
            <a:avLst/>
          </a:prstGeom>
          <a:solidFill>
            <a:srgbClr val="F4F6F8"/>
          </a:solidFill>
          <a:ln w="6350">
            <a:solidFill>
              <a:srgbClr val="B7BFC8"/>
            </a:solidFill>
          </a:ln>
        </p:spPr>
        <p:txBody>
          <a:bodyPr rtlCol="0" anchor="ctr" lIns="0" rIns="0" tIns="0" bIns="0"/>
          <a:lstStyle/>
          <a:p>
            <a:pPr algn="ctr"/>
          </a:p>
        </p:txBody>
      </p:sp>
      <p:sp>
        <p:nvSpPr>
          <p:cNvPr id="41" name="cpe|exhibit|vtext|40"/>
          <p:cNvSpPr txBox="1"/>
          <p:nvPr/>
        </p:nvSpPr>
        <p:spPr>
          <a:xfrm>
            <a:off x="11121847" y="1572768"/>
            <a:ext cx="566928" cy="3703320"/>
          </a:xfrm>
          <a:prstGeom prst="rect">
            <a:avLst/>
          </a:prstGeom>
          <a:noFill/>
        </p:spPr>
        <p:txBody>
          <a:bodyPr wrap="square" lIns="0" rIns="0" tIns="0" bIns="0" anchor="ctr" vert="vert270">
            <a:noAutofit/>
          </a:bodyPr>
          <a:lstStyle/>
          <a:p>
            <a:pPr algn="ctr">
              <a:lnSpc>
                <a:spcPct val="100000"/>
              </a:lnSpc>
            </a:pPr>
            <a:r>
              <a:rPr sz="1200" b="1">
                <a:solidFill>
                  <a:srgbClr val="1E252D"/>
                </a:solidFill>
                <a:latin typeface="Arial"/>
              </a:rPr>
              <a:t>Transformation office</a:t>
            </a:r>
          </a:p>
        </p:txBody>
      </p:sp>
      <p:cxnSp>
        <p:nvCxnSpPr>
          <p:cNvPr id="42" name="cpe|commentary|line|41"/>
          <p:cNvCxnSpPr/>
          <p:nvPr/>
        </p:nvCxnSpPr>
        <p:spPr>
          <a:xfrm>
            <a:off x="502920" y="5568696"/>
            <a:ext cx="11185855" cy="0"/>
          </a:xfrm>
          <a:prstGeom prst="line">
            <a:avLst/>
          </a:prstGeom>
          <a:ln w="9525">
            <a:solidFill>
              <a:srgbClr val="B7BFC8"/>
            </a:solidFill>
          </a:ln>
        </p:spPr>
      </p:cxnSp>
      <p:sp>
        <p:nvSpPr>
          <p:cNvPr id="43" name="cpe|commentary|text|42"/>
          <p:cNvSpPr txBox="1"/>
          <p:nvPr/>
        </p:nvSpPr>
        <p:spPr>
          <a:xfrm>
            <a:off x="502920" y="5705856"/>
            <a:ext cx="3594506" cy="493776"/>
          </a:xfrm>
          <a:prstGeom prst="rect">
            <a:avLst/>
          </a:prstGeom>
          <a:noFill/>
        </p:spPr>
        <p:txBody>
          <a:bodyPr wrap="square" lIns="0" rIns="0" tIns="0" bIns="0" anchor="t">
            <a:noAutofit/>
          </a:bodyPr>
          <a:lstStyle/>
          <a:p>
            <a:pPr algn="l">
              <a:lnSpc>
                <a:spcPct val="100000"/>
              </a:lnSpc>
            </a:pPr>
            <a:r>
              <a:rPr sz="1200" b="1">
                <a:solidFill>
                  <a:srgbClr val="1E252D"/>
                </a:solidFill>
                <a:latin typeface="Arial"/>
              </a:rPr>
              <a:t>New:</a:t>
            </a:r>
            <a:r>
              <a:rPr sz="1200" b="0">
                <a:solidFill>
                  <a:srgbClr val="1E252D"/>
                </a:solidFill>
                <a:latin typeface="Arial"/>
              </a:rPr>
              <a:t> discount banner, private label, fulfilment hubs</a:t>
            </a:r>
          </a:p>
        </p:txBody>
      </p:sp>
      <p:sp>
        <p:nvSpPr>
          <p:cNvPr id="44" name="cpe|commentary|text|43"/>
          <p:cNvSpPr txBox="1"/>
          <p:nvPr/>
        </p:nvSpPr>
        <p:spPr>
          <a:xfrm>
            <a:off x="4298594" y="5705856"/>
            <a:ext cx="3594506" cy="493776"/>
          </a:xfrm>
          <a:prstGeom prst="rect">
            <a:avLst/>
          </a:prstGeom>
          <a:noFill/>
        </p:spPr>
        <p:txBody>
          <a:bodyPr wrap="square" lIns="0" rIns="0" tIns="0" bIns="0" anchor="t">
            <a:noAutofit/>
          </a:bodyPr>
          <a:lstStyle/>
          <a:p>
            <a:pPr algn="l">
              <a:lnSpc>
                <a:spcPct val="100000"/>
              </a:lnSpc>
            </a:pPr>
            <a:r>
              <a:rPr sz="1200" b="1">
                <a:solidFill>
                  <a:srgbClr val="1E252D"/>
                </a:solidFill>
                <a:latin typeface="Arial"/>
              </a:rPr>
              <a:t>Changed:</a:t>
            </a:r>
            <a:r>
              <a:rPr sz="1200" b="0">
                <a:solidFill>
                  <a:srgbClr val="1E252D"/>
                </a:solidFill>
                <a:latin typeface="Arial"/>
              </a:rPr>
              <a:t> pricing moves to the centre; category teams own margin</a:t>
            </a:r>
          </a:p>
        </p:txBody>
      </p:sp>
      <p:sp>
        <p:nvSpPr>
          <p:cNvPr id="45" name="cpe|commentary|text|44"/>
          <p:cNvSpPr txBox="1"/>
          <p:nvPr/>
        </p:nvSpPr>
        <p:spPr>
          <a:xfrm>
            <a:off x="8094269" y="5705856"/>
            <a:ext cx="3594506" cy="493776"/>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A transformation office steers the programme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ROADMAP</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000" b="1">
                <a:solidFill>
                  <a:srgbClr val="0B1F3A"/>
                </a:solidFill>
                <a:latin typeface="Arial"/>
              </a:rPr>
              <a:t>A plan in three waves over 24 months secures quick margin wins in pricing, fresh and costs before we scale the discount banner, the private label range and the online fulfilment hubs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Programme plan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10</a:t>
            </a:r>
          </a:p>
        </p:txBody>
      </p:sp>
      <p:sp>
        <p:nvSpPr>
          <p:cNvPr id="6" name="cpe|exhibit|fill|5"/>
          <p:cNvSpPr/>
          <p:nvPr/>
        </p:nvSpPr>
        <p:spPr>
          <a:xfrm>
            <a:off x="3310128" y="1481328"/>
            <a:ext cx="3112275" cy="274320"/>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3346704" y="1481328"/>
            <a:ext cx="3039123"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1: Fix margins</a:t>
            </a:r>
          </a:p>
        </p:txBody>
      </p:sp>
      <p:sp>
        <p:nvSpPr>
          <p:cNvPr id="8" name="cpe|exhibit|fill|7"/>
          <p:cNvSpPr/>
          <p:nvPr/>
        </p:nvSpPr>
        <p:spPr>
          <a:xfrm>
            <a:off x="6458979" y="1481328"/>
            <a:ext cx="2062658" cy="274320"/>
          </a:xfrm>
          <a:prstGeom prst="rect">
            <a:avLst/>
          </a:prstGeom>
          <a:solidFill>
            <a:srgbClr val="0B1F3A"/>
          </a:solidFill>
          <a:ln>
            <a:noFill/>
          </a:ln>
        </p:spPr>
        <p:txBody>
          <a:bodyPr rtlCol="0" anchor="ctr" lIns="0" rIns="0" tIns="0" bIns="0"/>
          <a:lstStyle/>
          <a:p>
            <a:pPr algn="ctr"/>
          </a:p>
        </p:txBody>
      </p:sp>
      <p:sp>
        <p:nvSpPr>
          <p:cNvPr id="9" name="cpe|exhibit|text|8"/>
          <p:cNvSpPr txBox="1"/>
          <p:nvPr/>
        </p:nvSpPr>
        <p:spPr>
          <a:xfrm>
            <a:off x="6495555" y="1481328"/>
            <a:ext cx="1989506"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2: Pilot</a:t>
            </a:r>
          </a:p>
        </p:txBody>
      </p:sp>
      <p:sp>
        <p:nvSpPr>
          <p:cNvPr id="10" name="cpe|exhibit|fill|9"/>
          <p:cNvSpPr/>
          <p:nvPr/>
        </p:nvSpPr>
        <p:spPr>
          <a:xfrm>
            <a:off x="8558212" y="1481328"/>
            <a:ext cx="3112275" cy="274320"/>
          </a:xfrm>
          <a:prstGeom prst="rect">
            <a:avLst/>
          </a:prstGeom>
          <a:solidFill>
            <a:srgbClr val="0B1F3A"/>
          </a:solidFill>
          <a:ln>
            <a:noFill/>
          </a:ln>
        </p:spPr>
        <p:txBody>
          <a:bodyPr rtlCol="0" anchor="ctr" lIns="0" rIns="0" tIns="0" bIns="0"/>
          <a:lstStyle/>
          <a:p>
            <a:pPr algn="ctr"/>
          </a:p>
        </p:txBody>
      </p:sp>
      <p:sp>
        <p:nvSpPr>
          <p:cNvPr id="11" name="cpe|exhibit|text|10"/>
          <p:cNvSpPr txBox="1"/>
          <p:nvPr/>
        </p:nvSpPr>
        <p:spPr>
          <a:xfrm>
            <a:off x="8594788" y="1481328"/>
            <a:ext cx="3039123"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3: Scale</a:t>
            </a:r>
          </a:p>
        </p:txBody>
      </p:sp>
      <p:sp>
        <p:nvSpPr>
          <p:cNvPr id="12" name="cpe|exhibit|text|11"/>
          <p:cNvSpPr txBox="1"/>
          <p:nvPr/>
        </p:nvSpPr>
        <p:spPr>
          <a:xfrm>
            <a:off x="3291840"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Q1 26</a:t>
            </a:r>
          </a:p>
        </p:txBody>
      </p:sp>
      <p:sp>
        <p:nvSpPr>
          <p:cNvPr id="13" name="cpe|exhibit|text|12"/>
          <p:cNvSpPr txBox="1"/>
          <p:nvPr/>
        </p:nvSpPr>
        <p:spPr>
          <a:xfrm>
            <a:off x="4341457"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Q2 26</a:t>
            </a:r>
          </a:p>
        </p:txBody>
      </p:sp>
      <p:sp>
        <p:nvSpPr>
          <p:cNvPr id="14" name="cpe|exhibit|text|13"/>
          <p:cNvSpPr txBox="1"/>
          <p:nvPr/>
        </p:nvSpPr>
        <p:spPr>
          <a:xfrm>
            <a:off x="5391074"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Q3 26</a:t>
            </a:r>
          </a:p>
        </p:txBody>
      </p:sp>
      <p:sp>
        <p:nvSpPr>
          <p:cNvPr id="15" name="cpe|exhibit|text|14"/>
          <p:cNvSpPr txBox="1"/>
          <p:nvPr/>
        </p:nvSpPr>
        <p:spPr>
          <a:xfrm>
            <a:off x="6440691"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Q4 26</a:t>
            </a:r>
          </a:p>
        </p:txBody>
      </p:sp>
      <p:sp>
        <p:nvSpPr>
          <p:cNvPr id="16" name="cpe|exhibit|text|15"/>
          <p:cNvSpPr txBox="1"/>
          <p:nvPr/>
        </p:nvSpPr>
        <p:spPr>
          <a:xfrm>
            <a:off x="7490308"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Q1 27</a:t>
            </a:r>
          </a:p>
        </p:txBody>
      </p:sp>
      <p:sp>
        <p:nvSpPr>
          <p:cNvPr id="17" name="cpe|exhibit|text|16"/>
          <p:cNvSpPr txBox="1"/>
          <p:nvPr/>
        </p:nvSpPr>
        <p:spPr>
          <a:xfrm>
            <a:off x="8539924"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Q2 27</a:t>
            </a:r>
          </a:p>
        </p:txBody>
      </p:sp>
      <p:sp>
        <p:nvSpPr>
          <p:cNvPr id="18" name="cpe|exhibit|text|17"/>
          <p:cNvSpPr txBox="1"/>
          <p:nvPr/>
        </p:nvSpPr>
        <p:spPr>
          <a:xfrm>
            <a:off x="9589541"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Q3 27</a:t>
            </a:r>
          </a:p>
        </p:txBody>
      </p:sp>
      <p:sp>
        <p:nvSpPr>
          <p:cNvPr id="19" name="cpe|exhibit|text|18"/>
          <p:cNvSpPr txBox="1"/>
          <p:nvPr/>
        </p:nvSpPr>
        <p:spPr>
          <a:xfrm>
            <a:off x="10639158"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Q4 27</a:t>
            </a:r>
          </a:p>
        </p:txBody>
      </p:sp>
      <p:cxnSp>
        <p:nvCxnSpPr>
          <p:cNvPr id="20" name="cpe|exhibit|line|19"/>
          <p:cNvCxnSpPr/>
          <p:nvPr/>
        </p:nvCxnSpPr>
        <p:spPr>
          <a:xfrm>
            <a:off x="502920" y="2121408"/>
            <a:ext cx="11185855" cy="0"/>
          </a:xfrm>
          <a:prstGeom prst="line">
            <a:avLst/>
          </a:prstGeom>
          <a:ln w="9525">
            <a:solidFill>
              <a:srgbClr val="0B1F3A"/>
            </a:solidFill>
          </a:ln>
        </p:spPr>
      </p:cxnSp>
      <p:cxnSp>
        <p:nvCxnSpPr>
          <p:cNvPr id="21" name="cpe|exhibit|line|20"/>
          <p:cNvCxnSpPr/>
          <p:nvPr/>
        </p:nvCxnSpPr>
        <p:spPr>
          <a:xfrm>
            <a:off x="4341457" y="2121408"/>
            <a:ext cx="0" cy="3401568"/>
          </a:xfrm>
          <a:prstGeom prst="line">
            <a:avLst/>
          </a:prstGeom>
          <a:ln w="6350">
            <a:solidFill>
              <a:srgbClr val="E3E7EB"/>
            </a:solidFill>
          </a:ln>
        </p:spPr>
      </p:cxnSp>
      <p:cxnSp>
        <p:nvCxnSpPr>
          <p:cNvPr id="22" name="cpe|exhibit|line|21"/>
          <p:cNvCxnSpPr/>
          <p:nvPr/>
        </p:nvCxnSpPr>
        <p:spPr>
          <a:xfrm>
            <a:off x="5391074" y="2121408"/>
            <a:ext cx="0" cy="3401568"/>
          </a:xfrm>
          <a:prstGeom prst="line">
            <a:avLst/>
          </a:prstGeom>
          <a:ln w="6350">
            <a:solidFill>
              <a:srgbClr val="E3E7EB"/>
            </a:solidFill>
          </a:ln>
        </p:spPr>
      </p:cxnSp>
      <p:cxnSp>
        <p:nvCxnSpPr>
          <p:cNvPr id="23" name="cpe|exhibit|line|22"/>
          <p:cNvCxnSpPr/>
          <p:nvPr/>
        </p:nvCxnSpPr>
        <p:spPr>
          <a:xfrm>
            <a:off x="6440691" y="2121408"/>
            <a:ext cx="0" cy="3401568"/>
          </a:xfrm>
          <a:prstGeom prst="line">
            <a:avLst/>
          </a:prstGeom>
          <a:ln w="6350">
            <a:solidFill>
              <a:srgbClr val="E3E7EB"/>
            </a:solidFill>
          </a:ln>
        </p:spPr>
      </p:cxnSp>
      <p:cxnSp>
        <p:nvCxnSpPr>
          <p:cNvPr id="24" name="cpe|exhibit|line|23"/>
          <p:cNvCxnSpPr/>
          <p:nvPr/>
        </p:nvCxnSpPr>
        <p:spPr>
          <a:xfrm>
            <a:off x="7490308" y="2121408"/>
            <a:ext cx="0" cy="3401568"/>
          </a:xfrm>
          <a:prstGeom prst="line">
            <a:avLst/>
          </a:prstGeom>
          <a:ln w="6350">
            <a:solidFill>
              <a:srgbClr val="E3E7EB"/>
            </a:solidFill>
          </a:ln>
        </p:spPr>
      </p:cxnSp>
      <p:cxnSp>
        <p:nvCxnSpPr>
          <p:cNvPr id="25" name="cpe|exhibit|line|24"/>
          <p:cNvCxnSpPr/>
          <p:nvPr/>
        </p:nvCxnSpPr>
        <p:spPr>
          <a:xfrm>
            <a:off x="8539924" y="2121408"/>
            <a:ext cx="0" cy="3401568"/>
          </a:xfrm>
          <a:prstGeom prst="line">
            <a:avLst/>
          </a:prstGeom>
          <a:ln w="6350">
            <a:solidFill>
              <a:srgbClr val="E3E7EB"/>
            </a:solidFill>
          </a:ln>
        </p:spPr>
      </p:cxnSp>
      <p:cxnSp>
        <p:nvCxnSpPr>
          <p:cNvPr id="26" name="cpe|exhibit|line|25"/>
          <p:cNvCxnSpPr/>
          <p:nvPr/>
        </p:nvCxnSpPr>
        <p:spPr>
          <a:xfrm>
            <a:off x="9589541" y="2121408"/>
            <a:ext cx="0" cy="3401568"/>
          </a:xfrm>
          <a:prstGeom prst="line">
            <a:avLst/>
          </a:prstGeom>
          <a:ln w="6350">
            <a:solidFill>
              <a:srgbClr val="E3E7EB"/>
            </a:solidFill>
          </a:ln>
        </p:spPr>
      </p:cxnSp>
      <p:cxnSp>
        <p:nvCxnSpPr>
          <p:cNvPr id="27" name="cpe|exhibit|line|26"/>
          <p:cNvCxnSpPr/>
          <p:nvPr/>
        </p:nvCxnSpPr>
        <p:spPr>
          <a:xfrm>
            <a:off x="10639158" y="2121408"/>
            <a:ext cx="0" cy="3401568"/>
          </a:xfrm>
          <a:prstGeom prst="line">
            <a:avLst/>
          </a:prstGeom>
          <a:ln w="6350">
            <a:solidFill>
              <a:srgbClr val="E3E7EB"/>
            </a:solidFill>
          </a:ln>
        </p:spPr>
      </p:cxnSp>
      <p:cxnSp>
        <p:nvCxnSpPr>
          <p:cNvPr id="28" name="cpe|exhibit|connector|27"/>
          <p:cNvCxnSpPr/>
          <p:nvPr/>
        </p:nvCxnSpPr>
        <p:spPr>
          <a:xfrm>
            <a:off x="3816648" y="2075688"/>
            <a:ext cx="0" cy="3447288"/>
          </a:xfrm>
          <a:prstGeom prst="line">
            <a:avLst/>
          </a:prstGeom>
          <a:ln w="9525">
            <a:solidFill>
              <a:srgbClr val="00A3AD"/>
            </a:solidFill>
            <a:prstDash val="dash"/>
          </a:ln>
        </p:spPr>
      </p:cxnSp>
      <p:sp>
        <p:nvSpPr>
          <p:cNvPr id="29" name="cpe|exhibit|label|28"/>
          <p:cNvSpPr txBox="1"/>
          <p:nvPr/>
        </p:nvSpPr>
        <p:spPr>
          <a:xfrm>
            <a:off x="3359448" y="5541264"/>
            <a:ext cx="914400" cy="201168"/>
          </a:xfrm>
          <a:prstGeom prst="rect">
            <a:avLst/>
          </a:prstGeom>
          <a:noFill/>
        </p:spPr>
        <p:txBody>
          <a:bodyPr wrap="square" lIns="0" rIns="0" tIns="0" bIns="0" anchor="t">
            <a:noAutofit/>
          </a:bodyPr>
          <a:lstStyle/>
          <a:p>
            <a:pPr algn="ctr">
              <a:lnSpc>
                <a:spcPct val="100000"/>
              </a:lnSpc>
            </a:pPr>
            <a:r>
              <a:rPr sz="900" b="1">
                <a:solidFill>
                  <a:srgbClr val="5E6A77"/>
                </a:solidFill>
                <a:latin typeface="Arial"/>
              </a:rPr>
              <a:t>Today</a:t>
            </a:r>
          </a:p>
        </p:txBody>
      </p:sp>
      <p:sp>
        <p:nvSpPr>
          <p:cNvPr id="30" name="cpe|exhibit|text|29"/>
          <p:cNvSpPr txBox="1"/>
          <p:nvPr/>
        </p:nvSpPr>
        <p:spPr>
          <a:xfrm>
            <a:off x="502920" y="2121408"/>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Pricing &amp; promo reset</a:t>
            </a:r>
          </a:p>
        </p:txBody>
      </p:sp>
      <p:sp>
        <p:nvSpPr>
          <p:cNvPr id="31" name="cpe|exhibit|fill|30"/>
          <p:cNvSpPr/>
          <p:nvPr/>
        </p:nvSpPr>
        <p:spPr>
          <a:xfrm>
            <a:off x="3319272" y="2257471"/>
            <a:ext cx="3093987" cy="294803"/>
          </a:xfrm>
          <a:prstGeom prst="rect">
            <a:avLst/>
          </a:prstGeom>
          <a:solidFill>
            <a:srgbClr val="3D6399"/>
          </a:solidFill>
          <a:ln>
            <a:noFill/>
          </a:ln>
        </p:spPr>
        <p:txBody>
          <a:bodyPr rtlCol="0" anchor="ctr" lIns="0" rIns="0" tIns="0" bIns="0"/>
          <a:lstStyle/>
          <a:p>
            <a:pPr algn="ctr"/>
          </a:p>
        </p:txBody>
      </p:sp>
      <p:sp>
        <p:nvSpPr>
          <p:cNvPr id="32" name="cpe|exhibit|text|31"/>
          <p:cNvSpPr txBox="1"/>
          <p:nvPr/>
        </p:nvSpPr>
        <p:spPr>
          <a:xfrm>
            <a:off x="3374136" y="2257471"/>
            <a:ext cx="298425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Reset 1,200 SKUs</a:t>
            </a:r>
          </a:p>
        </p:txBody>
      </p:sp>
      <p:cxnSp>
        <p:nvCxnSpPr>
          <p:cNvPr id="33" name="cpe|exhibit|line|32"/>
          <p:cNvCxnSpPr/>
          <p:nvPr/>
        </p:nvCxnSpPr>
        <p:spPr>
          <a:xfrm>
            <a:off x="502920" y="2688336"/>
            <a:ext cx="11185855" cy="0"/>
          </a:xfrm>
          <a:prstGeom prst="line">
            <a:avLst/>
          </a:prstGeom>
          <a:ln w="6350">
            <a:solidFill>
              <a:srgbClr val="E3E7EB"/>
            </a:solidFill>
          </a:ln>
        </p:spPr>
      </p:cxnSp>
      <p:sp>
        <p:nvSpPr>
          <p:cNvPr id="34" name="cpe|exhibit|text|33"/>
          <p:cNvSpPr txBox="1"/>
          <p:nvPr/>
        </p:nvSpPr>
        <p:spPr>
          <a:xfrm>
            <a:off x="502920" y="2688336"/>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Fresh &amp; food-to-go margins</a:t>
            </a:r>
          </a:p>
        </p:txBody>
      </p:sp>
      <p:sp>
        <p:nvSpPr>
          <p:cNvPr id="35" name="cpe|exhibit|fill|34"/>
          <p:cNvSpPr/>
          <p:nvPr/>
        </p:nvSpPr>
        <p:spPr>
          <a:xfrm>
            <a:off x="3319272" y="2824399"/>
            <a:ext cx="4143604" cy="294803"/>
          </a:xfrm>
          <a:prstGeom prst="rect">
            <a:avLst/>
          </a:prstGeom>
          <a:solidFill>
            <a:srgbClr val="3D6399"/>
          </a:solidFill>
          <a:ln>
            <a:noFill/>
          </a:ln>
        </p:spPr>
        <p:txBody>
          <a:bodyPr rtlCol="0" anchor="ctr" lIns="0" rIns="0" tIns="0" bIns="0"/>
          <a:lstStyle/>
          <a:p>
            <a:pPr algn="ctr"/>
          </a:p>
        </p:txBody>
      </p:sp>
      <p:sp>
        <p:nvSpPr>
          <p:cNvPr id="36" name="cpe|exhibit|text|35"/>
          <p:cNvSpPr txBox="1"/>
          <p:nvPr/>
        </p:nvSpPr>
        <p:spPr>
          <a:xfrm>
            <a:off x="3374136" y="2824399"/>
            <a:ext cx="4033876"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Waste &amp; range</a:t>
            </a:r>
          </a:p>
        </p:txBody>
      </p:sp>
      <p:cxnSp>
        <p:nvCxnSpPr>
          <p:cNvPr id="37" name="cpe|exhibit|line|36"/>
          <p:cNvCxnSpPr/>
          <p:nvPr/>
        </p:nvCxnSpPr>
        <p:spPr>
          <a:xfrm>
            <a:off x="502920" y="3255264"/>
            <a:ext cx="11185855" cy="0"/>
          </a:xfrm>
          <a:prstGeom prst="line">
            <a:avLst/>
          </a:prstGeom>
          <a:ln w="6350">
            <a:solidFill>
              <a:srgbClr val="E3E7EB"/>
            </a:solidFill>
          </a:ln>
        </p:spPr>
      </p:cxnSp>
      <p:sp>
        <p:nvSpPr>
          <p:cNvPr id="38" name="cpe|exhibit|text|37"/>
          <p:cNvSpPr txBox="1"/>
          <p:nvPr/>
        </p:nvSpPr>
        <p:spPr>
          <a:xfrm>
            <a:off x="502920" y="3255264"/>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Cost programme</a:t>
            </a:r>
          </a:p>
        </p:txBody>
      </p:sp>
      <p:sp>
        <p:nvSpPr>
          <p:cNvPr id="39" name="cpe|exhibit|fill|38"/>
          <p:cNvSpPr/>
          <p:nvPr/>
        </p:nvSpPr>
        <p:spPr>
          <a:xfrm>
            <a:off x="4368889" y="3391327"/>
            <a:ext cx="6242837" cy="294803"/>
          </a:xfrm>
          <a:prstGeom prst="rect">
            <a:avLst/>
          </a:prstGeom>
          <a:solidFill>
            <a:srgbClr val="3D6399"/>
          </a:solidFill>
          <a:ln>
            <a:noFill/>
          </a:ln>
        </p:spPr>
        <p:txBody>
          <a:bodyPr rtlCol="0" anchor="ctr" lIns="0" rIns="0" tIns="0" bIns="0"/>
          <a:lstStyle/>
          <a:p>
            <a:pPr algn="ctr"/>
          </a:p>
        </p:txBody>
      </p:sp>
      <p:sp>
        <p:nvSpPr>
          <p:cNvPr id="40" name="cpe|exhibit|text|39"/>
          <p:cNvSpPr txBox="1"/>
          <p:nvPr/>
        </p:nvSpPr>
        <p:spPr>
          <a:xfrm>
            <a:off x="4423753" y="3391327"/>
            <a:ext cx="613310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Labour scheduling, energy</a:t>
            </a:r>
          </a:p>
        </p:txBody>
      </p:sp>
      <p:cxnSp>
        <p:nvCxnSpPr>
          <p:cNvPr id="41" name="cpe|exhibit|line|40"/>
          <p:cNvCxnSpPr/>
          <p:nvPr/>
        </p:nvCxnSpPr>
        <p:spPr>
          <a:xfrm>
            <a:off x="502920" y="3822192"/>
            <a:ext cx="11185855" cy="0"/>
          </a:xfrm>
          <a:prstGeom prst="line">
            <a:avLst/>
          </a:prstGeom>
          <a:ln w="6350">
            <a:solidFill>
              <a:srgbClr val="E3E7EB"/>
            </a:solidFill>
          </a:ln>
        </p:spPr>
      </p:cxnSp>
      <p:sp>
        <p:nvSpPr>
          <p:cNvPr id="42" name="cpe|exhibit|text|41"/>
          <p:cNvSpPr txBox="1"/>
          <p:nvPr/>
        </p:nvSpPr>
        <p:spPr>
          <a:xfrm>
            <a:off x="502920" y="3822192"/>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Private label</a:t>
            </a:r>
          </a:p>
        </p:txBody>
      </p:sp>
      <p:sp>
        <p:nvSpPr>
          <p:cNvPr id="43" name="cpe|exhibit|fill|42"/>
          <p:cNvSpPr/>
          <p:nvPr/>
        </p:nvSpPr>
        <p:spPr>
          <a:xfrm>
            <a:off x="5418506" y="3958255"/>
            <a:ext cx="6242837" cy="294803"/>
          </a:xfrm>
          <a:prstGeom prst="rect">
            <a:avLst/>
          </a:prstGeom>
          <a:solidFill>
            <a:srgbClr val="3D6399"/>
          </a:solidFill>
          <a:ln>
            <a:noFill/>
          </a:ln>
        </p:spPr>
        <p:txBody>
          <a:bodyPr rtlCol="0" anchor="ctr" lIns="0" rIns="0" tIns="0" bIns="0"/>
          <a:lstStyle/>
          <a:p>
            <a:pPr algn="ctr"/>
          </a:p>
        </p:txBody>
      </p:sp>
      <p:sp>
        <p:nvSpPr>
          <p:cNvPr id="44" name="cpe|exhibit|text|43"/>
          <p:cNvSpPr txBox="1"/>
          <p:nvPr/>
        </p:nvSpPr>
        <p:spPr>
          <a:xfrm>
            <a:off x="5473370" y="3958255"/>
            <a:ext cx="613310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25% → 35% of sales</a:t>
            </a:r>
          </a:p>
        </p:txBody>
      </p:sp>
      <p:cxnSp>
        <p:nvCxnSpPr>
          <p:cNvPr id="45" name="cpe|exhibit|line|44"/>
          <p:cNvCxnSpPr/>
          <p:nvPr/>
        </p:nvCxnSpPr>
        <p:spPr>
          <a:xfrm>
            <a:off x="502920" y="4389120"/>
            <a:ext cx="11185855" cy="0"/>
          </a:xfrm>
          <a:prstGeom prst="line">
            <a:avLst/>
          </a:prstGeom>
          <a:ln w="6350">
            <a:solidFill>
              <a:srgbClr val="E3E7EB"/>
            </a:solidFill>
          </a:ln>
        </p:spPr>
      </p:cxnSp>
      <p:sp>
        <p:nvSpPr>
          <p:cNvPr id="46" name="cpe|exhibit|text|45"/>
          <p:cNvSpPr txBox="1"/>
          <p:nvPr/>
        </p:nvSpPr>
        <p:spPr>
          <a:xfrm>
            <a:off x="502920" y="4389120"/>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Discount banner</a:t>
            </a:r>
          </a:p>
        </p:txBody>
      </p:sp>
      <p:sp>
        <p:nvSpPr>
          <p:cNvPr id="47" name="cpe|exhibit|fill|46"/>
          <p:cNvSpPr/>
          <p:nvPr/>
        </p:nvSpPr>
        <p:spPr>
          <a:xfrm>
            <a:off x="6468123" y="4604553"/>
            <a:ext cx="2044370" cy="294803"/>
          </a:xfrm>
          <a:prstGeom prst="rect">
            <a:avLst/>
          </a:prstGeom>
          <a:solidFill>
            <a:srgbClr val="00A3AD"/>
          </a:solidFill>
          <a:ln>
            <a:noFill/>
          </a:ln>
        </p:spPr>
        <p:txBody>
          <a:bodyPr rtlCol="0" anchor="ctr" lIns="0" rIns="0" tIns="0" bIns="0"/>
          <a:lstStyle/>
          <a:p>
            <a:pPr algn="ctr"/>
          </a:p>
        </p:txBody>
      </p:sp>
      <p:sp>
        <p:nvSpPr>
          <p:cNvPr id="48" name="cpe|exhibit|text|47"/>
          <p:cNvSpPr txBox="1"/>
          <p:nvPr/>
        </p:nvSpPr>
        <p:spPr>
          <a:xfrm>
            <a:off x="6522987" y="4604553"/>
            <a:ext cx="1934642" cy="294803"/>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Pilot 20 stores</a:t>
            </a:r>
          </a:p>
        </p:txBody>
      </p:sp>
      <p:sp>
        <p:nvSpPr>
          <p:cNvPr id="49" name="cpe|exhibit|fill|48"/>
          <p:cNvSpPr/>
          <p:nvPr/>
        </p:nvSpPr>
        <p:spPr>
          <a:xfrm>
            <a:off x="8567356" y="4604553"/>
            <a:ext cx="3093987" cy="294803"/>
          </a:xfrm>
          <a:prstGeom prst="rect">
            <a:avLst/>
          </a:prstGeom>
          <a:solidFill>
            <a:srgbClr val="3D6399"/>
          </a:solidFill>
          <a:ln>
            <a:noFill/>
          </a:ln>
        </p:spPr>
        <p:txBody>
          <a:bodyPr rtlCol="0" anchor="ctr" lIns="0" rIns="0" tIns="0" bIns="0"/>
          <a:lstStyle/>
          <a:p>
            <a:pPr algn="ctr"/>
          </a:p>
        </p:txBody>
      </p:sp>
      <p:sp>
        <p:nvSpPr>
          <p:cNvPr id="50" name="cpe|exhibit|text|49"/>
          <p:cNvSpPr txBox="1"/>
          <p:nvPr/>
        </p:nvSpPr>
        <p:spPr>
          <a:xfrm>
            <a:off x="8750236" y="4604553"/>
            <a:ext cx="2856243"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Roll out 150 stores</a:t>
            </a:r>
          </a:p>
        </p:txBody>
      </p:sp>
      <p:sp>
        <p:nvSpPr>
          <p:cNvPr id="51" name="cpe|exhibit|marker|50"/>
          <p:cNvSpPr/>
          <p:nvPr/>
        </p:nvSpPr>
        <p:spPr>
          <a:xfrm>
            <a:off x="8448484" y="4660514"/>
            <a:ext cx="182880" cy="182880"/>
          </a:xfrm>
          <a:prstGeom prst="diamond">
            <a:avLst/>
          </a:prstGeom>
          <a:solidFill>
            <a:srgbClr val="00A3AD"/>
          </a:solidFill>
          <a:ln w="9525">
            <a:solidFill>
              <a:srgbClr val="FFFFFF"/>
            </a:solidFill>
          </a:ln>
        </p:spPr>
        <p:txBody>
          <a:bodyPr rtlCol="0" anchor="ctr" lIns="0" rIns="0" tIns="0" bIns="0"/>
          <a:lstStyle/>
          <a:p>
            <a:pPr algn="ctr"/>
          </a:p>
        </p:txBody>
      </p:sp>
      <p:sp>
        <p:nvSpPr>
          <p:cNvPr id="52" name="cpe|exhibit|label|51"/>
          <p:cNvSpPr txBox="1"/>
          <p:nvPr/>
        </p:nvSpPr>
        <p:spPr>
          <a:xfrm>
            <a:off x="8224201" y="4403385"/>
            <a:ext cx="631448" cy="182880"/>
          </a:xfrm>
          <a:prstGeom prst="rect">
            <a:avLst/>
          </a:prstGeom>
          <a:noFill/>
        </p:spPr>
        <p:txBody>
          <a:bodyPr wrap="square" lIns="0" rIns="0" tIns="0" bIns="0" anchor="b">
            <a:noAutofit/>
          </a:bodyPr>
          <a:lstStyle/>
          <a:p>
            <a:pPr algn="ctr">
              <a:lnSpc>
                <a:spcPct val="100000"/>
              </a:lnSpc>
            </a:pPr>
            <a:r>
              <a:rPr sz="900" b="1">
                <a:solidFill>
                  <a:srgbClr val="1E252D"/>
                </a:solidFill>
                <a:latin typeface="Arial"/>
              </a:rPr>
              <a:t>Go / no-go</a:t>
            </a:r>
          </a:p>
        </p:txBody>
      </p:sp>
      <p:cxnSp>
        <p:nvCxnSpPr>
          <p:cNvPr id="53" name="cpe|exhibit|line|52"/>
          <p:cNvCxnSpPr/>
          <p:nvPr/>
        </p:nvCxnSpPr>
        <p:spPr>
          <a:xfrm>
            <a:off x="502920" y="4956048"/>
            <a:ext cx="11185855" cy="0"/>
          </a:xfrm>
          <a:prstGeom prst="line">
            <a:avLst/>
          </a:prstGeom>
          <a:ln w="6350">
            <a:solidFill>
              <a:srgbClr val="E3E7EB"/>
            </a:solidFill>
          </a:ln>
        </p:spPr>
      </p:cxnSp>
      <p:sp>
        <p:nvSpPr>
          <p:cNvPr id="54" name="cpe|exhibit|text|53"/>
          <p:cNvSpPr txBox="1"/>
          <p:nvPr/>
        </p:nvSpPr>
        <p:spPr>
          <a:xfrm>
            <a:off x="502920" y="4956048"/>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Online fulfilment hubs</a:t>
            </a:r>
          </a:p>
        </p:txBody>
      </p:sp>
      <p:sp>
        <p:nvSpPr>
          <p:cNvPr id="55" name="cpe|exhibit|fill|54"/>
          <p:cNvSpPr/>
          <p:nvPr/>
        </p:nvSpPr>
        <p:spPr>
          <a:xfrm>
            <a:off x="7517740" y="5092111"/>
            <a:ext cx="4143604" cy="294803"/>
          </a:xfrm>
          <a:prstGeom prst="rect">
            <a:avLst/>
          </a:prstGeom>
          <a:solidFill>
            <a:srgbClr val="3D6399"/>
          </a:solidFill>
          <a:ln>
            <a:noFill/>
          </a:ln>
        </p:spPr>
        <p:txBody>
          <a:bodyPr rtlCol="0" anchor="ctr" lIns="0" rIns="0" tIns="0" bIns="0"/>
          <a:lstStyle/>
          <a:p>
            <a:pPr algn="ctr"/>
          </a:p>
        </p:txBody>
      </p:sp>
      <p:sp>
        <p:nvSpPr>
          <p:cNvPr id="56" name="cpe|exhibit|text|55"/>
          <p:cNvSpPr txBox="1"/>
          <p:nvPr/>
        </p:nvSpPr>
        <p:spPr>
          <a:xfrm>
            <a:off x="7572604" y="5092111"/>
            <a:ext cx="4033876"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2 hubs</a:t>
            </a:r>
          </a:p>
        </p:txBody>
      </p:sp>
      <p:cxnSp>
        <p:nvCxnSpPr>
          <p:cNvPr id="57" name="cpe|exhibit|line|56"/>
          <p:cNvCxnSpPr/>
          <p:nvPr/>
        </p:nvCxnSpPr>
        <p:spPr>
          <a:xfrm>
            <a:off x="502920" y="5522976"/>
            <a:ext cx="11185855" cy="0"/>
          </a:xfrm>
          <a:prstGeom prst="line">
            <a:avLst/>
          </a:prstGeom>
          <a:ln w="6350">
            <a:solidFill>
              <a:srgbClr val="E3E7EB"/>
            </a:solidFill>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VALUE AT STAKE</a:t>
            </a:r>
          </a:p>
        </p:txBody>
      </p:sp>
      <p:sp>
        <p:nvSpPr>
          <p:cNvPr id="3" name="cpe|chrome|text|2"/>
          <p:cNvSpPr txBox="1"/>
          <p:nvPr/>
        </p:nvSpPr>
        <p:spPr>
          <a:xfrm>
            <a:off x="502920" y="475488"/>
            <a:ext cx="1052748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Five initiatives adding €250M lift EBITDA to €1,067M by 2028, net of €40M market headwinds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Initiative business cases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11</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EBITDA 2025 to 2028</a:t>
            </a:r>
            <a:r>
              <a:rPr sz="1100" b="0">
                <a:solidFill>
                  <a:srgbClr val="1E252D"/>
                </a:solidFill>
                <a:latin typeface="Arial"/>
              </a:rPr>
              <a:t>, €M</a:t>
            </a:r>
          </a:p>
        </p:txBody>
      </p:sp>
      <p:graphicFrame>
        <p:nvGraphicFramePr>
          <p:cNvPr id="7" name="cpe|exhibit|chart|6"/>
          <p:cNvGraphicFramePr>
            <a:graphicFrameLocks noGrp="1"/>
          </p:cNvGraphicFramePr>
          <p:nvPr/>
        </p:nvGraphicFramePr>
        <p:xfrm>
          <a:off x="502920" y="1901952"/>
          <a:ext cx="11185855" cy="3502152"/>
        </p:xfrm>
        <a:graphic>
          <a:graphicData uri="http://schemas.openxmlformats.org/drawingml/2006/chart">
            <c:chart xmlns:c="http://schemas.openxmlformats.org/drawingml/2006/chart" r:id="rId2"/>
          </a:graphicData>
        </a:graphic>
      </p:graphicFrame>
      <p:sp>
        <p:nvSpPr>
          <p:cNvPr id="8" name="cpe|exhibit|label|7"/>
          <p:cNvSpPr txBox="1"/>
          <p:nvPr/>
        </p:nvSpPr>
        <p:spPr>
          <a:xfrm>
            <a:off x="502920" y="3957860"/>
            <a:ext cx="1398232"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857</a:t>
            </a:r>
          </a:p>
        </p:txBody>
      </p:sp>
      <p:sp>
        <p:nvSpPr>
          <p:cNvPr id="9" name="cpe|exhibit|label|8"/>
          <p:cNvSpPr txBox="1"/>
          <p:nvPr/>
        </p:nvSpPr>
        <p:spPr>
          <a:xfrm>
            <a:off x="1901152" y="3605216"/>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+60</a:t>
            </a:r>
          </a:p>
        </p:txBody>
      </p:sp>
      <p:sp>
        <p:nvSpPr>
          <p:cNvPr id="10" name="cpe|exhibit|label|9"/>
          <p:cNvSpPr txBox="1"/>
          <p:nvPr/>
        </p:nvSpPr>
        <p:spPr>
          <a:xfrm>
            <a:off x="3299384" y="3340734"/>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+45</a:t>
            </a:r>
          </a:p>
        </p:txBody>
      </p:sp>
      <p:sp>
        <p:nvSpPr>
          <p:cNvPr id="11" name="cpe|exhibit|label|10"/>
          <p:cNvSpPr txBox="1"/>
          <p:nvPr/>
        </p:nvSpPr>
        <p:spPr>
          <a:xfrm>
            <a:off x="4697616" y="2929316"/>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+70</a:t>
            </a:r>
          </a:p>
        </p:txBody>
      </p:sp>
      <p:sp>
        <p:nvSpPr>
          <p:cNvPr id="12" name="cpe|exhibit|label|11"/>
          <p:cNvSpPr txBox="1"/>
          <p:nvPr/>
        </p:nvSpPr>
        <p:spPr>
          <a:xfrm>
            <a:off x="6095848" y="2606060"/>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+55</a:t>
            </a:r>
          </a:p>
        </p:txBody>
      </p:sp>
      <p:sp>
        <p:nvSpPr>
          <p:cNvPr id="13" name="cpe|exhibit|label|12"/>
          <p:cNvSpPr txBox="1"/>
          <p:nvPr/>
        </p:nvSpPr>
        <p:spPr>
          <a:xfrm>
            <a:off x="7494080" y="2488512"/>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+20</a:t>
            </a:r>
          </a:p>
        </p:txBody>
      </p:sp>
      <p:sp>
        <p:nvSpPr>
          <p:cNvPr id="14" name="cpe|exhibit|label|13"/>
          <p:cNvSpPr txBox="1"/>
          <p:nvPr/>
        </p:nvSpPr>
        <p:spPr>
          <a:xfrm>
            <a:off x="8892311" y="2488512"/>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−40</a:t>
            </a:r>
          </a:p>
        </p:txBody>
      </p:sp>
      <p:sp>
        <p:nvSpPr>
          <p:cNvPr id="15" name="cpe|exhibit|label|14"/>
          <p:cNvSpPr txBox="1"/>
          <p:nvPr/>
        </p:nvSpPr>
        <p:spPr>
          <a:xfrm>
            <a:off x="10290543" y="2723608"/>
            <a:ext cx="1398232"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1,067</a:t>
            </a:r>
          </a:p>
        </p:txBody>
      </p:sp>
      <p:cxnSp>
        <p:nvCxnSpPr>
          <p:cNvPr id="16" name="cpe|exhibit|connector|15"/>
          <p:cNvCxnSpPr/>
          <p:nvPr/>
        </p:nvCxnSpPr>
        <p:spPr>
          <a:xfrm>
            <a:off x="1684185" y="4223036"/>
            <a:ext cx="433934" cy="0"/>
          </a:xfrm>
          <a:prstGeom prst="line">
            <a:avLst/>
          </a:prstGeom>
          <a:ln w="6350">
            <a:solidFill>
              <a:srgbClr val="8A95A1"/>
            </a:solidFill>
          </a:ln>
        </p:spPr>
      </p:cxnSp>
      <p:cxnSp>
        <p:nvCxnSpPr>
          <p:cNvPr id="17" name="cpe|exhibit|connector|16"/>
          <p:cNvCxnSpPr/>
          <p:nvPr/>
        </p:nvCxnSpPr>
        <p:spPr>
          <a:xfrm>
            <a:off x="3082417" y="3870392"/>
            <a:ext cx="433934" cy="0"/>
          </a:xfrm>
          <a:prstGeom prst="line">
            <a:avLst/>
          </a:prstGeom>
          <a:ln w="6350">
            <a:solidFill>
              <a:srgbClr val="8A95A1"/>
            </a:solidFill>
          </a:ln>
        </p:spPr>
      </p:cxnSp>
      <p:cxnSp>
        <p:nvCxnSpPr>
          <p:cNvPr id="18" name="cpe|exhibit|connector|17"/>
          <p:cNvCxnSpPr/>
          <p:nvPr/>
        </p:nvCxnSpPr>
        <p:spPr>
          <a:xfrm>
            <a:off x="4480649" y="3605910"/>
            <a:ext cx="433934" cy="0"/>
          </a:xfrm>
          <a:prstGeom prst="line">
            <a:avLst/>
          </a:prstGeom>
          <a:ln w="6350">
            <a:solidFill>
              <a:srgbClr val="8A95A1"/>
            </a:solidFill>
          </a:ln>
        </p:spPr>
      </p:cxnSp>
      <p:cxnSp>
        <p:nvCxnSpPr>
          <p:cNvPr id="19" name="cpe|exhibit|connector|18"/>
          <p:cNvCxnSpPr/>
          <p:nvPr/>
        </p:nvCxnSpPr>
        <p:spPr>
          <a:xfrm>
            <a:off x="5878881" y="3194492"/>
            <a:ext cx="433934" cy="0"/>
          </a:xfrm>
          <a:prstGeom prst="line">
            <a:avLst/>
          </a:prstGeom>
          <a:ln w="6350">
            <a:solidFill>
              <a:srgbClr val="8A95A1"/>
            </a:solidFill>
          </a:ln>
        </p:spPr>
      </p:cxnSp>
      <p:cxnSp>
        <p:nvCxnSpPr>
          <p:cNvPr id="20" name="cpe|exhibit|connector|19"/>
          <p:cNvCxnSpPr/>
          <p:nvPr/>
        </p:nvCxnSpPr>
        <p:spPr>
          <a:xfrm>
            <a:off x="7277112" y="2871236"/>
            <a:ext cx="433935" cy="0"/>
          </a:xfrm>
          <a:prstGeom prst="line">
            <a:avLst/>
          </a:prstGeom>
          <a:ln w="6350">
            <a:solidFill>
              <a:srgbClr val="8A95A1"/>
            </a:solidFill>
          </a:ln>
        </p:spPr>
      </p:cxnSp>
      <p:cxnSp>
        <p:nvCxnSpPr>
          <p:cNvPr id="21" name="cpe|exhibit|connector|20"/>
          <p:cNvCxnSpPr/>
          <p:nvPr/>
        </p:nvCxnSpPr>
        <p:spPr>
          <a:xfrm>
            <a:off x="8675344" y="2753688"/>
            <a:ext cx="433934" cy="0"/>
          </a:xfrm>
          <a:prstGeom prst="line">
            <a:avLst/>
          </a:prstGeom>
          <a:ln w="6350">
            <a:solidFill>
              <a:srgbClr val="8A95A1"/>
            </a:solidFill>
          </a:ln>
        </p:spPr>
      </p:cxnSp>
      <p:cxnSp>
        <p:nvCxnSpPr>
          <p:cNvPr id="22" name="cpe|exhibit|connector|21"/>
          <p:cNvCxnSpPr/>
          <p:nvPr/>
        </p:nvCxnSpPr>
        <p:spPr>
          <a:xfrm>
            <a:off x="10073576" y="2988784"/>
            <a:ext cx="433934" cy="0"/>
          </a:xfrm>
          <a:prstGeom prst="line">
            <a:avLst/>
          </a:prstGeom>
          <a:ln w="6350">
            <a:solidFill>
              <a:srgbClr val="8A95A1"/>
            </a:solidFill>
          </a:ln>
        </p:spPr>
      </p:cxnSp>
      <p:sp>
        <p:nvSpPr>
          <p:cNvPr id="23" name="cpe|exhibit|marker|22"/>
          <p:cNvSpPr/>
          <p:nvPr/>
        </p:nvSpPr>
        <p:spPr>
          <a:xfrm>
            <a:off x="665023" y="4850735"/>
            <a:ext cx="1074026" cy="82296"/>
          </a:xfrm>
          <a:prstGeom prst="parallelogram">
            <a:avLst/>
          </a:prstGeom>
          <a:solidFill>
            <a:srgbClr val="FFFFFF"/>
          </a:solidFill>
          <a:ln>
            <a:noFill/>
          </a:ln>
        </p:spPr>
        <p:txBody>
          <a:bodyPr rtlCol="0" anchor="ctr" lIns="0" rIns="0" tIns="0" bIns="0"/>
          <a:lstStyle/>
          <a:p>
            <a:pPr algn="ctr"/>
          </a:p>
        </p:txBody>
      </p:sp>
      <p:sp>
        <p:nvSpPr>
          <p:cNvPr id="24" name="cpe|exhibit|marker|23"/>
          <p:cNvSpPr/>
          <p:nvPr/>
        </p:nvSpPr>
        <p:spPr>
          <a:xfrm>
            <a:off x="10452646" y="4850735"/>
            <a:ext cx="1074026" cy="82296"/>
          </a:xfrm>
          <a:prstGeom prst="parallelogram">
            <a:avLst/>
          </a:prstGeom>
          <a:solidFill>
            <a:srgbClr val="FFFFFF"/>
          </a:solidFill>
          <a:ln>
            <a:noFill/>
          </a:ln>
        </p:spPr>
        <p:txBody>
          <a:bodyPr rtlCol="0" anchor="ctr" lIns="0" rIns="0" tIns="0" bIns="0"/>
          <a:lstStyle/>
          <a:p>
            <a:pPr algn="ctr"/>
          </a:p>
        </p:txBody>
      </p:sp>
      <p:sp>
        <p:nvSpPr>
          <p:cNvPr id="25" name="cpe|takeaway|fill|24"/>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26" name="cpe|takeaway|fill|25"/>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27" name="cpe|takeaway|text|26"/>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Cost and pricing levers deliver €130M of the uplift and are largely within management control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DECISIONS</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board is asked to approve three decisions to start Wave 1 in January</a:t>
            </a:r>
          </a:p>
        </p:txBody>
      </p:sp>
      <p:sp>
        <p:nvSpPr>
          <p:cNvPr id="4" name="cpe|chrome|text|3"/>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12</a:t>
            </a:r>
          </a:p>
        </p:txBody>
      </p:sp>
      <p:sp>
        <p:nvSpPr>
          <p:cNvPr id="5" name="cpe|exhibit|text|4"/>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Decisions requested today</a:t>
            </a:r>
          </a:p>
        </p:txBody>
      </p:sp>
      <p:graphicFrame>
        <p:nvGraphicFramePr>
          <p:cNvPr id="6" name="cpe|exhibit|table|5"/>
          <p:cNvGraphicFramePr>
            <a:graphicFrameLocks noGrp="1"/>
          </p:cNvGraphicFramePr>
          <p:nvPr/>
        </p:nvGraphicFramePr>
        <p:xfrm>
          <a:off x="502920" y="1901952"/>
          <a:ext cx="11185855" cy="3491865"/>
        </p:xfrm>
        <a:graphic>
          <a:graphicData uri="http://schemas.openxmlformats.org/drawingml/2006/table">
            <a:tbl>
              <a:tblPr firstRow="0" bandRow="0">
                <a:tableStyleId>{2D5ABB26-0587-4C30-8999-92F81FD0307C}</a:tableStyleId>
              </a:tblPr>
              <a:tblGrid>
                <a:gridCol w="4206240"/>
                <a:gridCol w="2035429"/>
                <a:gridCol w="2200986"/>
                <a:gridCol w="1371600"/>
                <a:gridCol w="1371600"/>
              </a:tblGrid>
              <a:tr h="523494">
                <a:tc>
                  <a:txBody>
                    <a:bodyPr wrap="square"/>
                    <a:lstStyle/>
                    <a:p>
                      <a:pPr algn="l"/>
                      <a:r>
                        <a:rPr sz="1300" b="1">
                          <a:solidFill>
                            <a:srgbClr val="1E252D"/>
                          </a:solidFill>
                          <a:latin typeface="Arial"/>
                        </a:rPr>
                        <a:t>Decision</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300" b="1">
                          <a:solidFill>
                            <a:srgbClr val="1E252D"/>
                          </a:solidFill>
                          <a:latin typeface="Arial"/>
                        </a:rPr>
                        <a:t>Owner</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300" b="1">
                          <a:solidFill>
                            <a:srgbClr val="1E252D"/>
                          </a:solidFill>
                          <a:latin typeface="Arial"/>
                        </a:rPr>
                        <a:t>Timing</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EBITDA 2028 (€M)</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ctr"/>
                      <a:r>
                        <a:rPr sz="1300" b="1">
                          <a:solidFill>
                            <a:srgbClr val="1E252D"/>
                          </a:solidFill>
                          <a:latin typeface="Arial"/>
                        </a:rPr>
                        <a:t>Status</a:t>
                      </a:r>
                    </a:p>
                  </a:txBody>
                  <a:tcPr marL="73152" marR="73152" marT="41148" marB="41148" anchor="ctr">
                    <a:lnL w="0">
                      <a:noFill/>
                    </a:lnL>
                    <a:lnR w="0">
                      <a:noFill/>
                    </a:lnR>
                    <a:lnT w="0">
                      <a:noFill/>
                    </a:lnT>
                    <a:lnB w="12382" cap="flat">
                      <a:solidFill>
                        <a:srgbClr val="0B1F3A"/>
                      </a:solidFill>
                      <a:prstDash val="solid"/>
                    </a:lnB>
                    <a:noFill/>
                  </a:tcPr>
                </a:tc>
              </a:tr>
              <a:tr h="860679">
                <a:tc>
                  <a:txBody>
                    <a:bodyPr wrap="square"/>
                    <a:lstStyle/>
                    <a:p>
                      <a:pPr algn="l"/>
                      <a:r>
                        <a:rPr sz="1300" b="0">
                          <a:solidFill>
                            <a:srgbClr val="1E252D"/>
                          </a:solidFill>
                          <a:latin typeface="Arial"/>
                        </a:rPr>
                        <a:t>Approve pricing &amp; promo reset across 1,200 SKUs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CCO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Jan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60</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053846">
                <a:tc>
                  <a:txBody>
                    <a:bodyPr wrap="square"/>
                    <a:lstStyle/>
                    <a:p>
                      <a:pPr algn="l"/>
                      <a:r>
                        <a:rPr sz="1300" b="0">
                          <a:solidFill>
                            <a:srgbClr val="1E252D"/>
                          </a:solidFill>
                          <a:latin typeface="Arial"/>
                        </a:rPr>
                        <a:t>Approve discount banner pilot in 20 stores (€18M capex)</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CEO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Q4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55</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053846">
                <a:tc>
                  <a:txBody>
                    <a:bodyPr wrap="square"/>
                    <a:lstStyle/>
                    <a:p>
                      <a:pPr algn="l"/>
                      <a:r>
                        <a:rPr sz="1300" b="0">
                          <a:solidFill>
                            <a:srgbClr val="1E252D"/>
                          </a:solidFill>
                          <a:latin typeface="Arial"/>
                        </a:rPr>
                        <a:t>Approve €85M programme budget and transformation office</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300" b="0">
                          <a:solidFill>
                            <a:srgbClr val="1E252D"/>
                          </a:solidFill>
                          <a:latin typeface="Arial"/>
                        </a:rPr>
                        <a:t>CFO</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300" b="0">
                          <a:solidFill>
                            <a:srgbClr val="1E252D"/>
                          </a:solidFill>
                          <a:latin typeface="Arial"/>
                        </a:rPr>
                        <a:t>Jan 2026</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r"/>
                      <a:r>
                        <a:rPr sz="1300" b="0">
                          <a:solidFill>
                            <a:srgbClr val="1E252D"/>
                          </a:solidFill>
                          <a:latin typeface="Arial"/>
                        </a:rPr>
                        <a:t>135</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9525" cap="flat">
                      <a:solidFill>
                        <a:srgbClr val="B7BFC8"/>
                      </a:solidFill>
                      <a:prstDash val="solid"/>
                    </a:lnB>
                    <a:noFill/>
                  </a:tcPr>
                </a:tc>
              </a:tr>
            </a:tbl>
          </a:graphicData>
        </a:graphic>
      </p:graphicFrame>
      <p:sp>
        <p:nvSpPr>
          <p:cNvPr id="7" name="cpe|exhibit|marker|6"/>
          <p:cNvSpPr/>
          <p:nvPr/>
        </p:nvSpPr>
        <p:spPr>
          <a:xfrm>
            <a:off x="10884103" y="2736914"/>
            <a:ext cx="237744" cy="237744"/>
          </a:xfrm>
          <a:prstGeom prst="ellipse">
            <a:avLst/>
          </a:prstGeom>
          <a:solidFill>
            <a:srgbClr val="2E7D4F"/>
          </a:solidFill>
          <a:ln>
            <a:noFill/>
          </a:ln>
        </p:spPr>
        <p:txBody>
          <a:bodyPr rtlCol="0" anchor="ctr" lIns="0" rIns="0" tIns="0" bIns="0"/>
          <a:lstStyle/>
          <a:p>
            <a:pPr algn="ctr"/>
          </a:p>
        </p:txBody>
      </p:sp>
      <p:sp>
        <p:nvSpPr>
          <p:cNvPr id="8" name="cpe|exhibit|marker|7"/>
          <p:cNvSpPr/>
          <p:nvPr/>
        </p:nvSpPr>
        <p:spPr>
          <a:xfrm>
            <a:off x="10884103" y="3694176"/>
            <a:ext cx="237744" cy="237744"/>
          </a:xfrm>
          <a:prstGeom prst="ellipse">
            <a:avLst/>
          </a:prstGeom>
          <a:solidFill>
            <a:srgbClr val="D98E04"/>
          </a:solidFill>
          <a:ln>
            <a:noFill/>
          </a:ln>
        </p:spPr>
        <p:txBody>
          <a:bodyPr rtlCol="0" anchor="ctr" lIns="0" rIns="0" tIns="0" bIns="0"/>
          <a:lstStyle/>
          <a:p>
            <a:pPr algn="ctr"/>
          </a:p>
        </p:txBody>
      </p:sp>
      <p:sp>
        <p:nvSpPr>
          <p:cNvPr id="9" name="cpe|exhibit|marker|8"/>
          <p:cNvSpPr/>
          <p:nvPr/>
        </p:nvSpPr>
        <p:spPr>
          <a:xfrm>
            <a:off x="10884103" y="4748022"/>
            <a:ext cx="237744" cy="237744"/>
          </a:xfrm>
          <a:prstGeom prst="ellipse">
            <a:avLst/>
          </a:prstGeom>
          <a:solidFill>
            <a:srgbClr val="2E7D4F"/>
          </a:solidFill>
          <a:ln>
            <a:noFill/>
          </a:ln>
        </p:spPr>
        <p:txBody>
          <a:bodyPr rtlCol="0" anchor="ctr" lIns="0" rIns="0" tIns="0" bIns="0"/>
          <a:lstStyle/>
          <a:p>
            <a:pPr algn="ctr"/>
          </a:p>
        </p:txBody>
      </p:sp>
      <p:cxnSp>
        <p:nvCxnSpPr>
          <p:cNvPr id="10" name="cpe|commentary|line|9"/>
          <p:cNvCxnSpPr/>
          <p:nvPr/>
        </p:nvCxnSpPr>
        <p:spPr>
          <a:xfrm>
            <a:off x="502920" y="5709856"/>
            <a:ext cx="11185855" cy="0"/>
          </a:xfrm>
          <a:prstGeom prst="line">
            <a:avLst/>
          </a:prstGeom>
          <a:ln w="9525">
            <a:solidFill>
              <a:srgbClr val="B7BFC8"/>
            </a:solidFill>
          </a:ln>
        </p:spPr>
      </p:cxnSp>
      <p:sp>
        <p:nvSpPr>
          <p:cNvPr id="11" name="cpe|commentary|text|10"/>
          <p:cNvSpPr txBox="1"/>
          <p:nvPr/>
        </p:nvSpPr>
        <p:spPr>
          <a:xfrm>
            <a:off x="502920" y="5847016"/>
            <a:ext cx="5492344" cy="352616"/>
          </a:xfrm>
          <a:prstGeom prst="rect">
            <a:avLst/>
          </a:prstGeom>
          <a:noFill/>
        </p:spPr>
        <p:txBody>
          <a:bodyPr wrap="square" lIns="0" rIns="0" tIns="0" bIns="0" anchor="t">
            <a:noAutofit/>
          </a:bodyPr>
          <a:lstStyle/>
          <a:p>
            <a:pPr algn="l">
              <a:lnSpc>
                <a:spcPct val="100000"/>
              </a:lnSpc>
            </a:pPr>
            <a:r>
              <a:rPr sz="1450" b="0">
                <a:solidFill>
                  <a:srgbClr val="1E252D"/>
                </a:solidFill>
                <a:latin typeface="Arial"/>
              </a:rPr>
              <a:t>Wave 1 is self-funding by Q4 2026</a:t>
            </a:r>
          </a:p>
        </p:txBody>
      </p:sp>
      <p:sp>
        <p:nvSpPr>
          <p:cNvPr id="12" name="cpe|commentary|text|11"/>
          <p:cNvSpPr txBox="1"/>
          <p:nvPr/>
        </p:nvSpPr>
        <p:spPr>
          <a:xfrm>
            <a:off x="6196432" y="5847016"/>
            <a:ext cx="5492344" cy="352616"/>
          </a:xfrm>
          <a:prstGeom prst="rect">
            <a:avLst/>
          </a:prstGeom>
          <a:noFill/>
        </p:spPr>
        <p:txBody>
          <a:bodyPr wrap="square" lIns="0" rIns="0" tIns="0" bIns="0" anchor="t">
            <a:noAutofit/>
          </a:bodyPr>
          <a:lstStyle/>
          <a:p>
            <a:pPr algn="l">
              <a:lnSpc>
                <a:spcPct val="100000"/>
              </a:lnSpc>
            </a:pPr>
            <a:r>
              <a:rPr sz="1450" b="0">
                <a:solidFill>
                  <a:srgbClr val="1E252D"/>
                </a:solidFill>
                <a:latin typeface="Arial"/>
              </a:rPr>
              <a:t>The go / no-go on the banner comes back to the board in Q2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Repositioning Alvora for profitable growth</dc:title>
  <dc:subject>Alvora should reposition towards discount and fix category margins now to return EBITDA above €1bn by 2028</dc:subject>
  <dc:creator>Consulting Presentation Engine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