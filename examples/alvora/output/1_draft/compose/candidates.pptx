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6297"/>
          <c:y val="0.08298"/>
          <c:w val="0.87703"/>
          <c:h val="0.89702"/>
        </c:manualLayout>
      </c:layout>
      <c:barChart>
        <c:barDir val="bar"/>
        <c:grouping val="stacked"/>
        <c:ser>
          <c:idx val="0"/>
          <c:order val="0"/>
          <c:tx>
            <c:strRef>
              <c:f>Sheet1!$B$1</c:f>
              <c:strCache>
                <c:ptCount val="1"/>
                <c:pt idx="0">
                  <c:v>Discount</c:v>
                </c:pt>
              </c:strCache>
            </c:strRef>
          </c:tx>
          <c:spPr>
            <a:solidFill>
              <a:srgbClr val="0B1F3A"/>
            </a:solidFill>
            <a:ln w="9525">
              <a:solidFill>
                <a:srgbClr val="FFFFFF"/>
              </a:solidFill>
            </a:ln>
          </c:spPr>
          <c:dLbls>
            <c:numFmt formatCode="#,##0.0;-#,##0.0" sourceLinked="0"/>
            <c:txPr>
              <a:bodyPr/>
              <a:lstStyle/>
              <a:p>
                <a:pPr>
                  <a:defRPr sz="1050" b="0">
                    <a:solidFill>
                      <a:srgbClr val="FFFFFF"/>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28.2</c:v>
                </c:pt>
                <c:pt idx="1">
                  <c:v>30.4</c:v>
                </c:pt>
                <c:pt idx="2">
                  <c:v>32.8</c:v>
                </c:pt>
                <c:pt idx="3">
                  <c:v>35.3</c:v>
                </c:pt>
                <c:pt idx="4">
                  <c:v>38.0</c:v>
                </c:pt>
              </c:numCache>
            </c:numRef>
          </c:val>
        </c:ser>
        <c:ser>
          <c:idx val="1"/>
          <c:order val="1"/>
          <c:tx>
            <c:strRef>
              <c:f>Sheet1!$C$1</c:f>
              <c:strCache>
                <c:ptCount val="1"/>
                <c:pt idx="0">
                  <c:v>Supermarkets</c:v>
                </c:pt>
              </c:strCache>
            </c:strRef>
          </c:tx>
          <c:spPr>
            <a:solidFill>
              <a:srgbClr val="C9D0D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48.1</c:v>
                </c:pt>
                <c:pt idx="1">
                  <c:v>49.0</c:v>
                </c:pt>
                <c:pt idx="2">
                  <c:v>50.1</c:v>
                </c:pt>
                <c:pt idx="3">
                  <c:v>51.1</c:v>
                </c:pt>
                <c:pt idx="4">
                  <c:v>52.0</c:v>
                </c:pt>
              </c:numCache>
            </c:numRef>
          </c:val>
        </c:ser>
        <c:ser>
          <c:idx val="2"/>
          <c:order val="2"/>
          <c:tx>
            <c:strRef>
              <c:f>Sheet1!$D$1</c:f>
              <c:strCache>
                <c:ptCount val="1"/>
                <c:pt idx="0">
                  <c:v>Hypermarkets</c:v>
                </c:pt>
              </c:strCache>
            </c:strRef>
          </c:tx>
          <c:spPr>
            <a:solidFill>
              <a:srgbClr val="E3E7EB"/>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Sheet1!$D$2:$D$6</c:f>
              <c:numCache>
                <c:formatCode>General</c:formatCode>
                <c:ptCount val="5"/>
                <c:pt idx="0">
                  <c:v>25.2</c:v>
                </c:pt>
                <c:pt idx="1">
                  <c:v>24.9</c:v>
                </c:pt>
                <c:pt idx="2">
                  <c:v>24.6</c:v>
                </c:pt>
                <c:pt idx="3">
                  <c:v>24.3</c:v>
                </c:pt>
                <c:pt idx="4">
                  <c:v>24.0</c:v>
                </c:pt>
              </c:numCache>
            </c:numRef>
          </c:val>
        </c:ser>
        <c:ser>
          <c:idx val="3"/>
          <c:order val="3"/>
          <c:tx>
            <c:strRef>
              <c:f>Sheet1!$E$1</c:f>
              <c:strCache>
                <c:ptCount val="1"/>
                <c:pt idx="0">
                  <c:v>Convenience</c:v>
                </c:pt>
              </c:strCache>
            </c:strRef>
          </c:tx>
          <c:spPr>
            <a:solidFill>
              <a:srgbClr val="B7BFC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Sheet1!$E$2:$E$6</c:f>
              <c:numCache>
                <c:formatCode>General</c:formatCode>
                <c:ptCount val="5"/>
                <c:pt idx="0">
                  <c:v>11.5</c:v>
                </c:pt>
                <c:pt idx="1">
                  <c:v>12.1</c:v>
                </c:pt>
                <c:pt idx="2">
                  <c:v>12.7</c:v>
                </c:pt>
                <c:pt idx="3">
                  <c:v>13.3</c:v>
                </c:pt>
                <c:pt idx="4">
                  <c:v>14.0</c:v>
                </c:pt>
              </c:numCache>
            </c:numRef>
          </c:val>
        </c:ser>
        <c:ser>
          <c:idx val="4"/>
          <c:order val="4"/>
          <c:tx>
            <c:strRef>
              <c:f>Sheet1!$F$1</c:f>
              <c:strCache>
                <c:ptCount val="1"/>
                <c:pt idx="0">
                  <c:v>Online</c:v>
                </c:pt>
              </c:strCache>
            </c:strRef>
          </c:tx>
          <c:spPr>
            <a:solidFill>
              <a:srgbClr val="00A3AD"/>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Sheet1!$F$2:$F$6</c:f>
              <c:numCache>
                <c:formatCode>General</c:formatCode>
                <c:ptCount val="5"/>
                <c:pt idx="0">
                  <c:v>8.3</c:v>
                </c:pt>
                <c:pt idx="1">
                  <c:v>9.5</c:v>
                </c:pt>
                <c:pt idx="2">
                  <c:v>10.9</c:v>
                </c:pt>
                <c:pt idx="3">
                  <c:v>12.4</c:v>
                </c:pt>
                <c:pt idx="4">
                  <c:v>14.0</c:v>
                </c:pt>
              </c:numCache>
            </c:numRef>
          </c:val>
        </c:ser>
        <c:gapWidth val="55"/>
        <c:overlap val="100"/>
        <c:axId val="-2068027336"/>
        <c:axId val="-2113994440"/>
      </c:barChart>
      <c:catAx>
        <c:axId val="-2068027336"/>
        <c:scaling>
          <c:orientation val="maxMin"/>
        </c:scaling>
        <c:delete val="0"/>
        <c:axPos val="l"/>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180.0"/>
          <c:min val="0.0"/>
        </c:scaling>
        <c:delete/>
        <c:axPos val="b"/>
        <c:majorTickMark val="none"/>
        <c:minorTickMark val="none"/>
        <c:tickLblPos val="nextTo"/>
        <c:crossAx val="-2068027336"/>
        <c:crosses val="autoZero"/>
        <c:majorUnit val="5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416"/>
          <c:y val="0.12821"/>
          <c:w val="0.8984"/>
          <c:h val="0.85179"/>
        </c:manualLayout>
      </c:layout>
      <c:barChart>
        <c:barDir val="bar"/>
        <c:grouping val="stacked"/>
        <c:ser>
          <c:idx val="0"/>
          <c:order val="0"/>
          <c:tx>
            <c:strRef>
              <c:f>Sheet1!$B$1</c:f>
              <c:strCache>
                <c:ptCount val="1"/>
                <c:pt idx="0">
                  <c:v>Discount</c:v>
                </c:pt>
              </c:strCache>
            </c:strRef>
          </c:tx>
          <c:spPr>
            <a:solidFill>
              <a:srgbClr val="0B1F3A"/>
            </a:solidFill>
            <a:ln w="9525">
              <a:solidFill>
                <a:srgbClr val="FFFFFF"/>
              </a:solidFill>
            </a:ln>
          </c:spPr>
          <c:dLbls>
            <c:numFmt formatCode="#,##0.0;-#,##0.0" sourceLinked="0"/>
            <c:txPr>
              <a:bodyPr/>
              <a:lstStyle/>
              <a:p>
                <a:pPr>
                  <a:defRPr sz="1050" b="0">
                    <a:solidFill>
                      <a:srgbClr val="FFFFFF"/>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28.2</c:v>
                </c:pt>
                <c:pt idx="1">
                  <c:v>30.4</c:v>
                </c:pt>
                <c:pt idx="2">
                  <c:v>32.8</c:v>
                </c:pt>
                <c:pt idx="3">
                  <c:v>35.3</c:v>
                </c:pt>
                <c:pt idx="4">
                  <c:v>38.0</c:v>
                </c:pt>
              </c:numCache>
            </c:numRef>
          </c:val>
        </c:ser>
        <c:ser>
          <c:idx val="1"/>
          <c:order val="1"/>
          <c:tx>
            <c:strRef>
              <c:f>Sheet1!$C$1</c:f>
              <c:strCache>
                <c:ptCount val="1"/>
                <c:pt idx="0">
                  <c:v>Supermarkets</c:v>
                </c:pt>
              </c:strCache>
            </c:strRef>
          </c:tx>
          <c:spPr>
            <a:solidFill>
              <a:srgbClr val="C9D0D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48.1</c:v>
                </c:pt>
                <c:pt idx="1">
                  <c:v>49.0</c:v>
                </c:pt>
                <c:pt idx="2">
                  <c:v>50.1</c:v>
                </c:pt>
                <c:pt idx="3">
                  <c:v>51.1</c:v>
                </c:pt>
                <c:pt idx="4">
                  <c:v>52.0</c:v>
                </c:pt>
              </c:numCache>
            </c:numRef>
          </c:val>
        </c:ser>
        <c:ser>
          <c:idx val="2"/>
          <c:order val="2"/>
          <c:tx>
            <c:strRef>
              <c:f>Sheet1!$D$1</c:f>
              <c:strCache>
                <c:ptCount val="1"/>
                <c:pt idx="0">
                  <c:v>Hypermarkets</c:v>
                </c:pt>
              </c:strCache>
            </c:strRef>
          </c:tx>
          <c:spPr>
            <a:solidFill>
              <a:srgbClr val="E3E7EB"/>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Sheet1!$D$2:$D$6</c:f>
              <c:numCache>
                <c:formatCode>General</c:formatCode>
                <c:ptCount val="5"/>
                <c:pt idx="0">
                  <c:v>25.2</c:v>
                </c:pt>
                <c:pt idx="1">
                  <c:v>24.9</c:v>
                </c:pt>
                <c:pt idx="2">
                  <c:v>24.6</c:v>
                </c:pt>
                <c:pt idx="3">
                  <c:v>24.3</c:v>
                </c:pt>
                <c:pt idx="4">
                  <c:v>24.0</c:v>
                </c:pt>
              </c:numCache>
            </c:numRef>
          </c:val>
        </c:ser>
        <c:ser>
          <c:idx val="3"/>
          <c:order val="3"/>
          <c:tx>
            <c:strRef>
              <c:f>Sheet1!$E$1</c:f>
              <c:strCache>
                <c:ptCount val="1"/>
                <c:pt idx="0">
                  <c:v>Convenience</c:v>
                </c:pt>
              </c:strCache>
            </c:strRef>
          </c:tx>
          <c:spPr>
            <a:solidFill>
              <a:srgbClr val="B7BFC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Sheet1!$E$2:$E$6</c:f>
              <c:numCache>
                <c:formatCode>General</c:formatCode>
                <c:ptCount val="5"/>
                <c:pt idx="0">
                  <c:v>11.5</c:v>
                </c:pt>
                <c:pt idx="1">
                  <c:v>12.1</c:v>
                </c:pt>
                <c:pt idx="2">
                  <c:v>12.7</c:v>
                </c:pt>
                <c:pt idx="3">
                  <c:v>13.3</c:v>
                </c:pt>
                <c:pt idx="4">
                  <c:v>14.0</c:v>
                </c:pt>
              </c:numCache>
            </c:numRef>
          </c:val>
        </c:ser>
        <c:ser>
          <c:idx val="4"/>
          <c:order val="4"/>
          <c:tx>
            <c:strRef>
              <c:f>Sheet1!$F$1</c:f>
              <c:strCache>
                <c:ptCount val="1"/>
                <c:pt idx="0">
                  <c:v>Online</c:v>
                </c:pt>
              </c:strCache>
            </c:strRef>
          </c:tx>
          <c:spPr>
            <a:solidFill>
              <a:srgbClr val="00A3AD"/>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Sheet1!$F$2:$F$6</c:f>
              <c:numCache>
                <c:formatCode>General</c:formatCode>
                <c:ptCount val="5"/>
                <c:pt idx="0">
                  <c:v>8.3</c:v>
                </c:pt>
                <c:pt idx="1">
                  <c:v>9.5</c:v>
                </c:pt>
                <c:pt idx="2">
                  <c:v>10.9</c:v>
                </c:pt>
                <c:pt idx="3">
                  <c:v>12.4</c:v>
                </c:pt>
                <c:pt idx="4">
                  <c:v>14.0</c:v>
                </c:pt>
              </c:numCache>
            </c:numRef>
          </c:val>
        </c:ser>
        <c:gapWidth val="55"/>
        <c:overlap val="100"/>
        <c:axId val="-2068027336"/>
        <c:axId val="-2113994440"/>
      </c:barChart>
      <c:catAx>
        <c:axId val="-2068027336"/>
        <c:scaling>
          <c:orientation val="maxMin"/>
        </c:scaling>
        <c:delete val="0"/>
        <c:axPos val="l"/>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180.0"/>
          <c:min val="0.0"/>
        </c:scaling>
        <c:delete/>
        <c:axPos val="b"/>
        <c:majorTickMark val="none"/>
        <c:minorTickMark val="none"/>
        <c:tickLblPos val="nextTo"/>
        <c:crossAx val="-2068027336"/>
        <c:crosses val="autoZero"/>
        <c:majorUnit val="5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6297"/>
          <c:y val="0.08298"/>
          <c:w val="0.87703"/>
          <c:h val="0.89702"/>
        </c:manualLayout>
      </c:layout>
      <c:barChart>
        <c:barDir val="bar"/>
        <c:grouping val="stacked"/>
        <c:ser>
          <c:idx val="0"/>
          <c:order val="0"/>
          <c:tx>
            <c:strRef>
              <c:f>Sheet1!$B$1</c:f>
              <c:strCache>
                <c:ptCount val="1"/>
                <c:pt idx="0">
                  <c:v>Discount</c:v>
                </c:pt>
              </c:strCache>
            </c:strRef>
          </c:tx>
          <c:spPr>
            <a:solidFill>
              <a:srgbClr val="0B1F3A"/>
            </a:solidFill>
            <a:ln w="9525">
              <a:solidFill>
                <a:srgbClr val="FFFFFF"/>
              </a:solidFill>
            </a:ln>
          </c:spPr>
          <c:dLbls>
            <c:numFmt formatCode="#,##0.0;-#,##0.0" sourceLinked="0"/>
            <c:txPr>
              <a:bodyPr/>
              <a:lstStyle/>
              <a:p>
                <a:pPr>
                  <a:defRPr sz="1050" b="0">
                    <a:solidFill>
                      <a:srgbClr val="FFFFFF"/>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28.2</c:v>
                </c:pt>
                <c:pt idx="1">
                  <c:v>30.4</c:v>
                </c:pt>
                <c:pt idx="2">
                  <c:v>32.8</c:v>
                </c:pt>
                <c:pt idx="3">
                  <c:v>35.3</c:v>
                </c:pt>
                <c:pt idx="4">
                  <c:v>38.0</c:v>
                </c:pt>
              </c:numCache>
            </c:numRef>
          </c:val>
        </c:ser>
        <c:ser>
          <c:idx val="1"/>
          <c:order val="1"/>
          <c:tx>
            <c:strRef>
              <c:f>Sheet1!$C$1</c:f>
              <c:strCache>
                <c:ptCount val="1"/>
                <c:pt idx="0">
                  <c:v>Supermarkets</c:v>
                </c:pt>
              </c:strCache>
            </c:strRef>
          </c:tx>
          <c:spPr>
            <a:solidFill>
              <a:srgbClr val="C9D0D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48.1</c:v>
                </c:pt>
                <c:pt idx="1">
                  <c:v>49.0</c:v>
                </c:pt>
                <c:pt idx="2">
                  <c:v>50.1</c:v>
                </c:pt>
                <c:pt idx="3">
                  <c:v>51.1</c:v>
                </c:pt>
                <c:pt idx="4">
                  <c:v>52.0</c:v>
                </c:pt>
              </c:numCache>
            </c:numRef>
          </c:val>
        </c:ser>
        <c:ser>
          <c:idx val="2"/>
          <c:order val="2"/>
          <c:tx>
            <c:strRef>
              <c:f>Sheet1!$D$1</c:f>
              <c:strCache>
                <c:ptCount val="1"/>
                <c:pt idx="0">
                  <c:v>Hypermarkets</c:v>
                </c:pt>
              </c:strCache>
            </c:strRef>
          </c:tx>
          <c:spPr>
            <a:solidFill>
              <a:srgbClr val="E3E7EB"/>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Sheet1!$D$2:$D$6</c:f>
              <c:numCache>
                <c:formatCode>General</c:formatCode>
                <c:ptCount val="5"/>
                <c:pt idx="0">
                  <c:v>25.2</c:v>
                </c:pt>
                <c:pt idx="1">
                  <c:v>24.9</c:v>
                </c:pt>
                <c:pt idx="2">
                  <c:v>24.6</c:v>
                </c:pt>
                <c:pt idx="3">
                  <c:v>24.3</c:v>
                </c:pt>
                <c:pt idx="4">
                  <c:v>24.0</c:v>
                </c:pt>
              </c:numCache>
            </c:numRef>
          </c:val>
        </c:ser>
        <c:ser>
          <c:idx val="3"/>
          <c:order val="3"/>
          <c:tx>
            <c:strRef>
              <c:f>Sheet1!$E$1</c:f>
              <c:strCache>
                <c:ptCount val="1"/>
                <c:pt idx="0">
                  <c:v>Convenience</c:v>
                </c:pt>
              </c:strCache>
            </c:strRef>
          </c:tx>
          <c:spPr>
            <a:solidFill>
              <a:srgbClr val="B7BFC8"/>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Sheet1!$E$2:$E$6</c:f>
              <c:numCache>
                <c:formatCode>General</c:formatCode>
                <c:ptCount val="5"/>
                <c:pt idx="0">
                  <c:v>11.5</c:v>
                </c:pt>
                <c:pt idx="1">
                  <c:v>12.1</c:v>
                </c:pt>
                <c:pt idx="2">
                  <c:v>12.7</c:v>
                </c:pt>
                <c:pt idx="3">
                  <c:v>13.3</c:v>
                </c:pt>
                <c:pt idx="4">
                  <c:v>14.0</c:v>
                </c:pt>
              </c:numCache>
            </c:numRef>
          </c:val>
        </c:ser>
        <c:ser>
          <c:idx val="4"/>
          <c:order val="4"/>
          <c:tx>
            <c:strRef>
              <c:f>Sheet1!$F$1</c:f>
              <c:strCache>
                <c:ptCount val="1"/>
                <c:pt idx="0">
                  <c:v>Online</c:v>
                </c:pt>
              </c:strCache>
            </c:strRef>
          </c:tx>
          <c:spPr>
            <a:solidFill>
              <a:srgbClr val="00A3AD"/>
            </a:solidFill>
            <a:ln w="9525">
              <a:solidFill>
                <a:srgbClr val="FFFFFF"/>
              </a:solidFill>
            </a:ln>
          </c:spPr>
          <c:dLbls>
            <c:numFmt formatCode="#,##0.0;-#,##0.0" sourceLinked="0"/>
            <c:txPr>
              <a:bodyPr/>
              <a:lstStyle/>
              <a:p>
                <a:pPr>
                  <a:defRPr sz="1050" b="0">
                    <a:solidFill>
                      <a:srgbClr val="1E252D"/>
                    </a:solidFill>
                    <a:latin typeface="Arial"/>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Sheet1!$F$2:$F$6</c:f>
              <c:numCache>
                <c:formatCode>General</c:formatCode>
                <c:ptCount val="5"/>
                <c:pt idx="0">
                  <c:v>8.3</c:v>
                </c:pt>
                <c:pt idx="1">
                  <c:v>9.5</c:v>
                </c:pt>
                <c:pt idx="2">
                  <c:v>10.9</c:v>
                </c:pt>
                <c:pt idx="3">
                  <c:v>12.4</c:v>
                </c:pt>
                <c:pt idx="4">
                  <c:v>14.0</c:v>
                </c:pt>
              </c:numCache>
            </c:numRef>
          </c:val>
        </c:ser>
        <c:gapWidth val="55"/>
        <c:overlap val="100"/>
        <c:axId val="-2068027336"/>
        <c:axId val="-2113994440"/>
      </c:barChart>
      <c:catAx>
        <c:axId val="-2068027336"/>
        <c:scaling>
          <c:orientation val="maxMin"/>
        </c:scaling>
        <c:delete val="0"/>
        <c:axPos val="l"/>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180.0"/>
          <c:min val="0.0"/>
        </c:scaling>
        <c:delete/>
        <c:axPos val="b"/>
        <c:majorTickMark val="none"/>
        <c:minorTickMark val="none"/>
        <c:tickLblPos val="nextTo"/>
        <c:crossAx val="-2068027336"/>
        <c:crosses val="autoZero"/>
        <c:majorUnit val="5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2552"/>
          <c:w val="0.88831"/>
          <c:h val="0.83027"/>
        </c:manualLayout>
      </c:layout>
      <c:barChart>
        <c:barDir val="col"/>
        <c:grouping val="clustered"/>
        <c:ser>
          <c:idx val="0"/>
          <c:order val="0"/>
          <c:tx>
            <c:strRef>
              <c:f>Sheet1!$B$1</c:f>
              <c:strCache>
                <c:ptCount val="1"/>
                <c:pt idx="0">
                  <c:v>Alvora revenue (€bn)</c:v>
                </c:pt>
              </c:strCache>
            </c:strRef>
          </c:tx>
          <c:spPr>
            <a:solidFill>
              <a:srgbClr val="8FA9CC"/>
            </a:solidFill>
          </c:spPr>
          <c:invertIfNegative val="0"/>
          <c:dPt>
            <c:idx val="3"/>
            <c:spPr>
              <a:solidFill>
                <a:srgbClr val="0B1F3A"/>
              </a:solidFill>
            </c:spPr>
          </c:dPt>
          <c:dLbls>
            <c:numFmt formatCode="#,##0.0;-#,##0.0" sourceLinked="0"/>
            <c:txPr>
              <a:bodyPr/>
              <a:lstStyle/>
              <a:p>
                <a:pPr>
                  <a:defRPr sz="1100" b="0">
                    <a:solidFill>
                      <a:srgbClr val="1E252D"/>
                    </a:solidFill>
                    <a:latin typeface="Arial"/>
                  </a:defRPr>
                </a:pPr>
              </a:p>
            </c:txPr>
            <c:dLblPos val="outEnd"/>
            <c:showLegendKey val="0"/>
            <c:showVal val="1"/>
            <c:showCatName val="0"/>
            <c:showSerName val="0"/>
            <c:showPercent val="0"/>
            <c:showBubbleSize val="0"/>
            <c:showLeaderLines val="1"/>
          </c:dLbls>
          <c:cat>
            <c:strRef>
              <c:f>Sheet1!$A$2:$A$5</c:f>
              <c:strCache>
                <c:ptCount val="4"/>
                <c:pt idx="0">
                  <c:v>2022</c:v>
                </c:pt>
                <c:pt idx="1">
                  <c:v>2023</c:v>
                </c:pt>
                <c:pt idx="2">
                  <c:v>2024</c:v>
                </c:pt>
                <c:pt idx="3">
                  <c:v>2025</c:v>
                </c:pt>
              </c:strCache>
            </c:strRef>
          </c:cat>
          <c:val>
            <c:numRef>
              <c:f>Sheet1!$B$2:$B$5</c:f>
              <c:numCache>
                <c:formatCode>General</c:formatCode>
                <c:ptCount val="4"/>
                <c:pt idx="0">
                  <c:v>11.9</c:v>
                </c:pt>
                <c:pt idx="1">
                  <c:v>12.7</c:v>
                </c:pt>
                <c:pt idx="2">
                  <c:v>13.2</c:v>
                </c:pt>
                <c:pt idx="3">
                  <c:v>13.6</c:v>
                </c:pt>
              </c:numCache>
            </c:numRef>
          </c:val>
        </c:ser>
        <c:gapWidth val="6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26.25"/>
          <c:min val="0.0"/>
        </c:scaling>
        <c:delete/>
        <c:axPos val="l"/>
        <c:majorTickMark val="none"/>
        <c:minorTickMark val="none"/>
        <c:tickLblPos val="nextTo"/>
        <c:crossAx val="-2068027336"/>
        <c:crosses val="autoZero"/>
        <c:majorUnit val="5.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4276"/>
          <c:w val="0.88831"/>
          <c:h val="0.88883"/>
        </c:manualLayout>
      </c:layout>
      <c:lineChart>
        <c:grouping val="standard"/>
        <c:varyColors val="0"/>
        <c:ser>
          <c:idx val="0"/>
          <c:order val="0"/>
          <c:tx>
            <c:strRef>
              <c:f>Sheet1!$B$1</c:f>
              <c:strCache>
                <c:ptCount val="1"/>
                <c:pt idx="0">
                  <c:v>Alvora growth</c:v>
                </c:pt>
              </c:strCache>
            </c:strRef>
          </c:tx>
          <c:spPr>
            <a:ln w="31750">
              <a:solidFill>
                <a:srgbClr val="0B1F3A"/>
              </a:solidFill>
            </a:ln>
          </c:spPr>
          <c:marker>
            <c:symbol val="none"/>
          </c:marker>
          <c:cat>
            <c:strRef>
              <c:f>Sheet1!$A$2:$A$5</c:f>
              <c:strCache>
                <c:ptCount val="4"/>
                <c:pt idx="0">
                  <c:v>2022</c:v>
                </c:pt>
                <c:pt idx="1">
                  <c:v>2023</c:v>
                </c:pt>
                <c:pt idx="2">
                  <c:v>2024</c:v>
                </c:pt>
                <c:pt idx="3">
                  <c:v>2025</c:v>
                </c:pt>
              </c:strCache>
            </c:strRef>
          </c:cat>
          <c:val>
            <c:numRef>
              <c:f>Sheet1!$B$2:$B$5</c:f>
              <c:numCache>
                <c:formatCode>General</c:formatCode>
                <c:ptCount val="4"/>
                <c:pt idx="0">
                  <c:v>6.3</c:v>
                </c:pt>
                <c:pt idx="1">
                  <c:v>6.7</c:v>
                </c:pt>
                <c:pt idx="2">
                  <c:v>3.9</c:v>
                </c:pt>
                <c:pt idx="3">
                  <c:v>3.0</c:v>
                </c:pt>
              </c:numCache>
            </c:numRef>
          </c:val>
          <c:smooth val="0"/>
        </c:ser>
        <c:ser>
          <c:idx val="1"/>
          <c:order val="1"/>
          <c:tx>
            <c:strRef>
              <c:f>Sheet1!$C$1</c:f>
              <c:strCache>
                <c:ptCount val="1"/>
                <c:pt idx="0">
                  <c:v>Market growth</c:v>
                </c:pt>
              </c:strCache>
            </c:strRef>
          </c:tx>
          <c:spPr>
            <a:ln w="22225">
              <a:solidFill>
                <a:srgbClr val="8A95A1"/>
              </a:solidFill>
            </a:ln>
          </c:spPr>
          <c:marker>
            <c:symbol val="none"/>
          </c:marker>
          <c:cat>
            <c:strRef>
              <c:f>Sheet1!$A$2:$A$5</c:f>
              <c:strCache>
                <c:ptCount val="4"/>
                <c:pt idx="0">
                  <c:v>2022</c:v>
                </c:pt>
                <c:pt idx="1">
                  <c:v>2023</c:v>
                </c:pt>
                <c:pt idx="2">
                  <c:v>2024</c:v>
                </c:pt>
                <c:pt idx="3">
                  <c:v>2025</c:v>
                </c:pt>
              </c:strCache>
            </c:strRef>
          </c:cat>
          <c:val>
            <c:numRef>
              <c:f>Sheet1!$C$2:$C$5</c:f>
              <c:numCache>
                <c:formatCode>General</c:formatCode>
                <c:ptCount val="4"/>
                <c:pt idx="0">
                  <c:v>3.8</c:v>
                </c:pt>
                <c:pt idx="1">
                  <c:v>4.1</c:v>
                </c:pt>
                <c:pt idx="2">
                  <c:v>4.0</c:v>
                </c:pt>
                <c:pt idx="3">
                  <c:v>4.1</c:v>
                </c:pt>
              </c:numCache>
            </c:numRef>
          </c:val>
          <c:smooth val="0"/>
        </c:ser>
        <c:marker val="1"/>
        <c:smooth val="0"/>
        <c:axId val="2118791784"/>
        <c:axId val="2140495176"/>
      </c:lineChart>
      <c:catAx>
        <c:axId val="2118791784"/>
        <c:scaling>
          <c:orientation val="minMax"/>
        </c:scaling>
        <c:delete/>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40495176"/>
        <c:crosses val="autoZero"/>
        <c:auto val="1"/>
        <c:lblAlgn val="ctr"/>
        <c:lblOffset val="100"/>
        <c:noMultiLvlLbl val="0"/>
      </c:catAx>
      <c:valAx>
        <c:axId val="2140495176"/>
        <c:scaling>
          <c:max val="7.5"/>
          <c:min val="2.5"/>
        </c:scaling>
        <c:delete/>
        <c:axPos val="l"/>
        <c:majorTickMark val="none"/>
        <c:minorTickMark val="none"/>
        <c:tickLblPos val="nextTo"/>
        <c:crossAx val="2118791784"/>
        <c:crosses val="autoZero"/>
        <c:majorUnit val="1.0"/>
      </c:valAx>
      <c:spPr>
        <a:noFill/>
        <a:ln>
          <a:noFill/>
        </a:ln>
      </c:spPr>
    </c:plotArea>
    <c:plotVisOnly val="1"/>
    <c:dispBlanksAs val="gap"/>
    <c:showDLblsOverMax val="0"/>
  </c:chart>
  <c:spPr>
    <a:noFill/>
    <a:ln>
      <a:noFill/>
    </a:ln>
  </c:spPr>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2552"/>
          <c:w val="0.83607"/>
          <c:h val="0.83027"/>
        </c:manualLayout>
      </c:layout>
      <c:barChart>
        <c:barDir val="col"/>
        <c:grouping val="clustered"/>
        <c:ser>
          <c:idx val="0"/>
          <c:order val="0"/>
          <c:tx>
            <c:strRef>
              <c:f>Sheet1!$B$1</c:f>
              <c:strCache>
                <c:ptCount val="1"/>
                <c:pt idx="0">
                  <c:v>Alvora revenue (€bn)</c:v>
                </c:pt>
              </c:strCache>
            </c:strRef>
          </c:tx>
          <c:spPr>
            <a:solidFill>
              <a:srgbClr val="8FA9CC"/>
            </a:solidFill>
          </c:spPr>
          <c:invertIfNegative val="0"/>
          <c:dPt>
            <c:idx val="3"/>
            <c:spPr>
              <a:solidFill>
                <a:srgbClr val="0B1F3A"/>
              </a:solidFill>
            </c:spPr>
          </c:dPt>
          <c:dLbls>
            <c:numFmt formatCode="#,##0.0;-#,##0.0" sourceLinked="0"/>
            <c:txPr>
              <a:bodyPr/>
              <a:lstStyle/>
              <a:p>
                <a:pPr>
                  <a:defRPr sz="1100" b="0">
                    <a:solidFill>
                      <a:srgbClr val="1E252D"/>
                    </a:solidFill>
                    <a:latin typeface="Arial"/>
                  </a:defRPr>
                </a:pPr>
              </a:p>
            </c:txPr>
            <c:dLblPos val="outEnd"/>
            <c:showLegendKey val="0"/>
            <c:showVal val="1"/>
            <c:showCatName val="0"/>
            <c:showSerName val="0"/>
            <c:showPercent val="0"/>
            <c:showBubbleSize val="0"/>
            <c:showLeaderLines val="1"/>
          </c:dLbls>
          <c:cat>
            <c:strRef>
              <c:f>Sheet1!$A$2:$A$5</c:f>
              <c:strCache>
                <c:ptCount val="4"/>
                <c:pt idx="0">
                  <c:v>2022</c:v>
                </c:pt>
                <c:pt idx="1">
                  <c:v>2023</c:v>
                </c:pt>
                <c:pt idx="2">
                  <c:v>2024</c:v>
                </c:pt>
                <c:pt idx="3">
                  <c:v>2025</c:v>
                </c:pt>
              </c:strCache>
            </c:strRef>
          </c:cat>
          <c:val>
            <c:numRef>
              <c:f>Sheet1!$B$2:$B$5</c:f>
              <c:numCache>
                <c:formatCode>General</c:formatCode>
                <c:ptCount val="4"/>
                <c:pt idx="0">
                  <c:v>11.9</c:v>
                </c:pt>
                <c:pt idx="1">
                  <c:v>12.7</c:v>
                </c:pt>
                <c:pt idx="2">
                  <c:v>13.2</c:v>
                </c:pt>
                <c:pt idx="3">
                  <c:v>13.6</c:v>
                </c:pt>
              </c:numCache>
            </c:numRef>
          </c:val>
        </c:ser>
        <c:gapWidth val="6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26.25"/>
          <c:min val="0.0"/>
        </c:scaling>
        <c:delete/>
        <c:axPos val="l"/>
        <c:majorTickMark val="none"/>
        <c:minorTickMark val="none"/>
        <c:tickLblPos val="nextTo"/>
        <c:crossAx val="-2068027336"/>
        <c:crosses val="autoZero"/>
        <c:majorUnit val="5.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1"/>
          <c:y val="0.04276"/>
          <c:w val="0.83607"/>
          <c:h val="0.88883"/>
        </c:manualLayout>
      </c:layout>
      <c:lineChart>
        <c:grouping val="standard"/>
        <c:varyColors val="0"/>
        <c:ser>
          <c:idx val="0"/>
          <c:order val="0"/>
          <c:tx>
            <c:strRef>
              <c:f>Sheet1!$B$1</c:f>
              <c:strCache>
                <c:ptCount val="1"/>
                <c:pt idx="0">
                  <c:v>Alvora growth</c:v>
                </c:pt>
              </c:strCache>
            </c:strRef>
          </c:tx>
          <c:spPr>
            <a:ln w="31750">
              <a:solidFill>
                <a:srgbClr val="0B1F3A"/>
              </a:solidFill>
            </a:ln>
          </c:spPr>
          <c:marker>
            <c:symbol val="none"/>
          </c:marker>
          <c:cat>
            <c:strRef>
              <c:f>Sheet1!$A$2:$A$5</c:f>
              <c:strCache>
                <c:ptCount val="4"/>
                <c:pt idx="0">
                  <c:v>2022</c:v>
                </c:pt>
                <c:pt idx="1">
                  <c:v>2023</c:v>
                </c:pt>
                <c:pt idx="2">
                  <c:v>2024</c:v>
                </c:pt>
                <c:pt idx="3">
                  <c:v>2025</c:v>
                </c:pt>
              </c:strCache>
            </c:strRef>
          </c:cat>
          <c:val>
            <c:numRef>
              <c:f>Sheet1!$B$2:$B$5</c:f>
              <c:numCache>
                <c:formatCode>General</c:formatCode>
                <c:ptCount val="4"/>
                <c:pt idx="0">
                  <c:v>6.3</c:v>
                </c:pt>
                <c:pt idx="1">
                  <c:v>6.7</c:v>
                </c:pt>
                <c:pt idx="2">
                  <c:v>3.9</c:v>
                </c:pt>
                <c:pt idx="3">
                  <c:v>3.0</c:v>
                </c:pt>
              </c:numCache>
            </c:numRef>
          </c:val>
          <c:smooth val="0"/>
        </c:ser>
        <c:ser>
          <c:idx val="1"/>
          <c:order val="1"/>
          <c:tx>
            <c:strRef>
              <c:f>Sheet1!$C$1</c:f>
              <c:strCache>
                <c:ptCount val="1"/>
                <c:pt idx="0">
                  <c:v>Market growth</c:v>
                </c:pt>
              </c:strCache>
            </c:strRef>
          </c:tx>
          <c:spPr>
            <a:ln w="22225">
              <a:solidFill>
                <a:srgbClr val="8A95A1"/>
              </a:solidFill>
            </a:ln>
          </c:spPr>
          <c:marker>
            <c:symbol val="none"/>
          </c:marker>
          <c:cat>
            <c:strRef>
              <c:f>Sheet1!$A$2:$A$5</c:f>
              <c:strCache>
                <c:ptCount val="4"/>
                <c:pt idx="0">
                  <c:v>2022</c:v>
                </c:pt>
                <c:pt idx="1">
                  <c:v>2023</c:v>
                </c:pt>
                <c:pt idx="2">
                  <c:v>2024</c:v>
                </c:pt>
                <c:pt idx="3">
                  <c:v>2025</c:v>
                </c:pt>
              </c:strCache>
            </c:strRef>
          </c:cat>
          <c:val>
            <c:numRef>
              <c:f>Sheet1!$C$2:$C$5</c:f>
              <c:numCache>
                <c:formatCode>General</c:formatCode>
                <c:ptCount val="4"/>
                <c:pt idx="0">
                  <c:v>3.8</c:v>
                </c:pt>
                <c:pt idx="1">
                  <c:v>4.1</c:v>
                </c:pt>
                <c:pt idx="2">
                  <c:v>4.0</c:v>
                </c:pt>
                <c:pt idx="3">
                  <c:v>4.1</c:v>
                </c:pt>
              </c:numCache>
            </c:numRef>
          </c:val>
          <c:smooth val="0"/>
        </c:ser>
        <c:marker val="1"/>
        <c:smooth val="0"/>
        <c:axId val="2118791784"/>
        <c:axId val="2140495176"/>
      </c:lineChart>
      <c:catAx>
        <c:axId val="2118791784"/>
        <c:scaling>
          <c:orientation val="minMax"/>
        </c:scaling>
        <c:delete/>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40495176"/>
        <c:crosses val="autoZero"/>
        <c:auto val="1"/>
        <c:lblAlgn val="ctr"/>
        <c:lblOffset val="100"/>
        <c:noMultiLvlLbl val="0"/>
      </c:catAx>
      <c:valAx>
        <c:axId val="2140495176"/>
        <c:scaling>
          <c:max val="7.5"/>
          <c:min val="2.5"/>
        </c:scaling>
        <c:delete/>
        <c:axPos val="l"/>
        <c:majorTickMark val="none"/>
        <c:minorTickMark val="none"/>
        <c:tickLblPos val="nextTo"/>
        <c:crossAx val="2118791784"/>
        <c:crosses val="autoZero"/>
        <c:majorUnit val="1.0"/>
      </c:valAx>
      <c:spPr>
        <a:noFill/>
        <a:ln>
          <a:noFill/>
        </a:ln>
      </c:spPr>
    </c:plotArea>
    <c:plotVisOnly val="1"/>
    <c:dispBlanksAs val="gap"/>
    <c:showDLblsOverMax val="0"/>
  </c:chart>
  <c:spPr>
    <a:noFill/>
    <a:ln>
      <a:noFill/>
    </a:ln>
  </c:spPr>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88532"/>
        </c:manualLayout>
      </c:layout>
      <c:barChart>
        <c:barDir val="col"/>
        <c:grouping val="stacked"/>
        <c:ser>
          <c:idx val="0"/>
          <c:order val="0"/>
          <c:tx>
            <c:strRef>
              <c:f>Sheet1!$B$1</c:f>
              <c:strCache>
                <c:ptCount val="1"/>
                <c:pt idx="0">
                  <c:v>Base</c:v>
                </c:pt>
              </c:strCache>
            </c:strRef>
          </c:tx>
          <c:spPr>
            <a:noFill/>
            <a:ln>
              <a:noFill/>
            </a:ln>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Sheet1!$B$2:$B$10</c:f>
              <c:numCache>
                <c:formatCode>General</c:formatCode>
                <c:ptCount val="9"/>
                <c:pt idx="0">
                  <c:v>0.0</c:v>
                </c:pt>
                <c:pt idx="1">
                  <c:v>174.0</c:v>
                </c:pt>
                <c:pt idx="2">
                  <c:v>226.0</c:v>
                </c:pt>
                <c:pt idx="3">
                  <c:v>179.0</c:v>
                </c:pt>
                <c:pt idx="4">
                  <c:v>138.0</c:v>
                </c:pt>
                <c:pt idx="5">
                  <c:v>116.0</c:v>
                </c:pt>
                <c:pt idx="6">
                  <c:v>102.0</c:v>
                </c:pt>
                <c:pt idx="7">
                  <c:v>102.0</c:v>
                </c:pt>
                <c:pt idx="8">
                  <c:v>0.0</c:v>
                </c:pt>
              </c:numCache>
            </c:numRef>
          </c:val>
        </c:ser>
        <c:ser>
          <c:idx val="1"/>
          <c:order val="1"/>
          <c:tx>
            <c:strRef>
              <c:f>Sheet1!$C$1</c:f>
              <c:strCache>
                <c:ptCount val="1"/>
                <c:pt idx="0">
                  <c:v>Total</c:v>
                </c:pt>
              </c:strCache>
            </c:strRef>
          </c:tx>
          <c:spPr>
            <a:solidFill>
              <a:srgbClr val="0B1F3A"/>
            </a:solidFill>
          </c:spPr>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Sheet1!$C$2:$C$10</c:f>
              <c:numCache>
                <c:formatCode>General</c:formatCode>
                <c:ptCount val="9"/>
                <c:pt idx="0">
                  <c:v>174.0</c:v>
                </c:pt>
                <c:pt idx="1">
                  <c:v>0.0</c:v>
                </c:pt>
                <c:pt idx="2">
                  <c:v>0.0</c:v>
                </c:pt>
                <c:pt idx="3">
                  <c:v>0.0</c:v>
                </c:pt>
                <c:pt idx="4">
                  <c:v>0.0</c:v>
                </c:pt>
                <c:pt idx="5">
                  <c:v>0.0</c:v>
                </c:pt>
                <c:pt idx="6">
                  <c:v>0.0</c:v>
                </c:pt>
                <c:pt idx="7">
                  <c:v>0.0</c:v>
                </c:pt>
                <c:pt idx="8">
                  <c:v>107.0</c:v>
                </c:pt>
              </c:numCache>
            </c:numRef>
          </c:val>
        </c:ser>
        <c:ser>
          <c:idx val="2"/>
          <c:order val="2"/>
          <c:tx>
            <c:strRef>
              <c:f>Sheet1!$D$1</c:f>
              <c:strCache>
                <c:ptCount val="1"/>
                <c:pt idx="0">
                  <c:v>Increase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Sheet1!$D$2:$D$10</c:f>
              <c:numCache>
                <c:formatCode>General</c:formatCode>
                <c:ptCount val="9"/>
                <c:pt idx="0">
                  <c:v>0.0</c:v>
                </c:pt>
                <c:pt idx="1">
                  <c:v>52.0</c:v>
                </c:pt>
                <c:pt idx="2">
                  <c:v>31.0</c:v>
                </c:pt>
                <c:pt idx="3">
                  <c:v>0.0</c:v>
                </c:pt>
                <c:pt idx="4">
                  <c:v>0.0</c:v>
                </c:pt>
                <c:pt idx="5">
                  <c:v>0.0</c:v>
                </c:pt>
                <c:pt idx="6">
                  <c:v>0.0</c:v>
                </c:pt>
                <c:pt idx="7">
                  <c:v>5.0</c:v>
                </c:pt>
                <c:pt idx="8">
                  <c:v>0.0</c:v>
                </c:pt>
              </c:numCache>
            </c:numRef>
          </c:val>
        </c:ser>
        <c:ser>
          <c:idx val="3"/>
          <c:order val="3"/>
          <c:tx>
            <c:strRef>
              <c:f>Sheet1!$E$1</c:f>
              <c:strCache>
                <c:ptCount val="1"/>
                <c:pt idx="0">
                  <c:v>Decrease</c:v>
                </c:pt>
              </c:strCache>
            </c:strRef>
          </c:tx>
          <c:spPr>
            <a:solidFill>
              <a:srgbClr val="3D6399"/>
            </a:solidFill>
          </c:spPr>
          <c:dPt>
            <c:idx val="3"/>
            <c:spPr>
              <a:solidFill>
                <a:srgbClr val="00A3AD"/>
              </a:solidFill>
            </c:spPr>
          </c:dPt>
          <c:dPt>
            <c:idx val="4"/>
            <c:spPr>
              <a:solidFill>
                <a:srgbClr val="00A3AD"/>
              </a:solidFill>
            </c:spPr>
          </c:dPt>
          <c:cat>
            <c:strRef>
              <c:f>Sheet1!$A$2:$A$10</c:f>
              <c:strCache>
                <c:ptCount val="9"/>
                <c:pt idx="0">
                  <c:v>EBITDA 2024</c:v>
                </c:pt>
                <c:pt idx="1">
                  <c:v>Volume</c:v>
                </c:pt>
                <c:pt idx="2">
                  <c:v>Price / mix</c:v>
                </c:pt>
                <c:pt idx="3">
                  <c:v>Grocery margin</c:v>
                </c:pt>
                <c:pt idx="4">
                  <c:v>Convenience margin</c:v>
                </c:pt>
                <c:pt idx="5">
                  <c:v>Labour cost</c:v>
                </c:pt>
                <c:pt idx="6">
                  <c:v>Energy</c:v>
                </c:pt>
                <c:pt idx="7">
                  <c:v>Other</c:v>
                </c:pt>
                <c:pt idx="8">
                  <c:v>EBITDA 2025</c:v>
                </c:pt>
              </c:strCache>
            </c:strRef>
          </c:cat>
          <c:val>
            <c:numRef>
              <c:f>Sheet1!$E$2:$E$10</c:f>
              <c:numCache>
                <c:formatCode>General</c:formatCode>
                <c:ptCount val="9"/>
                <c:pt idx="0">
                  <c:v>0.0</c:v>
                </c:pt>
                <c:pt idx="1">
                  <c:v>0.0</c:v>
                </c:pt>
                <c:pt idx="2">
                  <c:v>0.0</c:v>
                </c:pt>
                <c:pt idx="3">
                  <c:v>78.0</c:v>
                </c:pt>
                <c:pt idx="4">
                  <c:v>41.0</c:v>
                </c:pt>
                <c:pt idx="5">
                  <c:v>22.0</c:v>
                </c:pt>
                <c:pt idx="6">
                  <c:v>14.0</c:v>
                </c:pt>
                <c:pt idx="7">
                  <c:v>0.0</c:v>
                </c:pt>
                <c:pt idx="8">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3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90624"/>
        </c:manualLayout>
      </c:layout>
      <c:barChart>
        <c:barDir val="col"/>
        <c:grouping val="stacked"/>
        <c:ser>
          <c:idx val="0"/>
          <c:order val="0"/>
          <c:tx>
            <c:strRef>
              <c:f>Sheet1!$B$1</c:f>
              <c:strCache>
                <c:ptCount val="1"/>
                <c:pt idx="0">
                  <c:v>Base</c:v>
                </c:pt>
              </c:strCache>
            </c:strRef>
          </c:tx>
          <c:spPr>
            <a:noFill/>
            <a:ln>
              <a:noFill/>
            </a:ln>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Sheet1!$B$2:$B$9</c:f>
              <c:numCache>
                <c:formatCode>General</c:formatCode>
                <c:ptCount val="8"/>
                <c:pt idx="0">
                  <c:v>0.0</c:v>
                </c:pt>
                <c:pt idx="1">
                  <c:v>157.0</c:v>
                </c:pt>
                <c:pt idx="2">
                  <c:v>217.0</c:v>
                </c:pt>
                <c:pt idx="3">
                  <c:v>262.0</c:v>
                </c:pt>
                <c:pt idx="4">
                  <c:v>332.0</c:v>
                </c:pt>
                <c:pt idx="5">
                  <c:v>387.0</c:v>
                </c:pt>
                <c:pt idx="6">
                  <c:v>367.0</c:v>
                </c:pt>
                <c:pt idx="7">
                  <c:v>0.0</c:v>
                </c:pt>
              </c:numCache>
            </c:numRef>
          </c:val>
        </c:ser>
        <c:ser>
          <c:idx val="1"/>
          <c:order val="1"/>
          <c:tx>
            <c:strRef>
              <c:f>Sheet1!$C$1</c:f>
              <c:strCache>
                <c:ptCount val="1"/>
                <c:pt idx="0">
                  <c:v>Total</c:v>
                </c:pt>
              </c:strCache>
            </c:strRef>
          </c:tx>
          <c:spPr>
            <a:solidFill>
              <a:srgbClr val="0B1F3A"/>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Sheet1!$C$2:$C$9</c:f>
              <c:numCache>
                <c:formatCode>General</c:formatCode>
                <c:ptCount val="8"/>
                <c:pt idx="0">
                  <c:v>157.0</c:v>
                </c:pt>
                <c:pt idx="1">
                  <c:v>0.0</c:v>
                </c:pt>
                <c:pt idx="2">
                  <c:v>0.0</c:v>
                </c:pt>
                <c:pt idx="3">
                  <c:v>0.0</c:v>
                </c:pt>
                <c:pt idx="4">
                  <c:v>0.0</c:v>
                </c:pt>
                <c:pt idx="5">
                  <c:v>0.0</c:v>
                </c:pt>
                <c:pt idx="6">
                  <c:v>0.0</c:v>
                </c:pt>
                <c:pt idx="7">
                  <c:v>367.0</c:v>
                </c:pt>
              </c:numCache>
            </c:numRef>
          </c:val>
        </c:ser>
        <c:ser>
          <c:idx val="2"/>
          <c:order val="2"/>
          <c:tx>
            <c:strRef>
              <c:f>Sheet1!$D$1</c:f>
              <c:strCache>
                <c:ptCount val="1"/>
                <c:pt idx="0">
                  <c:v>Increase</c:v>
                </c:pt>
              </c:strCache>
            </c:strRef>
          </c:tx>
          <c:spPr>
            <a:solidFill>
              <a:srgbClr val="2E7D4F"/>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Sheet1!$D$2:$D$9</c:f>
              <c:numCache>
                <c:formatCode>General</c:formatCode>
                <c:ptCount val="8"/>
                <c:pt idx="0">
                  <c:v>0.0</c:v>
                </c:pt>
                <c:pt idx="1">
                  <c:v>60.0</c:v>
                </c:pt>
                <c:pt idx="2">
                  <c:v>45.0</c:v>
                </c:pt>
                <c:pt idx="3">
                  <c:v>70.0</c:v>
                </c:pt>
                <c:pt idx="4">
                  <c:v>55.0</c:v>
                </c:pt>
                <c:pt idx="5">
                  <c:v>20.0</c:v>
                </c:pt>
                <c:pt idx="6">
                  <c:v>0.0</c:v>
                </c:pt>
                <c:pt idx="7">
                  <c:v>0.0</c:v>
                </c:pt>
              </c:numCache>
            </c:numRef>
          </c:val>
        </c:ser>
        <c:ser>
          <c:idx val="3"/>
          <c:order val="3"/>
          <c:tx>
            <c:strRef>
              <c:f>Sheet1!$E$1</c:f>
              <c:strCache>
                <c:ptCount val="1"/>
                <c:pt idx="0">
                  <c:v>Decrease</c:v>
                </c:pt>
              </c:strCache>
            </c:strRef>
          </c:tx>
          <c:spPr>
            <a:solidFill>
              <a:srgbClr val="C0392B"/>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Sheet1!$E$2:$E$9</c:f>
              <c:numCache>
                <c:formatCode>General</c:formatCode>
                <c:ptCount val="8"/>
                <c:pt idx="0">
                  <c:v>0.0</c:v>
                </c:pt>
                <c:pt idx="1">
                  <c:v>0.0</c:v>
                </c:pt>
                <c:pt idx="2">
                  <c:v>0.0</c:v>
                </c:pt>
                <c:pt idx="3">
                  <c:v>0.0</c:v>
                </c:pt>
                <c:pt idx="4">
                  <c:v>0.0</c:v>
                </c:pt>
                <c:pt idx="5">
                  <c:v>0.0</c:v>
                </c:pt>
                <c:pt idx="6">
                  <c:v>40.0</c:v>
                </c:pt>
                <c:pt idx="7">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5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
          <c:y val="0.02"/>
          <c:w val="1.0"/>
          <c:h val="0.90624"/>
        </c:manualLayout>
      </c:layout>
      <c:barChart>
        <c:barDir val="col"/>
        <c:grouping val="stacked"/>
        <c:ser>
          <c:idx val="0"/>
          <c:order val="0"/>
          <c:tx>
            <c:strRef>
              <c:f>Sheet1!$B$1</c:f>
              <c:strCache>
                <c:ptCount val="1"/>
                <c:pt idx="0">
                  <c:v>Base</c:v>
                </c:pt>
              </c:strCache>
            </c:strRef>
          </c:tx>
          <c:spPr>
            <a:noFill/>
            <a:ln>
              <a:noFill/>
            </a:ln>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Sheet1!$B$2:$B$9</c:f>
              <c:numCache>
                <c:formatCode>General</c:formatCode>
                <c:ptCount val="8"/>
                <c:pt idx="0">
                  <c:v>0.0</c:v>
                </c:pt>
                <c:pt idx="1">
                  <c:v>157.0</c:v>
                </c:pt>
                <c:pt idx="2">
                  <c:v>217.0</c:v>
                </c:pt>
                <c:pt idx="3">
                  <c:v>262.0</c:v>
                </c:pt>
                <c:pt idx="4">
                  <c:v>332.0</c:v>
                </c:pt>
                <c:pt idx="5">
                  <c:v>387.0</c:v>
                </c:pt>
                <c:pt idx="6">
                  <c:v>367.0</c:v>
                </c:pt>
                <c:pt idx="7">
                  <c:v>0.0</c:v>
                </c:pt>
              </c:numCache>
            </c:numRef>
          </c:val>
        </c:ser>
        <c:ser>
          <c:idx val="1"/>
          <c:order val="1"/>
          <c:tx>
            <c:strRef>
              <c:f>Sheet1!$C$1</c:f>
              <c:strCache>
                <c:ptCount val="1"/>
                <c:pt idx="0">
                  <c:v>Total</c:v>
                </c:pt>
              </c:strCache>
            </c:strRef>
          </c:tx>
          <c:spPr>
            <a:solidFill>
              <a:srgbClr val="0B1F3A"/>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Sheet1!$C$2:$C$9</c:f>
              <c:numCache>
                <c:formatCode>General</c:formatCode>
                <c:ptCount val="8"/>
                <c:pt idx="0">
                  <c:v>157.0</c:v>
                </c:pt>
                <c:pt idx="1">
                  <c:v>0.0</c:v>
                </c:pt>
                <c:pt idx="2">
                  <c:v>0.0</c:v>
                </c:pt>
                <c:pt idx="3">
                  <c:v>0.0</c:v>
                </c:pt>
                <c:pt idx="4">
                  <c:v>0.0</c:v>
                </c:pt>
                <c:pt idx="5">
                  <c:v>0.0</c:v>
                </c:pt>
                <c:pt idx="6">
                  <c:v>0.0</c:v>
                </c:pt>
                <c:pt idx="7">
                  <c:v>367.0</c:v>
                </c:pt>
              </c:numCache>
            </c:numRef>
          </c:val>
        </c:ser>
        <c:ser>
          <c:idx val="2"/>
          <c:order val="2"/>
          <c:tx>
            <c:strRef>
              <c:f>Sheet1!$D$1</c:f>
              <c:strCache>
                <c:ptCount val="1"/>
                <c:pt idx="0">
                  <c:v>Increase</c:v>
                </c:pt>
              </c:strCache>
            </c:strRef>
          </c:tx>
          <c:spPr>
            <a:solidFill>
              <a:srgbClr val="2E7D4F"/>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Sheet1!$D$2:$D$9</c:f>
              <c:numCache>
                <c:formatCode>General</c:formatCode>
                <c:ptCount val="8"/>
                <c:pt idx="0">
                  <c:v>0.0</c:v>
                </c:pt>
                <c:pt idx="1">
                  <c:v>60.0</c:v>
                </c:pt>
                <c:pt idx="2">
                  <c:v>45.0</c:v>
                </c:pt>
                <c:pt idx="3">
                  <c:v>70.0</c:v>
                </c:pt>
                <c:pt idx="4">
                  <c:v>55.0</c:v>
                </c:pt>
                <c:pt idx="5">
                  <c:v>20.0</c:v>
                </c:pt>
                <c:pt idx="6">
                  <c:v>0.0</c:v>
                </c:pt>
                <c:pt idx="7">
                  <c:v>0.0</c:v>
                </c:pt>
              </c:numCache>
            </c:numRef>
          </c:val>
        </c:ser>
        <c:ser>
          <c:idx val="3"/>
          <c:order val="3"/>
          <c:tx>
            <c:strRef>
              <c:f>Sheet1!$E$1</c:f>
              <c:strCache>
                <c:ptCount val="1"/>
                <c:pt idx="0">
                  <c:v>Decrease</c:v>
                </c:pt>
              </c:strCache>
            </c:strRef>
          </c:tx>
          <c:spPr>
            <a:solidFill>
              <a:srgbClr val="C0392B"/>
            </a:solidFill>
          </c:spPr>
          <c:cat>
            <c:strRef>
              <c:f>Sheet1!$A$2:$A$9</c:f>
              <c:strCache>
                <c:ptCount val="8"/>
                <c:pt idx="0">
                  <c:v>EBITDA 2025</c:v>
                </c:pt>
                <c:pt idx="1">
                  <c:v>Pricing &amp; promo</c:v>
                </c:pt>
                <c:pt idx="2">
                  <c:v>Private label</c:v>
                </c:pt>
                <c:pt idx="3">
                  <c:v>Cost programme</c:v>
                </c:pt>
                <c:pt idx="4">
                  <c:v>Discount banner</c:v>
                </c:pt>
                <c:pt idx="5">
                  <c:v>Online hubs</c:v>
                </c:pt>
                <c:pt idx="6">
                  <c:v>Market headwinds</c:v>
                </c:pt>
                <c:pt idx="7">
                  <c:v>EBITDA 2028</c:v>
                </c:pt>
              </c:strCache>
            </c:strRef>
          </c:cat>
          <c:val>
            <c:numRef>
              <c:f>Sheet1!$E$2:$E$9</c:f>
              <c:numCache>
                <c:formatCode>General</c:formatCode>
                <c:ptCount val="8"/>
                <c:pt idx="0">
                  <c:v>0.0</c:v>
                </c:pt>
                <c:pt idx="1">
                  <c:v>0.0</c:v>
                </c:pt>
                <c:pt idx="2">
                  <c:v>0.0</c:v>
                </c:pt>
                <c:pt idx="3">
                  <c:v>0.0</c:v>
                </c:pt>
                <c:pt idx="4">
                  <c:v>0.0</c:v>
                </c:pt>
                <c:pt idx="5">
                  <c:v>0.0</c:v>
                </c:pt>
                <c:pt idx="6">
                  <c:v>40.0</c:v>
                </c:pt>
                <c:pt idx="7">
                  <c:v>0.0</c:v>
                </c:pt>
              </c:numCache>
            </c:numRef>
          </c:val>
        </c:ser>
        <c:gapWidth val="45"/>
        <c:overlap val="100"/>
        <c:axId val="-2068027336"/>
        <c:axId val="-2113994440"/>
      </c:barChart>
      <c:catAx>
        <c:axId val="-2068027336"/>
        <c:scaling>
          <c:orientation val="minMax"/>
        </c:scaling>
        <c:delete val="0"/>
        <c:axPos val="b"/>
        <c:majorTickMark val="none"/>
        <c:minorTickMark val="none"/>
        <c:tickLblPos val="low"/>
        <c:spPr>
          <a:ln w="9525">
            <a:solidFill>
              <a:srgbClr val="B7BFC8"/>
            </a:solidFill>
          </a:ln>
        </c:spPr>
        <c:txPr>
          <a:bodyPr/>
          <a:lstStyle/>
          <a:p>
            <a:pPr>
              <a:defRPr sz="1000" b="0">
                <a:solidFill>
                  <a:srgbClr val="1E252D"/>
                </a:solidFill>
                <a:latin typeface="Arial"/>
              </a:defRPr>
            </a:pPr>
          </a:p>
        </c:txPr>
        <c:crossAx val="-2113994440"/>
        <c:crosses val="autoZero"/>
        <c:auto val="1"/>
        <c:lblAlgn val="ctr"/>
        <c:lblOffset val="100"/>
        <c:noMultiLvlLbl val="0"/>
      </c:catAx>
      <c:valAx>
        <c:axId val="-2113994440"/>
        <c:scaling>
          <c:max val="540.0"/>
          <c:min val="0.0"/>
        </c:scaling>
        <c:delete/>
        <c:axPos val="l"/>
        <c:majorTickMark val="out"/>
        <c:minorTickMark val="none"/>
        <c:tickLblPos val="nextTo"/>
        <c:crossAx val="-2068027336"/>
        <c:crosses val="autoZero"/>
        <c:majorUnit val="100.0"/>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market growth is coming from The market added €20.7bn in four years; €15.5bn went to discount and online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market growth is coming from The market added €20.7bn in four years; €15.5bn went to discount and online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market growth is coming from The market added €20.7bn in four years; €15.5bn went to discount and online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Alvora's growth has fallen below the market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Alvora's growth has fallen below the market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 is weakest where the market grows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 is weakest where the market grows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Alvora is weakest where the market grows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drove the EBITDA decline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the margin erosion by category and region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Alvora's competitive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Alvora's competitive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Alvora's competitive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target operating model and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implementation plan and its sequencing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implementation plan and its sequencing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implementation plan and its sequencing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Quantify the EBITDA impact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Quantify the EBITDA impact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MARKET</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Discount and online captured 75% of Iberian grocery growth since 2021</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National statistics; retailer reports; team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3</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Iberian grocery market by channel</a:t>
            </a:r>
            <a:r>
              <a:rPr sz="1100" b="0">
                <a:solidFill>
                  <a:srgbClr val="1E252D"/>
                </a:solidFill>
                <a:latin typeface="Arial"/>
              </a:rPr>
              <a:t>, €bn</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390899" y="2525207"/>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121.3</a:t>
            </a:r>
          </a:p>
        </p:txBody>
      </p:sp>
      <p:sp>
        <p:nvSpPr>
          <p:cNvPr id="9" name="cpe|exhibit|label|8"/>
          <p:cNvSpPr txBox="1"/>
          <p:nvPr/>
        </p:nvSpPr>
        <p:spPr>
          <a:xfrm>
            <a:off x="5556535" y="3296229"/>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125.9</a:t>
            </a:r>
          </a:p>
        </p:txBody>
      </p:sp>
      <p:sp>
        <p:nvSpPr>
          <p:cNvPr id="10" name="cpe|exhibit|label|9"/>
          <p:cNvSpPr txBox="1"/>
          <p:nvPr/>
        </p:nvSpPr>
        <p:spPr>
          <a:xfrm>
            <a:off x="5743775" y="4067251"/>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131.1</a:t>
            </a:r>
          </a:p>
        </p:txBody>
      </p:sp>
      <p:sp>
        <p:nvSpPr>
          <p:cNvPr id="11" name="cpe|exhibit|label|10"/>
          <p:cNvSpPr txBox="1"/>
          <p:nvPr/>
        </p:nvSpPr>
        <p:spPr>
          <a:xfrm>
            <a:off x="5934616" y="4838273"/>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136.4</a:t>
            </a:r>
          </a:p>
        </p:txBody>
      </p:sp>
      <p:sp>
        <p:nvSpPr>
          <p:cNvPr id="12" name="cpe|exhibit|label|11"/>
          <p:cNvSpPr txBox="1"/>
          <p:nvPr/>
        </p:nvSpPr>
        <p:spPr>
          <a:xfrm>
            <a:off x="6136260" y="5609295"/>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142.0</a:t>
            </a:r>
          </a:p>
        </p:txBody>
      </p:sp>
      <p:sp>
        <p:nvSpPr>
          <p:cNvPr id="13" name="cpe|exhibit|marker|12"/>
          <p:cNvSpPr/>
          <p:nvPr/>
        </p:nvSpPr>
        <p:spPr>
          <a:xfrm>
            <a:off x="968296" y="1965960"/>
            <a:ext cx="128016" cy="128016"/>
          </a:xfrm>
          <a:prstGeom prst="rect">
            <a:avLst/>
          </a:prstGeom>
          <a:solidFill>
            <a:srgbClr val="0B1F3A"/>
          </a:solidFill>
          <a:ln>
            <a:noFill/>
          </a:ln>
        </p:spPr>
        <p:txBody>
          <a:bodyPr rtlCol="0" anchor="ctr" lIns="0" rIns="0" tIns="0" bIns="0"/>
          <a:lstStyle/>
          <a:p>
            <a:pPr algn="ctr"/>
          </a:p>
        </p:txBody>
      </p:sp>
      <p:sp>
        <p:nvSpPr>
          <p:cNvPr id="14" name="cpe|exhibit|label|13"/>
          <p:cNvSpPr txBox="1"/>
          <p:nvPr/>
        </p:nvSpPr>
        <p:spPr>
          <a:xfrm>
            <a:off x="1151176" y="1901952"/>
            <a:ext cx="631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Discount</a:t>
            </a:r>
          </a:p>
        </p:txBody>
      </p:sp>
      <p:sp>
        <p:nvSpPr>
          <p:cNvPr id="15" name="cpe|exhibit|marker|14"/>
          <p:cNvSpPr/>
          <p:nvPr/>
        </p:nvSpPr>
        <p:spPr>
          <a:xfrm>
            <a:off x="1965305" y="1965960"/>
            <a:ext cx="128016" cy="128016"/>
          </a:xfrm>
          <a:prstGeom prst="rect">
            <a:avLst/>
          </a:prstGeom>
          <a:solidFill>
            <a:srgbClr val="C9D0D8"/>
          </a:solidFill>
          <a:ln>
            <a:noFill/>
          </a:ln>
        </p:spPr>
        <p:txBody>
          <a:bodyPr rtlCol="0" anchor="ctr" lIns="0" rIns="0" tIns="0" bIns="0"/>
          <a:lstStyle/>
          <a:p>
            <a:pPr algn="ctr"/>
          </a:p>
        </p:txBody>
      </p:sp>
      <p:sp>
        <p:nvSpPr>
          <p:cNvPr id="16" name="cpe|exhibit|label|15"/>
          <p:cNvSpPr txBox="1"/>
          <p:nvPr/>
        </p:nvSpPr>
        <p:spPr>
          <a:xfrm>
            <a:off x="2148185" y="1901952"/>
            <a:ext cx="927636"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Supermarkets</a:t>
            </a:r>
          </a:p>
        </p:txBody>
      </p:sp>
      <p:sp>
        <p:nvSpPr>
          <p:cNvPr id="17" name="cpe|exhibit|marker|16"/>
          <p:cNvSpPr/>
          <p:nvPr/>
        </p:nvSpPr>
        <p:spPr>
          <a:xfrm>
            <a:off x="3258701" y="1965960"/>
            <a:ext cx="128016" cy="128016"/>
          </a:xfrm>
          <a:prstGeom prst="rect">
            <a:avLst/>
          </a:prstGeom>
          <a:solidFill>
            <a:srgbClr val="E3E7EB"/>
          </a:solidFill>
          <a:ln>
            <a:noFill/>
          </a:ln>
        </p:spPr>
        <p:txBody>
          <a:bodyPr rtlCol="0" anchor="ctr" lIns="0" rIns="0" tIns="0" bIns="0"/>
          <a:lstStyle/>
          <a:p>
            <a:pPr algn="ctr"/>
          </a:p>
        </p:txBody>
      </p:sp>
      <p:sp>
        <p:nvSpPr>
          <p:cNvPr id="18" name="cpe|exhibit|label|17"/>
          <p:cNvSpPr txBox="1"/>
          <p:nvPr/>
        </p:nvSpPr>
        <p:spPr>
          <a:xfrm>
            <a:off x="3441581" y="1901952"/>
            <a:ext cx="927517"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Hypermarkets</a:t>
            </a:r>
          </a:p>
        </p:txBody>
      </p:sp>
      <p:sp>
        <p:nvSpPr>
          <p:cNvPr id="19" name="cpe|exhibit|marker|18"/>
          <p:cNvSpPr/>
          <p:nvPr/>
        </p:nvSpPr>
        <p:spPr>
          <a:xfrm>
            <a:off x="4551978" y="1965960"/>
            <a:ext cx="128016" cy="128016"/>
          </a:xfrm>
          <a:prstGeom prst="rect">
            <a:avLst/>
          </a:prstGeom>
          <a:solidFill>
            <a:srgbClr val="B7BFC8"/>
          </a:solidFill>
          <a:ln>
            <a:noFill/>
          </a:ln>
        </p:spPr>
        <p:txBody>
          <a:bodyPr rtlCol="0" anchor="ctr" lIns="0" rIns="0" tIns="0" bIns="0"/>
          <a:lstStyle/>
          <a:p>
            <a:pPr algn="ctr"/>
          </a:p>
        </p:txBody>
      </p:sp>
      <p:sp>
        <p:nvSpPr>
          <p:cNvPr id="20" name="cpe|exhibit|label|19"/>
          <p:cNvSpPr txBox="1"/>
          <p:nvPr/>
        </p:nvSpPr>
        <p:spPr>
          <a:xfrm>
            <a:off x="4734858" y="1901952"/>
            <a:ext cx="878463"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Convenience</a:t>
            </a:r>
          </a:p>
        </p:txBody>
      </p:sp>
      <p:sp>
        <p:nvSpPr>
          <p:cNvPr id="21" name="cpe|exhibit|marker|20"/>
          <p:cNvSpPr/>
          <p:nvPr/>
        </p:nvSpPr>
        <p:spPr>
          <a:xfrm>
            <a:off x="5796201" y="1965960"/>
            <a:ext cx="128016" cy="128016"/>
          </a:xfrm>
          <a:prstGeom prst="rect">
            <a:avLst/>
          </a:prstGeom>
          <a:solidFill>
            <a:srgbClr val="00A3AD"/>
          </a:solidFill>
          <a:ln>
            <a:noFill/>
          </a:ln>
        </p:spPr>
        <p:txBody>
          <a:bodyPr rtlCol="0" anchor="ctr" lIns="0" rIns="0" tIns="0" bIns="0"/>
          <a:lstStyle/>
          <a:p>
            <a:pPr algn="ctr"/>
          </a:p>
        </p:txBody>
      </p:sp>
      <p:sp>
        <p:nvSpPr>
          <p:cNvPr id="22" name="cpe|exhibit|label|21"/>
          <p:cNvSpPr txBox="1"/>
          <p:nvPr/>
        </p:nvSpPr>
        <p:spPr>
          <a:xfrm>
            <a:off x="5979081" y="1901952"/>
            <a:ext cx="504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Online</a:t>
            </a:r>
          </a:p>
        </p:txBody>
      </p:sp>
      <p:cxnSp>
        <p:nvCxnSpPr>
          <p:cNvPr id="23" name="cpe|commentary|line|22"/>
          <p:cNvCxnSpPr/>
          <p:nvPr/>
        </p:nvCxnSpPr>
        <p:spPr>
          <a:xfrm>
            <a:off x="8094269" y="1481328"/>
            <a:ext cx="0" cy="4718304"/>
          </a:xfrm>
          <a:prstGeom prst="line">
            <a:avLst/>
          </a:prstGeom>
          <a:ln w="9525">
            <a:solidFill>
              <a:srgbClr val="B7BFC8"/>
            </a:solidFill>
          </a:ln>
        </p:spPr>
      </p:cxnSp>
      <p:sp>
        <p:nvSpPr>
          <p:cNvPr id="24" name="cpe|commentary|text|23"/>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What moves the market</a:t>
            </a:r>
          </a:p>
        </p:txBody>
      </p:sp>
      <p:sp>
        <p:nvSpPr>
          <p:cNvPr id="25" name="cpe|commentary|text|24"/>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Discount</a:t>
            </a:r>
            <a:r>
              <a:rPr sz="1200" b="0">
                <a:solidFill>
                  <a:srgbClr val="1E252D"/>
                </a:solidFill>
                <a:latin typeface="Arial"/>
              </a:rPr>
              <a:t> grows 7.8% a year on price-sensitive households, who have been trading down across all categories since the energy shock and now visit discounters at least once a week in most regions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Online</a:t>
            </a:r>
            <a:r>
              <a:rPr sz="1200" b="0">
                <a:solidFill>
                  <a:srgbClr val="1E252D"/>
                </a:solidFill>
                <a:latin typeface="Arial"/>
              </a:rPr>
              <a:t> is still small but compounding at 14% a year, driven by quick-commerce in the two largest metropolitan areas and by subscription models from the pure players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Supermarkets</a:t>
            </a:r>
            <a:r>
              <a:rPr sz="1200" b="0">
                <a:solidFill>
                  <a:srgbClr val="1E252D"/>
                </a:solidFill>
                <a:latin typeface="Arial"/>
              </a:rPr>
              <a:t> grow at 2%, below food inflation, which means volumes are shrinking in real terms for the first time in a decade</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Hypermarkets</a:t>
            </a:r>
            <a:r>
              <a:rPr sz="1200" b="0">
                <a:solidFill>
                  <a:srgbClr val="1E252D"/>
                </a:solidFill>
                <a:latin typeface="Arial"/>
              </a:rPr>
              <a:t> shrink as shopping trips move to proximity formats, and several operators are converting out-of-town boxes</a:t>
            </a:r>
          </a:p>
          <a:p>
            <a:pPr algn="l" marL="155448" indent="-155448">
              <a:lnSpc>
                <a:spcPct val="108000"/>
              </a:lnSpc>
              <a:buClr>
                <a:srgbClr val="1E252D"/>
              </a:buClr>
              <a:buSzPct val="100000"/>
              <a:buFont typeface="Arial"/>
              <a:buChar char="•"/>
            </a:pPr>
            <a:r>
              <a:rPr sz="1200" b="1">
                <a:solidFill>
                  <a:srgbClr val="1E252D"/>
                </a:solidFill>
                <a:latin typeface="Arial"/>
              </a:rPr>
              <a:t>Convenience</a:t>
            </a:r>
            <a:r>
              <a:rPr sz="1200" b="0">
                <a:solidFill>
                  <a:srgbClr val="1E252D"/>
                </a:solidFill>
                <a:latin typeface="Arial"/>
              </a:rPr>
              <a:t> keeps growing at 5% thanks to food-to-go, although margins are under pressure from waste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MARKET</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Discount and online captured 75% of Iberian grocery growth since 2021</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National statistics; retailer reports; team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3</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Iberian grocery market by channel</a:t>
            </a:r>
            <a:r>
              <a:rPr sz="1100" b="0">
                <a:solidFill>
                  <a:srgbClr val="1E252D"/>
                </a:solidFill>
                <a:latin typeface="Arial"/>
              </a:rPr>
              <a:t>, €bn</a:t>
            </a:r>
          </a:p>
        </p:txBody>
      </p:sp>
      <p:graphicFrame>
        <p:nvGraphicFramePr>
          <p:cNvPr id="7" name="cpe|exhibit|chart|6"/>
          <p:cNvGraphicFramePr>
            <a:graphicFrameLocks noGrp="1"/>
          </p:cNvGraphicFramePr>
          <p:nvPr/>
        </p:nvGraphicFramePr>
        <p:xfrm>
          <a:off x="502920" y="1901952"/>
          <a:ext cx="11185855" cy="2781605"/>
        </p:xfrm>
        <a:graphic>
          <a:graphicData uri="http://schemas.openxmlformats.org/drawingml/2006/chart">
            <c:chart xmlns:c="http://schemas.openxmlformats.org/drawingml/2006/chart" r:id="rId2"/>
          </a:graphicData>
        </a:graphic>
      </p:graphicFrame>
      <p:sp>
        <p:nvSpPr>
          <p:cNvPr id="8" name="cpe|exhibit|label|7"/>
          <p:cNvSpPr txBox="1"/>
          <p:nvPr/>
        </p:nvSpPr>
        <p:spPr>
          <a:xfrm>
            <a:off x="7795290" y="2376632"/>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121.3</a:t>
            </a:r>
          </a:p>
        </p:txBody>
      </p:sp>
      <p:sp>
        <p:nvSpPr>
          <p:cNvPr id="9" name="cpe|exhibit|label|8"/>
          <p:cNvSpPr txBox="1"/>
          <p:nvPr/>
        </p:nvSpPr>
        <p:spPr>
          <a:xfrm>
            <a:off x="8052106" y="2850503"/>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125.9</a:t>
            </a:r>
          </a:p>
        </p:txBody>
      </p:sp>
      <p:sp>
        <p:nvSpPr>
          <p:cNvPr id="10" name="cpe|exhibit|label|9"/>
          <p:cNvSpPr txBox="1"/>
          <p:nvPr/>
        </p:nvSpPr>
        <p:spPr>
          <a:xfrm>
            <a:off x="8342420" y="3324374"/>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131.1</a:t>
            </a:r>
          </a:p>
        </p:txBody>
      </p:sp>
      <p:sp>
        <p:nvSpPr>
          <p:cNvPr id="11" name="cpe|exhibit|label|10"/>
          <p:cNvSpPr txBox="1"/>
          <p:nvPr/>
        </p:nvSpPr>
        <p:spPr>
          <a:xfrm>
            <a:off x="8638317" y="3798246"/>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136.4</a:t>
            </a:r>
          </a:p>
        </p:txBody>
      </p:sp>
      <p:sp>
        <p:nvSpPr>
          <p:cNvPr id="12" name="cpe|exhibit|label|11"/>
          <p:cNvSpPr txBox="1"/>
          <p:nvPr/>
        </p:nvSpPr>
        <p:spPr>
          <a:xfrm>
            <a:off x="8950963" y="4272117"/>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142.0</a:t>
            </a:r>
          </a:p>
        </p:txBody>
      </p:sp>
      <p:sp>
        <p:nvSpPr>
          <p:cNvPr id="13" name="cpe|exhibit|marker|12"/>
          <p:cNvSpPr/>
          <p:nvPr/>
        </p:nvSpPr>
        <p:spPr>
          <a:xfrm>
            <a:off x="968296" y="1965960"/>
            <a:ext cx="128016" cy="128016"/>
          </a:xfrm>
          <a:prstGeom prst="rect">
            <a:avLst/>
          </a:prstGeom>
          <a:solidFill>
            <a:srgbClr val="0B1F3A"/>
          </a:solidFill>
          <a:ln>
            <a:noFill/>
          </a:ln>
        </p:spPr>
        <p:txBody>
          <a:bodyPr rtlCol="0" anchor="ctr" lIns="0" rIns="0" tIns="0" bIns="0"/>
          <a:lstStyle/>
          <a:p>
            <a:pPr algn="ctr"/>
          </a:p>
        </p:txBody>
      </p:sp>
      <p:sp>
        <p:nvSpPr>
          <p:cNvPr id="14" name="cpe|exhibit|label|13"/>
          <p:cNvSpPr txBox="1"/>
          <p:nvPr/>
        </p:nvSpPr>
        <p:spPr>
          <a:xfrm>
            <a:off x="1151176" y="1901952"/>
            <a:ext cx="631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Discount</a:t>
            </a:r>
          </a:p>
        </p:txBody>
      </p:sp>
      <p:sp>
        <p:nvSpPr>
          <p:cNvPr id="15" name="cpe|exhibit|marker|14"/>
          <p:cNvSpPr/>
          <p:nvPr/>
        </p:nvSpPr>
        <p:spPr>
          <a:xfrm>
            <a:off x="1965305" y="1965960"/>
            <a:ext cx="128016" cy="128016"/>
          </a:xfrm>
          <a:prstGeom prst="rect">
            <a:avLst/>
          </a:prstGeom>
          <a:solidFill>
            <a:srgbClr val="C9D0D8"/>
          </a:solidFill>
          <a:ln>
            <a:noFill/>
          </a:ln>
        </p:spPr>
        <p:txBody>
          <a:bodyPr rtlCol="0" anchor="ctr" lIns="0" rIns="0" tIns="0" bIns="0"/>
          <a:lstStyle/>
          <a:p>
            <a:pPr algn="ctr"/>
          </a:p>
        </p:txBody>
      </p:sp>
      <p:sp>
        <p:nvSpPr>
          <p:cNvPr id="16" name="cpe|exhibit|label|15"/>
          <p:cNvSpPr txBox="1"/>
          <p:nvPr/>
        </p:nvSpPr>
        <p:spPr>
          <a:xfrm>
            <a:off x="2148185" y="1901952"/>
            <a:ext cx="927636"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Supermarkets</a:t>
            </a:r>
          </a:p>
        </p:txBody>
      </p:sp>
      <p:sp>
        <p:nvSpPr>
          <p:cNvPr id="17" name="cpe|exhibit|marker|16"/>
          <p:cNvSpPr/>
          <p:nvPr/>
        </p:nvSpPr>
        <p:spPr>
          <a:xfrm>
            <a:off x="3258701" y="1965960"/>
            <a:ext cx="128016" cy="128016"/>
          </a:xfrm>
          <a:prstGeom prst="rect">
            <a:avLst/>
          </a:prstGeom>
          <a:solidFill>
            <a:srgbClr val="E3E7EB"/>
          </a:solidFill>
          <a:ln>
            <a:noFill/>
          </a:ln>
        </p:spPr>
        <p:txBody>
          <a:bodyPr rtlCol="0" anchor="ctr" lIns="0" rIns="0" tIns="0" bIns="0"/>
          <a:lstStyle/>
          <a:p>
            <a:pPr algn="ctr"/>
          </a:p>
        </p:txBody>
      </p:sp>
      <p:sp>
        <p:nvSpPr>
          <p:cNvPr id="18" name="cpe|exhibit|label|17"/>
          <p:cNvSpPr txBox="1"/>
          <p:nvPr/>
        </p:nvSpPr>
        <p:spPr>
          <a:xfrm>
            <a:off x="3441581" y="1901952"/>
            <a:ext cx="927517"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Hypermarkets</a:t>
            </a:r>
          </a:p>
        </p:txBody>
      </p:sp>
      <p:sp>
        <p:nvSpPr>
          <p:cNvPr id="19" name="cpe|exhibit|marker|18"/>
          <p:cNvSpPr/>
          <p:nvPr/>
        </p:nvSpPr>
        <p:spPr>
          <a:xfrm>
            <a:off x="4551978" y="1965960"/>
            <a:ext cx="128016" cy="128016"/>
          </a:xfrm>
          <a:prstGeom prst="rect">
            <a:avLst/>
          </a:prstGeom>
          <a:solidFill>
            <a:srgbClr val="B7BFC8"/>
          </a:solidFill>
          <a:ln>
            <a:noFill/>
          </a:ln>
        </p:spPr>
        <p:txBody>
          <a:bodyPr rtlCol="0" anchor="ctr" lIns="0" rIns="0" tIns="0" bIns="0"/>
          <a:lstStyle/>
          <a:p>
            <a:pPr algn="ctr"/>
          </a:p>
        </p:txBody>
      </p:sp>
      <p:sp>
        <p:nvSpPr>
          <p:cNvPr id="20" name="cpe|exhibit|label|19"/>
          <p:cNvSpPr txBox="1"/>
          <p:nvPr/>
        </p:nvSpPr>
        <p:spPr>
          <a:xfrm>
            <a:off x="4734858" y="1901952"/>
            <a:ext cx="878463"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Convenience</a:t>
            </a:r>
          </a:p>
        </p:txBody>
      </p:sp>
      <p:sp>
        <p:nvSpPr>
          <p:cNvPr id="21" name="cpe|exhibit|marker|20"/>
          <p:cNvSpPr/>
          <p:nvPr/>
        </p:nvSpPr>
        <p:spPr>
          <a:xfrm>
            <a:off x="5796201" y="1965960"/>
            <a:ext cx="128016" cy="128016"/>
          </a:xfrm>
          <a:prstGeom prst="rect">
            <a:avLst/>
          </a:prstGeom>
          <a:solidFill>
            <a:srgbClr val="00A3AD"/>
          </a:solidFill>
          <a:ln>
            <a:noFill/>
          </a:ln>
        </p:spPr>
        <p:txBody>
          <a:bodyPr rtlCol="0" anchor="ctr" lIns="0" rIns="0" tIns="0" bIns="0"/>
          <a:lstStyle/>
          <a:p>
            <a:pPr algn="ctr"/>
          </a:p>
        </p:txBody>
      </p:sp>
      <p:sp>
        <p:nvSpPr>
          <p:cNvPr id="22" name="cpe|exhibit|label|21"/>
          <p:cNvSpPr txBox="1"/>
          <p:nvPr/>
        </p:nvSpPr>
        <p:spPr>
          <a:xfrm>
            <a:off x="5979081" y="1901952"/>
            <a:ext cx="504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Online</a:t>
            </a:r>
          </a:p>
        </p:txBody>
      </p:sp>
      <p:cxnSp>
        <p:nvCxnSpPr>
          <p:cNvPr id="23" name="cpe|commentary|line|22"/>
          <p:cNvCxnSpPr/>
          <p:nvPr/>
        </p:nvCxnSpPr>
        <p:spPr>
          <a:xfrm>
            <a:off x="502920" y="4884725"/>
            <a:ext cx="11185855" cy="0"/>
          </a:xfrm>
          <a:prstGeom prst="line">
            <a:avLst/>
          </a:prstGeom>
          <a:ln w="9525">
            <a:solidFill>
              <a:srgbClr val="B7BFC8"/>
            </a:solidFill>
          </a:ln>
        </p:spPr>
      </p:cxnSp>
      <p:sp>
        <p:nvSpPr>
          <p:cNvPr id="24" name="cpe|commentary|text|23"/>
          <p:cNvSpPr txBox="1"/>
          <p:nvPr/>
        </p:nvSpPr>
        <p:spPr>
          <a:xfrm>
            <a:off x="502920" y="5021885"/>
            <a:ext cx="2076237" cy="1177747"/>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Discount</a:t>
            </a:r>
            <a:r>
              <a:rPr sz="1100" b="0">
                <a:solidFill>
                  <a:srgbClr val="1E252D"/>
                </a:solidFill>
                <a:latin typeface="Arial"/>
              </a:rPr>
              <a:t> grows 7.8% a year on price-sensitive households, who have been trading down across all categories since the energy shock and now visit discounters at least once a week in most regions</a:t>
            </a:r>
          </a:p>
        </p:txBody>
      </p:sp>
      <p:sp>
        <p:nvSpPr>
          <p:cNvPr id="25" name="cpe|commentary|text|24"/>
          <p:cNvSpPr txBox="1"/>
          <p:nvPr/>
        </p:nvSpPr>
        <p:spPr>
          <a:xfrm>
            <a:off x="2780325" y="5021885"/>
            <a:ext cx="2076237" cy="1177747"/>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Online</a:t>
            </a:r>
            <a:r>
              <a:rPr sz="1200" b="0">
                <a:solidFill>
                  <a:srgbClr val="1E252D"/>
                </a:solidFill>
                <a:latin typeface="Arial"/>
              </a:rPr>
              <a:t> is still small but compounding at 14% a year, driven by quick-commerce in the two largest metropolitan areas and by subscription models from the pure players</a:t>
            </a:r>
          </a:p>
        </p:txBody>
      </p:sp>
      <p:sp>
        <p:nvSpPr>
          <p:cNvPr id="26" name="cpe|commentary|text|25"/>
          <p:cNvSpPr txBox="1"/>
          <p:nvPr/>
        </p:nvSpPr>
        <p:spPr>
          <a:xfrm>
            <a:off x="5057729" y="5021885"/>
            <a:ext cx="2076237" cy="1177747"/>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Supermarkets</a:t>
            </a:r>
            <a:r>
              <a:rPr sz="1200" b="0">
                <a:solidFill>
                  <a:srgbClr val="1E252D"/>
                </a:solidFill>
                <a:latin typeface="Arial"/>
              </a:rPr>
              <a:t> grow at 2%, below food inflation, which means volumes are shrinking in real terms for the first time in a decade</a:t>
            </a:r>
          </a:p>
        </p:txBody>
      </p:sp>
      <p:sp>
        <p:nvSpPr>
          <p:cNvPr id="27" name="cpe|commentary|text|26"/>
          <p:cNvSpPr txBox="1"/>
          <p:nvPr/>
        </p:nvSpPr>
        <p:spPr>
          <a:xfrm>
            <a:off x="7335134" y="5021885"/>
            <a:ext cx="2076237" cy="1177747"/>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Hypermarkets</a:t>
            </a:r>
            <a:r>
              <a:rPr sz="1200" b="0">
                <a:solidFill>
                  <a:srgbClr val="1E252D"/>
                </a:solidFill>
                <a:latin typeface="Arial"/>
              </a:rPr>
              <a:t> shrink as shopping trips move to proximity formats, and several operators are converting out-of-town boxes</a:t>
            </a:r>
          </a:p>
        </p:txBody>
      </p:sp>
      <p:sp>
        <p:nvSpPr>
          <p:cNvPr id="28" name="cpe|commentary|text|27"/>
          <p:cNvSpPr txBox="1"/>
          <p:nvPr/>
        </p:nvSpPr>
        <p:spPr>
          <a:xfrm>
            <a:off x="9612539" y="5021885"/>
            <a:ext cx="2076237" cy="1177747"/>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Convenience</a:t>
            </a:r>
            <a:r>
              <a:rPr sz="1200" b="0">
                <a:solidFill>
                  <a:srgbClr val="1E252D"/>
                </a:solidFill>
                <a:latin typeface="Arial"/>
              </a:rPr>
              <a:t> keeps growing at 5% thanks to food-to-go, although margins are under pressure from waste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MARKET</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Discount and online captured 75% of Iberian grocery growth since 2021</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National statistics; retailer reports; team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3</a:t>
            </a:r>
          </a:p>
        </p:txBody>
      </p:sp>
      <p:cxnSp>
        <p:nvCxnSpPr>
          <p:cNvPr id="6" name="cpe|commentary|line|5"/>
          <p:cNvCxnSpPr/>
          <p:nvPr/>
        </p:nvCxnSpPr>
        <p:spPr>
          <a:xfrm>
            <a:off x="4097426" y="1481328"/>
            <a:ext cx="0" cy="4718304"/>
          </a:xfrm>
          <a:prstGeom prst="line">
            <a:avLst/>
          </a:prstGeom>
          <a:ln w="9525">
            <a:solidFill>
              <a:srgbClr val="B7BFC8"/>
            </a:solidFill>
          </a:ln>
        </p:spPr>
      </p:cxnSp>
      <p:sp>
        <p:nvSpPr>
          <p:cNvPr id="7" name="cpe|commentary|text|6"/>
          <p:cNvSpPr txBox="1"/>
          <p:nvPr/>
        </p:nvSpPr>
        <p:spPr>
          <a:xfrm>
            <a:off x="502920"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What moves the market</a:t>
            </a:r>
          </a:p>
        </p:txBody>
      </p:sp>
      <p:sp>
        <p:nvSpPr>
          <p:cNvPr id="8" name="cpe|commentary|text|7"/>
          <p:cNvSpPr txBox="1"/>
          <p:nvPr/>
        </p:nvSpPr>
        <p:spPr>
          <a:xfrm>
            <a:off x="502920"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Discount</a:t>
            </a:r>
            <a:r>
              <a:rPr sz="1200" b="0">
                <a:solidFill>
                  <a:srgbClr val="1E252D"/>
                </a:solidFill>
                <a:latin typeface="Arial"/>
              </a:rPr>
              <a:t> grows 7.8% a year on price-sensitive households, who have been trading down across all categories since the energy shock and now visit discounters at least once a week in most regions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Online</a:t>
            </a:r>
            <a:r>
              <a:rPr sz="1200" b="0">
                <a:solidFill>
                  <a:srgbClr val="1E252D"/>
                </a:solidFill>
                <a:latin typeface="Arial"/>
              </a:rPr>
              <a:t> is still small but compounding at 14% a year, driven by quick-commerce in the two largest metropolitan areas and by subscription models from the pure players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Supermarkets</a:t>
            </a:r>
            <a:r>
              <a:rPr sz="1200" b="0">
                <a:solidFill>
                  <a:srgbClr val="1E252D"/>
                </a:solidFill>
                <a:latin typeface="Arial"/>
              </a:rPr>
              <a:t> grow at 2%, below food inflation, which means volumes are shrinking in real terms for the first time in a decade</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Hypermarkets</a:t>
            </a:r>
            <a:r>
              <a:rPr sz="1200" b="0">
                <a:solidFill>
                  <a:srgbClr val="1E252D"/>
                </a:solidFill>
                <a:latin typeface="Arial"/>
              </a:rPr>
              <a:t> shrink as shopping trips move to proximity formats, and several operators are converting out-of-town boxes</a:t>
            </a:r>
          </a:p>
          <a:p>
            <a:pPr algn="l" marL="155448" indent="-155448">
              <a:lnSpc>
                <a:spcPct val="108000"/>
              </a:lnSpc>
              <a:buClr>
                <a:srgbClr val="1E252D"/>
              </a:buClr>
              <a:buSzPct val="100000"/>
              <a:buFont typeface="Arial"/>
              <a:buChar char="•"/>
            </a:pPr>
            <a:r>
              <a:rPr sz="1200" b="1">
                <a:solidFill>
                  <a:srgbClr val="1E252D"/>
                </a:solidFill>
                <a:latin typeface="Arial"/>
              </a:rPr>
              <a:t>Convenience</a:t>
            </a:r>
            <a:r>
              <a:rPr sz="1200" b="0">
                <a:solidFill>
                  <a:srgbClr val="1E252D"/>
                </a:solidFill>
                <a:latin typeface="Arial"/>
              </a:rPr>
              <a:t> keeps growing at 5% thanks to food-to-go, although margins are under pressure from waste</a:t>
            </a:r>
          </a:p>
        </p:txBody>
      </p:sp>
      <p:sp>
        <p:nvSpPr>
          <p:cNvPr id="9" name="cpe|exhibit|text|8"/>
          <p:cNvSpPr txBox="1"/>
          <p:nvPr/>
        </p:nvSpPr>
        <p:spPr>
          <a:xfrm>
            <a:off x="4298594"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Iberian grocery market by channel</a:t>
            </a:r>
            <a:r>
              <a:rPr sz="1100" b="0">
                <a:solidFill>
                  <a:srgbClr val="1E252D"/>
                </a:solidFill>
                <a:latin typeface="Arial"/>
              </a:rPr>
              <a:t>, €bn</a:t>
            </a:r>
          </a:p>
        </p:txBody>
      </p:sp>
      <p:graphicFrame>
        <p:nvGraphicFramePr>
          <p:cNvPr id="10" name="cpe|exhibit|chart|9"/>
          <p:cNvGraphicFramePr>
            <a:graphicFrameLocks noGrp="1"/>
          </p:cNvGraphicFramePr>
          <p:nvPr/>
        </p:nvGraphicFramePr>
        <p:xfrm>
          <a:off x="4298594" y="1901952"/>
          <a:ext cx="7390181" cy="4297680"/>
        </p:xfrm>
        <a:graphic>
          <a:graphicData uri="http://schemas.openxmlformats.org/drawingml/2006/chart">
            <c:chart xmlns:c="http://schemas.openxmlformats.org/drawingml/2006/chart" r:id="rId2"/>
          </a:graphicData>
        </a:graphic>
      </p:graphicFrame>
      <p:sp>
        <p:nvSpPr>
          <p:cNvPr id="11" name="cpe|exhibit|label|10"/>
          <p:cNvSpPr txBox="1"/>
          <p:nvPr/>
        </p:nvSpPr>
        <p:spPr>
          <a:xfrm>
            <a:off x="9186574" y="2525207"/>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121.3</a:t>
            </a:r>
          </a:p>
        </p:txBody>
      </p:sp>
      <p:sp>
        <p:nvSpPr>
          <p:cNvPr id="12" name="cpe|exhibit|label|11"/>
          <p:cNvSpPr txBox="1"/>
          <p:nvPr/>
        </p:nvSpPr>
        <p:spPr>
          <a:xfrm>
            <a:off x="9352209" y="3296229"/>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125.9</a:t>
            </a:r>
          </a:p>
        </p:txBody>
      </p:sp>
      <p:sp>
        <p:nvSpPr>
          <p:cNvPr id="13" name="cpe|exhibit|label|12"/>
          <p:cNvSpPr txBox="1"/>
          <p:nvPr/>
        </p:nvSpPr>
        <p:spPr>
          <a:xfrm>
            <a:off x="9539450" y="4067251"/>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131.1</a:t>
            </a:r>
          </a:p>
        </p:txBody>
      </p:sp>
      <p:sp>
        <p:nvSpPr>
          <p:cNvPr id="14" name="cpe|exhibit|label|13"/>
          <p:cNvSpPr txBox="1"/>
          <p:nvPr/>
        </p:nvSpPr>
        <p:spPr>
          <a:xfrm>
            <a:off x="9730291" y="4838273"/>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136.4</a:t>
            </a:r>
          </a:p>
        </p:txBody>
      </p:sp>
      <p:sp>
        <p:nvSpPr>
          <p:cNvPr id="15" name="cpe|exhibit|label|14"/>
          <p:cNvSpPr txBox="1"/>
          <p:nvPr/>
        </p:nvSpPr>
        <p:spPr>
          <a:xfrm>
            <a:off x="9931934" y="5609295"/>
            <a:ext cx="822960" cy="237744"/>
          </a:xfrm>
          <a:prstGeom prst="rect">
            <a:avLst/>
          </a:prstGeom>
          <a:noFill/>
        </p:spPr>
        <p:txBody>
          <a:bodyPr wrap="square" lIns="0" rIns="0" tIns="0" bIns="0" anchor="ctr">
            <a:noAutofit/>
          </a:bodyPr>
          <a:lstStyle/>
          <a:p>
            <a:pPr algn="l">
              <a:lnSpc>
                <a:spcPct val="100000"/>
              </a:lnSpc>
            </a:pPr>
            <a:r>
              <a:rPr sz="1100" b="1">
                <a:solidFill>
                  <a:srgbClr val="1E252D"/>
                </a:solidFill>
                <a:latin typeface="Arial"/>
              </a:rPr>
              <a:t>142.0</a:t>
            </a:r>
          </a:p>
        </p:txBody>
      </p:sp>
      <p:sp>
        <p:nvSpPr>
          <p:cNvPr id="16" name="cpe|exhibit|marker|15"/>
          <p:cNvSpPr/>
          <p:nvPr/>
        </p:nvSpPr>
        <p:spPr>
          <a:xfrm>
            <a:off x="4763970" y="1965960"/>
            <a:ext cx="128016" cy="128016"/>
          </a:xfrm>
          <a:prstGeom prst="rect">
            <a:avLst/>
          </a:prstGeom>
          <a:solidFill>
            <a:srgbClr val="0B1F3A"/>
          </a:solidFill>
          <a:ln>
            <a:noFill/>
          </a:ln>
        </p:spPr>
        <p:txBody>
          <a:bodyPr rtlCol="0" anchor="ctr" lIns="0" rIns="0" tIns="0" bIns="0"/>
          <a:lstStyle/>
          <a:p>
            <a:pPr algn="ctr"/>
          </a:p>
        </p:txBody>
      </p:sp>
      <p:sp>
        <p:nvSpPr>
          <p:cNvPr id="17" name="cpe|exhibit|label|16"/>
          <p:cNvSpPr txBox="1"/>
          <p:nvPr/>
        </p:nvSpPr>
        <p:spPr>
          <a:xfrm>
            <a:off x="4946850" y="1901952"/>
            <a:ext cx="631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Discount</a:t>
            </a:r>
          </a:p>
        </p:txBody>
      </p:sp>
      <p:sp>
        <p:nvSpPr>
          <p:cNvPr id="18" name="cpe|exhibit|marker|17"/>
          <p:cNvSpPr/>
          <p:nvPr/>
        </p:nvSpPr>
        <p:spPr>
          <a:xfrm>
            <a:off x="5760980" y="1965960"/>
            <a:ext cx="128016" cy="128016"/>
          </a:xfrm>
          <a:prstGeom prst="rect">
            <a:avLst/>
          </a:prstGeom>
          <a:solidFill>
            <a:srgbClr val="C9D0D8"/>
          </a:solidFill>
          <a:ln>
            <a:noFill/>
          </a:ln>
        </p:spPr>
        <p:txBody>
          <a:bodyPr rtlCol="0" anchor="ctr" lIns="0" rIns="0" tIns="0" bIns="0"/>
          <a:lstStyle/>
          <a:p>
            <a:pPr algn="ctr"/>
          </a:p>
        </p:txBody>
      </p:sp>
      <p:sp>
        <p:nvSpPr>
          <p:cNvPr id="19" name="cpe|exhibit|label|18"/>
          <p:cNvSpPr txBox="1"/>
          <p:nvPr/>
        </p:nvSpPr>
        <p:spPr>
          <a:xfrm>
            <a:off x="5943860" y="1901952"/>
            <a:ext cx="927636"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Supermarkets</a:t>
            </a:r>
          </a:p>
        </p:txBody>
      </p:sp>
      <p:sp>
        <p:nvSpPr>
          <p:cNvPr id="20" name="cpe|exhibit|marker|19"/>
          <p:cNvSpPr/>
          <p:nvPr/>
        </p:nvSpPr>
        <p:spPr>
          <a:xfrm>
            <a:off x="7054375" y="1965960"/>
            <a:ext cx="128016" cy="128016"/>
          </a:xfrm>
          <a:prstGeom prst="rect">
            <a:avLst/>
          </a:prstGeom>
          <a:solidFill>
            <a:srgbClr val="E3E7EB"/>
          </a:solidFill>
          <a:ln>
            <a:noFill/>
          </a:ln>
        </p:spPr>
        <p:txBody>
          <a:bodyPr rtlCol="0" anchor="ctr" lIns="0" rIns="0" tIns="0" bIns="0"/>
          <a:lstStyle/>
          <a:p>
            <a:pPr algn="ctr"/>
          </a:p>
        </p:txBody>
      </p:sp>
      <p:sp>
        <p:nvSpPr>
          <p:cNvPr id="21" name="cpe|exhibit|label|20"/>
          <p:cNvSpPr txBox="1"/>
          <p:nvPr/>
        </p:nvSpPr>
        <p:spPr>
          <a:xfrm>
            <a:off x="7237255" y="1901952"/>
            <a:ext cx="927517"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Hypermarkets</a:t>
            </a:r>
          </a:p>
        </p:txBody>
      </p:sp>
      <p:sp>
        <p:nvSpPr>
          <p:cNvPr id="22" name="cpe|exhibit|marker|21"/>
          <p:cNvSpPr/>
          <p:nvPr/>
        </p:nvSpPr>
        <p:spPr>
          <a:xfrm>
            <a:off x="8347652" y="1965960"/>
            <a:ext cx="128016" cy="128016"/>
          </a:xfrm>
          <a:prstGeom prst="rect">
            <a:avLst/>
          </a:prstGeom>
          <a:solidFill>
            <a:srgbClr val="B7BFC8"/>
          </a:solidFill>
          <a:ln>
            <a:noFill/>
          </a:ln>
        </p:spPr>
        <p:txBody>
          <a:bodyPr rtlCol="0" anchor="ctr" lIns="0" rIns="0" tIns="0" bIns="0"/>
          <a:lstStyle/>
          <a:p>
            <a:pPr algn="ctr"/>
          </a:p>
        </p:txBody>
      </p:sp>
      <p:sp>
        <p:nvSpPr>
          <p:cNvPr id="23" name="cpe|exhibit|label|22"/>
          <p:cNvSpPr txBox="1"/>
          <p:nvPr/>
        </p:nvSpPr>
        <p:spPr>
          <a:xfrm>
            <a:off x="8530532" y="1901952"/>
            <a:ext cx="878463"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Convenience</a:t>
            </a:r>
          </a:p>
        </p:txBody>
      </p:sp>
      <p:sp>
        <p:nvSpPr>
          <p:cNvPr id="24" name="cpe|exhibit|marker|23"/>
          <p:cNvSpPr/>
          <p:nvPr/>
        </p:nvSpPr>
        <p:spPr>
          <a:xfrm>
            <a:off x="9591875" y="1965960"/>
            <a:ext cx="128016" cy="128016"/>
          </a:xfrm>
          <a:prstGeom prst="rect">
            <a:avLst/>
          </a:prstGeom>
          <a:solidFill>
            <a:srgbClr val="00A3AD"/>
          </a:solidFill>
          <a:ln>
            <a:noFill/>
          </a:ln>
        </p:spPr>
        <p:txBody>
          <a:bodyPr rtlCol="0" anchor="ctr" lIns="0" rIns="0" tIns="0" bIns="0"/>
          <a:lstStyle/>
          <a:p>
            <a:pPr algn="ctr"/>
          </a:p>
        </p:txBody>
      </p:sp>
      <p:sp>
        <p:nvSpPr>
          <p:cNvPr id="25" name="cpe|exhibit|label|24"/>
          <p:cNvSpPr txBox="1"/>
          <p:nvPr/>
        </p:nvSpPr>
        <p:spPr>
          <a:xfrm>
            <a:off x="9774755" y="1901952"/>
            <a:ext cx="504250" cy="256032"/>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Online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PERFORMANCE</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Alvora's growth slowed to 3.0% in 2025, below the market (4.1%) for the second year</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4</a:t>
            </a:r>
          </a:p>
        </p:txBody>
      </p:sp>
      <p:sp>
        <p:nvSpPr>
          <p:cNvPr id="6" name="cpe|kpis|text|5"/>
          <p:cNvSpPr txBox="1"/>
          <p:nvPr/>
        </p:nvSpPr>
        <p:spPr>
          <a:xfrm>
            <a:off x="502920"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€13.6bn</a:t>
            </a:r>
          </a:p>
        </p:txBody>
      </p:sp>
      <p:sp>
        <p:nvSpPr>
          <p:cNvPr id="7" name="cpe|kpis|text|6"/>
          <p:cNvSpPr txBox="1"/>
          <p:nvPr/>
        </p:nvSpPr>
        <p:spPr>
          <a:xfrm>
            <a:off x="502920" y="2048256"/>
            <a:ext cx="2494712" cy="237744"/>
          </a:xfrm>
          <a:prstGeom prst="rect">
            <a:avLst/>
          </a:prstGeom>
          <a:noFill/>
        </p:spPr>
        <p:txBody>
          <a:bodyPr wrap="square" lIns="0" rIns="0" tIns="0" bIns="0" anchor="t">
            <a:noAutofit/>
          </a:bodyPr>
          <a:lstStyle/>
          <a:p>
            <a:pPr algn="l">
              <a:lnSpc>
                <a:spcPct val="100000"/>
              </a:lnSpc>
            </a:pPr>
            <a:r>
              <a:rPr sz="1100" b="1">
                <a:solidFill>
                  <a:srgbClr val="2E7D4F"/>
                </a:solidFill>
                <a:latin typeface="Arial"/>
              </a:rPr>
              <a:t>▲ +3.0% YoY</a:t>
            </a:r>
          </a:p>
        </p:txBody>
      </p:sp>
      <p:sp>
        <p:nvSpPr>
          <p:cNvPr id="8" name="cpe|kpis|text|7"/>
          <p:cNvSpPr txBox="1"/>
          <p:nvPr/>
        </p:nvSpPr>
        <p:spPr>
          <a:xfrm>
            <a:off x="502920"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Revenue 2025</a:t>
            </a:r>
          </a:p>
        </p:txBody>
      </p:sp>
      <p:cxnSp>
        <p:nvCxnSpPr>
          <p:cNvPr id="9" name="cpe|kpis|line|8"/>
          <p:cNvCxnSpPr/>
          <p:nvPr/>
        </p:nvCxnSpPr>
        <p:spPr>
          <a:xfrm>
            <a:off x="3198800" y="1527048"/>
            <a:ext cx="0" cy="1034735"/>
          </a:xfrm>
          <a:prstGeom prst="line">
            <a:avLst/>
          </a:prstGeom>
          <a:ln w="9525">
            <a:solidFill>
              <a:srgbClr val="E3E7EB"/>
            </a:solidFill>
          </a:ln>
        </p:spPr>
      </p:cxnSp>
      <p:sp>
        <p:nvSpPr>
          <p:cNvPr id="10" name="cpe|kpis|text|9"/>
          <p:cNvSpPr txBox="1"/>
          <p:nvPr/>
        </p:nvSpPr>
        <p:spPr>
          <a:xfrm>
            <a:off x="3399968"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6.3%</a:t>
            </a:r>
          </a:p>
        </p:txBody>
      </p:sp>
      <p:sp>
        <p:nvSpPr>
          <p:cNvPr id="11" name="cpe|kpis|text|10"/>
          <p:cNvSpPr txBox="1"/>
          <p:nvPr/>
        </p:nvSpPr>
        <p:spPr>
          <a:xfrm>
            <a:off x="3399968"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−0.7pp</a:t>
            </a:r>
          </a:p>
        </p:txBody>
      </p:sp>
      <p:sp>
        <p:nvSpPr>
          <p:cNvPr id="12" name="cpe|kpis|text|11"/>
          <p:cNvSpPr txBox="1"/>
          <p:nvPr/>
        </p:nvSpPr>
        <p:spPr>
          <a:xfrm>
            <a:off x="3399968"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EBITDA margin 2025</a:t>
            </a:r>
          </a:p>
        </p:txBody>
      </p:sp>
      <p:cxnSp>
        <p:nvCxnSpPr>
          <p:cNvPr id="13" name="cpe|kpis|line|12"/>
          <p:cNvCxnSpPr/>
          <p:nvPr/>
        </p:nvCxnSpPr>
        <p:spPr>
          <a:xfrm>
            <a:off x="6095848" y="1527048"/>
            <a:ext cx="0" cy="1034735"/>
          </a:xfrm>
          <a:prstGeom prst="line">
            <a:avLst/>
          </a:prstGeom>
          <a:ln w="9525">
            <a:solidFill>
              <a:srgbClr val="E3E7EB"/>
            </a:solidFill>
          </a:ln>
        </p:spPr>
      </p:cxnSp>
      <p:sp>
        <p:nvSpPr>
          <p:cNvPr id="14" name="cpe|kpis|text|13"/>
          <p:cNvSpPr txBox="1"/>
          <p:nvPr/>
        </p:nvSpPr>
        <p:spPr>
          <a:xfrm>
            <a:off x="6297016"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9.6%</a:t>
            </a:r>
          </a:p>
        </p:txBody>
      </p:sp>
      <p:sp>
        <p:nvSpPr>
          <p:cNvPr id="15" name="cpe|kpis|text|14"/>
          <p:cNvSpPr txBox="1"/>
          <p:nvPr/>
        </p:nvSpPr>
        <p:spPr>
          <a:xfrm>
            <a:off x="6297016"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−0.1pp</a:t>
            </a:r>
          </a:p>
        </p:txBody>
      </p:sp>
      <p:sp>
        <p:nvSpPr>
          <p:cNvPr id="16" name="cpe|kpis|text|15"/>
          <p:cNvSpPr txBox="1"/>
          <p:nvPr/>
        </p:nvSpPr>
        <p:spPr>
          <a:xfrm>
            <a:off x="6297016"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Market share 2025</a:t>
            </a:r>
          </a:p>
        </p:txBody>
      </p:sp>
      <p:cxnSp>
        <p:nvCxnSpPr>
          <p:cNvPr id="17" name="cpe|kpis|line|16"/>
          <p:cNvCxnSpPr/>
          <p:nvPr/>
        </p:nvCxnSpPr>
        <p:spPr>
          <a:xfrm>
            <a:off x="8992895" y="1527048"/>
            <a:ext cx="0" cy="1034735"/>
          </a:xfrm>
          <a:prstGeom prst="line">
            <a:avLst/>
          </a:prstGeom>
          <a:ln w="9525">
            <a:solidFill>
              <a:srgbClr val="E3E7EB"/>
            </a:solidFill>
          </a:ln>
        </p:spPr>
      </p:cxnSp>
      <p:sp>
        <p:nvSpPr>
          <p:cNvPr id="18" name="cpe|kpis|text|17"/>
          <p:cNvSpPr txBox="1"/>
          <p:nvPr/>
        </p:nvSpPr>
        <p:spPr>
          <a:xfrm>
            <a:off x="9194063"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+1.2%</a:t>
            </a:r>
          </a:p>
        </p:txBody>
      </p:sp>
      <p:sp>
        <p:nvSpPr>
          <p:cNvPr id="19" name="cpe|kpis|text|18"/>
          <p:cNvSpPr txBox="1"/>
          <p:nvPr/>
        </p:nvSpPr>
        <p:spPr>
          <a:xfrm>
            <a:off x="9194063"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−1.8pp vs 2024</a:t>
            </a:r>
          </a:p>
        </p:txBody>
      </p:sp>
      <p:sp>
        <p:nvSpPr>
          <p:cNvPr id="20" name="cpe|kpis|text|19"/>
          <p:cNvSpPr txBox="1"/>
          <p:nvPr/>
        </p:nvSpPr>
        <p:spPr>
          <a:xfrm>
            <a:off x="9194063"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Like-for-like sales 2025</a:t>
            </a:r>
          </a:p>
        </p:txBody>
      </p:sp>
      <p:sp>
        <p:nvSpPr>
          <p:cNvPr id="21" name="cpe|exhibit|text|20"/>
          <p:cNvSpPr txBox="1"/>
          <p:nvPr/>
        </p:nvSpPr>
        <p:spPr>
          <a:xfrm>
            <a:off x="502920" y="2808671"/>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Alvora revenue and growth vs market</a:t>
            </a:r>
            <a:r>
              <a:rPr sz="1100" b="0">
                <a:solidFill>
                  <a:srgbClr val="1E252D"/>
                </a:solidFill>
                <a:latin typeface="Arial"/>
              </a:rPr>
              <a:t>, €bn, % YoY</a:t>
            </a:r>
          </a:p>
        </p:txBody>
      </p:sp>
      <p:graphicFrame>
        <p:nvGraphicFramePr>
          <p:cNvPr id="22" name="cpe|exhibit|chart|21"/>
          <p:cNvGraphicFramePr>
            <a:graphicFrameLocks noGrp="1"/>
          </p:cNvGraphicFramePr>
          <p:nvPr/>
        </p:nvGraphicFramePr>
        <p:xfrm>
          <a:off x="502920" y="4408344"/>
          <a:ext cx="11185855" cy="1791288"/>
        </p:xfrm>
        <a:graphic>
          <a:graphicData uri="http://schemas.openxmlformats.org/drawingml/2006/chart">
            <c:chart xmlns:c="http://schemas.openxmlformats.org/drawingml/2006/chart" r:id="rId2"/>
          </a:graphicData>
        </a:graphic>
      </p:graphicFrame>
      <p:cxnSp>
        <p:nvCxnSpPr>
          <p:cNvPr id="23" name="cpe|exhibit|connector|22"/>
          <p:cNvCxnSpPr/>
          <p:nvPr/>
        </p:nvCxnSpPr>
        <p:spPr>
          <a:xfrm>
            <a:off x="6825062" y="4786729"/>
            <a:ext cx="2484114" cy="0"/>
          </a:xfrm>
          <a:prstGeom prst="line">
            <a:avLst/>
          </a:prstGeom>
          <a:ln w="9525">
            <a:solidFill>
              <a:srgbClr val="1E252D"/>
            </a:solidFill>
            <a:tailEnd type="triangle" w="med" len="med"/>
          </a:ln>
        </p:spPr>
      </p:cxnSp>
      <p:cxnSp>
        <p:nvCxnSpPr>
          <p:cNvPr id="24" name="cpe|exhibit|connector|23"/>
          <p:cNvCxnSpPr/>
          <p:nvPr/>
        </p:nvCxnSpPr>
        <p:spPr>
          <a:xfrm>
            <a:off x="6825062" y="4786729"/>
            <a:ext cx="0" cy="91440"/>
          </a:xfrm>
          <a:prstGeom prst="line">
            <a:avLst/>
          </a:prstGeom>
          <a:ln w="9525">
            <a:solidFill>
              <a:srgbClr val="1E252D"/>
            </a:solidFill>
          </a:ln>
        </p:spPr>
      </p:cxnSp>
      <p:sp>
        <p:nvSpPr>
          <p:cNvPr id="25" name="cpe|exhibit|label|24"/>
          <p:cNvSpPr txBox="1"/>
          <p:nvPr/>
        </p:nvSpPr>
        <p:spPr>
          <a:xfrm>
            <a:off x="7828525" y="4649569"/>
            <a:ext cx="477187" cy="274320"/>
          </a:xfrm>
          <a:prstGeom prst="rect">
            <a:avLst/>
          </a:prstGeom>
          <a:solidFill>
            <a:srgbClr val="FFFFFF"/>
          </a:solidFill>
        </p:spPr>
        <p:txBody>
          <a:bodyPr wrap="square" lIns="0" rIns="0" tIns="0" bIns="0" anchor="ctr">
            <a:noAutofit/>
          </a:bodyPr>
          <a:lstStyle/>
          <a:p>
            <a:pPr algn="ctr">
              <a:lnSpc>
                <a:spcPct val="100000"/>
              </a:lnSpc>
            </a:pPr>
            <a:r>
              <a:rPr sz="1000" b="1">
                <a:solidFill>
                  <a:srgbClr val="1E252D"/>
                </a:solidFill>
                <a:latin typeface="Arial"/>
              </a:rPr>
              <a:t>+3%</a:t>
            </a:r>
          </a:p>
        </p:txBody>
      </p:sp>
      <p:graphicFrame>
        <p:nvGraphicFramePr>
          <p:cNvPr id="26" name="cpe|exhibit|chart|25"/>
          <p:cNvGraphicFramePr>
            <a:graphicFrameLocks noGrp="1"/>
          </p:cNvGraphicFramePr>
          <p:nvPr/>
        </p:nvGraphicFramePr>
        <p:xfrm>
          <a:off x="502920" y="3229295"/>
          <a:ext cx="11185855" cy="1069321"/>
        </p:xfrm>
        <a:graphic>
          <a:graphicData uri="http://schemas.openxmlformats.org/drawingml/2006/chart">
            <c:chart xmlns:c="http://schemas.openxmlformats.org/drawingml/2006/chart" r:id="rId3"/>
          </a:graphicData>
        </a:graphic>
      </p:graphicFrame>
      <p:sp>
        <p:nvSpPr>
          <p:cNvPr id="27" name="cpe|exhibit|label|26"/>
          <p:cNvSpPr txBox="1"/>
          <p:nvPr/>
        </p:nvSpPr>
        <p:spPr>
          <a:xfrm>
            <a:off x="9400616" y="3802449"/>
            <a:ext cx="2288160" cy="237744"/>
          </a:xfrm>
          <a:prstGeom prst="rect">
            <a:avLst/>
          </a:prstGeom>
          <a:noFill/>
        </p:spPr>
        <p:txBody>
          <a:bodyPr wrap="square" lIns="0" rIns="0" tIns="0" bIns="0" anchor="ctr">
            <a:noAutofit/>
          </a:bodyPr>
          <a:lstStyle/>
          <a:p>
            <a:pPr algn="l">
              <a:lnSpc>
                <a:spcPct val="100000"/>
              </a:lnSpc>
            </a:pPr>
            <a:r>
              <a:rPr sz="1100" b="1">
                <a:solidFill>
                  <a:srgbClr val="5E6A77"/>
                </a:solidFill>
                <a:latin typeface="Arial"/>
              </a:rPr>
              <a:t>Market growth</a:t>
            </a:r>
          </a:p>
        </p:txBody>
      </p:sp>
      <p:sp>
        <p:nvSpPr>
          <p:cNvPr id="28" name="cpe|exhibit|label|27"/>
          <p:cNvSpPr txBox="1"/>
          <p:nvPr/>
        </p:nvSpPr>
        <p:spPr>
          <a:xfrm>
            <a:off x="9400616" y="4021905"/>
            <a:ext cx="2288160" cy="237744"/>
          </a:xfrm>
          <a:prstGeom prst="rect">
            <a:avLst/>
          </a:prstGeom>
          <a:noFill/>
        </p:spPr>
        <p:txBody>
          <a:bodyPr wrap="square" lIns="0" rIns="0" tIns="0" bIns="0" anchor="ctr">
            <a:noAutofit/>
          </a:bodyPr>
          <a:lstStyle/>
          <a:p>
            <a:pPr algn="l">
              <a:lnSpc>
                <a:spcPct val="100000"/>
              </a:lnSpc>
            </a:pPr>
            <a:r>
              <a:rPr sz="1100" b="1">
                <a:solidFill>
                  <a:srgbClr val="0B1F3A"/>
                </a:solidFill>
                <a:latin typeface="Arial"/>
              </a:rPr>
              <a:t>Alvora growth</a:t>
            </a:r>
          </a:p>
        </p:txBody>
      </p:sp>
      <p:sp>
        <p:nvSpPr>
          <p:cNvPr id="29" name="cpe|exhibit|label|28"/>
          <p:cNvSpPr txBox="1"/>
          <p:nvPr/>
        </p:nvSpPr>
        <p:spPr>
          <a:xfrm>
            <a:off x="1399635" y="3201371"/>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6.3%</a:t>
            </a:r>
          </a:p>
        </p:txBody>
      </p:sp>
      <p:sp>
        <p:nvSpPr>
          <p:cNvPr id="30" name="cpe|exhibit|label|29"/>
          <p:cNvSpPr txBox="1"/>
          <p:nvPr/>
        </p:nvSpPr>
        <p:spPr>
          <a:xfrm>
            <a:off x="1399635" y="3676596"/>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3.8%</a:t>
            </a:r>
          </a:p>
        </p:txBody>
      </p:sp>
      <p:sp>
        <p:nvSpPr>
          <p:cNvPr id="31" name="cpe|exhibit|label|30"/>
          <p:cNvSpPr txBox="1"/>
          <p:nvPr/>
        </p:nvSpPr>
        <p:spPr>
          <a:xfrm>
            <a:off x="3883749" y="3125335"/>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6.7%</a:t>
            </a:r>
          </a:p>
        </p:txBody>
      </p:sp>
      <p:sp>
        <p:nvSpPr>
          <p:cNvPr id="32" name="cpe|exhibit|label|31"/>
          <p:cNvSpPr txBox="1"/>
          <p:nvPr/>
        </p:nvSpPr>
        <p:spPr>
          <a:xfrm>
            <a:off x="3883749"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3" name="cpe|exhibit|label|32"/>
          <p:cNvSpPr txBox="1"/>
          <p:nvPr/>
        </p:nvSpPr>
        <p:spPr>
          <a:xfrm>
            <a:off x="6367862" y="3638578"/>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4.0%</a:t>
            </a:r>
          </a:p>
        </p:txBody>
      </p:sp>
      <p:sp>
        <p:nvSpPr>
          <p:cNvPr id="34" name="cpe|exhibit|label|33"/>
          <p:cNvSpPr txBox="1"/>
          <p:nvPr/>
        </p:nvSpPr>
        <p:spPr>
          <a:xfrm>
            <a:off x="6367862" y="402334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3.9%</a:t>
            </a:r>
          </a:p>
        </p:txBody>
      </p:sp>
      <p:sp>
        <p:nvSpPr>
          <p:cNvPr id="35" name="cpe|exhibit|label|34"/>
          <p:cNvSpPr txBox="1"/>
          <p:nvPr/>
        </p:nvSpPr>
        <p:spPr>
          <a:xfrm>
            <a:off x="8851976"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6" name="cpe|exhibit|label|35"/>
          <p:cNvSpPr txBox="1"/>
          <p:nvPr/>
        </p:nvSpPr>
        <p:spPr>
          <a:xfrm>
            <a:off x="8851976" y="419442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PERFORMANCE</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Alvora's growth slowed to 3.0% in 2025, below the market (4.1%) for the second year</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market model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4</a:t>
            </a:r>
          </a:p>
        </p:txBody>
      </p:sp>
      <p:sp>
        <p:nvSpPr>
          <p:cNvPr id="6" name="cpe|kpis|text|5"/>
          <p:cNvSpPr txBox="1"/>
          <p:nvPr/>
        </p:nvSpPr>
        <p:spPr>
          <a:xfrm>
            <a:off x="502920"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€13.6bn</a:t>
            </a:r>
          </a:p>
        </p:txBody>
      </p:sp>
      <p:sp>
        <p:nvSpPr>
          <p:cNvPr id="7" name="cpe|kpis|text|6"/>
          <p:cNvSpPr txBox="1"/>
          <p:nvPr/>
        </p:nvSpPr>
        <p:spPr>
          <a:xfrm>
            <a:off x="502920" y="2048256"/>
            <a:ext cx="2494712" cy="237744"/>
          </a:xfrm>
          <a:prstGeom prst="rect">
            <a:avLst/>
          </a:prstGeom>
          <a:noFill/>
        </p:spPr>
        <p:txBody>
          <a:bodyPr wrap="square" lIns="0" rIns="0" tIns="0" bIns="0" anchor="t">
            <a:noAutofit/>
          </a:bodyPr>
          <a:lstStyle/>
          <a:p>
            <a:pPr algn="l">
              <a:lnSpc>
                <a:spcPct val="100000"/>
              </a:lnSpc>
            </a:pPr>
            <a:r>
              <a:rPr sz="1100" b="1">
                <a:solidFill>
                  <a:srgbClr val="2E7D4F"/>
                </a:solidFill>
                <a:latin typeface="Arial"/>
              </a:rPr>
              <a:t>▲ +3.0% YoY</a:t>
            </a:r>
          </a:p>
        </p:txBody>
      </p:sp>
      <p:sp>
        <p:nvSpPr>
          <p:cNvPr id="8" name="cpe|kpis|text|7"/>
          <p:cNvSpPr txBox="1"/>
          <p:nvPr/>
        </p:nvSpPr>
        <p:spPr>
          <a:xfrm>
            <a:off x="502920"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Revenue 2025</a:t>
            </a:r>
          </a:p>
        </p:txBody>
      </p:sp>
      <p:cxnSp>
        <p:nvCxnSpPr>
          <p:cNvPr id="9" name="cpe|kpis|line|8"/>
          <p:cNvCxnSpPr/>
          <p:nvPr/>
        </p:nvCxnSpPr>
        <p:spPr>
          <a:xfrm>
            <a:off x="3198800" y="1527048"/>
            <a:ext cx="0" cy="1034735"/>
          </a:xfrm>
          <a:prstGeom prst="line">
            <a:avLst/>
          </a:prstGeom>
          <a:ln w="9525">
            <a:solidFill>
              <a:srgbClr val="E3E7EB"/>
            </a:solidFill>
          </a:ln>
        </p:spPr>
      </p:cxnSp>
      <p:sp>
        <p:nvSpPr>
          <p:cNvPr id="10" name="cpe|kpis|text|9"/>
          <p:cNvSpPr txBox="1"/>
          <p:nvPr/>
        </p:nvSpPr>
        <p:spPr>
          <a:xfrm>
            <a:off x="3399968"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6.3%</a:t>
            </a:r>
          </a:p>
        </p:txBody>
      </p:sp>
      <p:sp>
        <p:nvSpPr>
          <p:cNvPr id="11" name="cpe|kpis|text|10"/>
          <p:cNvSpPr txBox="1"/>
          <p:nvPr/>
        </p:nvSpPr>
        <p:spPr>
          <a:xfrm>
            <a:off x="3399968"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−0.7pp</a:t>
            </a:r>
          </a:p>
        </p:txBody>
      </p:sp>
      <p:sp>
        <p:nvSpPr>
          <p:cNvPr id="12" name="cpe|kpis|text|11"/>
          <p:cNvSpPr txBox="1"/>
          <p:nvPr/>
        </p:nvSpPr>
        <p:spPr>
          <a:xfrm>
            <a:off x="3399968"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EBITDA margin 2025</a:t>
            </a:r>
          </a:p>
        </p:txBody>
      </p:sp>
      <p:cxnSp>
        <p:nvCxnSpPr>
          <p:cNvPr id="13" name="cpe|kpis|line|12"/>
          <p:cNvCxnSpPr/>
          <p:nvPr/>
        </p:nvCxnSpPr>
        <p:spPr>
          <a:xfrm>
            <a:off x="6095848" y="1527048"/>
            <a:ext cx="0" cy="1034735"/>
          </a:xfrm>
          <a:prstGeom prst="line">
            <a:avLst/>
          </a:prstGeom>
          <a:ln w="9525">
            <a:solidFill>
              <a:srgbClr val="E3E7EB"/>
            </a:solidFill>
          </a:ln>
        </p:spPr>
      </p:cxnSp>
      <p:sp>
        <p:nvSpPr>
          <p:cNvPr id="14" name="cpe|kpis|text|13"/>
          <p:cNvSpPr txBox="1"/>
          <p:nvPr/>
        </p:nvSpPr>
        <p:spPr>
          <a:xfrm>
            <a:off x="6297016"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9.6%</a:t>
            </a:r>
          </a:p>
        </p:txBody>
      </p:sp>
      <p:sp>
        <p:nvSpPr>
          <p:cNvPr id="15" name="cpe|kpis|text|14"/>
          <p:cNvSpPr txBox="1"/>
          <p:nvPr/>
        </p:nvSpPr>
        <p:spPr>
          <a:xfrm>
            <a:off x="6297016"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−0.1pp</a:t>
            </a:r>
          </a:p>
        </p:txBody>
      </p:sp>
      <p:sp>
        <p:nvSpPr>
          <p:cNvPr id="16" name="cpe|kpis|text|15"/>
          <p:cNvSpPr txBox="1"/>
          <p:nvPr/>
        </p:nvSpPr>
        <p:spPr>
          <a:xfrm>
            <a:off x="6297016"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Market share 2025</a:t>
            </a:r>
          </a:p>
        </p:txBody>
      </p:sp>
      <p:cxnSp>
        <p:nvCxnSpPr>
          <p:cNvPr id="17" name="cpe|kpis|line|16"/>
          <p:cNvCxnSpPr/>
          <p:nvPr/>
        </p:nvCxnSpPr>
        <p:spPr>
          <a:xfrm>
            <a:off x="8992895" y="1527048"/>
            <a:ext cx="0" cy="1034735"/>
          </a:xfrm>
          <a:prstGeom prst="line">
            <a:avLst/>
          </a:prstGeom>
          <a:ln w="9525">
            <a:solidFill>
              <a:srgbClr val="E3E7EB"/>
            </a:solidFill>
          </a:ln>
        </p:spPr>
      </p:cxnSp>
      <p:sp>
        <p:nvSpPr>
          <p:cNvPr id="18" name="cpe|kpis|text|17"/>
          <p:cNvSpPr txBox="1"/>
          <p:nvPr/>
        </p:nvSpPr>
        <p:spPr>
          <a:xfrm>
            <a:off x="9194063" y="1481328"/>
            <a:ext cx="2494712" cy="566928"/>
          </a:xfrm>
          <a:prstGeom prst="rect">
            <a:avLst/>
          </a:prstGeom>
          <a:noFill/>
        </p:spPr>
        <p:txBody>
          <a:bodyPr wrap="square" lIns="0" rIns="0" tIns="0" bIns="0" anchor="t">
            <a:noAutofit/>
          </a:bodyPr>
          <a:lstStyle/>
          <a:p>
            <a:pPr algn="l">
              <a:lnSpc>
                <a:spcPct val="100000"/>
              </a:lnSpc>
            </a:pPr>
            <a:r>
              <a:rPr sz="3000" b="1">
                <a:solidFill>
                  <a:srgbClr val="0B1F3A"/>
                </a:solidFill>
                <a:latin typeface="Arial"/>
              </a:rPr>
              <a:t>+1.2%</a:t>
            </a:r>
          </a:p>
        </p:txBody>
      </p:sp>
      <p:sp>
        <p:nvSpPr>
          <p:cNvPr id="19" name="cpe|kpis|text|18"/>
          <p:cNvSpPr txBox="1"/>
          <p:nvPr/>
        </p:nvSpPr>
        <p:spPr>
          <a:xfrm>
            <a:off x="9194063" y="2048256"/>
            <a:ext cx="2494712" cy="237744"/>
          </a:xfrm>
          <a:prstGeom prst="rect">
            <a:avLst/>
          </a:prstGeom>
          <a:noFill/>
        </p:spPr>
        <p:txBody>
          <a:bodyPr wrap="square" lIns="0" rIns="0" tIns="0" bIns="0" anchor="t">
            <a:noAutofit/>
          </a:bodyPr>
          <a:lstStyle/>
          <a:p>
            <a:pPr algn="l">
              <a:lnSpc>
                <a:spcPct val="100000"/>
              </a:lnSpc>
            </a:pPr>
            <a:r>
              <a:rPr sz="1100" b="1">
                <a:solidFill>
                  <a:srgbClr val="C0392B"/>
                </a:solidFill>
                <a:latin typeface="Arial"/>
              </a:rPr>
              <a:t>▼ −1.8pp vs 2024</a:t>
            </a:r>
          </a:p>
        </p:txBody>
      </p:sp>
      <p:sp>
        <p:nvSpPr>
          <p:cNvPr id="20" name="cpe|kpis|text|19"/>
          <p:cNvSpPr txBox="1"/>
          <p:nvPr/>
        </p:nvSpPr>
        <p:spPr>
          <a:xfrm>
            <a:off x="9194063" y="2304288"/>
            <a:ext cx="2494712" cy="209169"/>
          </a:xfrm>
          <a:prstGeom prst="rect">
            <a:avLst/>
          </a:prstGeom>
          <a:noFill/>
        </p:spPr>
        <p:txBody>
          <a:bodyPr wrap="square" lIns="0" rIns="0" tIns="0" bIns="0" anchor="t">
            <a:noAutofit/>
          </a:bodyPr>
          <a:lstStyle/>
          <a:p>
            <a:pPr algn="l">
              <a:lnSpc>
                <a:spcPct val="100000"/>
              </a:lnSpc>
            </a:pPr>
            <a:r>
              <a:rPr sz="1100" b="0">
                <a:solidFill>
                  <a:srgbClr val="5E6A77"/>
                </a:solidFill>
                <a:latin typeface="Arial"/>
              </a:rPr>
              <a:t>Like-for-like sales 2025</a:t>
            </a:r>
          </a:p>
        </p:txBody>
      </p:sp>
      <p:sp>
        <p:nvSpPr>
          <p:cNvPr id="21" name="cpe|exhibit|text|20"/>
          <p:cNvSpPr txBox="1"/>
          <p:nvPr/>
        </p:nvSpPr>
        <p:spPr>
          <a:xfrm>
            <a:off x="502920" y="2808671"/>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Alvora revenue and growth vs market</a:t>
            </a:r>
            <a:r>
              <a:rPr sz="1100" b="0">
                <a:solidFill>
                  <a:srgbClr val="1E252D"/>
                </a:solidFill>
                <a:latin typeface="Arial"/>
              </a:rPr>
              <a:t>, €bn, % YoY</a:t>
            </a:r>
          </a:p>
        </p:txBody>
      </p:sp>
      <p:graphicFrame>
        <p:nvGraphicFramePr>
          <p:cNvPr id="22" name="cpe|exhibit|chart|21"/>
          <p:cNvGraphicFramePr>
            <a:graphicFrameLocks noGrp="1"/>
          </p:cNvGraphicFramePr>
          <p:nvPr/>
        </p:nvGraphicFramePr>
        <p:xfrm>
          <a:off x="502920" y="4408344"/>
          <a:ext cx="7390181" cy="1791288"/>
        </p:xfrm>
        <a:graphic>
          <a:graphicData uri="http://schemas.openxmlformats.org/drawingml/2006/chart">
            <c:chart xmlns:c="http://schemas.openxmlformats.org/drawingml/2006/chart" r:id="rId2"/>
          </a:graphicData>
        </a:graphic>
      </p:graphicFrame>
      <p:cxnSp>
        <p:nvCxnSpPr>
          <p:cNvPr id="23" name="cpe|exhibit|connector|22"/>
          <p:cNvCxnSpPr/>
          <p:nvPr/>
        </p:nvCxnSpPr>
        <p:spPr>
          <a:xfrm>
            <a:off x="4438532" y="4786729"/>
            <a:ext cx="1544684" cy="0"/>
          </a:xfrm>
          <a:prstGeom prst="line">
            <a:avLst/>
          </a:prstGeom>
          <a:ln w="9525">
            <a:solidFill>
              <a:srgbClr val="1E252D"/>
            </a:solidFill>
            <a:tailEnd type="triangle" w="med" len="med"/>
          </a:ln>
        </p:spPr>
      </p:cxnSp>
      <p:cxnSp>
        <p:nvCxnSpPr>
          <p:cNvPr id="24" name="cpe|exhibit|connector|23"/>
          <p:cNvCxnSpPr/>
          <p:nvPr/>
        </p:nvCxnSpPr>
        <p:spPr>
          <a:xfrm>
            <a:off x="4438532" y="4786729"/>
            <a:ext cx="0" cy="91440"/>
          </a:xfrm>
          <a:prstGeom prst="line">
            <a:avLst/>
          </a:prstGeom>
          <a:ln w="9525">
            <a:solidFill>
              <a:srgbClr val="1E252D"/>
            </a:solidFill>
          </a:ln>
        </p:spPr>
      </p:cxnSp>
      <p:sp>
        <p:nvSpPr>
          <p:cNvPr id="25" name="cpe|exhibit|label|24"/>
          <p:cNvSpPr txBox="1"/>
          <p:nvPr/>
        </p:nvSpPr>
        <p:spPr>
          <a:xfrm>
            <a:off x="4972281" y="4649569"/>
            <a:ext cx="477187" cy="274320"/>
          </a:xfrm>
          <a:prstGeom prst="rect">
            <a:avLst/>
          </a:prstGeom>
          <a:solidFill>
            <a:srgbClr val="FFFFFF"/>
          </a:solidFill>
        </p:spPr>
        <p:txBody>
          <a:bodyPr wrap="square" lIns="0" rIns="0" tIns="0" bIns="0" anchor="ctr">
            <a:noAutofit/>
          </a:bodyPr>
          <a:lstStyle/>
          <a:p>
            <a:pPr algn="ctr">
              <a:lnSpc>
                <a:spcPct val="100000"/>
              </a:lnSpc>
            </a:pPr>
            <a:r>
              <a:rPr sz="1000" b="1">
                <a:solidFill>
                  <a:srgbClr val="1E252D"/>
                </a:solidFill>
                <a:latin typeface="Arial"/>
              </a:rPr>
              <a:t>+3%</a:t>
            </a:r>
          </a:p>
        </p:txBody>
      </p:sp>
      <p:graphicFrame>
        <p:nvGraphicFramePr>
          <p:cNvPr id="26" name="cpe|exhibit|chart|25"/>
          <p:cNvGraphicFramePr>
            <a:graphicFrameLocks noGrp="1"/>
          </p:cNvGraphicFramePr>
          <p:nvPr/>
        </p:nvGraphicFramePr>
        <p:xfrm>
          <a:off x="502920" y="3229295"/>
          <a:ext cx="7390181" cy="1069321"/>
        </p:xfrm>
        <a:graphic>
          <a:graphicData uri="http://schemas.openxmlformats.org/drawingml/2006/chart">
            <c:chart xmlns:c="http://schemas.openxmlformats.org/drawingml/2006/chart" r:id="rId3"/>
          </a:graphicData>
        </a:graphic>
      </p:graphicFrame>
      <p:sp>
        <p:nvSpPr>
          <p:cNvPr id="27" name="cpe|exhibit|label|26"/>
          <p:cNvSpPr txBox="1"/>
          <p:nvPr/>
        </p:nvSpPr>
        <p:spPr>
          <a:xfrm>
            <a:off x="6074656" y="3802449"/>
            <a:ext cx="1818445" cy="237744"/>
          </a:xfrm>
          <a:prstGeom prst="rect">
            <a:avLst/>
          </a:prstGeom>
          <a:noFill/>
        </p:spPr>
        <p:txBody>
          <a:bodyPr wrap="square" lIns="0" rIns="0" tIns="0" bIns="0" anchor="ctr">
            <a:noAutofit/>
          </a:bodyPr>
          <a:lstStyle/>
          <a:p>
            <a:pPr algn="l">
              <a:lnSpc>
                <a:spcPct val="100000"/>
              </a:lnSpc>
            </a:pPr>
            <a:r>
              <a:rPr sz="1100" b="1">
                <a:solidFill>
                  <a:srgbClr val="5E6A77"/>
                </a:solidFill>
                <a:latin typeface="Arial"/>
              </a:rPr>
              <a:t>Market growth</a:t>
            </a:r>
          </a:p>
        </p:txBody>
      </p:sp>
      <p:sp>
        <p:nvSpPr>
          <p:cNvPr id="28" name="cpe|exhibit|label|27"/>
          <p:cNvSpPr txBox="1"/>
          <p:nvPr/>
        </p:nvSpPr>
        <p:spPr>
          <a:xfrm>
            <a:off x="6074656" y="4021905"/>
            <a:ext cx="1818445" cy="237744"/>
          </a:xfrm>
          <a:prstGeom prst="rect">
            <a:avLst/>
          </a:prstGeom>
          <a:noFill/>
        </p:spPr>
        <p:txBody>
          <a:bodyPr wrap="square" lIns="0" rIns="0" tIns="0" bIns="0" anchor="ctr">
            <a:noAutofit/>
          </a:bodyPr>
          <a:lstStyle/>
          <a:p>
            <a:pPr algn="l">
              <a:lnSpc>
                <a:spcPct val="100000"/>
              </a:lnSpc>
            </a:pPr>
            <a:r>
              <a:rPr sz="1100" b="1">
                <a:solidFill>
                  <a:srgbClr val="0B1F3A"/>
                </a:solidFill>
                <a:latin typeface="Arial"/>
              </a:rPr>
              <a:t>Alvora growth</a:t>
            </a:r>
          </a:p>
        </p:txBody>
      </p:sp>
      <p:sp>
        <p:nvSpPr>
          <p:cNvPr id="29" name="cpe|exhibit|label|28"/>
          <p:cNvSpPr txBox="1"/>
          <p:nvPr/>
        </p:nvSpPr>
        <p:spPr>
          <a:xfrm>
            <a:off x="891964" y="3201371"/>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6.3%</a:t>
            </a:r>
          </a:p>
        </p:txBody>
      </p:sp>
      <p:sp>
        <p:nvSpPr>
          <p:cNvPr id="30" name="cpe|exhibit|label|29"/>
          <p:cNvSpPr txBox="1"/>
          <p:nvPr/>
        </p:nvSpPr>
        <p:spPr>
          <a:xfrm>
            <a:off x="891964" y="3676596"/>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3.8%</a:t>
            </a:r>
          </a:p>
        </p:txBody>
      </p:sp>
      <p:sp>
        <p:nvSpPr>
          <p:cNvPr id="31" name="cpe|exhibit|label|30"/>
          <p:cNvSpPr txBox="1"/>
          <p:nvPr/>
        </p:nvSpPr>
        <p:spPr>
          <a:xfrm>
            <a:off x="2436648" y="3125335"/>
            <a:ext cx="914400" cy="237744"/>
          </a:xfrm>
          <a:prstGeom prst="rect">
            <a:avLst/>
          </a:prstGeom>
          <a:noFill/>
        </p:spPr>
        <p:txBody>
          <a:bodyPr wrap="square" lIns="0" rIns="0" tIns="0" bIns="0" anchor="b">
            <a:noAutofit/>
          </a:bodyPr>
          <a:lstStyle/>
          <a:p>
            <a:pPr algn="ctr">
              <a:lnSpc>
                <a:spcPct val="100000"/>
              </a:lnSpc>
            </a:pPr>
            <a:r>
              <a:rPr sz="1100" b="1">
                <a:solidFill>
                  <a:srgbClr val="0B1F3A"/>
                </a:solidFill>
                <a:latin typeface="Arial"/>
              </a:rPr>
              <a:t>6.7%</a:t>
            </a:r>
          </a:p>
        </p:txBody>
      </p:sp>
      <p:sp>
        <p:nvSpPr>
          <p:cNvPr id="32" name="cpe|exhibit|label|31"/>
          <p:cNvSpPr txBox="1"/>
          <p:nvPr/>
        </p:nvSpPr>
        <p:spPr>
          <a:xfrm>
            <a:off x="2436648"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3" name="cpe|exhibit|label|32"/>
          <p:cNvSpPr txBox="1"/>
          <p:nvPr/>
        </p:nvSpPr>
        <p:spPr>
          <a:xfrm>
            <a:off x="3981332" y="3638578"/>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4.0%</a:t>
            </a:r>
          </a:p>
        </p:txBody>
      </p:sp>
      <p:sp>
        <p:nvSpPr>
          <p:cNvPr id="34" name="cpe|exhibit|label|33"/>
          <p:cNvSpPr txBox="1"/>
          <p:nvPr/>
        </p:nvSpPr>
        <p:spPr>
          <a:xfrm>
            <a:off x="3981332" y="402334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3.9%</a:t>
            </a:r>
          </a:p>
        </p:txBody>
      </p:sp>
      <p:sp>
        <p:nvSpPr>
          <p:cNvPr id="35" name="cpe|exhibit|label|34"/>
          <p:cNvSpPr txBox="1"/>
          <p:nvPr/>
        </p:nvSpPr>
        <p:spPr>
          <a:xfrm>
            <a:off x="5526016" y="3619569"/>
            <a:ext cx="914400" cy="237744"/>
          </a:xfrm>
          <a:prstGeom prst="rect">
            <a:avLst/>
          </a:prstGeom>
          <a:noFill/>
        </p:spPr>
        <p:txBody>
          <a:bodyPr wrap="square" lIns="0" rIns="0" tIns="0" bIns="0" anchor="b">
            <a:noAutofit/>
          </a:bodyPr>
          <a:lstStyle/>
          <a:p>
            <a:pPr algn="ctr">
              <a:lnSpc>
                <a:spcPct val="100000"/>
              </a:lnSpc>
            </a:pPr>
            <a:r>
              <a:rPr sz="1100" b="0">
                <a:solidFill>
                  <a:srgbClr val="5E6A77"/>
                </a:solidFill>
                <a:latin typeface="Arial"/>
              </a:rPr>
              <a:t>4.1%</a:t>
            </a:r>
          </a:p>
        </p:txBody>
      </p:sp>
      <p:sp>
        <p:nvSpPr>
          <p:cNvPr id="36" name="cpe|exhibit|label|35"/>
          <p:cNvSpPr txBox="1"/>
          <p:nvPr/>
        </p:nvSpPr>
        <p:spPr>
          <a:xfrm>
            <a:off x="5526016" y="4194427"/>
            <a:ext cx="914400" cy="237744"/>
          </a:xfrm>
          <a:prstGeom prst="rect">
            <a:avLst/>
          </a:prstGeom>
          <a:noFill/>
        </p:spPr>
        <p:txBody>
          <a:bodyPr wrap="square" lIns="0" rIns="0" tIns="0" bIns="0" anchor="t">
            <a:noAutofit/>
          </a:bodyPr>
          <a:lstStyle/>
          <a:p>
            <a:pPr algn="ctr">
              <a:lnSpc>
                <a:spcPct val="100000"/>
              </a:lnSpc>
            </a:pPr>
            <a:r>
              <a:rPr sz="1100" b="1">
                <a:solidFill>
                  <a:srgbClr val="0B1F3A"/>
                </a:solidFill>
                <a:latin typeface="Arial"/>
              </a:rPr>
              <a:t>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PORTFOLIO</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holds 14% of supermarkets but only 5% of discount, the segment driving growth</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Retailer reports; consumer panel; team estimates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5</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Market share by channel, 2025</a:t>
            </a:r>
            <a:r>
              <a:rPr sz="1100" b="0">
                <a:solidFill>
                  <a:srgbClr val="1E252D"/>
                </a:solidFill>
                <a:latin typeface="Arial"/>
              </a:rPr>
              <a:t>, % of channel sales; width = channel size (€bn)</a:t>
            </a:r>
          </a:p>
        </p:txBody>
      </p:sp>
      <p:sp>
        <p:nvSpPr>
          <p:cNvPr id="7" name="cpe|exhibit|fill|6"/>
          <p:cNvSpPr/>
          <p:nvPr/>
        </p:nvSpPr>
        <p:spPr>
          <a:xfrm>
            <a:off x="502920" y="4669384"/>
            <a:ext cx="2428144" cy="131216"/>
          </a:xfrm>
          <a:prstGeom prst="rect">
            <a:avLst/>
          </a:prstGeom>
          <a:solidFill>
            <a:srgbClr val="0B1F3A"/>
          </a:solidFill>
          <a:ln w="9525">
            <a:solidFill>
              <a:srgbClr val="FFFFFF"/>
            </a:solidFill>
          </a:ln>
        </p:spPr>
        <p:txBody>
          <a:bodyPr rtlCol="0" anchor="ctr" lIns="0" rIns="0" tIns="0" bIns="0"/>
          <a:lstStyle/>
          <a:p>
            <a:pPr algn="ctr"/>
          </a:p>
        </p:txBody>
      </p:sp>
      <p:sp>
        <p:nvSpPr>
          <p:cNvPr id="8" name="cpe|exhibit|fill|7"/>
          <p:cNvSpPr/>
          <p:nvPr/>
        </p:nvSpPr>
        <p:spPr>
          <a:xfrm>
            <a:off x="502920" y="3593409"/>
            <a:ext cx="2428144" cy="1075974"/>
          </a:xfrm>
          <a:prstGeom prst="rect">
            <a:avLst/>
          </a:prstGeom>
          <a:solidFill>
            <a:srgbClr val="C9D0D8"/>
          </a:solidFill>
          <a:ln w="9525">
            <a:solidFill>
              <a:srgbClr val="FFFFFF"/>
            </a:solidFill>
          </a:ln>
        </p:spPr>
        <p:txBody>
          <a:bodyPr rtlCol="0" anchor="ctr" lIns="0" rIns="0" tIns="0" bIns="0"/>
          <a:lstStyle/>
          <a:p>
            <a:pPr algn="ctr"/>
          </a:p>
        </p:txBody>
      </p:sp>
      <p:sp>
        <p:nvSpPr>
          <p:cNvPr id="9" name="cpe|exhibit|fill|8"/>
          <p:cNvSpPr/>
          <p:nvPr/>
        </p:nvSpPr>
        <p:spPr>
          <a:xfrm>
            <a:off x="502920" y="3278490"/>
            <a:ext cx="2428144" cy="314919"/>
          </a:xfrm>
          <a:prstGeom prst="rect">
            <a:avLst/>
          </a:prstGeom>
          <a:solidFill>
            <a:srgbClr val="C9D0D8"/>
          </a:solidFill>
          <a:ln w="9525">
            <a:solidFill>
              <a:srgbClr val="FFFFFF"/>
            </a:solidFill>
          </a:ln>
        </p:spPr>
        <p:txBody>
          <a:bodyPr rtlCol="0" anchor="ctr" lIns="0" rIns="0" tIns="0" bIns="0"/>
          <a:lstStyle/>
          <a:p>
            <a:pPr algn="ctr"/>
          </a:p>
        </p:txBody>
      </p:sp>
      <p:sp>
        <p:nvSpPr>
          <p:cNvPr id="10" name="cpe|exhibit|fill|9"/>
          <p:cNvSpPr/>
          <p:nvPr/>
        </p:nvSpPr>
        <p:spPr>
          <a:xfrm>
            <a:off x="502920" y="2176272"/>
            <a:ext cx="2428144" cy="1102218"/>
          </a:xfrm>
          <a:prstGeom prst="rect">
            <a:avLst/>
          </a:prstGeom>
          <a:solidFill>
            <a:srgbClr val="C9D0D8"/>
          </a:solidFill>
          <a:ln w="9525">
            <a:solidFill>
              <a:srgbClr val="FFFFFF"/>
            </a:solidFill>
          </a:ln>
        </p:spPr>
        <p:txBody>
          <a:bodyPr rtlCol="0" anchor="ctr" lIns="0" rIns="0" tIns="0" bIns="0"/>
          <a:lstStyle/>
          <a:p>
            <a:pPr algn="ctr"/>
          </a:p>
        </p:txBody>
      </p:sp>
      <p:sp>
        <p:nvSpPr>
          <p:cNvPr id="11" name="cpe|exhibit|label|10"/>
          <p:cNvSpPr txBox="1"/>
          <p:nvPr/>
        </p:nvSpPr>
        <p:spPr>
          <a:xfrm>
            <a:off x="502920" y="1901952"/>
            <a:ext cx="2428144"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38</a:t>
            </a:r>
          </a:p>
        </p:txBody>
      </p:sp>
      <p:sp>
        <p:nvSpPr>
          <p:cNvPr id="12" name="cpe|exhibit|text|11"/>
          <p:cNvSpPr txBox="1"/>
          <p:nvPr/>
        </p:nvSpPr>
        <p:spPr>
          <a:xfrm>
            <a:off x="502920" y="4855464"/>
            <a:ext cx="2428144"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Discount</a:t>
            </a:r>
          </a:p>
        </p:txBody>
      </p:sp>
      <p:sp>
        <p:nvSpPr>
          <p:cNvPr id="13" name="cpe|exhibit|fill|12"/>
          <p:cNvSpPr/>
          <p:nvPr/>
        </p:nvSpPr>
        <p:spPr>
          <a:xfrm>
            <a:off x="2967640" y="4433194"/>
            <a:ext cx="3322724" cy="367406"/>
          </a:xfrm>
          <a:prstGeom prst="rect">
            <a:avLst/>
          </a:prstGeom>
          <a:solidFill>
            <a:srgbClr val="0B1F3A"/>
          </a:solidFill>
          <a:ln w="9525">
            <a:solidFill>
              <a:srgbClr val="FFFFFF"/>
            </a:solidFill>
          </a:ln>
        </p:spPr>
        <p:txBody>
          <a:bodyPr rtlCol="0" anchor="ctr" lIns="0" rIns="0" tIns="0" bIns="0"/>
          <a:lstStyle/>
          <a:p>
            <a:pPr algn="ctr"/>
          </a:p>
        </p:txBody>
      </p:sp>
      <p:sp>
        <p:nvSpPr>
          <p:cNvPr id="14" name="cpe|exhibit|fill|13"/>
          <p:cNvSpPr/>
          <p:nvPr/>
        </p:nvSpPr>
        <p:spPr>
          <a:xfrm>
            <a:off x="2967640" y="4328221"/>
            <a:ext cx="3322724" cy="104973"/>
          </a:xfrm>
          <a:prstGeom prst="rect">
            <a:avLst/>
          </a:prstGeom>
          <a:solidFill>
            <a:srgbClr val="C9D0D8"/>
          </a:solidFill>
          <a:ln w="9525">
            <a:solidFill>
              <a:srgbClr val="FFFFFF"/>
            </a:solidFill>
          </a:ln>
        </p:spPr>
        <p:txBody>
          <a:bodyPr rtlCol="0" anchor="ctr" lIns="0" rIns="0" tIns="0" bIns="0"/>
          <a:lstStyle/>
          <a:p>
            <a:pPr algn="ctr"/>
          </a:p>
        </p:txBody>
      </p:sp>
      <p:sp>
        <p:nvSpPr>
          <p:cNvPr id="15" name="cpe|exhibit|fill|14"/>
          <p:cNvSpPr/>
          <p:nvPr/>
        </p:nvSpPr>
        <p:spPr>
          <a:xfrm>
            <a:off x="2967640" y="3750869"/>
            <a:ext cx="3322724" cy="577352"/>
          </a:xfrm>
          <a:prstGeom prst="rect">
            <a:avLst/>
          </a:prstGeom>
          <a:solidFill>
            <a:srgbClr val="C9D0D8"/>
          </a:solidFill>
          <a:ln w="9525">
            <a:solidFill>
              <a:srgbClr val="FFFFFF"/>
            </a:solidFill>
          </a:ln>
        </p:spPr>
        <p:txBody>
          <a:bodyPr rtlCol="0" anchor="ctr" lIns="0" rIns="0" tIns="0" bIns="0"/>
          <a:lstStyle/>
          <a:p>
            <a:pPr algn="ctr"/>
          </a:p>
        </p:txBody>
      </p:sp>
      <p:sp>
        <p:nvSpPr>
          <p:cNvPr id="16" name="cpe|exhibit|fill|15"/>
          <p:cNvSpPr/>
          <p:nvPr/>
        </p:nvSpPr>
        <p:spPr>
          <a:xfrm>
            <a:off x="2967640" y="3278490"/>
            <a:ext cx="3322724" cy="472379"/>
          </a:xfrm>
          <a:prstGeom prst="rect">
            <a:avLst/>
          </a:prstGeom>
          <a:solidFill>
            <a:srgbClr val="C9D0D8"/>
          </a:solidFill>
          <a:ln w="9525">
            <a:solidFill>
              <a:srgbClr val="FFFFFF"/>
            </a:solidFill>
          </a:ln>
        </p:spPr>
        <p:txBody>
          <a:bodyPr rtlCol="0" anchor="ctr" lIns="0" rIns="0" tIns="0" bIns="0"/>
          <a:lstStyle/>
          <a:p>
            <a:pPr algn="ctr"/>
          </a:p>
        </p:txBody>
      </p:sp>
      <p:sp>
        <p:nvSpPr>
          <p:cNvPr id="17" name="cpe|exhibit|fill|16"/>
          <p:cNvSpPr/>
          <p:nvPr/>
        </p:nvSpPr>
        <p:spPr>
          <a:xfrm>
            <a:off x="2967640" y="2176272"/>
            <a:ext cx="3322724" cy="1102218"/>
          </a:xfrm>
          <a:prstGeom prst="rect">
            <a:avLst/>
          </a:prstGeom>
          <a:solidFill>
            <a:srgbClr val="C9D0D8"/>
          </a:solidFill>
          <a:ln w="9525">
            <a:solidFill>
              <a:srgbClr val="FFFFFF"/>
            </a:solidFill>
          </a:ln>
        </p:spPr>
        <p:txBody>
          <a:bodyPr rtlCol="0" anchor="ctr" lIns="0" rIns="0" tIns="0" bIns="0"/>
          <a:lstStyle/>
          <a:p>
            <a:pPr algn="ctr"/>
          </a:p>
        </p:txBody>
      </p:sp>
      <p:sp>
        <p:nvSpPr>
          <p:cNvPr id="18" name="cpe|exhibit|label|17"/>
          <p:cNvSpPr txBox="1"/>
          <p:nvPr/>
        </p:nvSpPr>
        <p:spPr>
          <a:xfrm>
            <a:off x="2967640" y="1901952"/>
            <a:ext cx="3322724"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52</a:t>
            </a:r>
          </a:p>
        </p:txBody>
      </p:sp>
      <p:sp>
        <p:nvSpPr>
          <p:cNvPr id="19" name="cpe|exhibit|text|18"/>
          <p:cNvSpPr txBox="1"/>
          <p:nvPr/>
        </p:nvSpPr>
        <p:spPr>
          <a:xfrm>
            <a:off x="2967640" y="4855464"/>
            <a:ext cx="3322724"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Supermarkets</a:t>
            </a:r>
          </a:p>
        </p:txBody>
      </p:sp>
      <p:sp>
        <p:nvSpPr>
          <p:cNvPr id="20" name="cpe|exhibit|fill|19"/>
          <p:cNvSpPr/>
          <p:nvPr/>
        </p:nvSpPr>
        <p:spPr>
          <a:xfrm>
            <a:off x="6326940" y="4564410"/>
            <a:ext cx="1533565" cy="236190"/>
          </a:xfrm>
          <a:prstGeom prst="rect">
            <a:avLst/>
          </a:prstGeom>
          <a:solidFill>
            <a:srgbClr val="0B1F3A"/>
          </a:solidFill>
          <a:ln w="9525">
            <a:solidFill>
              <a:srgbClr val="FFFFFF"/>
            </a:solidFill>
          </a:ln>
        </p:spPr>
        <p:txBody>
          <a:bodyPr rtlCol="0" anchor="ctr" lIns="0" rIns="0" tIns="0" bIns="0"/>
          <a:lstStyle/>
          <a:p>
            <a:pPr algn="ctr"/>
          </a:p>
        </p:txBody>
      </p:sp>
      <p:sp>
        <p:nvSpPr>
          <p:cNvPr id="21" name="cpe|exhibit|fill|20"/>
          <p:cNvSpPr/>
          <p:nvPr/>
        </p:nvSpPr>
        <p:spPr>
          <a:xfrm>
            <a:off x="6326940" y="4170761"/>
            <a:ext cx="1533565" cy="393649"/>
          </a:xfrm>
          <a:prstGeom prst="rect">
            <a:avLst/>
          </a:prstGeom>
          <a:solidFill>
            <a:srgbClr val="C9D0D8"/>
          </a:solidFill>
          <a:ln w="9525">
            <a:solidFill>
              <a:srgbClr val="FFFFFF"/>
            </a:solidFill>
          </a:ln>
        </p:spPr>
        <p:txBody>
          <a:bodyPr rtlCol="0" anchor="ctr" lIns="0" rIns="0" tIns="0" bIns="0"/>
          <a:lstStyle/>
          <a:p>
            <a:pPr algn="ctr"/>
          </a:p>
        </p:txBody>
      </p:sp>
      <p:sp>
        <p:nvSpPr>
          <p:cNvPr id="22" name="cpe|exhibit|fill|21"/>
          <p:cNvSpPr/>
          <p:nvPr/>
        </p:nvSpPr>
        <p:spPr>
          <a:xfrm>
            <a:off x="6326940" y="3357220"/>
            <a:ext cx="1533565" cy="813542"/>
          </a:xfrm>
          <a:prstGeom prst="rect">
            <a:avLst/>
          </a:prstGeom>
          <a:solidFill>
            <a:srgbClr val="C9D0D8"/>
          </a:solidFill>
          <a:ln w="9525">
            <a:solidFill>
              <a:srgbClr val="FFFFFF"/>
            </a:solidFill>
          </a:ln>
        </p:spPr>
        <p:txBody>
          <a:bodyPr rtlCol="0" anchor="ctr" lIns="0" rIns="0" tIns="0" bIns="0"/>
          <a:lstStyle/>
          <a:p>
            <a:pPr algn="ctr"/>
          </a:p>
        </p:txBody>
      </p:sp>
      <p:sp>
        <p:nvSpPr>
          <p:cNvPr id="23" name="cpe|exhibit|fill|22"/>
          <p:cNvSpPr/>
          <p:nvPr/>
        </p:nvSpPr>
        <p:spPr>
          <a:xfrm>
            <a:off x="6326940" y="2176272"/>
            <a:ext cx="1533565" cy="1180948"/>
          </a:xfrm>
          <a:prstGeom prst="rect">
            <a:avLst/>
          </a:prstGeom>
          <a:solidFill>
            <a:srgbClr val="C9D0D8"/>
          </a:solidFill>
          <a:ln w="9525">
            <a:solidFill>
              <a:srgbClr val="FFFFFF"/>
            </a:solidFill>
          </a:ln>
        </p:spPr>
        <p:txBody>
          <a:bodyPr rtlCol="0" anchor="ctr" lIns="0" rIns="0" tIns="0" bIns="0"/>
          <a:lstStyle/>
          <a:p>
            <a:pPr algn="ctr"/>
          </a:p>
        </p:txBody>
      </p:sp>
      <p:sp>
        <p:nvSpPr>
          <p:cNvPr id="24" name="cpe|exhibit|label|23"/>
          <p:cNvSpPr txBox="1"/>
          <p:nvPr/>
        </p:nvSpPr>
        <p:spPr>
          <a:xfrm>
            <a:off x="6326940" y="1901952"/>
            <a:ext cx="1533565"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24</a:t>
            </a:r>
          </a:p>
        </p:txBody>
      </p:sp>
      <p:sp>
        <p:nvSpPr>
          <p:cNvPr id="25" name="cpe|exhibit|text|24"/>
          <p:cNvSpPr txBox="1"/>
          <p:nvPr/>
        </p:nvSpPr>
        <p:spPr>
          <a:xfrm>
            <a:off x="6326940" y="4855464"/>
            <a:ext cx="1533565"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Hypermarkets</a:t>
            </a:r>
          </a:p>
        </p:txBody>
      </p:sp>
      <p:sp>
        <p:nvSpPr>
          <p:cNvPr id="26" name="cpe|exhibit|fill|25"/>
          <p:cNvSpPr/>
          <p:nvPr/>
        </p:nvSpPr>
        <p:spPr>
          <a:xfrm>
            <a:off x="7897080" y="4485681"/>
            <a:ext cx="894579" cy="314919"/>
          </a:xfrm>
          <a:prstGeom prst="rect">
            <a:avLst/>
          </a:prstGeom>
          <a:solidFill>
            <a:srgbClr val="0B1F3A"/>
          </a:solidFill>
          <a:ln w="9525">
            <a:solidFill>
              <a:srgbClr val="FFFFFF"/>
            </a:solidFill>
          </a:ln>
        </p:spPr>
        <p:txBody>
          <a:bodyPr rtlCol="0" anchor="ctr" lIns="0" rIns="0" tIns="0" bIns="0"/>
          <a:lstStyle/>
          <a:p>
            <a:pPr algn="ctr"/>
          </a:p>
        </p:txBody>
      </p:sp>
      <p:sp>
        <p:nvSpPr>
          <p:cNvPr id="27" name="cpe|exhibit|fill|26"/>
          <p:cNvSpPr/>
          <p:nvPr/>
        </p:nvSpPr>
        <p:spPr>
          <a:xfrm>
            <a:off x="7897080" y="4328221"/>
            <a:ext cx="894579" cy="157460"/>
          </a:xfrm>
          <a:prstGeom prst="rect">
            <a:avLst/>
          </a:prstGeom>
          <a:solidFill>
            <a:srgbClr val="C9D0D8"/>
          </a:solidFill>
          <a:ln w="9525">
            <a:solidFill>
              <a:srgbClr val="FFFFFF"/>
            </a:solidFill>
          </a:ln>
        </p:spPr>
        <p:txBody>
          <a:bodyPr rtlCol="0" anchor="ctr" lIns="0" rIns="0" tIns="0" bIns="0"/>
          <a:lstStyle/>
          <a:p>
            <a:pPr algn="ctr"/>
          </a:p>
        </p:txBody>
      </p:sp>
      <p:sp>
        <p:nvSpPr>
          <p:cNvPr id="28" name="cpe|exhibit|fill|27"/>
          <p:cNvSpPr/>
          <p:nvPr/>
        </p:nvSpPr>
        <p:spPr>
          <a:xfrm>
            <a:off x="7897080" y="4144518"/>
            <a:ext cx="894579" cy="183703"/>
          </a:xfrm>
          <a:prstGeom prst="rect">
            <a:avLst/>
          </a:prstGeom>
          <a:solidFill>
            <a:srgbClr val="C9D0D8"/>
          </a:solidFill>
          <a:ln w="9525">
            <a:solidFill>
              <a:srgbClr val="FFFFFF"/>
            </a:solidFill>
          </a:ln>
        </p:spPr>
        <p:txBody>
          <a:bodyPr rtlCol="0" anchor="ctr" lIns="0" rIns="0" tIns="0" bIns="0"/>
          <a:lstStyle/>
          <a:p>
            <a:pPr algn="ctr"/>
          </a:p>
        </p:txBody>
      </p:sp>
      <p:sp>
        <p:nvSpPr>
          <p:cNvPr id="29" name="cpe|exhibit|fill|28"/>
          <p:cNvSpPr/>
          <p:nvPr/>
        </p:nvSpPr>
        <p:spPr>
          <a:xfrm>
            <a:off x="7897080" y="2176272"/>
            <a:ext cx="894579" cy="1968246"/>
          </a:xfrm>
          <a:prstGeom prst="rect">
            <a:avLst/>
          </a:prstGeom>
          <a:solidFill>
            <a:srgbClr val="C9D0D8"/>
          </a:solidFill>
          <a:ln w="9525">
            <a:solidFill>
              <a:srgbClr val="FFFFFF"/>
            </a:solidFill>
          </a:ln>
        </p:spPr>
        <p:txBody>
          <a:bodyPr rtlCol="0" anchor="ctr" lIns="0" rIns="0" tIns="0" bIns="0"/>
          <a:lstStyle/>
          <a:p>
            <a:pPr algn="ctr"/>
          </a:p>
        </p:txBody>
      </p:sp>
      <p:sp>
        <p:nvSpPr>
          <p:cNvPr id="30" name="cpe|exhibit|label|29"/>
          <p:cNvSpPr txBox="1"/>
          <p:nvPr/>
        </p:nvSpPr>
        <p:spPr>
          <a:xfrm>
            <a:off x="7897080" y="1901952"/>
            <a:ext cx="894579"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1" name="cpe|exhibit|text|30"/>
          <p:cNvSpPr txBox="1"/>
          <p:nvPr/>
        </p:nvSpPr>
        <p:spPr>
          <a:xfrm>
            <a:off x="7897080" y="4855464"/>
            <a:ext cx="894579"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Convenience</a:t>
            </a:r>
          </a:p>
        </p:txBody>
      </p:sp>
      <p:sp>
        <p:nvSpPr>
          <p:cNvPr id="32" name="cpe|exhibit|fill|31"/>
          <p:cNvSpPr/>
          <p:nvPr/>
        </p:nvSpPr>
        <p:spPr>
          <a:xfrm>
            <a:off x="8828236" y="4695627"/>
            <a:ext cx="894579" cy="104973"/>
          </a:xfrm>
          <a:prstGeom prst="rect">
            <a:avLst/>
          </a:prstGeom>
          <a:solidFill>
            <a:srgbClr val="0B1F3A"/>
          </a:solidFill>
          <a:ln w="9525">
            <a:solidFill>
              <a:srgbClr val="FFFFFF"/>
            </a:solidFill>
          </a:ln>
        </p:spPr>
        <p:txBody>
          <a:bodyPr rtlCol="0" anchor="ctr" lIns="0" rIns="0" tIns="0" bIns="0"/>
          <a:lstStyle/>
          <a:p>
            <a:pPr algn="ctr"/>
          </a:p>
        </p:txBody>
      </p:sp>
      <p:sp>
        <p:nvSpPr>
          <p:cNvPr id="33" name="cpe|exhibit|fill|32"/>
          <p:cNvSpPr/>
          <p:nvPr/>
        </p:nvSpPr>
        <p:spPr>
          <a:xfrm>
            <a:off x="8828236" y="4459437"/>
            <a:ext cx="894579" cy="236190"/>
          </a:xfrm>
          <a:prstGeom prst="rect">
            <a:avLst/>
          </a:prstGeom>
          <a:solidFill>
            <a:srgbClr val="C9D0D8"/>
          </a:solidFill>
          <a:ln w="9525">
            <a:solidFill>
              <a:srgbClr val="FFFFFF"/>
            </a:solidFill>
          </a:ln>
        </p:spPr>
        <p:txBody>
          <a:bodyPr rtlCol="0" anchor="ctr" lIns="0" rIns="0" tIns="0" bIns="0"/>
          <a:lstStyle/>
          <a:p>
            <a:pPr algn="ctr"/>
          </a:p>
        </p:txBody>
      </p:sp>
      <p:sp>
        <p:nvSpPr>
          <p:cNvPr id="34" name="cpe|exhibit|fill|33"/>
          <p:cNvSpPr/>
          <p:nvPr/>
        </p:nvSpPr>
        <p:spPr>
          <a:xfrm>
            <a:off x="8828236" y="4144518"/>
            <a:ext cx="894579" cy="314919"/>
          </a:xfrm>
          <a:prstGeom prst="rect">
            <a:avLst/>
          </a:prstGeom>
          <a:solidFill>
            <a:srgbClr val="C9D0D8"/>
          </a:solidFill>
          <a:ln w="9525">
            <a:solidFill>
              <a:srgbClr val="FFFFFF"/>
            </a:solidFill>
          </a:ln>
        </p:spPr>
        <p:txBody>
          <a:bodyPr rtlCol="0" anchor="ctr" lIns="0" rIns="0" tIns="0" bIns="0"/>
          <a:lstStyle/>
          <a:p>
            <a:pPr algn="ctr"/>
          </a:p>
        </p:txBody>
      </p:sp>
      <p:sp>
        <p:nvSpPr>
          <p:cNvPr id="35" name="cpe|exhibit|fill|34"/>
          <p:cNvSpPr/>
          <p:nvPr/>
        </p:nvSpPr>
        <p:spPr>
          <a:xfrm>
            <a:off x="8828236" y="2176272"/>
            <a:ext cx="894579" cy="1968246"/>
          </a:xfrm>
          <a:prstGeom prst="rect">
            <a:avLst/>
          </a:prstGeom>
          <a:solidFill>
            <a:srgbClr val="C9D0D8"/>
          </a:solidFill>
          <a:ln w="9525">
            <a:solidFill>
              <a:srgbClr val="FFFFFF"/>
            </a:solidFill>
          </a:ln>
        </p:spPr>
        <p:txBody>
          <a:bodyPr rtlCol="0" anchor="ctr" lIns="0" rIns="0" tIns="0" bIns="0"/>
          <a:lstStyle/>
          <a:p>
            <a:pPr algn="ctr"/>
          </a:p>
        </p:txBody>
      </p:sp>
      <p:sp>
        <p:nvSpPr>
          <p:cNvPr id="36" name="cpe|exhibit|label|35"/>
          <p:cNvSpPr txBox="1"/>
          <p:nvPr/>
        </p:nvSpPr>
        <p:spPr>
          <a:xfrm>
            <a:off x="8828236" y="1901952"/>
            <a:ext cx="894579"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7" name="cpe|exhibit|text|36"/>
          <p:cNvSpPr txBox="1"/>
          <p:nvPr/>
        </p:nvSpPr>
        <p:spPr>
          <a:xfrm>
            <a:off x="8828236" y="4855464"/>
            <a:ext cx="894579"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Online</a:t>
            </a:r>
          </a:p>
        </p:txBody>
      </p:sp>
      <p:sp>
        <p:nvSpPr>
          <p:cNvPr id="38" name="cpe|exhibit|label|37"/>
          <p:cNvSpPr txBox="1"/>
          <p:nvPr/>
        </p:nvSpPr>
        <p:spPr>
          <a:xfrm>
            <a:off x="502920" y="4422496"/>
            <a:ext cx="2428144"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5%</a:t>
            </a:r>
          </a:p>
        </p:txBody>
      </p:sp>
      <p:sp>
        <p:nvSpPr>
          <p:cNvPr id="39" name="cpe|exhibit|label|38"/>
          <p:cNvSpPr txBox="1"/>
          <p:nvPr/>
        </p:nvSpPr>
        <p:spPr>
          <a:xfrm>
            <a:off x="2967640" y="4433194"/>
            <a:ext cx="3322724" cy="367406"/>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14%</a:t>
            </a:r>
          </a:p>
        </p:txBody>
      </p:sp>
      <p:sp>
        <p:nvSpPr>
          <p:cNvPr id="40" name="cpe|exhibit|label|39"/>
          <p:cNvSpPr txBox="1"/>
          <p:nvPr/>
        </p:nvSpPr>
        <p:spPr>
          <a:xfrm>
            <a:off x="6326940" y="4317522"/>
            <a:ext cx="1533565"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9%</a:t>
            </a:r>
          </a:p>
        </p:txBody>
      </p:sp>
      <p:sp>
        <p:nvSpPr>
          <p:cNvPr id="41" name="cpe|exhibit|label|40"/>
          <p:cNvSpPr txBox="1"/>
          <p:nvPr/>
        </p:nvSpPr>
        <p:spPr>
          <a:xfrm>
            <a:off x="7897080" y="4485681"/>
            <a:ext cx="894579" cy="314919"/>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12%</a:t>
            </a:r>
          </a:p>
        </p:txBody>
      </p:sp>
      <p:sp>
        <p:nvSpPr>
          <p:cNvPr id="42" name="cpe|exhibit|label|41"/>
          <p:cNvSpPr txBox="1"/>
          <p:nvPr/>
        </p:nvSpPr>
        <p:spPr>
          <a:xfrm>
            <a:off x="8828236" y="4448739"/>
            <a:ext cx="894579"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4%</a:t>
            </a:r>
          </a:p>
        </p:txBody>
      </p:sp>
      <p:sp>
        <p:nvSpPr>
          <p:cNvPr id="43" name="cpe|exhibit|marker|42"/>
          <p:cNvSpPr/>
          <p:nvPr/>
        </p:nvSpPr>
        <p:spPr>
          <a:xfrm>
            <a:off x="9905695" y="2240280"/>
            <a:ext cx="128016" cy="128016"/>
          </a:xfrm>
          <a:prstGeom prst="rect">
            <a:avLst/>
          </a:prstGeom>
          <a:solidFill>
            <a:srgbClr val="0B1F3A"/>
          </a:solidFill>
          <a:ln>
            <a:noFill/>
          </a:ln>
        </p:spPr>
        <p:txBody>
          <a:bodyPr rtlCol="0" anchor="ctr" lIns="0" rIns="0" tIns="0" bIns="0"/>
          <a:lstStyle/>
          <a:p>
            <a:pPr algn="ctr"/>
          </a:p>
        </p:txBody>
      </p:sp>
      <p:sp>
        <p:nvSpPr>
          <p:cNvPr id="44" name="cpe|exhibit|label|43"/>
          <p:cNvSpPr txBox="1"/>
          <p:nvPr/>
        </p:nvSpPr>
        <p:spPr>
          <a:xfrm>
            <a:off x="10106863" y="2176272"/>
            <a:ext cx="1554480"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Alvora</a:t>
            </a:r>
          </a:p>
        </p:txBody>
      </p:sp>
      <p:sp>
        <p:nvSpPr>
          <p:cNvPr id="45" name="cpe|exhibit|marker|44"/>
          <p:cNvSpPr/>
          <p:nvPr/>
        </p:nvSpPr>
        <p:spPr>
          <a:xfrm>
            <a:off x="9905695" y="2532888"/>
            <a:ext cx="128016" cy="128016"/>
          </a:xfrm>
          <a:prstGeom prst="rect">
            <a:avLst/>
          </a:prstGeom>
          <a:solidFill>
            <a:srgbClr val="C9D0D8"/>
          </a:solidFill>
          <a:ln>
            <a:noFill/>
          </a:ln>
        </p:spPr>
        <p:txBody>
          <a:bodyPr rtlCol="0" anchor="ctr" lIns="0" rIns="0" tIns="0" bIns="0"/>
          <a:lstStyle/>
          <a:p>
            <a:pPr algn="ctr"/>
          </a:p>
        </p:txBody>
      </p:sp>
      <p:sp>
        <p:nvSpPr>
          <p:cNvPr id="46" name="cpe|exhibit|label|45"/>
          <p:cNvSpPr txBox="1"/>
          <p:nvPr/>
        </p:nvSpPr>
        <p:spPr>
          <a:xfrm>
            <a:off x="10106863" y="2468880"/>
            <a:ext cx="1554480"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Other players</a:t>
            </a:r>
          </a:p>
        </p:txBody>
      </p:sp>
      <p:cxnSp>
        <p:nvCxnSpPr>
          <p:cNvPr id="47" name="cpe|commentary|line|46"/>
          <p:cNvCxnSpPr/>
          <p:nvPr/>
        </p:nvCxnSpPr>
        <p:spPr>
          <a:xfrm>
            <a:off x="502920" y="5568696"/>
            <a:ext cx="11185855" cy="0"/>
          </a:xfrm>
          <a:prstGeom prst="line">
            <a:avLst/>
          </a:prstGeom>
          <a:ln w="9525">
            <a:solidFill>
              <a:srgbClr val="B7BFC8"/>
            </a:solidFill>
          </a:ln>
        </p:spPr>
      </p:cxnSp>
      <p:sp>
        <p:nvSpPr>
          <p:cNvPr id="48" name="cpe|commentary|text|47"/>
          <p:cNvSpPr txBox="1"/>
          <p:nvPr/>
        </p:nvSpPr>
        <p:spPr>
          <a:xfrm>
            <a:off x="502920"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54% of Alvora sales come from </a:t>
            </a:r>
            <a:r>
              <a:rPr sz="1200" b="1">
                <a:solidFill>
                  <a:srgbClr val="1E252D"/>
                </a:solidFill>
                <a:latin typeface="Arial"/>
              </a:rPr>
              <a:t>supermarkets</a:t>
            </a:r>
            <a:r>
              <a:rPr sz="1200" b="0">
                <a:solidFill>
                  <a:srgbClr val="1E252D"/>
                </a:solidFill>
                <a:latin typeface="Arial"/>
              </a:rPr>
              <a:t>, a channel growing 2% a year</a:t>
            </a:r>
          </a:p>
        </p:txBody>
      </p:sp>
      <p:sp>
        <p:nvSpPr>
          <p:cNvPr id="49" name="cpe|commentary|text|48"/>
          <p:cNvSpPr txBox="1"/>
          <p:nvPr/>
        </p:nvSpPr>
        <p:spPr>
          <a:xfrm>
            <a:off x="4298594"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In </a:t>
            </a:r>
            <a:r>
              <a:rPr sz="1200" b="1">
                <a:solidFill>
                  <a:srgbClr val="1E252D"/>
                </a:solidFill>
                <a:latin typeface="Arial"/>
              </a:rPr>
              <a:t>discount</a:t>
            </a:r>
            <a:r>
              <a:rPr sz="1200" b="0">
                <a:solidFill>
                  <a:srgbClr val="1E252D"/>
                </a:solidFill>
                <a:latin typeface="Arial"/>
              </a:rPr>
              <a:t>, Competitor A holds 41% with a lower cost-to-serve</a:t>
            </a:r>
          </a:p>
        </p:txBody>
      </p:sp>
      <p:sp>
        <p:nvSpPr>
          <p:cNvPr id="50" name="cpe|commentary|text|49"/>
          <p:cNvSpPr txBox="1"/>
          <p:nvPr/>
        </p:nvSpPr>
        <p:spPr>
          <a:xfrm>
            <a:off x="8094269"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Online</a:t>
            </a:r>
            <a:r>
              <a:rPr sz="1200" b="0">
                <a:solidFill>
                  <a:srgbClr val="1E252D"/>
                </a:solidFill>
                <a:latin typeface="Arial"/>
              </a:rPr>
              <a:t> share of 4% trails B and C, whose hub networks are in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PORTFOLIO</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holds 14% of supermarkets but only 5% of discount, the segment driving growth</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Retailer reports; consumer panel; team estimates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5</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Market share by channel, 2025</a:t>
            </a:r>
            <a:r>
              <a:rPr sz="1100" b="0">
                <a:solidFill>
                  <a:srgbClr val="1E252D"/>
                </a:solidFill>
                <a:latin typeface="Arial"/>
              </a:rPr>
              <a:t>, % of channel sales; width = channel size (€bn)</a:t>
            </a:r>
          </a:p>
        </p:txBody>
      </p:sp>
      <p:sp>
        <p:nvSpPr>
          <p:cNvPr id="7" name="cpe|exhibit|fill|6"/>
          <p:cNvSpPr/>
          <p:nvPr/>
        </p:nvSpPr>
        <p:spPr>
          <a:xfrm>
            <a:off x="502920" y="5459882"/>
            <a:ext cx="1545820" cy="172822"/>
          </a:xfrm>
          <a:prstGeom prst="rect">
            <a:avLst/>
          </a:prstGeom>
          <a:solidFill>
            <a:srgbClr val="0B1F3A"/>
          </a:solidFill>
          <a:ln w="9525">
            <a:solidFill>
              <a:srgbClr val="FFFFFF"/>
            </a:solidFill>
          </a:ln>
        </p:spPr>
        <p:txBody>
          <a:bodyPr rtlCol="0" anchor="ctr" lIns="0" rIns="0" tIns="0" bIns="0"/>
          <a:lstStyle/>
          <a:p>
            <a:pPr algn="ctr"/>
          </a:p>
        </p:txBody>
      </p:sp>
      <p:sp>
        <p:nvSpPr>
          <p:cNvPr id="8" name="cpe|exhibit|fill|7"/>
          <p:cNvSpPr/>
          <p:nvPr/>
        </p:nvSpPr>
        <p:spPr>
          <a:xfrm>
            <a:off x="502920" y="4042745"/>
            <a:ext cx="1545820" cy="1417137"/>
          </a:xfrm>
          <a:prstGeom prst="rect">
            <a:avLst/>
          </a:prstGeom>
          <a:solidFill>
            <a:srgbClr val="C9D0D8"/>
          </a:solidFill>
          <a:ln w="9525">
            <a:solidFill>
              <a:srgbClr val="FFFFFF"/>
            </a:solidFill>
          </a:ln>
        </p:spPr>
        <p:txBody>
          <a:bodyPr rtlCol="0" anchor="ctr" lIns="0" rIns="0" tIns="0" bIns="0"/>
          <a:lstStyle/>
          <a:p>
            <a:pPr algn="ctr"/>
          </a:p>
        </p:txBody>
      </p:sp>
      <p:sp>
        <p:nvSpPr>
          <p:cNvPr id="9" name="cpe|exhibit|fill|8"/>
          <p:cNvSpPr/>
          <p:nvPr/>
        </p:nvSpPr>
        <p:spPr>
          <a:xfrm>
            <a:off x="502920" y="3627973"/>
            <a:ext cx="1545820" cy="414772"/>
          </a:xfrm>
          <a:prstGeom prst="rect">
            <a:avLst/>
          </a:prstGeom>
          <a:solidFill>
            <a:srgbClr val="C9D0D8"/>
          </a:solidFill>
          <a:ln w="9525">
            <a:solidFill>
              <a:srgbClr val="FFFFFF"/>
            </a:solidFill>
          </a:ln>
        </p:spPr>
        <p:txBody>
          <a:bodyPr rtlCol="0" anchor="ctr" lIns="0" rIns="0" tIns="0" bIns="0"/>
          <a:lstStyle/>
          <a:p>
            <a:pPr algn="ctr"/>
          </a:p>
        </p:txBody>
      </p:sp>
      <p:sp>
        <p:nvSpPr>
          <p:cNvPr id="10" name="cpe|exhibit|fill|9"/>
          <p:cNvSpPr/>
          <p:nvPr/>
        </p:nvSpPr>
        <p:spPr>
          <a:xfrm>
            <a:off x="502920" y="2176272"/>
            <a:ext cx="1545820" cy="1451701"/>
          </a:xfrm>
          <a:prstGeom prst="rect">
            <a:avLst/>
          </a:prstGeom>
          <a:solidFill>
            <a:srgbClr val="C9D0D8"/>
          </a:solidFill>
          <a:ln w="9525">
            <a:solidFill>
              <a:srgbClr val="FFFFFF"/>
            </a:solidFill>
          </a:ln>
        </p:spPr>
        <p:txBody>
          <a:bodyPr rtlCol="0" anchor="ctr" lIns="0" rIns="0" tIns="0" bIns="0"/>
          <a:lstStyle/>
          <a:p>
            <a:pPr algn="ctr"/>
          </a:p>
        </p:txBody>
      </p:sp>
      <p:sp>
        <p:nvSpPr>
          <p:cNvPr id="11" name="cpe|exhibit|label|10"/>
          <p:cNvSpPr txBox="1"/>
          <p:nvPr/>
        </p:nvSpPr>
        <p:spPr>
          <a:xfrm>
            <a:off x="502920" y="1901952"/>
            <a:ext cx="1545820"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38</a:t>
            </a:r>
          </a:p>
        </p:txBody>
      </p:sp>
      <p:sp>
        <p:nvSpPr>
          <p:cNvPr id="12" name="cpe|exhibit|text|11"/>
          <p:cNvSpPr txBox="1"/>
          <p:nvPr/>
        </p:nvSpPr>
        <p:spPr>
          <a:xfrm>
            <a:off x="502920" y="5687568"/>
            <a:ext cx="1545820"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Discount</a:t>
            </a:r>
          </a:p>
        </p:txBody>
      </p:sp>
      <p:sp>
        <p:nvSpPr>
          <p:cNvPr id="13" name="cpe|exhibit|fill|12"/>
          <p:cNvSpPr/>
          <p:nvPr/>
        </p:nvSpPr>
        <p:spPr>
          <a:xfrm>
            <a:off x="2085316" y="5148804"/>
            <a:ext cx="2115332" cy="483900"/>
          </a:xfrm>
          <a:prstGeom prst="rect">
            <a:avLst/>
          </a:prstGeom>
          <a:solidFill>
            <a:srgbClr val="0B1F3A"/>
          </a:solidFill>
          <a:ln w="9525">
            <a:solidFill>
              <a:srgbClr val="FFFFFF"/>
            </a:solidFill>
          </a:ln>
        </p:spPr>
        <p:txBody>
          <a:bodyPr rtlCol="0" anchor="ctr" lIns="0" rIns="0" tIns="0" bIns="0"/>
          <a:lstStyle/>
          <a:p>
            <a:pPr algn="ctr"/>
          </a:p>
        </p:txBody>
      </p:sp>
      <p:sp>
        <p:nvSpPr>
          <p:cNvPr id="14" name="cpe|exhibit|fill|13"/>
          <p:cNvSpPr/>
          <p:nvPr/>
        </p:nvSpPr>
        <p:spPr>
          <a:xfrm>
            <a:off x="2085316" y="5010546"/>
            <a:ext cx="2115332" cy="138257"/>
          </a:xfrm>
          <a:prstGeom prst="rect">
            <a:avLst/>
          </a:prstGeom>
          <a:solidFill>
            <a:srgbClr val="C9D0D8"/>
          </a:solidFill>
          <a:ln w="9525">
            <a:solidFill>
              <a:srgbClr val="FFFFFF"/>
            </a:solidFill>
          </a:ln>
        </p:spPr>
        <p:txBody>
          <a:bodyPr rtlCol="0" anchor="ctr" lIns="0" rIns="0" tIns="0" bIns="0"/>
          <a:lstStyle/>
          <a:p>
            <a:pPr algn="ctr"/>
          </a:p>
        </p:txBody>
      </p:sp>
      <p:sp>
        <p:nvSpPr>
          <p:cNvPr id="15" name="cpe|exhibit|fill|14"/>
          <p:cNvSpPr/>
          <p:nvPr/>
        </p:nvSpPr>
        <p:spPr>
          <a:xfrm>
            <a:off x="2085316" y="4250131"/>
            <a:ext cx="2115332" cy="760415"/>
          </a:xfrm>
          <a:prstGeom prst="rect">
            <a:avLst/>
          </a:prstGeom>
          <a:solidFill>
            <a:srgbClr val="C9D0D8"/>
          </a:solidFill>
          <a:ln w="9525">
            <a:solidFill>
              <a:srgbClr val="FFFFFF"/>
            </a:solidFill>
          </a:ln>
        </p:spPr>
        <p:txBody>
          <a:bodyPr rtlCol="0" anchor="ctr" lIns="0" rIns="0" tIns="0" bIns="0"/>
          <a:lstStyle/>
          <a:p>
            <a:pPr algn="ctr"/>
          </a:p>
        </p:txBody>
      </p:sp>
      <p:sp>
        <p:nvSpPr>
          <p:cNvPr id="16" name="cpe|exhibit|fill|15"/>
          <p:cNvSpPr/>
          <p:nvPr/>
        </p:nvSpPr>
        <p:spPr>
          <a:xfrm>
            <a:off x="2085316" y="3627973"/>
            <a:ext cx="2115332" cy="622158"/>
          </a:xfrm>
          <a:prstGeom prst="rect">
            <a:avLst/>
          </a:prstGeom>
          <a:solidFill>
            <a:srgbClr val="C9D0D8"/>
          </a:solidFill>
          <a:ln w="9525">
            <a:solidFill>
              <a:srgbClr val="FFFFFF"/>
            </a:solidFill>
          </a:ln>
        </p:spPr>
        <p:txBody>
          <a:bodyPr rtlCol="0" anchor="ctr" lIns="0" rIns="0" tIns="0" bIns="0"/>
          <a:lstStyle/>
          <a:p>
            <a:pPr algn="ctr"/>
          </a:p>
        </p:txBody>
      </p:sp>
      <p:sp>
        <p:nvSpPr>
          <p:cNvPr id="17" name="cpe|exhibit|fill|16"/>
          <p:cNvSpPr/>
          <p:nvPr/>
        </p:nvSpPr>
        <p:spPr>
          <a:xfrm>
            <a:off x="2085316" y="2176272"/>
            <a:ext cx="2115332" cy="1451701"/>
          </a:xfrm>
          <a:prstGeom prst="rect">
            <a:avLst/>
          </a:prstGeom>
          <a:solidFill>
            <a:srgbClr val="C9D0D8"/>
          </a:solidFill>
          <a:ln w="9525">
            <a:solidFill>
              <a:srgbClr val="FFFFFF"/>
            </a:solidFill>
          </a:ln>
        </p:spPr>
        <p:txBody>
          <a:bodyPr rtlCol="0" anchor="ctr" lIns="0" rIns="0" tIns="0" bIns="0"/>
          <a:lstStyle/>
          <a:p>
            <a:pPr algn="ctr"/>
          </a:p>
        </p:txBody>
      </p:sp>
      <p:sp>
        <p:nvSpPr>
          <p:cNvPr id="18" name="cpe|exhibit|label|17"/>
          <p:cNvSpPr txBox="1"/>
          <p:nvPr/>
        </p:nvSpPr>
        <p:spPr>
          <a:xfrm>
            <a:off x="2085316" y="1901952"/>
            <a:ext cx="2115332"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52</a:t>
            </a:r>
          </a:p>
        </p:txBody>
      </p:sp>
      <p:sp>
        <p:nvSpPr>
          <p:cNvPr id="19" name="cpe|exhibit|text|18"/>
          <p:cNvSpPr txBox="1"/>
          <p:nvPr/>
        </p:nvSpPr>
        <p:spPr>
          <a:xfrm>
            <a:off x="2085316" y="5687568"/>
            <a:ext cx="2115332"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Supermarkets</a:t>
            </a:r>
          </a:p>
        </p:txBody>
      </p:sp>
      <p:sp>
        <p:nvSpPr>
          <p:cNvPr id="20" name="cpe|exhibit|fill|19"/>
          <p:cNvSpPr/>
          <p:nvPr/>
        </p:nvSpPr>
        <p:spPr>
          <a:xfrm>
            <a:off x="4237224" y="5321625"/>
            <a:ext cx="976307" cy="311079"/>
          </a:xfrm>
          <a:prstGeom prst="rect">
            <a:avLst/>
          </a:prstGeom>
          <a:solidFill>
            <a:srgbClr val="0B1F3A"/>
          </a:solidFill>
          <a:ln w="9525">
            <a:solidFill>
              <a:srgbClr val="FFFFFF"/>
            </a:solidFill>
          </a:ln>
        </p:spPr>
        <p:txBody>
          <a:bodyPr rtlCol="0" anchor="ctr" lIns="0" rIns="0" tIns="0" bIns="0"/>
          <a:lstStyle/>
          <a:p>
            <a:pPr algn="ctr"/>
          </a:p>
        </p:txBody>
      </p:sp>
      <p:sp>
        <p:nvSpPr>
          <p:cNvPr id="21" name="cpe|exhibit|fill|20"/>
          <p:cNvSpPr/>
          <p:nvPr/>
        </p:nvSpPr>
        <p:spPr>
          <a:xfrm>
            <a:off x="4237224" y="4803160"/>
            <a:ext cx="976307" cy="518465"/>
          </a:xfrm>
          <a:prstGeom prst="rect">
            <a:avLst/>
          </a:prstGeom>
          <a:solidFill>
            <a:srgbClr val="C9D0D8"/>
          </a:solidFill>
          <a:ln w="9525">
            <a:solidFill>
              <a:srgbClr val="FFFFFF"/>
            </a:solidFill>
          </a:ln>
        </p:spPr>
        <p:txBody>
          <a:bodyPr rtlCol="0" anchor="ctr" lIns="0" rIns="0" tIns="0" bIns="0"/>
          <a:lstStyle/>
          <a:p>
            <a:pPr algn="ctr"/>
          </a:p>
        </p:txBody>
      </p:sp>
      <p:sp>
        <p:nvSpPr>
          <p:cNvPr id="22" name="cpe|exhibit|fill|21"/>
          <p:cNvSpPr/>
          <p:nvPr/>
        </p:nvSpPr>
        <p:spPr>
          <a:xfrm>
            <a:off x="4237224" y="3731666"/>
            <a:ext cx="976307" cy="1071494"/>
          </a:xfrm>
          <a:prstGeom prst="rect">
            <a:avLst/>
          </a:prstGeom>
          <a:solidFill>
            <a:srgbClr val="C9D0D8"/>
          </a:solidFill>
          <a:ln w="9525">
            <a:solidFill>
              <a:srgbClr val="FFFFFF"/>
            </a:solidFill>
          </a:ln>
        </p:spPr>
        <p:txBody>
          <a:bodyPr rtlCol="0" anchor="ctr" lIns="0" rIns="0" tIns="0" bIns="0"/>
          <a:lstStyle/>
          <a:p>
            <a:pPr algn="ctr"/>
          </a:p>
        </p:txBody>
      </p:sp>
      <p:sp>
        <p:nvSpPr>
          <p:cNvPr id="23" name="cpe|exhibit|fill|22"/>
          <p:cNvSpPr/>
          <p:nvPr/>
        </p:nvSpPr>
        <p:spPr>
          <a:xfrm>
            <a:off x="4237224" y="2176272"/>
            <a:ext cx="976307" cy="1555394"/>
          </a:xfrm>
          <a:prstGeom prst="rect">
            <a:avLst/>
          </a:prstGeom>
          <a:solidFill>
            <a:srgbClr val="C9D0D8"/>
          </a:solidFill>
          <a:ln w="9525">
            <a:solidFill>
              <a:srgbClr val="FFFFFF"/>
            </a:solidFill>
          </a:ln>
        </p:spPr>
        <p:txBody>
          <a:bodyPr rtlCol="0" anchor="ctr" lIns="0" rIns="0" tIns="0" bIns="0"/>
          <a:lstStyle/>
          <a:p>
            <a:pPr algn="ctr"/>
          </a:p>
        </p:txBody>
      </p:sp>
      <p:sp>
        <p:nvSpPr>
          <p:cNvPr id="24" name="cpe|exhibit|label|23"/>
          <p:cNvSpPr txBox="1"/>
          <p:nvPr/>
        </p:nvSpPr>
        <p:spPr>
          <a:xfrm>
            <a:off x="4237224" y="1901952"/>
            <a:ext cx="976307"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24</a:t>
            </a:r>
          </a:p>
        </p:txBody>
      </p:sp>
      <p:sp>
        <p:nvSpPr>
          <p:cNvPr id="25" name="cpe|exhibit|text|24"/>
          <p:cNvSpPr txBox="1"/>
          <p:nvPr/>
        </p:nvSpPr>
        <p:spPr>
          <a:xfrm>
            <a:off x="4237224" y="5687568"/>
            <a:ext cx="976307"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Hypermarkets</a:t>
            </a:r>
          </a:p>
        </p:txBody>
      </p:sp>
      <p:sp>
        <p:nvSpPr>
          <p:cNvPr id="26" name="cpe|exhibit|fill|25"/>
          <p:cNvSpPr/>
          <p:nvPr/>
        </p:nvSpPr>
        <p:spPr>
          <a:xfrm>
            <a:off x="5250107" y="5217932"/>
            <a:ext cx="569513" cy="414772"/>
          </a:xfrm>
          <a:prstGeom prst="rect">
            <a:avLst/>
          </a:prstGeom>
          <a:solidFill>
            <a:srgbClr val="0B1F3A"/>
          </a:solidFill>
          <a:ln w="9525">
            <a:solidFill>
              <a:srgbClr val="FFFFFF"/>
            </a:solidFill>
          </a:ln>
        </p:spPr>
        <p:txBody>
          <a:bodyPr rtlCol="0" anchor="ctr" lIns="0" rIns="0" tIns="0" bIns="0"/>
          <a:lstStyle/>
          <a:p>
            <a:pPr algn="ctr"/>
          </a:p>
        </p:txBody>
      </p:sp>
      <p:sp>
        <p:nvSpPr>
          <p:cNvPr id="27" name="cpe|exhibit|fill|26"/>
          <p:cNvSpPr/>
          <p:nvPr/>
        </p:nvSpPr>
        <p:spPr>
          <a:xfrm>
            <a:off x="5250107" y="5010546"/>
            <a:ext cx="569513" cy="207386"/>
          </a:xfrm>
          <a:prstGeom prst="rect">
            <a:avLst/>
          </a:prstGeom>
          <a:solidFill>
            <a:srgbClr val="C9D0D8"/>
          </a:solidFill>
          <a:ln w="9525">
            <a:solidFill>
              <a:srgbClr val="FFFFFF"/>
            </a:solidFill>
          </a:ln>
        </p:spPr>
        <p:txBody>
          <a:bodyPr rtlCol="0" anchor="ctr" lIns="0" rIns="0" tIns="0" bIns="0"/>
          <a:lstStyle/>
          <a:p>
            <a:pPr algn="ctr"/>
          </a:p>
        </p:txBody>
      </p:sp>
      <p:sp>
        <p:nvSpPr>
          <p:cNvPr id="28" name="cpe|exhibit|fill|27"/>
          <p:cNvSpPr/>
          <p:nvPr/>
        </p:nvSpPr>
        <p:spPr>
          <a:xfrm>
            <a:off x="5250107" y="4768596"/>
            <a:ext cx="569513" cy="241950"/>
          </a:xfrm>
          <a:prstGeom prst="rect">
            <a:avLst/>
          </a:prstGeom>
          <a:solidFill>
            <a:srgbClr val="C9D0D8"/>
          </a:solidFill>
          <a:ln w="9525">
            <a:solidFill>
              <a:srgbClr val="FFFFFF"/>
            </a:solidFill>
          </a:ln>
        </p:spPr>
        <p:txBody>
          <a:bodyPr rtlCol="0" anchor="ctr" lIns="0" rIns="0" tIns="0" bIns="0"/>
          <a:lstStyle/>
          <a:p>
            <a:pPr algn="ctr"/>
          </a:p>
        </p:txBody>
      </p:sp>
      <p:sp>
        <p:nvSpPr>
          <p:cNvPr id="29" name="cpe|exhibit|fill|28"/>
          <p:cNvSpPr/>
          <p:nvPr/>
        </p:nvSpPr>
        <p:spPr>
          <a:xfrm>
            <a:off x="5250107" y="2176272"/>
            <a:ext cx="569513" cy="2592324"/>
          </a:xfrm>
          <a:prstGeom prst="rect">
            <a:avLst/>
          </a:prstGeom>
          <a:solidFill>
            <a:srgbClr val="C9D0D8"/>
          </a:solidFill>
          <a:ln w="9525">
            <a:solidFill>
              <a:srgbClr val="FFFFFF"/>
            </a:solidFill>
          </a:ln>
        </p:spPr>
        <p:txBody>
          <a:bodyPr rtlCol="0" anchor="ctr" lIns="0" rIns="0" tIns="0" bIns="0"/>
          <a:lstStyle/>
          <a:p>
            <a:pPr algn="ctr"/>
          </a:p>
        </p:txBody>
      </p:sp>
      <p:sp>
        <p:nvSpPr>
          <p:cNvPr id="30" name="cpe|exhibit|label|29"/>
          <p:cNvSpPr txBox="1"/>
          <p:nvPr/>
        </p:nvSpPr>
        <p:spPr>
          <a:xfrm>
            <a:off x="5250107" y="1901952"/>
            <a:ext cx="569513"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1" name="cpe|exhibit|text|30"/>
          <p:cNvSpPr txBox="1"/>
          <p:nvPr/>
        </p:nvSpPr>
        <p:spPr>
          <a:xfrm>
            <a:off x="5250107" y="5687568"/>
            <a:ext cx="569513"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Convenience</a:t>
            </a:r>
          </a:p>
        </p:txBody>
      </p:sp>
      <p:sp>
        <p:nvSpPr>
          <p:cNvPr id="32" name="cpe|exhibit|fill|31"/>
          <p:cNvSpPr/>
          <p:nvPr/>
        </p:nvSpPr>
        <p:spPr>
          <a:xfrm>
            <a:off x="5856196" y="5494447"/>
            <a:ext cx="569513" cy="138257"/>
          </a:xfrm>
          <a:prstGeom prst="rect">
            <a:avLst/>
          </a:prstGeom>
          <a:solidFill>
            <a:srgbClr val="0B1F3A"/>
          </a:solidFill>
          <a:ln w="9525">
            <a:solidFill>
              <a:srgbClr val="FFFFFF"/>
            </a:solidFill>
          </a:ln>
        </p:spPr>
        <p:txBody>
          <a:bodyPr rtlCol="0" anchor="ctr" lIns="0" rIns="0" tIns="0" bIns="0"/>
          <a:lstStyle/>
          <a:p>
            <a:pPr algn="ctr"/>
          </a:p>
        </p:txBody>
      </p:sp>
      <p:sp>
        <p:nvSpPr>
          <p:cNvPr id="33" name="cpe|exhibit|fill|32"/>
          <p:cNvSpPr/>
          <p:nvPr/>
        </p:nvSpPr>
        <p:spPr>
          <a:xfrm>
            <a:off x="5856196" y="5183368"/>
            <a:ext cx="569513" cy="311079"/>
          </a:xfrm>
          <a:prstGeom prst="rect">
            <a:avLst/>
          </a:prstGeom>
          <a:solidFill>
            <a:srgbClr val="C9D0D8"/>
          </a:solidFill>
          <a:ln w="9525">
            <a:solidFill>
              <a:srgbClr val="FFFFFF"/>
            </a:solidFill>
          </a:ln>
        </p:spPr>
        <p:txBody>
          <a:bodyPr rtlCol="0" anchor="ctr" lIns="0" rIns="0" tIns="0" bIns="0"/>
          <a:lstStyle/>
          <a:p>
            <a:pPr algn="ctr"/>
          </a:p>
        </p:txBody>
      </p:sp>
      <p:sp>
        <p:nvSpPr>
          <p:cNvPr id="34" name="cpe|exhibit|fill|33"/>
          <p:cNvSpPr/>
          <p:nvPr/>
        </p:nvSpPr>
        <p:spPr>
          <a:xfrm>
            <a:off x="5856196" y="4768596"/>
            <a:ext cx="569513" cy="414772"/>
          </a:xfrm>
          <a:prstGeom prst="rect">
            <a:avLst/>
          </a:prstGeom>
          <a:solidFill>
            <a:srgbClr val="C9D0D8"/>
          </a:solidFill>
          <a:ln w="9525">
            <a:solidFill>
              <a:srgbClr val="FFFFFF"/>
            </a:solidFill>
          </a:ln>
        </p:spPr>
        <p:txBody>
          <a:bodyPr rtlCol="0" anchor="ctr" lIns="0" rIns="0" tIns="0" bIns="0"/>
          <a:lstStyle/>
          <a:p>
            <a:pPr algn="ctr"/>
          </a:p>
        </p:txBody>
      </p:sp>
      <p:sp>
        <p:nvSpPr>
          <p:cNvPr id="35" name="cpe|exhibit|fill|34"/>
          <p:cNvSpPr/>
          <p:nvPr/>
        </p:nvSpPr>
        <p:spPr>
          <a:xfrm>
            <a:off x="5856196" y="2176272"/>
            <a:ext cx="569513" cy="2592324"/>
          </a:xfrm>
          <a:prstGeom prst="rect">
            <a:avLst/>
          </a:prstGeom>
          <a:solidFill>
            <a:srgbClr val="C9D0D8"/>
          </a:solidFill>
          <a:ln w="9525">
            <a:solidFill>
              <a:srgbClr val="FFFFFF"/>
            </a:solidFill>
          </a:ln>
        </p:spPr>
        <p:txBody>
          <a:bodyPr rtlCol="0" anchor="ctr" lIns="0" rIns="0" tIns="0" bIns="0"/>
          <a:lstStyle/>
          <a:p>
            <a:pPr algn="ctr"/>
          </a:p>
        </p:txBody>
      </p:sp>
      <p:sp>
        <p:nvSpPr>
          <p:cNvPr id="36" name="cpe|exhibit|label|35"/>
          <p:cNvSpPr txBox="1"/>
          <p:nvPr/>
        </p:nvSpPr>
        <p:spPr>
          <a:xfrm>
            <a:off x="5856196" y="1901952"/>
            <a:ext cx="569513"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7" name="cpe|exhibit|text|36"/>
          <p:cNvSpPr txBox="1"/>
          <p:nvPr/>
        </p:nvSpPr>
        <p:spPr>
          <a:xfrm>
            <a:off x="5856196" y="5687568"/>
            <a:ext cx="569513"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Online</a:t>
            </a:r>
          </a:p>
        </p:txBody>
      </p:sp>
      <p:sp>
        <p:nvSpPr>
          <p:cNvPr id="38" name="cpe|exhibit|label|37"/>
          <p:cNvSpPr txBox="1"/>
          <p:nvPr/>
        </p:nvSpPr>
        <p:spPr>
          <a:xfrm>
            <a:off x="502920" y="5212994"/>
            <a:ext cx="1545820"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5%</a:t>
            </a:r>
          </a:p>
        </p:txBody>
      </p:sp>
      <p:sp>
        <p:nvSpPr>
          <p:cNvPr id="39" name="cpe|exhibit|label|38"/>
          <p:cNvSpPr txBox="1"/>
          <p:nvPr/>
        </p:nvSpPr>
        <p:spPr>
          <a:xfrm>
            <a:off x="2085316" y="5148804"/>
            <a:ext cx="2115332" cy="48390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14%</a:t>
            </a:r>
          </a:p>
        </p:txBody>
      </p:sp>
      <p:sp>
        <p:nvSpPr>
          <p:cNvPr id="40" name="cpe|exhibit|label|39"/>
          <p:cNvSpPr txBox="1"/>
          <p:nvPr/>
        </p:nvSpPr>
        <p:spPr>
          <a:xfrm>
            <a:off x="4237224" y="5321625"/>
            <a:ext cx="976307" cy="311079"/>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9%</a:t>
            </a:r>
          </a:p>
        </p:txBody>
      </p:sp>
      <p:sp>
        <p:nvSpPr>
          <p:cNvPr id="41" name="cpe|exhibit|label|40"/>
          <p:cNvSpPr txBox="1"/>
          <p:nvPr/>
        </p:nvSpPr>
        <p:spPr>
          <a:xfrm>
            <a:off x="5250107" y="5217932"/>
            <a:ext cx="569513" cy="414772"/>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12%</a:t>
            </a:r>
          </a:p>
        </p:txBody>
      </p:sp>
      <p:sp>
        <p:nvSpPr>
          <p:cNvPr id="42" name="cpe|exhibit|label|41"/>
          <p:cNvSpPr txBox="1"/>
          <p:nvPr/>
        </p:nvSpPr>
        <p:spPr>
          <a:xfrm>
            <a:off x="5856196" y="5247559"/>
            <a:ext cx="569513"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4%</a:t>
            </a:r>
          </a:p>
        </p:txBody>
      </p:sp>
      <p:sp>
        <p:nvSpPr>
          <p:cNvPr id="43" name="cpe|exhibit|marker|42"/>
          <p:cNvSpPr/>
          <p:nvPr/>
        </p:nvSpPr>
        <p:spPr>
          <a:xfrm>
            <a:off x="6608588" y="2240280"/>
            <a:ext cx="128016" cy="128016"/>
          </a:xfrm>
          <a:prstGeom prst="rect">
            <a:avLst/>
          </a:prstGeom>
          <a:solidFill>
            <a:srgbClr val="0B1F3A"/>
          </a:solidFill>
          <a:ln>
            <a:noFill/>
          </a:ln>
        </p:spPr>
        <p:txBody>
          <a:bodyPr rtlCol="0" anchor="ctr" lIns="0" rIns="0" tIns="0" bIns="0"/>
          <a:lstStyle/>
          <a:p>
            <a:pPr algn="ctr"/>
          </a:p>
        </p:txBody>
      </p:sp>
      <p:sp>
        <p:nvSpPr>
          <p:cNvPr id="44" name="cpe|exhibit|label|43"/>
          <p:cNvSpPr txBox="1"/>
          <p:nvPr/>
        </p:nvSpPr>
        <p:spPr>
          <a:xfrm>
            <a:off x="6809756" y="2176272"/>
            <a:ext cx="1055913"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Alvora</a:t>
            </a:r>
          </a:p>
        </p:txBody>
      </p:sp>
      <p:sp>
        <p:nvSpPr>
          <p:cNvPr id="45" name="cpe|exhibit|marker|44"/>
          <p:cNvSpPr/>
          <p:nvPr/>
        </p:nvSpPr>
        <p:spPr>
          <a:xfrm>
            <a:off x="6608588" y="2532888"/>
            <a:ext cx="128016" cy="128016"/>
          </a:xfrm>
          <a:prstGeom prst="rect">
            <a:avLst/>
          </a:prstGeom>
          <a:solidFill>
            <a:srgbClr val="C9D0D8"/>
          </a:solidFill>
          <a:ln>
            <a:noFill/>
          </a:ln>
        </p:spPr>
        <p:txBody>
          <a:bodyPr rtlCol="0" anchor="ctr" lIns="0" rIns="0" tIns="0" bIns="0"/>
          <a:lstStyle/>
          <a:p>
            <a:pPr algn="ctr"/>
          </a:p>
        </p:txBody>
      </p:sp>
      <p:sp>
        <p:nvSpPr>
          <p:cNvPr id="46" name="cpe|exhibit|label|45"/>
          <p:cNvSpPr txBox="1"/>
          <p:nvPr/>
        </p:nvSpPr>
        <p:spPr>
          <a:xfrm>
            <a:off x="6809756" y="2468880"/>
            <a:ext cx="1055913"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Other players</a:t>
            </a:r>
          </a:p>
        </p:txBody>
      </p:sp>
      <p:cxnSp>
        <p:nvCxnSpPr>
          <p:cNvPr id="47" name="cpe|commentary|line|46"/>
          <p:cNvCxnSpPr/>
          <p:nvPr/>
        </p:nvCxnSpPr>
        <p:spPr>
          <a:xfrm>
            <a:off x="8094269" y="1481328"/>
            <a:ext cx="0" cy="4718304"/>
          </a:xfrm>
          <a:prstGeom prst="line">
            <a:avLst/>
          </a:prstGeom>
          <a:ln w="9525">
            <a:solidFill>
              <a:srgbClr val="B7BFC8"/>
            </a:solidFill>
          </a:ln>
        </p:spPr>
      </p:cxnSp>
      <p:sp>
        <p:nvSpPr>
          <p:cNvPr id="48" name="cpe|commentary|text|47"/>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54% of Alvora sales come from </a:t>
            </a:r>
            <a:r>
              <a:rPr sz="1200" b="1">
                <a:solidFill>
                  <a:srgbClr val="1E252D"/>
                </a:solidFill>
                <a:latin typeface="Arial"/>
              </a:rPr>
              <a:t>supermarkets</a:t>
            </a:r>
            <a:r>
              <a:rPr sz="1200" b="0">
                <a:solidFill>
                  <a:srgbClr val="1E252D"/>
                </a:solidFill>
                <a:latin typeface="Arial"/>
              </a:rPr>
              <a:t>, a channel growing 2% a year</a:t>
            </a:r>
          </a:p>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In </a:t>
            </a:r>
            <a:r>
              <a:rPr sz="1200" b="1">
                <a:solidFill>
                  <a:srgbClr val="1E252D"/>
                </a:solidFill>
                <a:latin typeface="Arial"/>
              </a:rPr>
              <a:t>discount</a:t>
            </a:r>
            <a:r>
              <a:rPr sz="1200" b="0">
                <a:solidFill>
                  <a:srgbClr val="1E252D"/>
                </a:solidFill>
                <a:latin typeface="Arial"/>
              </a:rPr>
              <a:t>, Competitor A holds 41% with a lower cost-to-serve</a:t>
            </a:r>
          </a:p>
          <a:p>
            <a:pPr algn="l" marL="155448" indent="-155448">
              <a:lnSpc>
                <a:spcPct val="108000"/>
              </a:lnSpc>
              <a:buClr>
                <a:srgbClr val="1E252D"/>
              </a:buClr>
              <a:buSzPct val="100000"/>
              <a:buFont typeface="Arial"/>
              <a:buChar char="•"/>
            </a:pPr>
            <a:r>
              <a:rPr sz="1200" b="1">
                <a:solidFill>
                  <a:srgbClr val="1E252D"/>
                </a:solidFill>
                <a:latin typeface="Arial"/>
              </a:rPr>
              <a:t>Online</a:t>
            </a:r>
            <a:r>
              <a:rPr sz="1200" b="0">
                <a:solidFill>
                  <a:srgbClr val="1E252D"/>
                </a:solidFill>
                <a:latin typeface="Arial"/>
              </a:rPr>
              <a:t> share of 4% trails B and C, whose hub networks are in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PORTFOLIO</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holds 14% of supermarkets but only 5% of discount, the segment driving growth</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Retailer reports; consumer panel; team estimates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5</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Market share by channel, 2025</a:t>
            </a:r>
            <a:r>
              <a:rPr sz="1100" b="0">
                <a:solidFill>
                  <a:srgbClr val="1E252D"/>
                </a:solidFill>
                <a:latin typeface="Arial"/>
              </a:rPr>
              <a:t>, % of channel sales; width = channel size (€bn)</a:t>
            </a:r>
          </a:p>
        </p:txBody>
      </p:sp>
      <p:sp>
        <p:nvSpPr>
          <p:cNvPr id="7" name="cpe|exhibit|fill|6"/>
          <p:cNvSpPr/>
          <p:nvPr/>
        </p:nvSpPr>
        <p:spPr>
          <a:xfrm>
            <a:off x="502920" y="5459882"/>
            <a:ext cx="1545820" cy="172822"/>
          </a:xfrm>
          <a:prstGeom prst="rect">
            <a:avLst/>
          </a:prstGeom>
          <a:solidFill>
            <a:srgbClr val="0B1F3A"/>
          </a:solidFill>
          <a:ln w="9525">
            <a:solidFill>
              <a:srgbClr val="FFFFFF"/>
            </a:solidFill>
          </a:ln>
        </p:spPr>
        <p:txBody>
          <a:bodyPr rtlCol="0" anchor="ctr" lIns="0" rIns="0" tIns="0" bIns="0"/>
          <a:lstStyle/>
          <a:p>
            <a:pPr algn="ctr"/>
          </a:p>
        </p:txBody>
      </p:sp>
      <p:sp>
        <p:nvSpPr>
          <p:cNvPr id="8" name="cpe|exhibit|fill|7"/>
          <p:cNvSpPr/>
          <p:nvPr/>
        </p:nvSpPr>
        <p:spPr>
          <a:xfrm>
            <a:off x="502920" y="4042745"/>
            <a:ext cx="1545820" cy="1417137"/>
          </a:xfrm>
          <a:prstGeom prst="rect">
            <a:avLst/>
          </a:prstGeom>
          <a:solidFill>
            <a:srgbClr val="C9D0D8"/>
          </a:solidFill>
          <a:ln w="9525">
            <a:solidFill>
              <a:srgbClr val="FFFFFF"/>
            </a:solidFill>
          </a:ln>
        </p:spPr>
        <p:txBody>
          <a:bodyPr rtlCol="0" anchor="ctr" lIns="0" rIns="0" tIns="0" bIns="0"/>
          <a:lstStyle/>
          <a:p>
            <a:pPr algn="ctr"/>
          </a:p>
        </p:txBody>
      </p:sp>
      <p:sp>
        <p:nvSpPr>
          <p:cNvPr id="9" name="cpe|exhibit|fill|8"/>
          <p:cNvSpPr/>
          <p:nvPr/>
        </p:nvSpPr>
        <p:spPr>
          <a:xfrm>
            <a:off x="502920" y="3627973"/>
            <a:ext cx="1545820" cy="414772"/>
          </a:xfrm>
          <a:prstGeom prst="rect">
            <a:avLst/>
          </a:prstGeom>
          <a:solidFill>
            <a:srgbClr val="C9D0D8"/>
          </a:solidFill>
          <a:ln w="9525">
            <a:solidFill>
              <a:srgbClr val="FFFFFF"/>
            </a:solidFill>
          </a:ln>
        </p:spPr>
        <p:txBody>
          <a:bodyPr rtlCol="0" anchor="ctr" lIns="0" rIns="0" tIns="0" bIns="0"/>
          <a:lstStyle/>
          <a:p>
            <a:pPr algn="ctr"/>
          </a:p>
        </p:txBody>
      </p:sp>
      <p:sp>
        <p:nvSpPr>
          <p:cNvPr id="10" name="cpe|exhibit|fill|9"/>
          <p:cNvSpPr/>
          <p:nvPr/>
        </p:nvSpPr>
        <p:spPr>
          <a:xfrm>
            <a:off x="502920" y="2176272"/>
            <a:ext cx="1545820" cy="1451701"/>
          </a:xfrm>
          <a:prstGeom prst="rect">
            <a:avLst/>
          </a:prstGeom>
          <a:solidFill>
            <a:srgbClr val="C9D0D8"/>
          </a:solidFill>
          <a:ln w="9525">
            <a:solidFill>
              <a:srgbClr val="FFFFFF"/>
            </a:solidFill>
          </a:ln>
        </p:spPr>
        <p:txBody>
          <a:bodyPr rtlCol="0" anchor="ctr" lIns="0" rIns="0" tIns="0" bIns="0"/>
          <a:lstStyle/>
          <a:p>
            <a:pPr algn="ctr"/>
          </a:p>
        </p:txBody>
      </p:sp>
      <p:sp>
        <p:nvSpPr>
          <p:cNvPr id="11" name="cpe|exhibit|label|10"/>
          <p:cNvSpPr txBox="1"/>
          <p:nvPr/>
        </p:nvSpPr>
        <p:spPr>
          <a:xfrm>
            <a:off x="502920" y="1901952"/>
            <a:ext cx="1545820"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38</a:t>
            </a:r>
          </a:p>
        </p:txBody>
      </p:sp>
      <p:sp>
        <p:nvSpPr>
          <p:cNvPr id="12" name="cpe|exhibit|text|11"/>
          <p:cNvSpPr txBox="1"/>
          <p:nvPr/>
        </p:nvSpPr>
        <p:spPr>
          <a:xfrm>
            <a:off x="502920" y="5687568"/>
            <a:ext cx="1545820"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Discount</a:t>
            </a:r>
          </a:p>
        </p:txBody>
      </p:sp>
      <p:sp>
        <p:nvSpPr>
          <p:cNvPr id="13" name="cpe|exhibit|fill|12"/>
          <p:cNvSpPr/>
          <p:nvPr/>
        </p:nvSpPr>
        <p:spPr>
          <a:xfrm>
            <a:off x="2085316" y="5148804"/>
            <a:ext cx="2115332" cy="483900"/>
          </a:xfrm>
          <a:prstGeom prst="rect">
            <a:avLst/>
          </a:prstGeom>
          <a:solidFill>
            <a:srgbClr val="0B1F3A"/>
          </a:solidFill>
          <a:ln w="9525">
            <a:solidFill>
              <a:srgbClr val="FFFFFF"/>
            </a:solidFill>
          </a:ln>
        </p:spPr>
        <p:txBody>
          <a:bodyPr rtlCol="0" anchor="ctr" lIns="0" rIns="0" tIns="0" bIns="0"/>
          <a:lstStyle/>
          <a:p>
            <a:pPr algn="ctr"/>
          </a:p>
        </p:txBody>
      </p:sp>
      <p:sp>
        <p:nvSpPr>
          <p:cNvPr id="14" name="cpe|exhibit|fill|13"/>
          <p:cNvSpPr/>
          <p:nvPr/>
        </p:nvSpPr>
        <p:spPr>
          <a:xfrm>
            <a:off x="2085316" y="5010546"/>
            <a:ext cx="2115332" cy="138257"/>
          </a:xfrm>
          <a:prstGeom prst="rect">
            <a:avLst/>
          </a:prstGeom>
          <a:solidFill>
            <a:srgbClr val="C9D0D8"/>
          </a:solidFill>
          <a:ln w="9525">
            <a:solidFill>
              <a:srgbClr val="FFFFFF"/>
            </a:solidFill>
          </a:ln>
        </p:spPr>
        <p:txBody>
          <a:bodyPr rtlCol="0" anchor="ctr" lIns="0" rIns="0" tIns="0" bIns="0"/>
          <a:lstStyle/>
          <a:p>
            <a:pPr algn="ctr"/>
          </a:p>
        </p:txBody>
      </p:sp>
      <p:sp>
        <p:nvSpPr>
          <p:cNvPr id="15" name="cpe|exhibit|fill|14"/>
          <p:cNvSpPr/>
          <p:nvPr/>
        </p:nvSpPr>
        <p:spPr>
          <a:xfrm>
            <a:off x="2085316" y="4250131"/>
            <a:ext cx="2115332" cy="760415"/>
          </a:xfrm>
          <a:prstGeom prst="rect">
            <a:avLst/>
          </a:prstGeom>
          <a:solidFill>
            <a:srgbClr val="C9D0D8"/>
          </a:solidFill>
          <a:ln w="9525">
            <a:solidFill>
              <a:srgbClr val="FFFFFF"/>
            </a:solidFill>
          </a:ln>
        </p:spPr>
        <p:txBody>
          <a:bodyPr rtlCol="0" anchor="ctr" lIns="0" rIns="0" tIns="0" bIns="0"/>
          <a:lstStyle/>
          <a:p>
            <a:pPr algn="ctr"/>
          </a:p>
        </p:txBody>
      </p:sp>
      <p:sp>
        <p:nvSpPr>
          <p:cNvPr id="16" name="cpe|exhibit|fill|15"/>
          <p:cNvSpPr/>
          <p:nvPr/>
        </p:nvSpPr>
        <p:spPr>
          <a:xfrm>
            <a:off x="2085316" y="3627973"/>
            <a:ext cx="2115332" cy="622158"/>
          </a:xfrm>
          <a:prstGeom prst="rect">
            <a:avLst/>
          </a:prstGeom>
          <a:solidFill>
            <a:srgbClr val="C9D0D8"/>
          </a:solidFill>
          <a:ln w="9525">
            <a:solidFill>
              <a:srgbClr val="FFFFFF"/>
            </a:solidFill>
          </a:ln>
        </p:spPr>
        <p:txBody>
          <a:bodyPr rtlCol="0" anchor="ctr" lIns="0" rIns="0" tIns="0" bIns="0"/>
          <a:lstStyle/>
          <a:p>
            <a:pPr algn="ctr"/>
          </a:p>
        </p:txBody>
      </p:sp>
      <p:sp>
        <p:nvSpPr>
          <p:cNvPr id="17" name="cpe|exhibit|fill|16"/>
          <p:cNvSpPr/>
          <p:nvPr/>
        </p:nvSpPr>
        <p:spPr>
          <a:xfrm>
            <a:off x="2085316" y="2176272"/>
            <a:ext cx="2115332" cy="1451701"/>
          </a:xfrm>
          <a:prstGeom prst="rect">
            <a:avLst/>
          </a:prstGeom>
          <a:solidFill>
            <a:srgbClr val="C9D0D8"/>
          </a:solidFill>
          <a:ln w="9525">
            <a:solidFill>
              <a:srgbClr val="FFFFFF"/>
            </a:solidFill>
          </a:ln>
        </p:spPr>
        <p:txBody>
          <a:bodyPr rtlCol="0" anchor="ctr" lIns="0" rIns="0" tIns="0" bIns="0"/>
          <a:lstStyle/>
          <a:p>
            <a:pPr algn="ctr"/>
          </a:p>
        </p:txBody>
      </p:sp>
      <p:sp>
        <p:nvSpPr>
          <p:cNvPr id="18" name="cpe|exhibit|label|17"/>
          <p:cNvSpPr txBox="1"/>
          <p:nvPr/>
        </p:nvSpPr>
        <p:spPr>
          <a:xfrm>
            <a:off x="2085316" y="1901952"/>
            <a:ext cx="2115332"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52</a:t>
            </a:r>
          </a:p>
        </p:txBody>
      </p:sp>
      <p:sp>
        <p:nvSpPr>
          <p:cNvPr id="19" name="cpe|exhibit|text|18"/>
          <p:cNvSpPr txBox="1"/>
          <p:nvPr/>
        </p:nvSpPr>
        <p:spPr>
          <a:xfrm>
            <a:off x="2085316" y="5687568"/>
            <a:ext cx="2115332"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Supermarkets</a:t>
            </a:r>
          </a:p>
        </p:txBody>
      </p:sp>
      <p:sp>
        <p:nvSpPr>
          <p:cNvPr id="20" name="cpe|exhibit|fill|19"/>
          <p:cNvSpPr/>
          <p:nvPr/>
        </p:nvSpPr>
        <p:spPr>
          <a:xfrm>
            <a:off x="4237224" y="5321625"/>
            <a:ext cx="976307" cy="311079"/>
          </a:xfrm>
          <a:prstGeom prst="rect">
            <a:avLst/>
          </a:prstGeom>
          <a:solidFill>
            <a:srgbClr val="0B1F3A"/>
          </a:solidFill>
          <a:ln w="9525">
            <a:solidFill>
              <a:srgbClr val="FFFFFF"/>
            </a:solidFill>
          </a:ln>
        </p:spPr>
        <p:txBody>
          <a:bodyPr rtlCol="0" anchor="ctr" lIns="0" rIns="0" tIns="0" bIns="0"/>
          <a:lstStyle/>
          <a:p>
            <a:pPr algn="ctr"/>
          </a:p>
        </p:txBody>
      </p:sp>
      <p:sp>
        <p:nvSpPr>
          <p:cNvPr id="21" name="cpe|exhibit|fill|20"/>
          <p:cNvSpPr/>
          <p:nvPr/>
        </p:nvSpPr>
        <p:spPr>
          <a:xfrm>
            <a:off x="4237224" y="4803160"/>
            <a:ext cx="976307" cy="518465"/>
          </a:xfrm>
          <a:prstGeom prst="rect">
            <a:avLst/>
          </a:prstGeom>
          <a:solidFill>
            <a:srgbClr val="C9D0D8"/>
          </a:solidFill>
          <a:ln w="9525">
            <a:solidFill>
              <a:srgbClr val="FFFFFF"/>
            </a:solidFill>
          </a:ln>
        </p:spPr>
        <p:txBody>
          <a:bodyPr rtlCol="0" anchor="ctr" lIns="0" rIns="0" tIns="0" bIns="0"/>
          <a:lstStyle/>
          <a:p>
            <a:pPr algn="ctr"/>
          </a:p>
        </p:txBody>
      </p:sp>
      <p:sp>
        <p:nvSpPr>
          <p:cNvPr id="22" name="cpe|exhibit|fill|21"/>
          <p:cNvSpPr/>
          <p:nvPr/>
        </p:nvSpPr>
        <p:spPr>
          <a:xfrm>
            <a:off x="4237224" y="3731666"/>
            <a:ext cx="976307" cy="1071494"/>
          </a:xfrm>
          <a:prstGeom prst="rect">
            <a:avLst/>
          </a:prstGeom>
          <a:solidFill>
            <a:srgbClr val="C9D0D8"/>
          </a:solidFill>
          <a:ln w="9525">
            <a:solidFill>
              <a:srgbClr val="FFFFFF"/>
            </a:solidFill>
          </a:ln>
        </p:spPr>
        <p:txBody>
          <a:bodyPr rtlCol="0" anchor="ctr" lIns="0" rIns="0" tIns="0" bIns="0"/>
          <a:lstStyle/>
          <a:p>
            <a:pPr algn="ctr"/>
          </a:p>
        </p:txBody>
      </p:sp>
      <p:sp>
        <p:nvSpPr>
          <p:cNvPr id="23" name="cpe|exhibit|fill|22"/>
          <p:cNvSpPr/>
          <p:nvPr/>
        </p:nvSpPr>
        <p:spPr>
          <a:xfrm>
            <a:off x="4237224" y="2176272"/>
            <a:ext cx="976307" cy="1555394"/>
          </a:xfrm>
          <a:prstGeom prst="rect">
            <a:avLst/>
          </a:prstGeom>
          <a:solidFill>
            <a:srgbClr val="C9D0D8"/>
          </a:solidFill>
          <a:ln w="9525">
            <a:solidFill>
              <a:srgbClr val="FFFFFF"/>
            </a:solidFill>
          </a:ln>
        </p:spPr>
        <p:txBody>
          <a:bodyPr rtlCol="0" anchor="ctr" lIns="0" rIns="0" tIns="0" bIns="0"/>
          <a:lstStyle/>
          <a:p>
            <a:pPr algn="ctr"/>
          </a:p>
        </p:txBody>
      </p:sp>
      <p:sp>
        <p:nvSpPr>
          <p:cNvPr id="24" name="cpe|exhibit|label|23"/>
          <p:cNvSpPr txBox="1"/>
          <p:nvPr/>
        </p:nvSpPr>
        <p:spPr>
          <a:xfrm>
            <a:off x="4237224" y="1901952"/>
            <a:ext cx="976307"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24</a:t>
            </a:r>
          </a:p>
        </p:txBody>
      </p:sp>
      <p:sp>
        <p:nvSpPr>
          <p:cNvPr id="25" name="cpe|exhibit|text|24"/>
          <p:cNvSpPr txBox="1"/>
          <p:nvPr/>
        </p:nvSpPr>
        <p:spPr>
          <a:xfrm>
            <a:off x="4237224" y="5687568"/>
            <a:ext cx="976307"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Hypermarkets</a:t>
            </a:r>
          </a:p>
        </p:txBody>
      </p:sp>
      <p:sp>
        <p:nvSpPr>
          <p:cNvPr id="26" name="cpe|exhibit|fill|25"/>
          <p:cNvSpPr/>
          <p:nvPr/>
        </p:nvSpPr>
        <p:spPr>
          <a:xfrm>
            <a:off x="5250107" y="5217932"/>
            <a:ext cx="569513" cy="414772"/>
          </a:xfrm>
          <a:prstGeom prst="rect">
            <a:avLst/>
          </a:prstGeom>
          <a:solidFill>
            <a:srgbClr val="0B1F3A"/>
          </a:solidFill>
          <a:ln w="9525">
            <a:solidFill>
              <a:srgbClr val="FFFFFF"/>
            </a:solidFill>
          </a:ln>
        </p:spPr>
        <p:txBody>
          <a:bodyPr rtlCol="0" anchor="ctr" lIns="0" rIns="0" tIns="0" bIns="0"/>
          <a:lstStyle/>
          <a:p>
            <a:pPr algn="ctr"/>
          </a:p>
        </p:txBody>
      </p:sp>
      <p:sp>
        <p:nvSpPr>
          <p:cNvPr id="27" name="cpe|exhibit|fill|26"/>
          <p:cNvSpPr/>
          <p:nvPr/>
        </p:nvSpPr>
        <p:spPr>
          <a:xfrm>
            <a:off x="5250107" y="5010546"/>
            <a:ext cx="569513" cy="207386"/>
          </a:xfrm>
          <a:prstGeom prst="rect">
            <a:avLst/>
          </a:prstGeom>
          <a:solidFill>
            <a:srgbClr val="C9D0D8"/>
          </a:solidFill>
          <a:ln w="9525">
            <a:solidFill>
              <a:srgbClr val="FFFFFF"/>
            </a:solidFill>
          </a:ln>
        </p:spPr>
        <p:txBody>
          <a:bodyPr rtlCol="0" anchor="ctr" lIns="0" rIns="0" tIns="0" bIns="0"/>
          <a:lstStyle/>
          <a:p>
            <a:pPr algn="ctr"/>
          </a:p>
        </p:txBody>
      </p:sp>
      <p:sp>
        <p:nvSpPr>
          <p:cNvPr id="28" name="cpe|exhibit|fill|27"/>
          <p:cNvSpPr/>
          <p:nvPr/>
        </p:nvSpPr>
        <p:spPr>
          <a:xfrm>
            <a:off x="5250107" y="4768596"/>
            <a:ext cx="569513" cy="241950"/>
          </a:xfrm>
          <a:prstGeom prst="rect">
            <a:avLst/>
          </a:prstGeom>
          <a:solidFill>
            <a:srgbClr val="C9D0D8"/>
          </a:solidFill>
          <a:ln w="9525">
            <a:solidFill>
              <a:srgbClr val="FFFFFF"/>
            </a:solidFill>
          </a:ln>
        </p:spPr>
        <p:txBody>
          <a:bodyPr rtlCol="0" anchor="ctr" lIns="0" rIns="0" tIns="0" bIns="0"/>
          <a:lstStyle/>
          <a:p>
            <a:pPr algn="ctr"/>
          </a:p>
        </p:txBody>
      </p:sp>
      <p:sp>
        <p:nvSpPr>
          <p:cNvPr id="29" name="cpe|exhibit|fill|28"/>
          <p:cNvSpPr/>
          <p:nvPr/>
        </p:nvSpPr>
        <p:spPr>
          <a:xfrm>
            <a:off x="5250107" y="2176272"/>
            <a:ext cx="569513" cy="2592324"/>
          </a:xfrm>
          <a:prstGeom prst="rect">
            <a:avLst/>
          </a:prstGeom>
          <a:solidFill>
            <a:srgbClr val="C9D0D8"/>
          </a:solidFill>
          <a:ln w="9525">
            <a:solidFill>
              <a:srgbClr val="FFFFFF"/>
            </a:solidFill>
          </a:ln>
        </p:spPr>
        <p:txBody>
          <a:bodyPr rtlCol="0" anchor="ctr" lIns="0" rIns="0" tIns="0" bIns="0"/>
          <a:lstStyle/>
          <a:p>
            <a:pPr algn="ctr"/>
          </a:p>
        </p:txBody>
      </p:sp>
      <p:sp>
        <p:nvSpPr>
          <p:cNvPr id="30" name="cpe|exhibit|label|29"/>
          <p:cNvSpPr txBox="1"/>
          <p:nvPr/>
        </p:nvSpPr>
        <p:spPr>
          <a:xfrm>
            <a:off x="5250107" y="1901952"/>
            <a:ext cx="569513"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1" name="cpe|exhibit|text|30"/>
          <p:cNvSpPr txBox="1"/>
          <p:nvPr/>
        </p:nvSpPr>
        <p:spPr>
          <a:xfrm>
            <a:off x="5250107" y="5687568"/>
            <a:ext cx="569513"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Convenience</a:t>
            </a:r>
          </a:p>
        </p:txBody>
      </p:sp>
      <p:sp>
        <p:nvSpPr>
          <p:cNvPr id="32" name="cpe|exhibit|fill|31"/>
          <p:cNvSpPr/>
          <p:nvPr/>
        </p:nvSpPr>
        <p:spPr>
          <a:xfrm>
            <a:off x="5856196" y="5494447"/>
            <a:ext cx="569513" cy="138257"/>
          </a:xfrm>
          <a:prstGeom prst="rect">
            <a:avLst/>
          </a:prstGeom>
          <a:solidFill>
            <a:srgbClr val="0B1F3A"/>
          </a:solidFill>
          <a:ln w="9525">
            <a:solidFill>
              <a:srgbClr val="FFFFFF"/>
            </a:solidFill>
          </a:ln>
        </p:spPr>
        <p:txBody>
          <a:bodyPr rtlCol="0" anchor="ctr" lIns="0" rIns="0" tIns="0" bIns="0"/>
          <a:lstStyle/>
          <a:p>
            <a:pPr algn="ctr"/>
          </a:p>
        </p:txBody>
      </p:sp>
      <p:sp>
        <p:nvSpPr>
          <p:cNvPr id="33" name="cpe|exhibit|fill|32"/>
          <p:cNvSpPr/>
          <p:nvPr/>
        </p:nvSpPr>
        <p:spPr>
          <a:xfrm>
            <a:off x="5856196" y="5183368"/>
            <a:ext cx="569513" cy="311079"/>
          </a:xfrm>
          <a:prstGeom prst="rect">
            <a:avLst/>
          </a:prstGeom>
          <a:solidFill>
            <a:srgbClr val="C9D0D8"/>
          </a:solidFill>
          <a:ln w="9525">
            <a:solidFill>
              <a:srgbClr val="FFFFFF"/>
            </a:solidFill>
          </a:ln>
        </p:spPr>
        <p:txBody>
          <a:bodyPr rtlCol="0" anchor="ctr" lIns="0" rIns="0" tIns="0" bIns="0"/>
          <a:lstStyle/>
          <a:p>
            <a:pPr algn="ctr"/>
          </a:p>
        </p:txBody>
      </p:sp>
      <p:sp>
        <p:nvSpPr>
          <p:cNvPr id="34" name="cpe|exhibit|fill|33"/>
          <p:cNvSpPr/>
          <p:nvPr/>
        </p:nvSpPr>
        <p:spPr>
          <a:xfrm>
            <a:off x="5856196" y="4768596"/>
            <a:ext cx="569513" cy="414772"/>
          </a:xfrm>
          <a:prstGeom prst="rect">
            <a:avLst/>
          </a:prstGeom>
          <a:solidFill>
            <a:srgbClr val="C9D0D8"/>
          </a:solidFill>
          <a:ln w="9525">
            <a:solidFill>
              <a:srgbClr val="FFFFFF"/>
            </a:solidFill>
          </a:ln>
        </p:spPr>
        <p:txBody>
          <a:bodyPr rtlCol="0" anchor="ctr" lIns="0" rIns="0" tIns="0" bIns="0"/>
          <a:lstStyle/>
          <a:p>
            <a:pPr algn="ctr"/>
          </a:p>
        </p:txBody>
      </p:sp>
      <p:sp>
        <p:nvSpPr>
          <p:cNvPr id="35" name="cpe|exhibit|fill|34"/>
          <p:cNvSpPr/>
          <p:nvPr/>
        </p:nvSpPr>
        <p:spPr>
          <a:xfrm>
            <a:off x="5856196" y="2176272"/>
            <a:ext cx="569513" cy="2592324"/>
          </a:xfrm>
          <a:prstGeom prst="rect">
            <a:avLst/>
          </a:prstGeom>
          <a:solidFill>
            <a:srgbClr val="C9D0D8"/>
          </a:solidFill>
          <a:ln w="9525">
            <a:solidFill>
              <a:srgbClr val="FFFFFF"/>
            </a:solidFill>
          </a:ln>
        </p:spPr>
        <p:txBody>
          <a:bodyPr rtlCol="0" anchor="ctr" lIns="0" rIns="0" tIns="0" bIns="0"/>
          <a:lstStyle/>
          <a:p>
            <a:pPr algn="ctr"/>
          </a:p>
        </p:txBody>
      </p:sp>
      <p:sp>
        <p:nvSpPr>
          <p:cNvPr id="36" name="cpe|exhibit|label|35"/>
          <p:cNvSpPr txBox="1"/>
          <p:nvPr/>
        </p:nvSpPr>
        <p:spPr>
          <a:xfrm>
            <a:off x="5856196" y="1901952"/>
            <a:ext cx="569513" cy="256032"/>
          </a:xfrm>
          <a:prstGeom prst="rect">
            <a:avLst/>
          </a:prstGeom>
          <a:noFill/>
        </p:spPr>
        <p:txBody>
          <a:bodyPr wrap="square" lIns="0" rIns="0" tIns="0" bIns="0" anchor="t">
            <a:noAutofit/>
          </a:bodyPr>
          <a:lstStyle/>
          <a:p>
            <a:pPr algn="ctr">
              <a:lnSpc>
                <a:spcPct val="100000"/>
              </a:lnSpc>
            </a:pPr>
            <a:r>
              <a:rPr sz="1100" b="1">
                <a:solidFill>
                  <a:srgbClr val="1E252D"/>
                </a:solidFill>
                <a:latin typeface="Arial"/>
              </a:rPr>
              <a:t>14</a:t>
            </a:r>
          </a:p>
        </p:txBody>
      </p:sp>
      <p:sp>
        <p:nvSpPr>
          <p:cNvPr id="37" name="cpe|exhibit|text|36"/>
          <p:cNvSpPr txBox="1"/>
          <p:nvPr/>
        </p:nvSpPr>
        <p:spPr>
          <a:xfrm>
            <a:off x="5856196" y="5687568"/>
            <a:ext cx="569513" cy="512064"/>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Online</a:t>
            </a:r>
          </a:p>
        </p:txBody>
      </p:sp>
      <p:sp>
        <p:nvSpPr>
          <p:cNvPr id="38" name="cpe|exhibit|label|37"/>
          <p:cNvSpPr txBox="1"/>
          <p:nvPr/>
        </p:nvSpPr>
        <p:spPr>
          <a:xfrm>
            <a:off x="502920" y="5212994"/>
            <a:ext cx="1545820"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5%</a:t>
            </a:r>
          </a:p>
        </p:txBody>
      </p:sp>
      <p:sp>
        <p:nvSpPr>
          <p:cNvPr id="39" name="cpe|exhibit|label|38"/>
          <p:cNvSpPr txBox="1"/>
          <p:nvPr/>
        </p:nvSpPr>
        <p:spPr>
          <a:xfrm>
            <a:off x="2085316" y="5148804"/>
            <a:ext cx="2115332" cy="48390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14%</a:t>
            </a:r>
          </a:p>
        </p:txBody>
      </p:sp>
      <p:sp>
        <p:nvSpPr>
          <p:cNvPr id="40" name="cpe|exhibit|label|39"/>
          <p:cNvSpPr txBox="1"/>
          <p:nvPr/>
        </p:nvSpPr>
        <p:spPr>
          <a:xfrm>
            <a:off x="4237224" y="5321625"/>
            <a:ext cx="976307" cy="311079"/>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9%</a:t>
            </a:r>
          </a:p>
        </p:txBody>
      </p:sp>
      <p:sp>
        <p:nvSpPr>
          <p:cNvPr id="41" name="cpe|exhibit|label|40"/>
          <p:cNvSpPr txBox="1"/>
          <p:nvPr/>
        </p:nvSpPr>
        <p:spPr>
          <a:xfrm>
            <a:off x="5250107" y="5217932"/>
            <a:ext cx="569513" cy="414772"/>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12%</a:t>
            </a:r>
          </a:p>
        </p:txBody>
      </p:sp>
      <p:sp>
        <p:nvSpPr>
          <p:cNvPr id="42" name="cpe|exhibit|label|41"/>
          <p:cNvSpPr txBox="1"/>
          <p:nvPr/>
        </p:nvSpPr>
        <p:spPr>
          <a:xfrm>
            <a:off x="5856196" y="5247559"/>
            <a:ext cx="569513" cy="228600"/>
          </a:xfrm>
          <a:prstGeom prst="rect">
            <a:avLst/>
          </a:prstGeom>
          <a:noFill/>
        </p:spPr>
        <p:txBody>
          <a:bodyPr wrap="square" lIns="0" rIns="0" tIns="0" bIns="0" anchor="b">
            <a:noAutofit/>
          </a:bodyPr>
          <a:lstStyle/>
          <a:p>
            <a:pPr algn="ctr">
              <a:lnSpc>
                <a:spcPct val="100000"/>
              </a:lnSpc>
            </a:pPr>
            <a:r>
              <a:rPr sz="1000" b="1">
                <a:solidFill>
                  <a:srgbClr val="0B1F3A"/>
                </a:solidFill>
                <a:latin typeface="Arial"/>
              </a:rPr>
              <a:t>4%</a:t>
            </a:r>
          </a:p>
        </p:txBody>
      </p:sp>
      <p:sp>
        <p:nvSpPr>
          <p:cNvPr id="43" name="cpe|exhibit|marker|42"/>
          <p:cNvSpPr/>
          <p:nvPr/>
        </p:nvSpPr>
        <p:spPr>
          <a:xfrm>
            <a:off x="6608588" y="2240280"/>
            <a:ext cx="128016" cy="128016"/>
          </a:xfrm>
          <a:prstGeom prst="rect">
            <a:avLst/>
          </a:prstGeom>
          <a:solidFill>
            <a:srgbClr val="0B1F3A"/>
          </a:solidFill>
          <a:ln>
            <a:noFill/>
          </a:ln>
        </p:spPr>
        <p:txBody>
          <a:bodyPr rtlCol="0" anchor="ctr" lIns="0" rIns="0" tIns="0" bIns="0"/>
          <a:lstStyle/>
          <a:p>
            <a:pPr algn="ctr"/>
          </a:p>
        </p:txBody>
      </p:sp>
      <p:sp>
        <p:nvSpPr>
          <p:cNvPr id="44" name="cpe|exhibit|label|43"/>
          <p:cNvSpPr txBox="1"/>
          <p:nvPr/>
        </p:nvSpPr>
        <p:spPr>
          <a:xfrm>
            <a:off x="6809756" y="2176272"/>
            <a:ext cx="1055913"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Alvora</a:t>
            </a:r>
          </a:p>
        </p:txBody>
      </p:sp>
      <p:sp>
        <p:nvSpPr>
          <p:cNvPr id="45" name="cpe|exhibit|marker|44"/>
          <p:cNvSpPr/>
          <p:nvPr/>
        </p:nvSpPr>
        <p:spPr>
          <a:xfrm>
            <a:off x="6608588" y="2532888"/>
            <a:ext cx="128016" cy="128016"/>
          </a:xfrm>
          <a:prstGeom prst="rect">
            <a:avLst/>
          </a:prstGeom>
          <a:solidFill>
            <a:srgbClr val="C9D0D8"/>
          </a:solidFill>
          <a:ln>
            <a:noFill/>
          </a:ln>
        </p:spPr>
        <p:txBody>
          <a:bodyPr rtlCol="0" anchor="ctr" lIns="0" rIns="0" tIns="0" bIns="0"/>
          <a:lstStyle/>
          <a:p>
            <a:pPr algn="ctr"/>
          </a:p>
        </p:txBody>
      </p:sp>
      <p:sp>
        <p:nvSpPr>
          <p:cNvPr id="46" name="cpe|exhibit|label|45"/>
          <p:cNvSpPr txBox="1"/>
          <p:nvPr/>
        </p:nvSpPr>
        <p:spPr>
          <a:xfrm>
            <a:off x="6809756" y="2468880"/>
            <a:ext cx="1055913" cy="274320"/>
          </a:xfrm>
          <a:prstGeom prst="rect">
            <a:avLst/>
          </a:prstGeom>
          <a:noFill/>
        </p:spPr>
        <p:txBody>
          <a:bodyPr wrap="square" lIns="0" rIns="0" tIns="0" bIns="0" anchor="ctr">
            <a:noAutofit/>
          </a:bodyPr>
          <a:lstStyle/>
          <a:p>
            <a:pPr algn="l">
              <a:lnSpc>
                <a:spcPct val="100000"/>
              </a:lnSpc>
            </a:pPr>
            <a:r>
              <a:rPr sz="1000" b="0">
                <a:solidFill>
                  <a:srgbClr val="5E6A77"/>
                </a:solidFill>
                <a:latin typeface="Arial"/>
              </a:rPr>
              <a:t>Other players</a:t>
            </a:r>
          </a:p>
        </p:txBody>
      </p:sp>
      <p:cxnSp>
        <p:nvCxnSpPr>
          <p:cNvPr id="47" name="cpe|commentary|line|46"/>
          <p:cNvCxnSpPr/>
          <p:nvPr/>
        </p:nvCxnSpPr>
        <p:spPr>
          <a:xfrm>
            <a:off x="8094269" y="1481328"/>
            <a:ext cx="0" cy="4718304"/>
          </a:xfrm>
          <a:prstGeom prst="line">
            <a:avLst/>
          </a:prstGeom>
          <a:ln w="9525">
            <a:solidFill>
              <a:srgbClr val="B7BFC8"/>
            </a:solidFill>
          </a:ln>
        </p:spPr>
      </p:cxnSp>
      <p:sp>
        <p:nvSpPr>
          <p:cNvPr id="48" name="cpe|commentary|text|47"/>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54% of Alvora sales come from </a:t>
            </a:r>
            <a:r>
              <a:rPr sz="1200" b="1">
                <a:solidFill>
                  <a:srgbClr val="1E252D"/>
                </a:solidFill>
                <a:latin typeface="Arial"/>
              </a:rPr>
              <a:t>supermarkets</a:t>
            </a:r>
            <a:r>
              <a:rPr sz="1200" b="0">
                <a:solidFill>
                  <a:srgbClr val="1E252D"/>
                </a:solidFill>
                <a:latin typeface="Arial"/>
              </a:rPr>
              <a:t>, a channel growing 2% a year</a:t>
            </a:r>
          </a:p>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In </a:t>
            </a:r>
            <a:r>
              <a:rPr sz="1200" b="1">
                <a:solidFill>
                  <a:srgbClr val="1E252D"/>
                </a:solidFill>
                <a:latin typeface="Arial"/>
              </a:rPr>
              <a:t>discount</a:t>
            </a:r>
            <a:r>
              <a:rPr sz="1200" b="0">
                <a:solidFill>
                  <a:srgbClr val="1E252D"/>
                </a:solidFill>
                <a:latin typeface="Arial"/>
              </a:rPr>
              <a:t>, Competitor A holds 41% with a lower cost-to-serve</a:t>
            </a:r>
          </a:p>
          <a:p>
            <a:pPr algn="l" marL="155448" indent="-155448">
              <a:lnSpc>
                <a:spcPct val="108000"/>
              </a:lnSpc>
              <a:buClr>
                <a:srgbClr val="1E252D"/>
              </a:buClr>
              <a:buSzPct val="100000"/>
              <a:buFont typeface="Arial"/>
              <a:buChar char="•"/>
            </a:pPr>
            <a:r>
              <a:rPr sz="1200" b="1">
                <a:solidFill>
                  <a:srgbClr val="1E252D"/>
                </a:solidFill>
                <a:latin typeface="Arial"/>
              </a:rPr>
              <a:t>Online</a:t>
            </a:r>
            <a:r>
              <a:rPr sz="1200" b="0">
                <a:solidFill>
                  <a:srgbClr val="1E252D"/>
                </a:solidFill>
                <a:latin typeface="Arial"/>
              </a:rPr>
              <a:t> share of 4% trails B and C, whose hub networks are in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9" name="cpe|exhibit|label|8"/>
          <p:cNvSpPr txBox="1"/>
          <p:nvPr/>
        </p:nvSpPr>
        <p:spPr>
          <a:xfrm>
            <a:off x="1324051"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0" name="cpe|exhibit|label|9"/>
          <p:cNvSpPr txBox="1"/>
          <p:nvPr/>
        </p:nvSpPr>
        <p:spPr>
          <a:xfrm>
            <a:off x="2145182"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1" name="cpe|exhibit|label|10"/>
          <p:cNvSpPr txBox="1"/>
          <p:nvPr/>
        </p:nvSpPr>
        <p:spPr>
          <a:xfrm>
            <a:off x="2966314"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2" name="cpe|exhibit|label|11"/>
          <p:cNvSpPr txBox="1"/>
          <p:nvPr/>
        </p:nvSpPr>
        <p:spPr>
          <a:xfrm>
            <a:off x="3787445"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3" name="cpe|exhibit|label|12"/>
          <p:cNvSpPr txBox="1"/>
          <p:nvPr/>
        </p:nvSpPr>
        <p:spPr>
          <a:xfrm>
            <a:off x="4608576"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4" name="cpe|exhibit|label|13"/>
          <p:cNvSpPr txBox="1"/>
          <p:nvPr/>
        </p:nvSpPr>
        <p:spPr>
          <a:xfrm>
            <a:off x="5429707"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5" name="cpe|exhibit|label|14"/>
          <p:cNvSpPr txBox="1"/>
          <p:nvPr/>
        </p:nvSpPr>
        <p:spPr>
          <a:xfrm>
            <a:off x="6250838"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6" name="cpe|exhibit|label|15"/>
          <p:cNvSpPr txBox="1"/>
          <p:nvPr/>
        </p:nvSpPr>
        <p:spPr>
          <a:xfrm>
            <a:off x="7071970"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17" name="cpe|exhibit|connector|16"/>
          <p:cNvCxnSpPr/>
          <p:nvPr/>
        </p:nvCxnSpPr>
        <p:spPr>
          <a:xfrm>
            <a:off x="1196634" y="3845552"/>
            <a:ext cx="254834" cy="0"/>
          </a:xfrm>
          <a:prstGeom prst="line">
            <a:avLst/>
          </a:prstGeom>
          <a:ln w="6350">
            <a:solidFill>
              <a:srgbClr val="8A95A1"/>
            </a:solidFill>
          </a:ln>
        </p:spPr>
      </p:cxnSp>
      <p:cxnSp>
        <p:nvCxnSpPr>
          <p:cNvPr id="18" name="cpe|exhibit|connector|17"/>
          <p:cNvCxnSpPr/>
          <p:nvPr/>
        </p:nvCxnSpPr>
        <p:spPr>
          <a:xfrm>
            <a:off x="2017765" y="3263639"/>
            <a:ext cx="254834" cy="0"/>
          </a:xfrm>
          <a:prstGeom prst="line">
            <a:avLst/>
          </a:prstGeom>
          <a:ln w="6350">
            <a:solidFill>
              <a:srgbClr val="8A95A1"/>
            </a:solidFill>
          </a:ln>
        </p:spPr>
      </p:cxnSp>
      <p:cxnSp>
        <p:nvCxnSpPr>
          <p:cNvPr id="19" name="cpe|exhibit|connector|18"/>
          <p:cNvCxnSpPr/>
          <p:nvPr/>
        </p:nvCxnSpPr>
        <p:spPr>
          <a:xfrm>
            <a:off x="2838897" y="2916729"/>
            <a:ext cx="254834" cy="0"/>
          </a:xfrm>
          <a:prstGeom prst="line">
            <a:avLst/>
          </a:prstGeom>
          <a:ln w="6350">
            <a:solidFill>
              <a:srgbClr val="8A95A1"/>
            </a:solidFill>
          </a:ln>
        </p:spPr>
      </p:cxnSp>
      <p:cxnSp>
        <p:nvCxnSpPr>
          <p:cNvPr id="20" name="cpe|exhibit|connector|19"/>
          <p:cNvCxnSpPr/>
          <p:nvPr/>
        </p:nvCxnSpPr>
        <p:spPr>
          <a:xfrm>
            <a:off x="3660028" y="3789599"/>
            <a:ext cx="254834" cy="0"/>
          </a:xfrm>
          <a:prstGeom prst="line">
            <a:avLst/>
          </a:prstGeom>
          <a:ln w="6350">
            <a:solidFill>
              <a:srgbClr val="8A95A1"/>
            </a:solidFill>
          </a:ln>
        </p:spPr>
      </p:cxnSp>
      <p:cxnSp>
        <p:nvCxnSpPr>
          <p:cNvPr id="21" name="cpe|exhibit|connector|20"/>
          <p:cNvCxnSpPr/>
          <p:nvPr/>
        </p:nvCxnSpPr>
        <p:spPr>
          <a:xfrm>
            <a:off x="4481159" y="4248415"/>
            <a:ext cx="254834" cy="0"/>
          </a:xfrm>
          <a:prstGeom prst="line">
            <a:avLst/>
          </a:prstGeom>
          <a:ln w="6350">
            <a:solidFill>
              <a:srgbClr val="8A95A1"/>
            </a:solidFill>
          </a:ln>
        </p:spPr>
      </p:cxnSp>
      <p:cxnSp>
        <p:nvCxnSpPr>
          <p:cNvPr id="22" name="cpe|exhibit|connector|21"/>
          <p:cNvCxnSpPr/>
          <p:nvPr/>
        </p:nvCxnSpPr>
        <p:spPr>
          <a:xfrm>
            <a:off x="5302290" y="4494609"/>
            <a:ext cx="254834" cy="0"/>
          </a:xfrm>
          <a:prstGeom prst="line">
            <a:avLst/>
          </a:prstGeom>
          <a:ln w="6350">
            <a:solidFill>
              <a:srgbClr val="8A95A1"/>
            </a:solidFill>
          </a:ln>
        </p:spPr>
      </p:cxnSp>
      <p:cxnSp>
        <p:nvCxnSpPr>
          <p:cNvPr id="23" name="cpe|exhibit|connector|22"/>
          <p:cNvCxnSpPr/>
          <p:nvPr/>
        </p:nvCxnSpPr>
        <p:spPr>
          <a:xfrm>
            <a:off x="6123421" y="4651278"/>
            <a:ext cx="254834" cy="0"/>
          </a:xfrm>
          <a:prstGeom prst="line">
            <a:avLst/>
          </a:prstGeom>
          <a:ln w="6350">
            <a:solidFill>
              <a:srgbClr val="8A95A1"/>
            </a:solidFill>
          </a:ln>
        </p:spPr>
      </p:cxnSp>
      <p:cxnSp>
        <p:nvCxnSpPr>
          <p:cNvPr id="24" name="cpe|exhibit|connector|23"/>
          <p:cNvCxnSpPr/>
          <p:nvPr/>
        </p:nvCxnSpPr>
        <p:spPr>
          <a:xfrm>
            <a:off x="6944553" y="4595325"/>
            <a:ext cx="254834" cy="0"/>
          </a:xfrm>
          <a:prstGeom prst="line">
            <a:avLst/>
          </a:prstGeom>
          <a:ln w="6350">
            <a:solidFill>
              <a:srgbClr val="8A95A1"/>
            </a:solidFill>
          </a:ln>
        </p:spPr>
      </p:cxnSp>
      <p:sp>
        <p:nvSpPr>
          <p:cNvPr id="25" name="cpe|exhibit|marker|24"/>
          <p:cNvSpPr/>
          <p:nvPr/>
        </p:nvSpPr>
        <p:spPr>
          <a:xfrm>
            <a:off x="575473" y="5447191"/>
            <a:ext cx="676025" cy="82296"/>
          </a:xfrm>
          <a:prstGeom prst="parallelogram">
            <a:avLst/>
          </a:prstGeom>
          <a:solidFill>
            <a:srgbClr val="FFFFFF"/>
          </a:solidFill>
          <a:ln>
            <a:noFill/>
          </a:ln>
        </p:spPr>
        <p:txBody>
          <a:bodyPr rtlCol="0" anchor="ctr" lIns="0" rIns="0" tIns="0" bIns="0"/>
          <a:lstStyle/>
          <a:p>
            <a:pPr algn="ctr"/>
          </a:p>
        </p:txBody>
      </p:sp>
      <p:sp>
        <p:nvSpPr>
          <p:cNvPr id="26" name="cpe|exhibit|marker|25"/>
          <p:cNvSpPr/>
          <p:nvPr/>
        </p:nvSpPr>
        <p:spPr>
          <a:xfrm>
            <a:off x="7144523" y="5447191"/>
            <a:ext cx="676025" cy="82296"/>
          </a:xfrm>
          <a:prstGeom prst="parallelogram">
            <a:avLst/>
          </a:prstGeom>
          <a:solidFill>
            <a:srgbClr val="FFFFFF"/>
          </a:solidFill>
          <a:ln>
            <a:noFill/>
          </a:ln>
        </p:spPr>
        <p:txBody>
          <a:bodyPr rtlCol="0" anchor="ctr" lIns="0" rIns="0" tIns="0" bIns="0"/>
          <a:lstStyle/>
          <a:p>
            <a:pPr algn="ctr"/>
          </a:p>
        </p:txBody>
      </p:sp>
      <p:cxnSp>
        <p:nvCxnSpPr>
          <p:cNvPr id="27" name="cpe|commentary|line|26"/>
          <p:cNvCxnSpPr/>
          <p:nvPr/>
        </p:nvCxnSpPr>
        <p:spPr>
          <a:xfrm>
            <a:off x="8094269" y="1481328"/>
            <a:ext cx="0" cy="4718304"/>
          </a:xfrm>
          <a:prstGeom prst="line">
            <a:avLst/>
          </a:prstGeom>
          <a:ln w="9525">
            <a:solidFill>
              <a:srgbClr val="B7BFC8"/>
            </a:solidFill>
          </a:ln>
        </p:spPr>
      </p:cxnSp>
      <p:sp>
        <p:nvSpPr>
          <p:cNvPr id="28" name="cpe|commentary|text|27"/>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29" name="cpe|commentary|text|28"/>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Grocery (−€78M):</a:t>
            </a:r>
            <a:r>
              <a:rPr sz="12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Convenience (−€41M):</a:t>
            </a:r>
            <a:r>
              <a:rPr sz="12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200" b="0">
                <a:solidFill>
                  <a:srgbClr val="1E252D"/>
                </a:solidFill>
                <a:latin typeface="Arial"/>
              </a:rPr>
              <a:t>Volume and price added €83M, not enough to offset cost inflation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9" name="cpe|exhibit|label|8"/>
          <p:cNvSpPr txBox="1"/>
          <p:nvPr/>
        </p:nvSpPr>
        <p:spPr>
          <a:xfrm>
            <a:off x="1324051"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0" name="cpe|exhibit|label|9"/>
          <p:cNvSpPr txBox="1"/>
          <p:nvPr/>
        </p:nvSpPr>
        <p:spPr>
          <a:xfrm>
            <a:off x="2145182"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1" name="cpe|exhibit|label|10"/>
          <p:cNvSpPr txBox="1"/>
          <p:nvPr/>
        </p:nvSpPr>
        <p:spPr>
          <a:xfrm>
            <a:off x="2966314"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2" name="cpe|exhibit|label|11"/>
          <p:cNvSpPr txBox="1"/>
          <p:nvPr/>
        </p:nvSpPr>
        <p:spPr>
          <a:xfrm>
            <a:off x="3787445"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3" name="cpe|exhibit|label|12"/>
          <p:cNvSpPr txBox="1"/>
          <p:nvPr/>
        </p:nvSpPr>
        <p:spPr>
          <a:xfrm>
            <a:off x="4608576"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4" name="cpe|exhibit|label|13"/>
          <p:cNvSpPr txBox="1"/>
          <p:nvPr/>
        </p:nvSpPr>
        <p:spPr>
          <a:xfrm>
            <a:off x="5429707"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5" name="cpe|exhibit|label|14"/>
          <p:cNvSpPr txBox="1"/>
          <p:nvPr/>
        </p:nvSpPr>
        <p:spPr>
          <a:xfrm>
            <a:off x="6250838"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6" name="cpe|exhibit|label|15"/>
          <p:cNvSpPr txBox="1"/>
          <p:nvPr/>
        </p:nvSpPr>
        <p:spPr>
          <a:xfrm>
            <a:off x="7071970"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17" name="cpe|exhibit|connector|16"/>
          <p:cNvCxnSpPr/>
          <p:nvPr/>
        </p:nvCxnSpPr>
        <p:spPr>
          <a:xfrm>
            <a:off x="1196634" y="3845552"/>
            <a:ext cx="254834" cy="0"/>
          </a:xfrm>
          <a:prstGeom prst="line">
            <a:avLst/>
          </a:prstGeom>
          <a:ln w="6350">
            <a:solidFill>
              <a:srgbClr val="8A95A1"/>
            </a:solidFill>
          </a:ln>
        </p:spPr>
      </p:cxnSp>
      <p:cxnSp>
        <p:nvCxnSpPr>
          <p:cNvPr id="18" name="cpe|exhibit|connector|17"/>
          <p:cNvCxnSpPr/>
          <p:nvPr/>
        </p:nvCxnSpPr>
        <p:spPr>
          <a:xfrm>
            <a:off x="2017765" y="3263639"/>
            <a:ext cx="254834" cy="0"/>
          </a:xfrm>
          <a:prstGeom prst="line">
            <a:avLst/>
          </a:prstGeom>
          <a:ln w="6350">
            <a:solidFill>
              <a:srgbClr val="8A95A1"/>
            </a:solidFill>
          </a:ln>
        </p:spPr>
      </p:cxnSp>
      <p:cxnSp>
        <p:nvCxnSpPr>
          <p:cNvPr id="19" name="cpe|exhibit|connector|18"/>
          <p:cNvCxnSpPr/>
          <p:nvPr/>
        </p:nvCxnSpPr>
        <p:spPr>
          <a:xfrm>
            <a:off x="2838897" y="2916729"/>
            <a:ext cx="254834" cy="0"/>
          </a:xfrm>
          <a:prstGeom prst="line">
            <a:avLst/>
          </a:prstGeom>
          <a:ln w="6350">
            <a:solidFill>
              <a:srgbClr val="8A95A1"/>
            </a:solidFill>
          </a:ln>
        </p:spPr>
      </p:cxnSp>
      <p:cxnSp>
        <p:nvCxnSpPr>
          <p:cNvPr id="20" name="cpe|exhibit|connector|19"/>
          <p:cNvCxnSpPr/>
          <p:nvPr/>
        </p:nvCxnSpPr>
        <p:spPr>
          <a:xfrm>
            <a:off x="3660028" y="3789599"/>
            <a:ext cx="254834" cy="0"/>
          </a:xfrm>
          <a:prstGeom prst="line">
            <a:avLst/>
          </a:prstGeom>
          <a:ln w="6350">
            <a:solidFill>
              <a:srgbClr val="8A95A1"/>
            </a:solidFill>
          </a:ln>
        </p:spPr>
      </p:cxnSp>
      <p:cxnSp>
        <p:nvCxnSpPr>
          <p:cNvPr id="21" name="cpe|exhibit|connector|20"/>
          <p:cNvCxnSpPr/>
          <p:nvPr/>
        </p:nvCxnSpPr>
        <p:spPr>
          <a:xfrm>
            <a:off x="4481159" y="4248415"/>
            <a:ext cx="254834" cy="0"/>
          </a:xfrm>
          <a:prstGeom prst="line">
            <a:avLst/>
          </a:prstGeom>
          <a:ln w="6350">
            <a:solidFill>
              <a:srgbClr val="8A95A1"/>
            </a:solidFill>
          </a:ln>
        </p:spPr>
      </p:cxnSp>
      <p:cxnSp>
        <p:nvCxnSpPr>
          <p:cNvPr id="22" name="cpe|exhibit|connector|21"/>
          <p:cNvCxnSpPr/>
          <p:nvPr/>
        </p:nvCxnSpPr>
        <p:spPr>
          <a:xfrm>
            <a:off x="5302290" y="4494609"/>
            <a:ext cx="254834" cy="0"/>
          </a:xfrm>
          <a:prstGeom prst="line">
            <a:avLst/>
          </a:prstGeom>
          <a:ln w="6350">
            <a:solidFill>
              <a:srgbClr val="8A95A1"/>
            </a:solidFill>
          </a:ln>
        </p:spPr>
      </p:cxnSp>
      <p:cxnSp>
        <p:nvCxnSpPr>
          <p:cNvPr id="23" name="cpe|exhibit|connector|22"/>
          <p:cNvCxnSpPr/>
          <p:nvPr/>
        </p:nvCxnSpPr>
        <p:spPr>
          <a:xfrm>
            <a:off x="6123421" y="4651278"/>
            <a:ext cx="254834" cy="0"/>
          </a:xfrm>
          <a:prstGeom prst="line">
            <a:avLst/>
          </a:prstGeom>
          <a:ln w="6350">
            <a:solidFill>
              <a:srgbClr val="8A95A1"/>
            </a:solidFill>
          </a:ln>
        </p:spPr>
      </p:cxnSp>
      <p:cxnSp>
        <p:nvCxnSpPr>
          <p:cNvPr id="24" name="cpe|exhibit|connector|23"/>
          <p:cNvCxnSpPr/>
          <p:nvPr/>
        </p:nvCxnSpPr>
        <p:spPr>
          <a:xfrm>
            <a:off x="6944553" y="4595325"/>
            <a:ext cx="254834" cy="0"/>
          </a:xfrm>
          <a:prstGeom prst="line">
            <a:avLst/>
          </a:prstGeom>
          <a:ln w="6350">
            <a:solidFill>
              <a:srgbClr val="8A95A1"/>
            </a:solidFill>
          </a:ln>
        </p:spPr>
      </p:cxnSp>
      <p:sp>
        <p:nvSpPr>
          <p:cNvPr id="25" name="cpe|exhibit|marker|24"/>
          <p:cNvSpPr/>
          <p:nvPr/>
        </p:nvSpPr>
        <p:spPr>
          <a:xfrm>
            <a:off x="575473" y="5447191"/>
            <a:ext cx="676025" cy="82296"/>
          </a:xfrm>
          <a:prstGeom prst="parallelogram">
            <a:avLst/>
          </a:prstGeom>
          <a:solidFill>
            <a:srgbClr val="FFFFFF"/>
          </a:solidFill>
          <a:ln>
            <a:noFill/>
          </a:ln>
        </p:spPr>
        <p:txBody>
          <a:bodyPr rtlCol="0" anchor="ctr" lIns="0" rIns="0" tIns="0" bIns="0"/>
          <a:lstStyle/>
          <a:p>
            <a:pPr algn="ctr"/>
          </a:p>
        </p:txBody>
      </p:sp>
      <p:sp>
        <p:nvSpPr>
          <p:cNvPr id="26" name="cpe|exhibit|marker|25"/>
          <p:cNvSpPr/>
          <p:nvPr/>
        </p:nvSpPr>
        <p:spPr>
          <a:xfrm>
            <a:off x="7144523" y="5447191"/>
            <a:ext cx="676025" cy="82296"/>
          </a:xfrm>
          <a:prstGeom prst="parallelogram">
            <a:avLst/>
          </a:prstGeom>
          <a:solidFill>
            <a:srgbClr val="FFFFFF"/>
          </a:solidFill>
          <a:ln>
            <a:noFill/>
          </a:ln>
        </p:spPr>
        <p:txBody>
          <a:bodyPr rtlCol="0" anchor="ctr" lIns="0" rIns="0" tIns="0" bIns="0"/>
          <a:lstStyle/>
          <a:p>
            <a:pPr algn="ctr"/>
          </a:p>
        </p:txBody>
      </p:sp>
      <p:cxnSp>
        <p:nvCxnSpPr>
          <p:cNvPr id="27" name="cpe|commentary|line|26"/>
          <p:cNvCxnSpPr/>
          <p:nvPr/>
        </p:nvCxnSpPr>
        <p:spPr>
          <a:xfrm>
            <a:off x="8094269" y="1481328"/>
            <a:ext cx="0" cy="4718304"/>
          </a:xfrm>
          <a:prstGeom prst="line">
            <a:avLst/>
          </a:prstGeom>
          <a:ln w="9525">
            <a:solidFill>
              <a:srgbClr val="B7BFC8"/>
            </a:solidFill>
          </a:ln>
        </p:spPr>
      </p:cxnSp>
      <p:sp>
        <p:nvSpPr>
          <p:cNvPr id="28" name="cpe|commentary|text|27"/>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29" name="cpe|commentary|text|28"/>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Grocery (−€78M):</a:t>
            </a:r>
            <a:r>
              <a:rPr sz="14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Convenience (−€41M):</a:t>
            </a:r>
            <a:r>
              <a:rPr sz="14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400" b="0">
                <a:solidFill>
                  <a:srgbClr val="1E252D"/>
                </a:solidFill>
                <a:latin typeface="Arial"/>
              </a:rPr>
              <a:t>Volume and price added €83M, not enough to offset cost inflation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9" name="cpe|exhibit|label|8"/>
          <p:cNvSpPr txBox="1"/>
          <p:nvPr/>
        </p:nvSpPr>
        <p:spPr>
          <a:xfrm>
            <a:off x="1324051"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0" name="cpe|exhibit|label|9"/>
          <p:cNvSpPr txBox="1"/>
          <p:nvPr/>
        </p:nvSpPr>
        <p:spPr>
          <a:xfrm>
            <a:off x="2145182"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1" name="cpe|exhibit|label|10"/>
          <p:cNvSpPr txBox="1"/>
          <p:nvPr/>
        </p:nvSpPr>
        <p:spPr>
          <a:xfrm>
            <a:off x="2966314"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2" name="cpe|exhibit|label|11"/>
          <p:cNvSpPr txBox="1"/>
          <p:nvPr/>
        </p:nvSpPr>
        <p:spPr>
          <a:xfrm>
            <a:off x="3787445"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3" name="cpe|exhibit|label|12"/>
          <p:cNvSpPr txBox="1"/>
          <p:nvPr/>
        </p:nvSpPr>
        <p:spPr>
          <a:xfrm>
            <a:off x="4608576"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4" name="cpe|exhibit|label|13"/>
          <p:cNvSpPr txBox="1"/>
          <p:nvPr/>
        </p:nvSpPr>
        <p:spPr>
          <a:xfrm>
            <a:off x="5429707"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5" name="cpe|exhibit|label|14"/>
          <p:cNvSpPr txBox="1"/>
          <p:nvPr/>
        </p:nvSpPr>
        <p:spPr>
          <a:xfrm>
            <a:off x="6250838"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6" name="cpe|exhibit|label|15"/>
          <p:cNvSpPr txBox="1"/>
          <p:nvPr/>
        </p:nvSpPr>
        <p:spPr>
          <a:xfrm>
            <a:off x="7071970"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17" name="cpe|exhibit|connector|16"/>
          <p:cNvCxnSpPr/>
          <p:nvPr/>
        </p:nvCxnSpPr>
        <p:spPr>
          <a:xfrm>
            <a:off x="1196634" y="3845552"/>
            <a:ext cx="254834" cy="0"/>
          </a:xfrm>
          <a:prstGeom prst="line">
            <a:avLst/>
          </a:prstGeom>
          <a:ln w="6350">
            <a:solidFill>
              <a:srgbClr val="8A95A1"/>
            </a:solidFill>
          </a:ln>
        </p:spPr>
      </p:cxnSp>
      <p:cxnSp>
        <p:nvCxnSpPr>
          <p:cNvPr id="18" name="cpe|exhibit|connector|17"/>
          <p:cNvCxnSpPr/>
          <p:nvPr/>
        </p:nvCxnSpPr>
        <p:spPr>
          <a:xfrm>
            <a:off x="2017765" y="3263639"/>
            <a:ext cx="254834" cy="0"/>
          </a:xfrm>
          <a:prstGeom prst="line">
            <a:avLst/>
          </a:prstGeom>
          <a:ln w="6350">
            <a:solidFill>
              <a:srgbClr val="8A95A1"/>
            </a:solidFill>
          </a:ln>
        </p:spPr>
      </p:cxnSp>
      <p:cxnSp>
        <p:nvCxnSpPr>
          <p:cNvPr id="19" name="cpe|exhibit|connector|18"/>
          <p:cNvCxnSpPr/>
          <p:nvPr/>
        </p:nvCxnSpPr>
        <p:spPr>
          <a:xfrm>
            <a:off x="2838897" y="2916729"/>
            <a:ext cx="254834" cy="0"/>
          </a:xfrm>
          <a:prstGeom prst="line">
            <a:avLst/>
          </a:prstGeom>
          <a:ln w="6350">
            <a:solidFill>
              <a:srgbClr val="8A95A1"/>
            </a:solidFill>
          </a:ln>
        </p:spPr>
      </p:cxnSp>
      <p:cxnSp>
        <p:nvCxnSpPr>
          <p:cNvPr id="20" name="cpe|exhibit|connector|19"/>
          <p:cNvCxnSpPr/>
          <p:nvPr/>
        </p:nvCxnSpPr>
        <p:spPr>
          <a:xfrm>
            <a:off x="3660028" y="3789599"/>
            <a:ext cx="254834" cy="0"/>
          </a:xfrm>
          <a:prstGeom prst="line">
            <a:avLst/>
          </a:prstGeom>
          <a:ln w="6350">
            <a:solidFill>
              <a:srgbClr val="8A95A1"/>
            </a:solidFill>
          </a:ln>
        </p:spPr>
      </p:cxnSp>
      <p:cxnSp>
        <p:nvCxnSpPr>
          <p:cNvPr id="21" name="cpe|exhibit|connector|20"/>
          <p:cNvCxnSpPr/>
          <p:nvPr/>
        </p:nvCxnSpPr>
        <p:spPr>
          <a:xfrm>
            <a:off x="4481159" y="4248415"/>
            <a:ext cx="254834" cy="0"/>
          </a:xfrm>
          <a:prstGeom prst="line">
            <a:avLst/>
          </a:prstGeom>
          <a:ln w="6350">
            <a:solidFill>
              <a:srgbClr val="8A95A1"/>
            </a:solidFill>
          </a:ln>
        </p:spPr>
      </p:cxnSp>
      <p:cxnSp>
        <p:nvCxnSpPr>
          <p:cNvPr id="22" name="cpe|exhibit|connector|21"/>
          <p:cNvCxnSpPr/>
          <p:nvPr/>
        </p:nvCxnSpPr>
        <p:spPr>
          <a:xfrm>
            <a:off x="5302290" y="4494609"/>
            <a:ext cx="254834" cy="0"/>
          </a:xfrm>
          <a:prstGeom prst="line">
            <a:avLst/>
          </a:prstGeom>
          <a:ln w="6350">
            <a:solidFill>
              <a:srgbClr val="8A95A1"/>
            </a:solidFill>
          </a:ln>
        </p:spPr>
      </p:cxnSp>
      <p:cxnSp>
        <p:nvCxnSpPr>
          <p:cNvPr id="23" name="cpe|exhibit|connector|22"/>
          <p:cNvCxnSpPr/>
          <p:nvPr/>
        </p:nvCxnSpPr>
        <p:spPr>
          <a:xfrm>
            <a:off x="6123421" y="4651278"/>
            <a:ext cx="254834" cy="0"/>
          </a:xfrm>
          <a:prstGeom prst="line">
            <a:avLst/>
          </a:prstGeom>
          <a:ln w="6350">
            <a:solidFill>
              <a:srgbClr val="8A95A1"/>
            </a:solidFill>
          </a:ln>
        </p:spPr>
      </p:cxnSp>
      <p:cxnSp>
        <p:nvCxnSpPr>
          <p:cNvPr id="24" name="cpe|exhibit|connector|23"/>
          <p:cNvCxnSpPr/>
          <p:nvPr/>
        </p:nvCxnSpPr>
        <p:spPr>
          <a:xfrm>
            <a:off x="6944553" y="4595325"/>
            <a:ext cx="254834" cy="0"/>
          </a:xfrm>
          <a:prstGeom prst="line">
            <a:avLst/>
          </a:prstGeom>
          <a:ln w="6350">
            <a:solidFill>
              <a:srgbClr val="8A95A1"/>
            </a:solidFill>
          </a:ln>
        </p:spPr>
      </p:cxnSp>
      <p:sp>
        <p:nvSpPr>
          <p:cNvPr id="25" name="cpe|exhibit|marker|24"/>
          <p:cNvSpPr/>
          <p:nvPr/>
        </p:nvSpPr>
        <p:spPr>
          <a:xfrm>
            <a:off x="575473" y="5447191"/>
            <a:ext cx="676025" cy="82296"/>
          </a:xfrm>
          <a:prstGeom prst="parallelogram">
            <a:avLst/>
          </a:prstGeom>
          <a:solidFill>
            <a:srgbClr val="FFFFFF"/>
          </a:solidFill>
          <a:ln>
            <a:noFill/>
          </a:ln>
        </p:spPr>
        <p:txBody>
          <a:bodyPr rtlCol="0" anchor="ctr" lIns="0" rIns="0" tIns="0" bIns="0"/>
          <a:lstStyle/>
          <a:p>
            <a:pPr algn="ctr"/>
          </a:p>
        </p:txBody>
      </p:sp>
      <p:sp>
        <p:nvSpPr>
          <p:cNvPr id="26" name="cpe|exhibit|marker|25"/>
          <p:cNvSpPr/>
          <p:nvPr/>
        </p:nvSpPr>
        <p:spPr>
          <a:xfrm>
            <a:off x="7144523" y="5447191"/>
            <a:ext cx="676025" cy="82296"/>
          </a:xfrm>
          <a:prstGeom prst="parallelogram">
            <a:avLst/>
          </a:prstGeom>
          <a:solidFill>
            <a:srgbClr val="FFFFFF"/>
          </a:solidFill>
          <a:ln>
            <a:noFill/>
          </a:ln>
        </p:spPr>
        <p:txBody>
          <a:bodyPr rtlCol="0" anchor="ctr" lIns="0" rIns="0" tIns="0" bIns="0"/>
          <a:lstStyle/>
          <a:p>
            <a:pPr algn="ctr"/>
          </a:p>
        </p:txBody>
      </p:sp>
      <p:cxnSp>
        <p:nvCxnSpPr>
          <p:cNvPr id="27" name="cpe|commentary|line|26"/>
          <p:cNvCxnSpPr/>
          <p:nvPr/>
        </p:nvCxnSpPr>
        <p:spPr>
          <a:xfrm>
            <a:off x="8094269" y="1481328"/>
            <a:ext cx="0" cy="4718304"/>
          </a:xfrm>
          <a:prstGeom prst="line">
            <a:avLst/>
          </a:prstGeom>
          <a:ln w="9525">
            <a:solidFill>
              <a:srgbClr val="B7BFC8"/>
            </a:solidFill>
          </a:ln>
        </p:spPr>
      </p:cxnSp>
      <p:sp>
        <p:nvSpPr>
          <p:cNvPr id="28" name="cpe|commentary|text|27"/>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29" name="cpe|commentary|text|28"/>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Grocery (−€78M):</a:t>
            </a:r>
            <a:r>
              <a:rPr sz="12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Convenience (−€41M):</a:t>
            </a:r>
            <a:r>
              <a:rPr sz="12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200" b="0">
                <a:solidFill>
                  <a:srgbClr val="1E252D"/>
                </a:solidFill>
                <a:latin typeface="Arial"/>
              </a:rPr>
              <a:t>Volume and price added €83M, not enough to offset cost inflation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7390181" cy="4297680"/>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9" name="cpe|exhibit|label|8"/>
          <p:cNvSpPr txBox="1"/>
          <p:nvPr/>
        </p:nvSpPr>
        <p:spPr>
          <a:xfrm>
            <a:off x="1324051"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0" name="cpe|exhibit|label|9"/>
          <p:cNvSpPr txBox="1"/>
          <p:nvPr/>
        </p:nvSpPr>
        <p:spPr>
          <a:xfrm>
            <a:off x="2145182"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1" name="cpe|exhibit|label|10"/>
          <p:cNvSpPr txBox="1"/>
          <p:nvPr/>
        </p:nvSpPr>
        <p:spPr>
          <a:xfrm>
            <a:off x="2966314"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2" name="cpe|exhibit|label|11"/>
          <p:cNvSpPr txBox="1"/>
          <p:nvPr/>
        </p:nvSpPr>
        <p:spPr>
          <a:xfrm>
            <a:off x="3787445"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3" name="cpe|exhibit|label|12"/>
          <p:cNvSpPr txBox="1"/>
          <p:nvPr/>
        </p:nvSpPr>
        <p:spPr>
          <a:xfrm>
            <a:off x="4608576"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4" name="cpe|exhibit|label|13"/>
          <p:cNvSpPr txBox="1"/>
          <p:nvPr/>
        </p:nvSpPr>
        <p:spPr>
          <a:xfrm>
            <a:off x="5429707"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5" name="cpe|exhibit|label|14"/>
          <p:cNvSpPr txBox="1"/>
          <p:nvPr/>
        </p:nvSpPr>
        <p:spPr>
          <a:xfrm>
            <a:off x="6250838"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6" name="cpe|exhibit|label|15"/>
          <p:cNvSpPr txBox="1"/>
          <p:nvPr/>
        </p:nvSpPr>
        <p:spPr>
          <a:xfrm>
            <a:off x="7071970"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17" name="cpe|exhibit|connector|16"/>
          <p:cNvCxnSpPr/>
          <p:nvPr/>
        </p:nvCxnSpPr>
        <p:spPr>
          <a:xfrm>
            <a:off x="1196634" y="3845552"/>
            <a:ext cx="254834" cy="0"/>
          </a:xfrm>
          <a:prstGeom prst="line">
            <a:avLst/>
          </a:prstGeom>
          <a:ln w="6350">
            <a:solidFill>
              <a:srgbClr val="8A95A1"/>
            </a:solidFill>
          </a:ln>
        </p:spPr>
      </p:cxnSp>
      <p:cxnSp>
        <p:nvCxnSpPr>
          <p:cNvPr id="18" name="cpe|exhibit|connector|17"/>
          <p:cNvCxnSpPr/>
          <p:nvPr/>
        </p:nvCxnSpPr>
        <p:spPr>
          <a:xfrm>
            <a:off x="2017765" y="3263639"/>
            <a:ext cx="254834" cy="0"/>
          </a:xfrm>
          <a:prstGeom prst="line">
            <a:avLst/>
          </a:prstGeom>
          <a:ln w="6350">
            <a:solidFill>
              <a:srgbClr val="8A95A1"/>
            </a:solidFill>
          </a:ln>
        </p:spPr>
      </p:cxnSp>
      <p:cxnSp>
        <p:nvCxnSpPr>
          <p:cNvPr id="19" name="cpe|exhibit|connector|18"/>
          <p:cNvCxnSpPr/>
          <p:nvPr/>
        </p:nvCxnSpPr>
        <p:spPr>
          <a:xfrm>
            <a:off x="2838897" y="2916729"/>
            <a:ext cx="254834" cy="0"/>
          </a:xfrm>
          <a:prstGeom prst="line">
            <a:avLst/>
          </a:prstGeom>
          <a:ln w="6350">
            <a:solidFill>
              <a:srgbClr val="8A95A1"/>
            </a:solidFill>
          </a:ln>
        </p:spPr>
      </p:cxnSp>
      <p:cxnSp>
        <p:nvCxnSpPr>
          <p:cNvPr id="20" name="cpe|exhibit|connector|19"/>
          <p:cNvCxnSpPr/>
          <p:nvPr/>
        </p:nvCxnSpPr>
        <p:spPr>
          <a:xfrm>
            <a:off x="3660028" y="3789599"/>
            <a:ext cx="254834" cy="0"/>
          </a:xfrm>
          <a:prstGeom prst="line">
            <a:avLst/>
          </a:prstGeom>
          <a:ln w="6350">
            <a:solidFill>
              <a:srgbClr val="8A95A1"/>
            </a:solidFill>
          </a:ln>
        </p:spPr>
      </p:cxnSp>
      <p:cxnSp>
        <p:nvCxnSpPr>
          <p:cNvPr id="21" name="cpe|exhibit|connector|20"/>
          <p:cNvCxnSpPr/>
          <p:nvPr/>
        </p:nvCxnSpPr>
        <p:spPr>
          <a:xfrm>
            <a:off x="4481159" y="4248415"/>
            <a:ext cx="254834" cy="0"/>
          </a:xfrm>
          <a:prstGeom prst="line">
            <a:avLst/>
          </a:prstGeom>
          <a:ln w="6350">
            <a:solidFill>
              <a:srgbClr val="8A95A1"/>
            </a:solidFill>
          </a:ln>
        </p:spPr>
      </p:cxnSp>
      <p:cxnSp>
        <p:nvCxnSpPr>
          <p:cNvPr id="22" name="cpe|exhibit|connector|21"/>
          <p:cNvCxnSpPr/>
          <p:nvPr/>
        </p:nvCxnSpPr>
        <p:spPr>
          <a:xfrm>
            <a:off x="5302290" y="4494609"/>
            <a:ext cx="254834" cy="0"/>
          </a:xfrm>
          <a:prstGeom prst="line">
            <a:avLst/>
          </a:prstGeom>
          <a:ln w="6350">
            <a:solidFill>
              <a:srgbClr val="8A95A1"/>
            </a:solidFill>
          </a:ln>
        </p:spPr>
      </p:cxnSp>
      <p:cxnSp>
        <p:nvCxnSpPr>
          <p:cNvPr id="23" name="cpe|exhibit|connector|22"/>
          <p:cNvCxnSpPr/>
          <p:nvPr/>
        </p:nvCxnSpPr>
        <p:spPr>
          <a:xfrm>
            <a:off x="6123421" y="4651278"/>
            <a:ext cx="254834" cy="0"/>
          </a:xfrm>
          <a:prstGeom prst="line">
            <a:avLst/>
          </a:prstGeom>
          <a:ln w="6350">
            <a:solidFill>
              <a:srgbClr val="8A95A1"/>
            </a:solidFill>
          </a:ln>
        </p:spPr>
      </p:cxnSp>
      <p:cxnSp>
        <p:nvCxnSpPr>
          <p:cNvPr id="24" name="cpe|exhibit|connector|23"/>
          <p:cNvCxnSpPr/>
          <p:nvPr/>
        </p:nvCxnSpPr>
        <p:spPr>
          <a:xfrm>
            <a:off x="6944553" y="4595325"/>
            <a:ext cx="254834" cy="0"/>
          </a:xfrm>
          <a:prstGeom prst="line">
            <a:avLst/>
          </a:prstGeom>
          <a:ln w="6350">
            <a:solidFill>
              <a:srgbClr val="8A95A1"/>
            </a:solidFill>
          </a:ln>
        </p:spPr>
      </p:cxnSp>
      <p:sp>
        <p:nvSpPr>
          <p:cNvPr id="25" name="cpe|exhibit|marker|24"/>
          <p:cNvSpPr/>
          <p:nvPr/>
        </p:nvSpPr>
        <p:spPr>
          <a:xfrm>
            <a:off x="575473" y="5447191"/>
            <a:ext cx="676025" cy="82296"/>
          </a:xfrm>
          <a:prstGeom prst="parallelogram">
            <a:avLst/>
          </a:prstGeom>
          <a:solidFill>
            <a:srgbClr val="FFFFFF"/>
          </a:solidFill>
          <a:ln>
            <a:noFill/>
          </a:ln>
        </p:spPr>
        <p:txBody>
          <a:bodyPr rtlCol="0" anchor="ctr" lIns="0" rIns="0" tIns="0" bIns="0"/>
          <a:lstStyle/>
          <a:p>
            <a:pPr algn="ctr"/>
          </a:p>
        </p:txBody>
      </p:sp>
      <p:sp>
        <p:nvSpPr>
          <p:cNvPr id="26" name="cpe|exhibit|marker|25"/>
          <p:cNvSpPr/>
          <p:nvPr/>
        </p:nvSpPr>
        <p:spPr>
          <a:xfrm>
            <a:off x="7144523" y="5447191"/>
            <a:ext cx="676025" cy="82296"/>
          </a:xfrm>
          <a:prstGeom prst="parallelogram">
            <a:avLst/>
          </a:prstGeom>
          <a:solidFill>
            <a:srgbClr val="FFFFFF"/>
          </a:solidFill>
          <a:ln>
            <a:noFill/>
          </a:ln>
        </p:spPr>
        <p:txBody>
          <a:bodyPr rtlCol="0" anchor="ctr" lIns="0" rIns="0" tIns="0" bIns="0"/>
          <a:lstStyle/>
          <a:p>
            <a:pPr algn="ctr"/>
          </a:p>
        </p:txBody>
      </p:sp>
      <p:cxnSp>
        <p:nvCxnSpPr>
          <p:cNvPr id="27" name="cpe|commentary|line|26"/>
          <p:cNvCxnSpPr/>
          <p:nvPr/>
        </p:nvCxnSpPr>
        <p:spPr>
          <a:xfrm>
            <a:off x="8094269" y="1481328"/>
            <a:ext cx="0" cy="4718304"/>
          </a:xfrm>
          <a:prstGeom prst="line">
            <a:avLst/>
          </a:prstGeom>
          <a:ln w="9525">
            <a:solidFill>
              <a:srgbClr val="B7BFC8"/>
            </a:solidFill>
          </a:ln>
        </p:spPr>
      </p:cxnSp>
      <p:sp>
        <p:nvSpPr>
          <p:cNvPr id="28" name="cpe|commentary|text|27"/>
          <p:cNvSpPr txBox="1"/>
          <p:nvPr/>
        </p:nvSpPr>
        <p:spPr>
          <a:xfrm>
            <a:off x="8322869"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29" name="cpe|commentary|text|28"/>
          <p:cNvSpPr txBox="1"/>
          <p:nvPr/>
        </p:nvSpPr>
        <p:spPr>
          <a:xfrm>
            <a:off x="8322869"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Grocery (−€78M):</a:t>
            </a:r>
            <a:r>
              <a:rPr sz="14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Convenience (−€41M):</a:t>
            </a:r>
            <a:r>
              <a:rPr sz="14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400" b="0">
                <a:solidFill>
                  <a:srgbClr val="1E252D"/>
                </a:solidFill>
                <a:latin typeface="Arial"/>
              </a:rPr>
              <a:t>Volume and price added €83M, not enough to offset cost inflation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cxnSp>
        <p:nvCxnSpPr>
          <p:cNvPr id="6" name="cpe|commentary|line|5"/>
          <p:cNvCxnSpPr/>
          <p:nvPr/>
        </p:nvCxnSpPr>
        <p:spPr>
          <a:xfrm>
            <a:off x="4097426" y="1481328"/>
            <a:ext cx="0" cy="4718304"/>
          </a:xfrm>
          <a:prstGeom prst="line">
            <a:avLst/>
          </a:prstGeom>
          <a:ln w="9525">
            <a:solidFill>
              <a:srgbClr val="B7BFC8"/>
            </a:solidFill>
          </a:ln>
        </p:spPr>
      </p:cxnSp>
      <p:sp>
        <p:nvSpPr>
          <p:cNvPr id="7" name="cpe|commentary|text|6"/>
          <p:cNvSpPr txBox="1"/>
          <p:nvPr/>
        </p:nvSpPr>
        <p:spPr>
          <a:xfrm>
            <a:off x="502920"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8" name="cpe|commentary|text|7"/>
          <p:cNvSpPr txBox="1"/>
          <p:nvPr/>
        </p:nvSpPr>
        <p:spPr>
          <a:xfrm>
            <a:off x="502920"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Grocery (−€78M):</a:t>
            </a:r>
            <a:r>
              <a:rPr sz="12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Convenience (−€41M):</a:t>
            </a:r>
            <a:r>
              <a:rPr sz="12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200" b="0">
                <a:solidFill>
                  <a:srgbClr val="1E252D"/>
                </a:solidFill>
                <a:latin typeface="Arial"/>
              </a:rPr>
              <a:t>Volume and price added €83M, not enough to offset cost inflation</a:t>
            </a:r>
          </a:p>
        </p:txBody>
      </p:sp>
      <p:sp>
        <p:nvSpPr>
          <p:cNvPr id="9" name="cpe|exhibit|text|8"/>
          <p:cNvSpPr txBox="1"/>
          <p:nvPr/>
        </p:nvSpPr>
        <p:spPr>
          <a:xfrm>
            <a:off x="4298594"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10" name="cpe|exhibit|chart|9"/>
          <p:cNvGraphicFramePr>
            <a:graphicFrameLocks noGrp="1"/>
          </p:cNvGraphicFramePr>
          <p:nvPr/>
        </p:nvGraphicFramePr>
        <p:xfrm>
          <a:off x="4298594" y="1901952"/>
          <a:ext cx="7390181" cy="4297680"/>
        </p:xfrm>
        <a:graphic>
          <a:graphicData uri="http://schemas.openxmlformats.org/drawingml/2006/chart">
            <c:chart xmlns:c="http://schemas.openxmlformats.org/drawingml/2006/chart" r:id="rId2"/>
          </a:graphicData>
        </a:graphic>
      </p:graphicFrame>
      <p:sp>
        <p:nvSpPr>
          <p:cNvPr id="11" name="cpe|exhibit|label|10"/>
          <p:cNvSpPr txBox="1"/>
          <p:nvPr/>
        </p:nvSpPr>
        <p:spPr>
          <a:xfrm>
            <a:off x="4298594"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12" name="cpe|exhibit|label|11"/>
          <p:cNvSpPr txBox="1"/>
          <p:nvPr/>
        </p:nvSpPr>
        <p:spPr>
          <a:xfrm>
            <a:off x="5119726"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3" name="cpe|exhibit|label|12"/>
          <p:cNvSpPr txBox="1"/>
          <p:nvPr/>
        </p:nvSpPr>
        <p:spPr>
          <a:xfrm>
            <a:off x="5940857"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4" name="cpe|exhibit|label|13"/>
          <p:cNvSpPr txBox="1"/>
          <p:nvPr/>
        </p:nvSpPr>
        <p:spPr>
          <a:xfrm>
            <a:off x="6761988"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5" name="cpe|exhibit|label|14"/>
          <p:cNvSpPr txBox="1"/>
          <p:nvPr/>
        </p:nvSpPr>
        <p:spPr>
          <a:xfrm>
            <a:off x="7583119"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6" name="cpe|exhibit|label|15"/>
          <p:cNvSpPr txBox="1"/>
          <p:nvPr/>
        </p:nvSpPr>
        <p:spPr>
          <a:xfrm>
            <a:off x="8404250"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7" name="cpe|exhibit|label|16"/>
          <p:cNvSpPr txBox="1"/>
          <p:nvPr/>
        </p:nvSpPr>
        <p:spPr>
          <a:xfrm>
            <a:off x="9225382"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8" name="cpe|exhibit|label|17"/>
          <p:cNvSpPr txBox="1"/>
          <p:nvPr/>
        </p:nvSpPr>
        <p:spPr>
          <a:xfrm>
            <a:off x="10046513"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9" name="cpe|exhibit|label|18"/>
          <p:cNvSpPr txBox="1"/>
          <p:nvPr/>
        </p:nvSpPr>
        <p:spPr>
          <a:xfrm>
            <a:off x="10867644"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20" name="cpe|exhibit|connector|19"/>
          <p:cNvCxnSpPr/>
          <p:nvPr/>
        </p:nvCxnSpPr>
        <p:spPr>
          <a:xfrm>
            <a:off x="4992309" y="3845552"/>
            <a:ext cx="254834" cy="0"/>
          </a:xfrm>
          <a:prstGeom prst="line">
            <a:avLst/>
          </a:prstGeom>
          <a:ln w="6350">
            <a:solidFill>
              <a:srgbClr val="8A95A1"/>
            </a:solidFill>
          </a:ln>
        </p:spPr>
      </p:cxnSp>
      <p:cxnSp>
        <p:nvCxnSpPr>
          <p:cNvPr id="21" name="cpe|exhibit|connector|20"/>
          <p:cNvCxnSpPr/>
          <p:nvPr/>
        </p:nvCxnSpPr>
        <p:spPr>
          <a:xfrm>
            <a:off x="5813440" y="3263639"/>
            <a:ext cx="254834" cy="0"/>
          </a:xfrm>
          <a:prstGeom prst="line">
            <a:avLst/>
          </a:prstGeom>
          <a:ln w="6350">
            <a:solidFill>
              <a:srgbClr val="8A95A1"/>
            </a:solidFill>
          </a:ln>
        </p:spPr>
      </p:cxnSp>
      <p:cxnSp>
        <p:nvCxnSpPr>
          <p:cNvPr id="22" name="cpe|exhibit|connector|21"/>
          <p:cNvCxnSpPr/>
          <p:nvPr/>
        </p:nvCxnSpPr>
        <p:spPr>
          <a:xfrm>
            <a:off x="6634571" y="2916729"/>
            <a:ext cx="254834" cy="0"/>
          </a:xfrm>
          <a:prstGeom prst="line">
            <a:avLst/>
          </a:prstGeom>
          <a:ln w="6350">
            <a:solidFill>
              <a:srgbClr val="8A95A1"/>
            </a:solidFill>
          </a:ln>
        </p:spPr>
      </p:cxnSp>
      <p:cxnSp>
        <p:nvCxnSpPr>
          <p:cNvPr id="23" name="cpe|exhibit|connector|22"/>
          <p:cNvCxnSpPr/>
          <p:nvPr/>
        </p:nvCxnSpPr>
        <p:spPr>
          <a:xfrm>
            <a:off x="7455702" y="3789599"/>
            <a:ext cx="254834" cy="0"/>
          </a:xfrm>
          <a:prstGeom prst="line">
            <a:avLst/>
          </a:prstGeom>
          <a:ln w="6350">
            <a:solidFill>
              <a:srgbClr val="8A95A1"/>
            </a:solidFill>
          </a:ln>
        </p:spPr>
      </p:cxnSp>
      <p:cxnSp>
        <p:nvCxnSpPr>
          <p:cNvPr id="24" name="cpe|exhibit|connector|23"/>
          <p:cNvCxnSpPr/>
          <p:nvPr/>
        </p:nvCxnSpPr>
        <p:spPr>
          <a:xfrm>
            <a:off x="8276833" y="4248415"/>
            <a:ext cx="254834" cy="0"/>
          </a:xfrm>
          <a:prstGeom prst="line">
            <a:avLst/>
          </a:prstGeom>
          <a:ln w="6350">
            <a:solidFill>
              <a:srgbClr val="8A95A1"/>
            </a:solidFill>
          </a:ln>
        </p:spPr>
      </p:cxnSp>
      <p:cxnSp>
        <p:nvCxnSpPr>
          <p:cNvPr id="25" name="cpe|exhibit|connector|24"/>
          <p:cNvCxnSpPr/>
          <p:nvPr/>
        </p:nvCxnSpPr>
        <p:spPr>
          <a:xfrm>
            <a:off x="9097965" y="4494609"/>
            <a:ext cx="254834" cy="0"/>
          </a:xfrm>
          <a:prstGeom prst="line">
            <a:avLst/>
          </a:prstGeom>
          <a:ln w="6350">
            <a:solidFill>
              <a:srgbClr val="8A95A1"/>
            </a:solidFill>
          </a:ln>
        </p:spPr>
      </p:cxnSp>
      <p:cxnSp>
        <p:nvCxnSpPr>
          <p:cNvPr id="26" name="cpe|exhibit|connector|25"/>
          <p:cNvCxnSpPr/>
          <p:nvPr/>
        </p:nvCxnSpPr>
        <p:spPr>
          <a:xfrm>
            <a:off x="9919096" y="4651278"/>
            <a:ext cx="254834" cy="0"/>
          </a:xfrm>
          <a:prstGeom prst="line">
            <a:avLst/>
          </a:prstGeom>
          <a:ln w="6350">
            <a:solidFill>
              <a:srgbClr val="8A95A1"/>
            </a:solidFill>
          </a:ln>
        </p:spPr>
      </p:cxnSp>
      <p:cxnSp>
        <p:nvCxnSpPr>
          <p:cNvPr id="27" name="cpe|exhibit|connector|26"/>
          <p:cNvCxnSpPr/>
          <p:nvPr/>
        </p:nvCxnSpPr>
        <p:spPr>
          <a:xfrm>
            <a:off x="10740227" y="4595325"/>
            <a:ext cx="254834" cy="0"/>
          </a:xfrm>
          <a:prstGeom prst="line">
            <a:avLst/>
          </a:prstGeom>
          <a:ln w="6350">
            <a:solidFill>
              <a:srgbClr val="8A95A1"/>
            </a:solidFill>
          </a:ln>
        </p:spPr>
      </p:cxnSp>
      <p:sp>
        <p:nvSpPr>
          <p:cNvPr id="28" name="cpe|exhibit|marker|27"/>
          <p:cNvSpPr/>
          <p:nvPr/>
        </p:nvSpPr>
        <p:spPr>
          <a:xfrm>
            <a:off x="4371147" y="5447191"/>
            <a:ext cx="676025" cy="82296"/>
          </a:xfrm>
          <a:prstGeom prst="parallelogram">
            <a:avLst/>
          </a:prstGeom>
          <a:solidFill>
            <a:srgbClr val="FFFFFF"/>
          </a:solidFill>
          <a:ln>
            <a:noFill/>
          </a:ln>
        </p:spPr>
        <p:txBody>
          <a:bodyPr rtlCol="0" anchor="ctr" lIns="0" rIns="0" tIns="0" bIns="0"/>
          <a:lstStyle/>
          <a:p>
            <a:pPr algn="ctr"/>
          </a:p>
        </p:txBody>
      </p:sp>
      <p:sp>
        <p:nvSpPr>
          <p:cNvPr id="29" name="cpe|exhibit|marker|28"/>
          <p:cNvSpPr/>
          <p:nvPr/>
        </p:nvSpPr>
        <p:spPr>
          <a:xfrm>
            <a:off x="10940197" y="5447191"/>
            <a:ext cx="676025" cy="82296"/>
          </a:xfrm>
          <a:prstGeom prst="parallelogram">
            <a:avLst/>
          </a:prstGeom>
          <a:solidFill>
            <a:srgbClr val="FFFFFF"/>
          </a:solidFill>
          <a:ln>
            <a:noFill/>
          </a:ln>
        </p:spPr>
        <p:txBody>
          <a:bodyPr rtlCol="0" anchor="ctr" lIns="0" rIns="0" tIns="0" bIns="0"/>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Margin erosion in grocery and convenience (€119M) pushed EBITDA down to €857M</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management accounts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6</a:t>
            </a:r>
          </a:p>
        </p:txBody>
      </p:sp>
      <p:cxnSp>
        <p:nvCxnSpPr>
          <p:cNvPr id="6" name="cpe|commentary|line|5"/>
          <p:cNvCxnSpPr/>
          <p:nvPr/>
        </p:nvCxnSpPr>
        <p:spPr>
          <a:xfrm>
            <a:off x="4097426" y="1481328"/>
            <a:ext cx="0" cy="4718304"/>
          </a:xfrm>
          <a:prstGeom prst="line">
            <a:avLst/>
          </a:prstGeom>
          <a:ln w="9525">
            <a:solidFill>
              <a:srgbClr val="B7BFC8"/>
            </a:solidFill>
          </a:ln>
        </p:spPr>
      </p:cxnSp>
      <p:sp>
        <p:nvSpPr>
          <p:cNvPr id="7" name="cpe|commentary|text|6"/>
          <p:cNvSpPr txBox="1"/>
          <p:nvPr/>
        </p:nvSpPr>
        <p:spPr>
          <a:xfrm>
            <a:off x="502920" y="1481328"/>
            <a:ext cx="3365906" cy="196596"/>
          </a:xfrm>
          <a:prstGeom prst="rect">
            <a:avLst/>
          </a:prstGeom>
          <a:noFill/>
        </p:spPr>
        <p:txBody>
          <a:bodyPr wrap="square" lIns="0" rIns="0" tIns="0" bIns="0" anchor="t">
            <a:noAutofit/>
          </a:bodyPr>
          <a:lstStyle/>
          <a:p>
            <a:pPr algn="l">
              <a:lnSpc>
                <a:spcPct val="100000"/>
              </a:lnSpc>
            </a:pPr>
            <a:r>
              <a:rPr sz="1200" b="1">
                <a:solidFill>
                  <a:srgbClr val="0B1F3A"/>
                </a:solidFill>
                <a:latin typeface="Arial"/>
              </a:rPr>
              <a:t>Two categories explain the decline</a:t>
            </a:r>
          </a:p>
        </p:txBody>
      </p:sp>
      <p:sp>
        <p:nvSpPr>
          <p:cNvPr id="8" name="cpe|commentary|text|7"/>
          <p:cNvSpPr txBox="1"/>
          <p:nvPr/>
        </p:nvSpPr>
        <p:spPr>
          <a:xfrm>
            <a:off x="502920" y="1796796"/>
            <a:ext cx="3365906" cy="4402836"/>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Grocery (−€78M):</a:t>
            </a:r>
            <a:r>
              <a:rPr sz="1400" b="0">
                <a:solidFill>
                  <a:srgbClr val="1E252D"/>
                </a:solidFill>
                <a:latin typeface="Arial"/>
              </a:rPr>
              <a:t> promo intensity up 3pp to match discounters</a:t>
            </a:r>
          </a:p>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Convenience (−€41M):</a:t>
            </a:r>
            <a:r>
              <a:rPr sz="1400" b="0">
                <a:solidFill>
                  <a:srgbClr val="1E252D"/>
                </a:solidFill>
                <a:latin typeface="Arial"/>
              </a:rPr>
              <a:t> food-to-go waste doubled after the range extension</a:t>
            </a:r>
          </a:p>
          <a:p>
            <a:pPr algn="l" marL="155448" indent="-155448">
              <a:lnSpc>
                <a:spcPct val="108000"/>
              </a:lnSpc>
              <a:buClr>
                <a:srgbClr val="1E252D"/>
              </a:buClr>
              <a:buSzPct val="100000"/>
              <a:buFont typeface="Arial"/>
              <a:buChar char="•"/>
            </a:pPr>
            <a:r>
              <a:rPr sz="1400" b="0">
                <a:solidFill>
                  <a:srgbClr val="1E252D"/>
                </a:solidFill>
                <a:latin typeface="Arial"/>
              </a:rPr>
              <a:t>Volume and price added €83M, not enough to offset cost inflation</a:t>
            </a:r>
          </a:p>
        </p:txBody>
      </p:sp>
      <p:sp>
        <p:nvSpPr>
          <p:cNvPr id="9" name="cpe|exhibit|text|8"/>
          <p:cNvSpPr txBox="1"/>
          <p:nvPr/>
        </p:nvSpPr>
        <p:spPr>
          <a:xfrm>
            <a:off x="4298594"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bridge 2024 to 2025</a:t>
            </a:r>
            <a:r>
              <a:rPr sz="1100" b="0">
                <a:solidFill>
                  <a:srgbClr val="1E252D"/>
                </a:solidFill>
                <a:latin typeface="Arial"/>
              </a:rPr>
              <a:t>, €M</a:t>
            </a:r>
          </a:p>
        </p:txBody>
      </p:sp>
      <p:graphicFrame>
        <p:nvGraphicFramePr>
          <p:cNvPr id="10" name="cpe|exhibit|chart|9"/>
          <p:cNvGraphicFramePr>
            <a:graphicFrameLocks noGrp="1"/>
          </p:cNvGraphicFramePr>
          <p:nvPr/>
        </p:nvGraphicFramePr>
        <p:xfrm>
          <a:off x="4298594" y="1901952"/>
          <a:ext cx="7390181" cy="4297680"/>
        </p:xfrm>
        <a:graphic>
          <a:graphicData uri="http://schemas.openxmlformats.org/drawingml/2006/chart">
            <c:chart xmlns:c="http://schemas.openxmlformats.org/drawingml/2006/chart" r:id="rId2"/>
          </a:graphicData>
        </a:graphic>
      </p:graphicFrame>
      <p:sp>
        <p:nvSpPr>
          <p:cNvPr id="11" name="cpe|exhibit|label|10"/>
          <p:cNvSpPr txBox="1"/>
          <p:nvPr/>
        </p:nvSpPr>
        <p:spPr>
          <a:xfrm>
            <a:off x="4298594" y="3580376"/>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924</a:t>
            </a:r>
          </a:p>
        </p:txBody>
      </p:sp>
      <p:sp>
        <p:nvSpPr>
          <p:cNvPr id="12" name="cpe|exhibit|label|11"/>
          <p:cNvSpPr txBox="1"/>
          <p:nvPr/>
        </p:nvSpPr>
        <p:spPr>
          <a:xfrm>
            <a:off x="5119726" y="299846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+52</a:t>
            </a:r>
          </a:p>
        </p:txBody>
      </p:sp>
      <p:sp>
        <p:nvSpPr>
          <p:cNvPr id="13" name="cpe|exhibit|label|12"/>
          <p:cNvSpPr txBox="1"/>
          <p:nvPr/>
        </p:nvSpPr>
        <p:spPr>
          <a:xfrm>
            <a:off x="5940857"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+31</a:t>
            </a:r>
          </a:p>
        </p:txBody>
      </p:sp>
      <p:sp>
        <p:nvSpPr>
          <p:cNvPr id="14" name="cpe|exhibit|label|13"/>
          <p:cNvSpPr txBox="1"/>
          <p:nvPr/>
        </p:nvSpPr>
        <p:spPr>
          <a:xfrm>
            <a:off x="6761988" y="265155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−78</a:t>
            </a:r>
          </a:p>
        </p:txBody>
      </p:sp>
      <p:sp>
        <p:nvSpPr>
          <p:cNvPr id="15" name="cpe|exhibit|label|14"/>
          <p:cNvSpPr txBox="1"/>
          <p:nvPr/>
        </p:nvSpPr>
        <p:spPr>
          <a:xfrm>
            <a:off x="7583119" y="352442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−41</a:t>
            </a:r>
          </a:p>
        </p:txBody>
      </p:sp>
      <p:sp>
        <p:nvSpPr>
          <p:cNvPr id="16" name="cpe|exhibit|label|15"/>
          <p:cNvSpPr txBox="1"/>
          <p:nvPr/>
        </p:nvSpPr>
        <p:spPr>
          <a:xfrm>
            <a:off x="8404250" y="398323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−22</a:t>
            </a:r>
          </a:p>
        </p:txBody>
      </p:sp>
      <p:sp>
        <p:nvSpPr>
          <p:cNvPr id="17" name="cpe|exhibit|label|16"/>
          <p:cNvSpPr txBox="1"/>
          <p:nvPr/>
        </p:nvSpPr>
        <p:spPr>
          <a:xfrm>
            <a:off x="9225382" y="4229433"/>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−14</a:t>
            </a:r>
          </a:p>
        </p:txBody>
      </p:sp>
      <p:sp>
        <p:nvSpPr>
          <p:cNvPr id="18" name="cpe|exhibit|label|17"/>
          <p:cNvSpPr txBox="1"/>
          <p:nvPr/>
        </p:nvSpPr>
        <p:spPr>
          <a:xfrm>
            <a:off x="10046513" y="4330149"/>
            <a:ext cx="821131"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a:t>
            </a:r>
          </a:p>
        </p:txBody>
      </p:sp>
      <p:sp>
        <p:nvSpPr>
          <p:cNvPr id="19" name="cpe|exhibit|label|18"/>
          <p:cNvSpPr txBox="1"/>
          <p:nvPr/>
        </p:nvSpPr>
        <p:spPr>
          <a:xfrm>
            <a:off x="10867644" y="4330149"/>
            <a:ext cx="821131"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cxnSp>
        <p:nvCxnSpPr>
          <p:cNvPr id="20" name="cpe|exhibit|connector|19"/>
          <p:cNvCxnSpPr/>
          <p:nvPr/>
        </p:nvCxnSpPr>
        <p:spPr>
          <a:xfrm>
            <a:off x="4992309" y="3845552"/>
            <a:ext cx="254834" cy="0"/>
          </a:xfrm>
          <a:prstGeom prst="line">
            <a:avLst/>
          </a:prstGeom>
          <a:ln w="6350">
            <a:solidFill>
              <a:srgbClr val="8A95A1"/>
            </a:solidFill>
          </a:ln>
        </p:spPr>
      </p:cxnSp>
      <p:cxnSp>
        <p:nvCxnSpPr>
          <p:cNvPr id="21" name="cpe|exhibit|connector|20"/>
          <p:cNvCxnSpPr/>
          <p:nvPr/>
        </p:nvCxnSpPr>
        <p:spPr>
          <a:xfrm>
            <a:off x="5813440" y="3263639"/>
            <a:ext cx="254834" cy="0"/>
          </a:xfrm>
          <a:prstGeom prst="line">
            <a:avLst/>
          </a:prstGeom>
          <a:ln w="6350">
            <a:solidFill>
              <a:srgbClr val="8A95A1"/>
            </a:solidFill>
          </a:ln>
        </p:spPr>
      </p:cxnSp>
      <p:cxnSp>
        <p:nvCxnSpPr>
          <p:cNvPr id="22" name="cpe|exhibit|connector|21"/>
          <p:cNvCxnSpPr/>
          <p:nvPr/>
        </p:nvCxnSpPr>
        <p:spPr>
          <a:xfrm>
            <a:off x="6634571" y="2916729"/>
            <a:ext cx="254834" cy="0"/>
          </a:xfrm>
          <a:prstGeom prst="line">
            <a:avLst/>
          </a:prstGeom>
          <a:ln w="6350">
            <a:solidFill>
              <a:srgbClr val="8A95A1"/>
            </a:solidFill>
          </a:ln>
        </p:spPr>
      </p:cxnSp>
      <p:cxnSp>
        <p:nvCxnSpPr>
          <p:cNvPr id="23" name="cpe|exhibit|connector|22"/>
          <p:cNvCxnSpPr/>
          <p:nvPr/>
        </p:nvCxnSpPr>
        <p:spPr>
          <a:xfrm>
            <a:off x="7455702" y="3789599"/>
            <a:ext cx="254834" cy="0"/>
          </a:xfrm>
          <a:prstGeom prst="line">
            <a:avLst/>
          </a:prstGeom>
          <a:ln w="6350">
            <a:solidFill>
              <a:srgbClr val="8A95A1"/>
            </a:solidFill>
          </a:ln>
        </p:spPr>
      </p:cxnSp>
      <p:cxnSp>
        <p:nvCxnSpPr>
          <p:cNvPr id="24" name="cpe|exhibit|connector|23"/>
          <p:cNvCxnSpPr/>
          <p:nvPr/>
        </p:nvCxnSpPr>
        <p:spPr>
          <a:xfrm>
            <a:off x="8276833" y="4248415"/>
            <a:ext cx="254834" cy="0"/>
          </a:xfrm>
          <a:prstGeom prst="line">
            <a:avLst/>
          </a:prstGeom>
          <a:ln w="6350">
            <a:solidFill>
              <a:srgbClr val="8A95A1"/>
            </a:solidFill>
          </a:ln>
        </p:spPr>
      </p:cxnSp>
      <p:cxnSp>
        <p:nvCxnSpPr>
          <p:cNvPr id="25" name="cpe|exhibit|connector|24"/>
          <p:cNvCxnSpPr/>
          <p:nvPr/>
        </p:nvCxnSpPr>
        <p:spPr>
          <a:xfrm>
            <a:off x="9097965" y="4494609"/>
            <a:ext cx="254834" cy="0"/>
          </a:xfrm>
          <a:prstGeom prst="line">
            <a:avLst/>
          </a:prstGeom>
          <a:ln w="6350">
            <a:solidFill>
              <a:srgbClr val="8A95A1"/>
            </a:solidFill>
          </a:ln>
        </p:spPr>
      </p:cxnSp>
      <p:cxnSp>
        <p:nvCxnSpPr>
          <p:cNvPr id="26" name="cpe|exhibit|connector|25"/>
          <p:cNvCxnSpPr/>
          <p:nvPr/>
        </p:nvCxnSpPr>
        <p:spPr>
          <a:xfrm>
            <a:off x="9919096" y="4651278"/>
            <a:ext cx="254834" cy="0"/>
          </a:xfrm>
          <a:prstGeom prst="line">
            <a:avLst/>
          </a:prstGeom>
          <a:ln w="6350">
            <a:solidFill>
              <a:srgbClr val="8A95A1"/>
            </a:solidFill>
          </a:ln>
        </p:spPr>
      </p:cxnSp>
      <p:cxnSp>
        <p:nvCxnSpPr>
          <p:cNvPr id="27" name="cpe|exhibit|connector|26"/>
          <p:cNvCxnSpPr/>
          <p:nvPr/>
        </p:nvCxnSpPr>
        <p:spPr>
          <a:xfrm>
            <a:off x="10740227" y="4595325"/>
            <a:ext cx="254834" cy="0"/>
          </a:xfrm>
          <a:prstGeom prst="line">
            <a:avLst/>
          </a:prstGeom>
          <a:ln w="6350">
            <a:solidFill>
              <a:srgbClr val="8A95A1"/>
            </a:solidFill>
          </a:ln>
        </p:spPr>
      </p:cxnSp>
      <p:sp>
        <p:nvSpPr>
          <p:cNvPr id="28" name="cpe|exhibit|marker|27"/>
          <p:cNvSpPr/>
          <p:nvPr/>
        </p:nvSpPr>
        <p:spPr>
          <a:xfrm>
            <a:off x="4371147" y="5447191"/>
            <a:ext cx="676025" cy="82296"/>
          </a:xfrm>
          <a:prstGeom prst="parallelogram">
            <a:avLst/>
          </a:prstGeom>
          <a:solidFill>
            <a:srgbClr val="FFFFFF"/>
          </a:solidFill>
          <a:ln>
            <a:noFill/>
          </a:ln>
        </p:spPr>
        <p:txBody>
          <a:bodyPr rtlCol="0" anchor="ctr" lIns="0" rIns="0" tIns="0" bIns="0"/>
          <a:lstStyle/>
          <a:p>
            <a:pPr algn="ctr"/>
          </a:p>
        </p:txBody>
      </p:sp>
      <p:sp>
        <p:nvSpPr>
          <p:cNvPr id="29" name="cpe|exhibit|marker|28"/>
          <p:cNvSpPr/>
          <p:nvPr/>
        </p:nvSpPr>
        <p:spPr>
          <a:xfrm>
            <a:off x="10940197" y="5447191"/>
            <a:ext cx="676025" cy="82296"/>
          </a:xfrm>
          <a:prstGeom prst="parallelogram">
            <a:avLst/>
          </a:prstGeom>
          <a:solidFill>
            <a:srgbClr val="FFFFFF"/>
          </a:solidFill>
          <a:ln>
            <a:noFill/>
          </a:ln>
        </p:spPr>
        <p:txBody>
          <a:bodyPr rtlCol="0" anchor="ctr" lIns="0" rIns="0" tIns="0" bIns="0"/>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201543"/>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00609">
                <a:tc>
                  <a:txBody>
                    <a:bodyPr wrap="square"/>
                    <a:lstStyle/>
                    <a:p>
                      <a:pPr algn="l"/>
                      <a:r>
                        <a:rPr sz="11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1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1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1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1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3489">
                <a:tc>
                  <a:txBody>
                    <a:bodyPr wrap="square"/>
                    <a:lstStyle/>
                    <a:p>
                      <a:pPr algn="l"/>
                      <a:r>
                        <a:rPr sz="11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1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1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1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1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3489">
                <a:tc>
                  <a:txBody>
                    <a:bodyPr wrap="square"/>
                    <a:lstStyle/>
                    <a:p>
                      <a:pPr algn="l"/>
                      <a:r>
                        <a:rPr sz="11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1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3489">
                <a:tc>
                  <a:txBody>
                    <a:bodyPr wrap="square"/>
                    <a:lstStyle/>
                    <a:p>
                      <a:pPr algn="l"/>
                      <a:r>
                        <a:rPr sz="11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483489">
                <a:tc>
                  <a:txBody>
                    <a:bodyPr wrap="square"/>
                    <a:lstStyle/>
                    <a:p>
                      <a:pPr algn="l"/>
                      <a:r>
                        <a:rPr sz="11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3489">
                <a:tc>
                  <a:txBody>
                    <a:bodyPr wrap="square"/>
                    <a:lstStyle/>
                    <a:p>
                      <a:pPr algn="l"/>
                      <a:r>
                        <a:rPr sz="11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5"/>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30327">
                <a:tc>
                  <a:txBody>
                    <a:bodyPr wrap="square"/>
                    <a:lstStyle/>
                    <a:p>
                      <a:pPr algn="l"/>
                      <a:r>
                        <a:rPr sz="13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528638">
                <a:tc>
                  <a:txBody>
                    <a:bodyPr wrap="square"/>
                    <a:lstStyle/>
                    <a:p>
                      <a:pPr algn="l"/>
                      <a:r>
                        <a:rPr sz="13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3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3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3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3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528638">
                <a:tc>
                  <a:txBody>
                    <a:bodyPr wrap="square"/>
                    <a:lstStyle/>
                    <a:p>
                      <a:pPr algn="l"/>
                      <a:r>
                        <a:rPr sz="13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3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3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3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3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528638">
                <a:tc>
                  <a:txBody>
                    <a:bodyPr wrap="square"/>
                    <a:lstStyle/>
                    <a:p>
                      <a:pPr algn="l"/>
                      <a:r>
                        <a:rPr sz="13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3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528638">
                <a:tc>
                  <a:txBody>
                    <a:bodyPr wrap="square"/>
                    <a:lstStyle/>
                    <a:p>
                      <a:pPr algn="l"/>
                      <a:r>
                        <a:rPr sz="13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528638">
                <a:tc>
                  <a:txBody>
                    <a:bodyPr wrap="square"/>
                    <a:lstStyle/>
                    <a:p>
                      <a:pPr algn="l"/>
                      <a:r>
                        <a:rPr sz="13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528638">
                <a:tc>
                  <a:txBody>
                    <a:bodyPr wrap="square"/>
                    <a:lstStyle/>
                    <a:p>
                      <a:pPr algn="l"/>
                      <a:r>
                        <a:rPr sz="13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2"/>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60045">
                <a:tc>
                  <a:txBody>
                    <a:bodyPr wrap="square"/>
                    <a:lstStyle/>
                    <a:p>
                      <a:pPr algn="l"/>
                      <a:r>
                        <a:rPr sz="15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6537">
                <a:tc>
                  <a:txBody>
                    <a:bodyPr wrap="square"/>
                    <a:lstStyle/>
                    <a:p>
                      <a:pPr algn="l"/>
                      <a:r>
                        <a:rPr sz="15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5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5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5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5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6537">
                <a:tc>
                  <a:txBody>
                    <a:bodyPr wrap="square"/>
                    <a:lstStyle/>
                    <a:p>
                      <a:pPr algn="l"/>
                      <a:r>
                        <a:rPr sz="15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5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5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5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5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6537">
                <a:tc>
                  <a:txBody>
                    <a:bodyPr wrap="square"/>
                    <a:lstStyle/>
                    <a:p>
                      <a:pPr algn="l"/>
                      <a:r>
                        <a:rPr sz="15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5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6537">
                <a:tc>
                  <a:txBody>
                    <a:bodyPr wrap="square"/>
                    <a:lstStyle/>
                    <a:p>
                      <a:pPr algn="l"/>
                      <a:r>
                        <a:rPr sz="15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709422">
                <a:tc>
                  <a:txBody>
                    <a:bodyPr wrap="square"/>
                    <a:lstStyle/>
                    <a:p>
                      <a:pPr algn="l"/>
                      <a:r>
                        <a:rPr sz="15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6537">
                <a:tc>
                  <a:txBody>
                    <a:bodyPr wrap="square"/>
                    <a:lstStyle/>
                    <a:p>
                      <a:pPr algn="l"/>
                      <a:r>
                        <a:rPr sz="15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201543"/>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00609">
                <a:tc>
                  <a:txBody>
                    <a:bodyPr wrap="square"/>
                    <a:lstStyle/>
                    <a:p>
                      <a:pPr algn="l"/>
                      <a:r>
                        <a:rPr sz="11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1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1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1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1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3489">
                <a:tc>
                  <a:txBody>
                    <a:bodyPr wrap="square"/>
                    <a:lstStyle/>
                    <a:p>
                      <a:pPr algn="l"/>
                      <a:r>
                        <a:rPr sz="11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1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1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1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1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3489">
                <a:tc>
                  <a:txBody>
                    <a:bodyPr wrap="square"/>
                    <a:lstStyle/>
                    <a:p>
                      <a:pPr algn="l"/>
                      <a:r>
                        <a:rPr sz="11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1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3489">
                <a:tc>
                  <a:txBody>
                    <a:bodyPr wrap="square"/>
                    <a:lstStyle/>
                    <a:p>
                      <a:pPr algn="l"/>
                      <a:r>
                        <a:rPr sz="11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483489">
                <a:tc>
                  <a:txBody>
                    <a:bodyPr wrap="square"/>
                    <a:lstStyle/>
                    <a:p>
                      <a:pPr algn="l"/>
                      <a:r>
                        <a:rPr sz="11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3489">
                <a:tc>
                  <a:txBody>
                    <a:bodyPr wrap="square"/>
                    <a:lstStyle/>
                    <a:p>
                      <a:pPr algn="l"/>
                      <a:r>
                        <a:rPr sz="11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5"/>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30327">
                <a:tc>
                  <a:txBody>
                    <a:bodyPr wrap="square"/>
                    <a:lstStyle/>
                    <a:p>
                      <a:pPr algn="l"/>
                      <a:r>
                        <a:rPr sz="13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528638">
                <a:tc>
                  <a:txBody>
                    <a:bodyPr wrap="square"/>
                    <a:lstStyle/>
                    <a:p>
                      <a:pPr algn="l"/>
                      <a:r>
                        <a:rPr sz="13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3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3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3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3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528638">
                <a:tc>
                  <a:txBody>
                    <a:bodyPr wrap="square"/>
                    <a:lstStyle/>
                    <a:p>
                      <a:pPr algn="l"/>
                      <a:r>
                        <a:rPr sz="13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3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3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3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3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528638">
                <a:tc>
                  <a:txBody>
                    <a:bodyPr wrap="square"/>
                    <a:lstStyle/>
                    <a:p>
                      <a:pPr algn="l"/>
                      <a:r>
                        <a:rPr sz="13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3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528638">
                <a:tc>
                  <a:txBody>
                    <a:bodyPr wrap="square"/>
                    <a:lstStyle/>
                    <a:p>
                      <a:pPr algn="l"/>
                      <a:r>
                        <a:rPr sz="13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528638">
                <a:tc>
                  <a:txBody>
                    <a:bodyPr wrap="square"/>
                    <a:lstStyle/>
                    <a:p>
                      <a:pPr algn="l"/>
                      <a:r>
                        <a:rPr sz="13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528638">
                <a:tc>
                  <a:txBody>
                    <a:bodyPr wrap="square"/>
                    <a:lstStyle/>
                    <a:p>
                      <a:pPr algn="l"/>
                      <a:r>
                        <a:rPr sz="13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2"/>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60045">
                <a:tc>
                  <a:txBody>
                    <a:bodyPr wrap="square"/>
                    <a:lstStyle/>
                    <a:p>
                      <a:pPr algn="l"/>
                      <a:r>
                        <a:rPr sz="15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6537">
                <a:tc>
                  <a:txBody>
                    <a:bodyPr wrap="square"/>
                    <a:lstStyle/>
                    <a:p>
                      <a:pPr algn="l"/>
                      <a:r>
                        <a:rPr sz="15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5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5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5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5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6537">
                <a:tc>
                  <a:txBody>
                    <a:bodyPr wrap="square"/>
                    <a:lstStyle/>
                    <a:p>
                      <a:pPr algn="l"/>
                      <a:r>
                        <a:rPr sz="15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5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5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5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5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6537">
                <a:tc>
                  <a:txBody>
                    <a:bodyPr wrap="square"/>
                    <a:lstStyle/>
                    <a:p>
                      <a:pPr algn="l"/>
                      <a:r>
                        <a:rPr sz="15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5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6537">
                <a:tc>
                  <a:txBody>
                    <a:bodyPr wrap="square"/>
                    <a:lstStyle/>
                    <a:p>
                      <a:pPr algn="l"/>
                      <a:r>
                        <a:rPr sz="15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709422">
                <a:tc>
                  <a:txBody>
                    <a:bodyPr wrap="square"/>
                    <a:lstStyle/>
                    <a:p>
                      <a:pPr algn="l"/>
                      <a:r>
                        <a:rPr sz="15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6537">
                <a:tc>
                  <a:txBody>
                    <a:bodyPr wrap="square"/>
                    <a:lstStyle/>
                    <a:p>
                      <a:pPr algn="l"/>
                      <a:r>
                        <a:rPr sz="15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201543"/>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00609">
                <a:tc>
                  <a:txBody>
                    <a:bodyPr wrap="square"/>
                    <a:lstStyle/>
                    <a:p>
                      <a:pPr algn="l"/>
                      <a:r>
                        <a:rPr sz="11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1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1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1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1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3489">
                <a:tc>
                  <a:txBody>
                    <a:bodyPr wrap="square"/>
                    <a:lstStyle/>
                    <a:p>
                      <a:pPr algn="l"/>
                      <a:r>
                        <a:rPr sz="11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1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1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1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1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3489">
                <a:tc>
                  <a:txBody>
                    <a:bodyPr wrap="square"/>
                    <a:lstStyle/>
                    <a:p>
                      <a:pPr algn="l"/>
                      <a:r>
                        <a:rPr sz="11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1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1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3489">
                <a:tc>
                  <a:txBody>
                    <a:bodyPr wrap="square"/>
                    <a:lstStyle/>
                    <a:p>
                      <a:pPr algn="l"/>
                      <a:r>
                        <a:rPr sz="11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483489">
                <a:tc>
                  <a:txBody>
                    <a:bodyPr wrap="square"/>
                    <a:lstStyle/>
                    <a:p>
                      <a:pPr algn="l"/>
                      <a:r>
                        <a:rPr sz="11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1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1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1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3489">
                <a:tc>
                  <a:txBody>
                    <a:bodyPr wrap="square"/>
                    <a:lstStyle/>
                    <a:p>
                      <a:pPr algn="l"/>
                      <a:r>
                        <a:rPr sz="11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1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5"/>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30327">
                <a:tc>
                  <a:txBody>
                    <a:bodyPr wrap="square"/>
                    <a:lstStyle/>
                    <a:p>
                      <a:pPr algn="l"/>
                      <a:r>
                        <a:rPr sz="13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528638">
                <a:tc>
                  <a:txBody>
                    <a:bodyPr wrap="square"/>
                    <a:lstStyle/>
                    <a:p>
                      <a:pPr algn="l"/>
                      <a:r>
                        <a:rPr sz="13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3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3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3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3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528638">
                <a:tc>
                  <a:txBody>
                    <a:bodyPr wrap="square"/>
                    <a:lstStyle/>
                    <a:p>
                      <a:pPr algn="l"/>
                      <a:r>
                        <a:rPr sz="13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3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3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3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3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528638">
                <a:tc>
                  <a:txBody>
                    <a:bodyPr wrap="square"/>
                    <a:lstStyle/>
                    <a:p>
                      <a:pPr algn="l"/>
                      <a:r>
                        <a:rPr sz="13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3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3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528638">
                <a:tc>
                  <a:txBody>
                    <a:bodyPr wrap="square"/>
                    <a:lstStyle/>
                    <a:p>
                      <a:pPr algn="l"/>
                      <a:r>
                        <a:rPr sz="13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528638">
                <a:tc>
                  <a:txBody>
                    <a:bodyPr wrap="square"/>
                    <a:lstStyle/>
                    <a:p>
                      <a:pPr algn="l"/>
                      <a:r>
                        <a:rPr sz="13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3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3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3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528638">
                <a:tc>
                  <a:txBody>
                    <a:bodyPr wrap="square"/>
                    <a:lstStyle/>
                    <a:p>
                      <a:pPr algn="l"/>
                      <a:r>
                        <a:rPr sz="13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3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PROFITABILITY</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Gross margin change by category and region</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Alvora category P&amp;L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7</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Gross margin change by category and region, 2025 vs 2024</a:t>
            </a:r>
            <a:r>
              <a:rPr sz="1100" b="0">
                <a:solidFill>
                  <a:srgbClr val="1E252D"/>
                </a:solidFill>
                <a:latin typeface="Arial"/>
              </a:rPr>
              <a:t>, pp</a:t>
            </a:r>
          </a:p>
        </p:txBody>
      </p:sp>
      <p:graphicFrame>
        <p:nvGraphicFramePr>
          <p:cNvPr id="7" name="cpe|exhibit|table|6"/>
          <p:cNvGraphicFramePr>
            <a:graphicFrameLocks noGrp="1"/>
          </p:cNvGraphicFramePr>
          <p:nvPr/>
        </p:nvGraphicFramePr>
        <p:xfrm>
          <a:off x="502920" y="1901952"/>
          <a:ext cx="11185854" cy="3502152"/>
        </p:xfrm>
        <a:graphic>
          <a:graphicData uri="http://schemas.openxmlformats.org/drawingml/2006/table">
            <a:tbl>
              <a:tblPr firstRow="0" bandRow="0">
                <a:tableStyleId>{2D5ABB26-0587-4C30-8999-92F81FD0307C}</a:tableStyleId>
              </a:tblPr>
              <a:tblGrid>
                <a:gridCol w="2377440"/>
                <a:gridCol w="1468069"/>
                <a:gridCol w="1468069"/>
                <a:gridCol w="1468069"/>
                <a:gridCol w="1468069"/>
                <a:gridCol w="1468069"/>
                <a:gridCol w="1468069"/>
              </a:tblGrid>
              <a:tr h="360045">
                <a:tc>
                  <a:txBody>
                    <a:bodyPr wrap="square"/>
                    <a:lstStyle/>
                    <a:p>
                      <a:pPr algn="l"/>
                      <a:r>
                        <a:rPr sz="1500" b="1">
                          <a:solidFill>
                            <a:srgbClr val="1E252D"/>
                          </a:solidFill>
                          <a:latin typeface="Arial"/>
                        </a:rPr>
                        <a:t>Category</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Madrid</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Catalonia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Andalusia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Valencia</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North</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Portugal</a:t>
                      </a:r>
                    </a:p>
                  </a:txBody>
                  <a:tcPr marL="73152" marR="73152" marT="41148" marB="41148" anchor="ctr">
                    <a:lnL w="0">
                      <a:noFill/>
                    </a:lnL>
                    <a:lnR w="0">
                      <a:noFill/>
                    </a:lnR>
                    <a:lnT w="0">
                      <a:noFill/>
                    </a:lnT>
                    <a:lnB w="12382" cap="flat">
                      <a:solidFill>
                        <a:srgbClr val="0B1F3A"/>
                      </a:solidFill>
                      <a:prstDash val="solid"/>
                    </a:lnB>
                    <a:noFill/>
                  </a:tcPr>
                </a:tc>
              </a:tr>
              <a:tr h="486537">
                <a:tc>
                  <a:txBody>
                    <a:bodyPr wrap="square"/>
                    <a:lstStyle/>
                    <a:p>
                      <a:pPr algn="l"/>
                      <a:r>
                        <a:rPr sz="1500" b="0">
                          <a:solidFill>
                            <a:srgbClr val="1E252D"/>
                          </a:solidFill>
                          <a:latin typeface="Arial"/>
                        </a:rPr>
                        <a:t>Fresh</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−2.9</a:t>
                      </a:r>
                    </a:p>
                  </a:txBody>
                  <a:tcPr marL="73152" marR="73152" marT="41148" marB="41148" anchor="ctr">
                    <a:lnL w="0">
                      <a:noFill/>
                    </a:lnL>
                    <a:lnR w="0">
                      <a:noFill/>
                    </a:lnR>
                    <a:lnT w="0">
                      <a:noFill/>
                    </a:lnT>
                    <a:lnB w="6350" cap="flat">
                      <a:solidFill>
                        <a:srgbClr val="E3E7EB"/>
                      </a:solidFill>
                      <a:prstDash val="solid"/>
                    </a:lnB>
                    <a:solidFill>
                      <a:srgbClr val="BA5950"/>
                    </a:solidFill>
                  </a:tcPr>
                </a:tc>
                <a:tc>
                  <a:txBody>
                    <a:bodyPr wrap="square"/>
                    <a:lstStyle/>
                    <a:p>
                      <a:pPr algn="r"/>
                      <a:r>
                        <a:rPr sz="1500" b="0">
                          <a:solidFill>
                            <a:srgbClr val="1E252D"/>
                          </a:solidFill>
                          <a:latin typeface="Arial"/>
                        </a:rPr>
                        <a:t>−2.6</a:t>
                      </a:r>
                    </a:p>
                  </a:txBody>
                  <a:tcPr marL="73152" marR="73152" marT="41148" marB="41148" anchor="ctr">
                    <a:lnL w="0">
                      <a:noFill/>
                    </a:lnL>
                    <a:lnR w="0">
                      <a:noFill/>
                    </a:lnR>
                    <a:lnT w="0">
                      <a:noFill/>
                    </a:lnT>
                    <a:lnB w="6350" cap="flat">
                      <a:solidFill>
                        <a:srgbClr val="E3E7EB"/>
                      </a:solidFill>
                      <a:prstDash val="solid"/>
                    </a:lnB>
                    <a:solidFill>
                      <a:srgbClr val="D57267"/>
                    </a:solidFill>
                  </a:tcPr>
                </a:tc>
                <a:tc>
                  <a:txBody>
                    <a:bodyPr wrap="square"/>
                    <a:lstStyle/>
                    <a:p>
                      <a:pPr algn="r"/>
                      <a:r>
                        <a:rPr sz="1500" b="0">
                          <a:solidFill>
                            <a:srgbClr val="1E252D"/>
                          </a:solidFill>
                          <a:latin typeface="Arial"/>
                        </a:rPr>
                        <a:t>−1.1</a:t>
                      </a:r>
                    </a:p>
                  </a:txBody>
                  <a:tcPr marL="73152" marR="73152" marT="41148" marB="41148" anchor="ctr">
                    <a:lnL w="0">
                      <a:noFill/>
                    </a:lnL>
                    <a:lnR w="0">
                      <a:noFill/>
                    </a:lnR>
                    <a:lnT w="0">
                      <a:noFill/>
                    </a:lnT>
                    <a:lnB w="6350" cap="flat">
                      <a:solidFill>
                        <a:srgbClr val="E3E7EB"/>
                      </a:solidFill>
                      <a:prstDash val="solid"/>
                    </a:lnB>
                    <a:solidFill>
                      <a:srgbClr val="ECC5C0"/>
                    </a:solidFill>
                  </a:tcPr>
                </a:tc>
                <a:tc>
                  <a:txBody>
                    <a:bodyPr wrap="square"/>
                    <a:lstStyle/>
                    <a:p>
                      <a:pPr algn="r"/>
                      <a:r>
                        <a:rPr sz="1500" b="0">
                          <a:solidFill>
                            <a:srgbClr val="1E252D"/>
                          </a:solidFill>
                          <a:latin typeface="Arial"/>
                        </a:rPr>
                        <a:t>−1.0</a:t>
                      </a:r>
                    </a:p>
                  </a:txBody>
                  <a:tcPr marL="73152" marR="73152" marT="41148" marB="41148" anchor="ctr">
                    <a:lnL w="0">
                      <a:noFill/>
                    </a:lnL>
                    <a:lnR w="0">
                      <a:noFill/>
                    </a:lnR>
                    <a:lnT w="0">
                      <a:noFill/>
                    </a:lnT>
                    <a:lnB w="6350" cap="flat">
                      <a:solidFill>
                        <a:srgbClr val="E3E7EB"/>
                      </a:solidFill>
                      <a:prstDash val="solid"/>
                    </a:lnB>
                    <a:solidFill>
                      <a:srgbClr val="EDC9C5"/>
                    </a:solidFill>
                  </a:tcPr>
                </a:tc>
                <a:tc>
                  <a:txBody>
                    <a:bodyPr wrap="square"/>
                    <a:lstStyle/>
                    <a:p>
                      <a:pPr algn="r"/>
                      <a:r>
                        <a:rPr sz="1500" b="0">
                          <a:solidFill>
                            <a:srgbClr val="1E252D"/>
                          </a:solidFill>
                          <a:latin typeface="Arial"/>
                        </a:rPr>
                        <a:t>−0.6</a:t>
                      </a:r>
                    </a:p>
                  </a:txBody>
                  <a:tcPr marL="73152" marR="73152" marT="41148" marB="41148" anchor="ctr">
                    <a:lnL w="0">
                      <a:noFill/>
                    </a:lnL>
                    <a:lnR w="0">
                      <a:noFill/>
                    </a:lnR>
                    <a:lnT w="0">
                      <a:noFill/>
                    </a:lnT>
                    <a:lnB w="6350" cap="flat">
                      <a:solidFill>
                        <a:srgbClr val="E3E7EB"/>
                      </a:solidFill>
                      <a:prstDash val="solid"/>
                    </a:lnB>
                    <a:solidFill>
                      <a:srgbClr val="F0DBD9"/>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r>
              <a:tr h="486537">
                <a:tc>
                  <a:txBody>
                    <a:bodyPr wrap="square"/>
                    <a:lstStyle/>
                    <a:p>
                      <a:pPr algn="l"/>
                      <a:r>
                        <a:rPr sz="1500" b="0">
                          <a:solidFill>
                            <a:srgbClr val="1E252D"/>
                          </a:solidFill>
                          <a:latin typeface="Arial"/>
                        </a:rPr>
                        <a:t>Food-to-go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FFFFFF"/>
                          </a:solidFill>
                          <a:latin typeface="Arial"/>
                        </a:rPr>
                        <a:t>−3.4</a:t>
                      </a:r>
                    </a:p>
                  </a:txBody>
                  <a:tcPr marL="73152" marR="73152" marT="41148" marB="41148" anchor="ctr">
                    <a:lnL w="0">
                      <a:noFill/>
                    </a:lnL>
                    <a:lnR w="0">
                      <a:noFill/>
                    </a:lnR>
                    <a:lnT w="0">
                      <a:noFill/>
                    </a:lnT>
                    <a:lnB w="6350" cap="flat">
                      <a:solidFill>
                        <a:srgbClr val="E3E7EB"/>
                      </a:solidFill>
                      <a:prstDash val="solid"/>
                    </a:lnB>
                    <a:solidFill>
                      <a:srgbClr val="C23F32"/>
                    </a:solidFill>
                  </a:tcPr>
                </a:tc>
                <a:tc>
                  <a:txBody>
                    <a:bodyPr wrap="square"/>
                    <a:lstStyle/>
                    <a:p>
                      <a:pPr algn="r"/>
                      <a:r>
                        <a:rPr sz="1500" b="0">
                          <a:solidFill>
                            <a:srgbClr val="FFFFFF"/>
                          </a:solidFill>
                          <a:latin typeface="Arial"/>
                        </a:rPr>
                        <a:t>−3.1</a:t>
                      </a:r>
                    </a:p>
                  </a:txBody>
                  <a:tcPr marL="73152" marR="73152" marT="41148" marB="41148" anchor="ctr">
                    <a:lnL w="0">
                      <a:noFill/>
                    </a:lnL>
                    <a:lnR w="0">
                      <a:noFill/>
                    </a:lnR>
                    <a:lnT w="0">
                      <a:noFill/>
                    </a:lnT>
                    <a:lnB w="6350" cap="flat">
                      <a:solidFill>
                        <a:srgbClr val="E3E7EB"/>
                      </a:solidFill>
                      <a:prstDash val="solid"/>
                    </a:lnB>
                    <a:solidFill>
                      <a:srgbClr val="B64D45"/>
                    </a:solidFill>
                  </a:tcPr>
                </a:tc>
                <a:tc>
                  <a:txBody>
                    <a:bodyPr wrap="square"/>
                    <a:lstStyle/>
                    <a:p>
                      <a:pPr algn="r"/>
                      <a:r>
                        <a:rPr sz="1500" b="0">
                          <a:solidFill>
                            <a:srgbClr val="1E252D"/>
                          </a:solidFill>
                          <a:latin typeface="Arial"/>
                        </a:rPr>
                        <a:t>−1.4</a:t>
                      </a:r>
                    </a:p>
                  </a:txBody>
                  <a:tcPr marL="73152" marR="73152" marT="41148" marB="41148" anchor="ctr">
                    <a:lnL w="0">
                      <a:noFill/>
                    </a:lnL>
                    <a:lnR w="0">
                      <a:noFill/>
                    </a:lnR>
                    <a:lnT w="0">
                      <a:noFill/>
                    </a:lnT>
                    <a:lnB w="6350" cap="flat">
                      <a:solidFill>
                        <a:srgbClr val="E3E7EB"/>
                      </a:solidFill>
                      <a:prstDash val="solid"/>
                    </a:lnB>
                    <a:solidFill>
                      <a:srgbClr val="EAB8B1"/>
                    </a:solidFill>
                  </a:tcPr>
                </a:tc>
                <a:tc>
                  <a:txBody>
                    <a:bodyPr wrap="square"/>
                    <a:lstStyle/>
                    <a:p>
                      <a:pPr algn="r"/>
                      <a:r>
                        <a:rPr sz="1500" b="0">
                          <a:solidFill>
                            <a:srgbClr val="1E252D"/>
                          </a:solidFill>
                          <a:latin typeface="Arial"/>
                        </a:rPr>
                        <a:t>−1.2</a:t>
                      </a:r>
                    </a:p>
                  </a:txBody>
                  <a:tcPr marL="73152" marR="73152" marT="41148" marB="41148" anchor="ctr">
                    <a:lnL w="0">
                      <a:noFill/>
                    </a:lnL>
                    <a:lnR w="0">
                      <a:noFill/>
                    </a:lnR>
                    <a:lnT w="0">
                      <a:noFill/>
                    </a:lnT>
                    <a:lnB w="6350" cap="flat">
                      <a:solidFill>
                        <a:srgbClr val="E3E7EB"/>
                      </a:solidFill>
                      <a:prstDash val="solid"/>
                    </a:lnB>
                    <a:solidFill>
                      <a:srgbClr val="ECC1BB"/>
                    </a:solidFill>
                  </a:tcPr>
                </a:tc>
                <a:tc>
                  <a:txBody>
                    <a:bodyPr wrap="square"/>
                    <a:lstStyle/>
                    <a:p>
                      <a:pPr algn="r"/>
                      <a:r>
                        <a:rPr sz="1500" b="0">
                          <a:solidFill>
                            <a:srgbClr val="1E252D"/>
                          </a:solidFill>
                          <a:latin typeface="Arial"/>
                        </a:rPr>
                        <a:t>−0.9</a:t>
                      </a:r>
                    </a:p>
                  </a:txBody>
                  <a:tcPr marL="73152" marR="73152" marT="41148" marB="41148" anchor="ctr">
                    <a:lnL w="0">
                      <a:noFill/>
                    </a:lnL>
                    <a:lnR w="0">
                      <a:noFill/>
                    </a:lnR>
                    <a:lnT w="0">
                      <a:noFill/>
                    </a:lnT>
                    <a:lnB w="6350" cap="flat">
                      <a:solidFill>
                        <a:srgbClr val="E3E7EB"/>
                      </a:solidFill>
                      <a:prstDash val="solid"/>
                    </a:lnB>
                    <a:solidFill>
                      <a:srgbClr val="EECECA"/>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r>
              <a:tr h="486537">
                <a:tc>
                  <a:txBody>
                    <a:bodyPr wrap="square"/>
                    <a:lstStyle/>
                    <a:p>
                      <a:pPr algn="l"/>
                      <a:r>
                        <a:rPr sz="1500" b="0">
                          <a:solidFill>
                            <a:srgbClr val="1E252D"/>
                          </a:solidFill>
                          <a:latin typeface="Arial"/>
                        </a:rPr>
                        <a:t>Ambient grocery</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−0.8</a:t>
                      </a:r>
                    </a:p>
                  </a:txBody>
                  <a:tcPr marL="73152" marR="73152" marT="41148" marB="41148" anchor="ctr">
                    <a:lnL w="0">
                      <a:noFill/>
                    </a:lnL>
                    <a:lnR w="0">
                      <a:noFill/>
                    </a:lnR>
                    <a:lnT w="0">
                      <a:noFill/>
                    </a:lnT>
                    <a:lnB w="6350" cap="flat">
                      <a:solidFill>
                        <a:srgbClr val="E3E7EB"/>
                      </a:solidFill>
                      <a:prstDash val="solid"/>
                    </a:lnB>
                    <a:solidFill>
                      <a:srgbClr val="EFD2CF"/>
                    </a:solidFill>
                  </a:tcPr>
                </a:tc>
                <a:tc>
                  <a:txBody>
                    <a:bodyPr wrap="square"/>
                    <a:lstStyle/>
                    <a:p>
                      <a:pPr algn="r"/>
                      <a:r>
                        <a:rPr sz="1500" b="0">
                          <a:solidFill>
                            <a:srgbClr val="1E252D"/>
                          </a:solidFill>
                          <a:latin typeface="Arial"/>
                        </a:rPr>
                        <a:t>−0.7</a:t>
                      </a:r>
                    </a:p>
                  </a:txBody>
                  <a:tcPr marL="73152" marR="73152" marT="41148" marB="41148" anchor="ctr">
                    <a:lnL w="0">
                      <a:noFill/>
                    </a:lnL>
                    <a:lnR w="0">
                      <a:noFill/>
                    </a:lnR>
                    <a:lnT w="0">
                      <a:noFill/>
                    </a:lnT>
                    <a:lnB w="6350" cap="flat">
                      <a:solidFill>
                        <a:srgbClr val="E3E7EB"/>
                      </a:solidFill>
                      <a:prstDash val="solid"/>
                    </a:lnB>
                    <a:solidFill>
                      <a:srgbClr val="EFD7D4"/>
                    </a:solidFill>
                  </a:tcPr>
                </a:tc>
                <a:tc>
                  <a:txBody>
                    <a:bodyPr wrap="square"/>
                    <a:lstStyle/>
                    <a:p>
                      <a:pPr algn="r"/>
                      <a:r>
                        <a:rPr sz="1500" b="0">
                          <a:solidFill>
                            <a:srgbClr val="1E252D"/>
                          </a:solidFill>
                          <a:latin typeface="Arial"/>
                        </a:rPr>
                        <a:t>−0.5</a:t>
                      </a:r>
                    </a:p>
                  </a:txBody>
                  <a:tcPr marL="73152" marR="73152" marT="41148" marB="41148" anchor="ctr">
                    <a:lnL w="0">
                      <a:noFill/>
                    </a:lnL>
                    <a:lnR w="0">
                      <a:noFill/>
                    </a:lnR>
                    <a:lnT w="0">
                      <a:noFill/>
                    </a:lnT>
                    <a:lnB w="6350" cap="flat">
                      <a:solidFill>
                        <a:srgbClr val="E3E7EB"/>
                      </a:solidFill>
                      <a:prstDash val="solid"/>
                    </a:lnB>
                    <a:solidFill>
                      <a:srgbClr val="F1E0D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F1E4E4"/>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r>
              <a:tr h="486537">
                <a:tc>
                  <a:txBody>
                    <a:bodyPr wrap="square"/>
                    <a:lstStyle/>
                    <a:p>
                      <a:pPr algn="l"/>
                      <a:r>
                        <a:rPr sz="1500" b="0">
                          <a:solidFill>
                            <a:srgbClr val="1E252D"/>
                          </a:solidFill>
                          <a:latin typeface="Arial"/>
                        </a:rPr>
                        <a:t>Drinks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F2E9E9"/>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F3EDEE"/>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0.0</a:t>
                      </a:r>
                    </a:p>
                  </a:txBody>
                  <a:tcPr marL="73152" marR="73152" marT="41148" marB="41148" anchor="ctr">
                    <a:lnL w="0">
                      <a:noFill/>
                    </a:lnL>
                    <a:lnR w="0">
                      <a:noFill/>
                    </a:lnR>
                    <a:lnT w="0">
                      <a:noFill/>
                    </a:lnT>
                    <a:lnB w="6350" cap="flat">
                      <a:solidFill>
                        <a:srgbClr val="E3E7EB"/>
                      </a:solidFill>
                      <a:prstDash val="solid"/>
                    </a:lnB>
                    <a:solidFill>
                      <a:srgbClr val="F4F6F8"/>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r>
              <a:tr h="709422">
                <a:tc>
                  <a:txBody>
                    <a:bodyPr wrap="square"/>
                    <a:lstStyle/>
                    <a:p>
                      <a:pPr algn="l"/>
                      <a:r>
                        <a:rPr sz="1500" b="0">
                          <a:solidFill>
                            <a:srgbClr val="1E252D"/>
                          </a:solidFill>
                          <a:latin typeface="Arial"/>
                        </a:rPr>
                        <a:t>Household &amp; personal care</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0.1</a:t>
                      </a:r>
                    </a:p>
                  </a:txBody>
                  <a:tcPr marL="73152" marR="73152" marT="41148" marB="41148" anchor="ctr">
                    <a:lnL w="0">
                      <a:noFill/>
                    </a:lnL>
                    <a:lnR w="0">
                      <a:noFill/>
                    </a:lnR>
                    <a:lnT w="0">
                      <a:noFill/>
                    </a:lnT>
                    <a:lnB w="6350" cap="flat">
                      <a:solidFill>
                        <a:srgbClr val="E3E7EB"/>
                      </a:solidFill>
                      <a:prstDash val="solid"/>
                    </a:lnB>
                    <a:solidFill>
                      <a:srgbClr val="EEF3F3"/>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c>
                  <a:txBody>
                    <a:bodyPr wrap="square"/>
                    <a:lstStyle/>
                    <a:p>
                      <a:pPr algn="r"/>
                      <a:r>
                        <a:rPr sz="1500" b="0">
                          <a:solidFill>
                            <a:srgbClr val="1E252D"/>
                          </a:solidFill>
                          <a:latin typeface="Arial"/>
                        </a:rPr>
                        <a:t>0.2</a:t>
                      </a:r>
                    </a:p>
                  </a:txBody>
                  <a:tcPr marL="73152" marR="73152" marT="41148" marB="41148" anchor="ctr">
                    <a:lnL w="0">
                      <a:noFill/>
                    </a:lnL>
                    <a:lnR w="0">
                      <a:noFill/>
                    </a:lnR>
                    <a:lnT w="0">
                      <a:noFill/>
                    </a:lnT>
                    <a:lnB w="6350" cap="flat">
                      <a:solidFill>
                        <a:srgbClr val="E3E7EB"/>
                      </a:solidFill>
                      <a:prstDash val="solid"/>
                    </a:lnB>
                    <a:solidFill>
                      <a:srgbClr val="E8F0EF"/>
                    </a:solidFill>
                  </a:tcPr>
                </a:tc>
                <a:tc>
                  <a:txBody>
                    <a:bodyPr wrap="square"/>
                    <a:lstStyle/>
                    <a:p>
                      <a:pPr algn="r"/>
                      <a:r>
                        <a:rPr sz="1500" b="0">
                          <a:solidFill>
                            <a:srgbClr val="1E252D"/>
                          </a:solidFill>
                          <a:latin typeface="Arial"/>
                        </a:rPr>
                        <a:t>0.4</a:t>
                      </a:r>
                    </a:p>
                  </a:txBody>
                  <a:tcPr marL="73152" marR="73152" marT="41148" marB="41148" anchor="ctr">
                    <a:lnL w="0">
                      <a:noFill/>
                    </a:lnL>
                    <a:lnR w="0">
                      <a:noFill/>
                    </a:lnR>
                    <a:lnT w="0">
                      <a:noFill/>
                    </a:lnT>
                    <a:lnB w="6350" cap="flat">
                      <a:solidFill>
                        <a:srgbClr val="E3E7EB"/>
                      </a:solidFill>
                      <a:prstDash val="solid"/>
                    </a:lnB>
                    <a:solidFill>
                      <a:srgbClr val="DDEAE5"/>
                    </a:solidFill>
                  </a:tcPr>
                </a:tc>
                <a:tc>
                  <a:txBody>
                    <a:bodyPr wrap="square"/>
                    <a:lstStyle/>
                    <a:p>
                      <a:pPr algn="r"/>
                      <a:r>
                        <a:rPr sz="1500" b="0">
                          <a:solidFill>
                            <a:srgbClr val="1E252D"/>
                          </a:solidFill>
                          <a:latin typeface="Arial"/>
                        </a:rPr>
                        <a:t>0.3</a:t>
                      </a:r>
                    </a:p>
                  </a:txBody>
                  <a:tcPr marL="73152" marR="73152" marT="41148" marB="41148" anchor="ctr">
                    <a:lnL w="0">
                      <a:noFill/>
                    </a:lnL>
                    <a:lnR w="0">
                      <a:noFill/>
                    </a:lnR>
                    <a:lnT w="0">
                      <a:noFill/>
                    </a:lnT>
                    <a:lnB w="6350" cap="flat">
                      <a:solidFill>
                        <a:srgbClr val="E3E7EB"/>
                      </a:solidFill>
                      <a:prstDash val="solid"/>
                    </a:lnB>
                    <a:solidFill>
                      <a:srgbClr val="E3EDEA"/>
                    </a:solidFill>
                  </a:tcPr>
                </a:tc>
              </a:tr>
              <a:tr h="486537">
                <a:tc>
                  <a:txBody>
                    <a:bodyPr wrap="square"/>
                    <a:lstStyle/>
                    <a:p>
                      <a:pPr algn="l"/>
                      <a:r>
                        <a:rPr sz="1500" b="1">
                          <a:solidFill>
                            <a:srgbClr val="1E252D"/>
                          </a:solidFill>
                          <a:latin typeface="Arial"/>
                        </a:rPr>
                        <a:t>Total</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−1.4</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−0.6</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−0.5</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−0.3</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c>
                  <a:txBody>
                    <a:bodyPr wrap="square"/>
                    <a:lstStyle/>
                    <a:p>
                      <a:pPr algn="r"/>
                      <a:r>
                        <a:rPr sz="1500" b="1">
                          <a:solidFill>
                            <a:srgbClr val="1E252D"/>
                          </a:solidFill>
                          <a:latin typeface="Arial"/>
                        </a:rPr>
                        <a:t>−0.2</a:t>
                      </a:r>
                    </a:p>
                  </a:txBody>
                  <a:tcPr marL="73152" marR="73152" marT="41148" marB="41148" anchor="ctr">
                    <a:lnL w="0">
                      <a:noFill/>
                    </a:lnL>
                    <a:lnR w="0">
                      <a:noFill/>
                    </a:lnR>
                    <a:lnT w="12382" cap="flat">
                      <a:solidFill>
                        <a:srgbClr val="0B1F3A"/>
                      </a:solidFill>
                      <a:prstDash val="solid"/>
                    </a:lnT>
                    <a:lnB w="9525" cap="flat">
                      <a:solidFill>
                        <a:srgbClr val="B7BFC8"/>
                      </a:solidFill>
                      <a:prstDash val="solid"/>
                    </a:lnB>
                    <a:noFill/>
                  </a:tcPr>
                </a:tc>
              </a:tr>
            </a:tbl>
          </a:graphicData>
        </a:graphic>
      </p:graphicFrame>
      <p:sp>
        <p:nvSpPr>
          <p:cNvPr id="8" name="cpe|takeaway|fill|7"/>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9" name="cpe|takeaway|fill|8"/>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10" name="cpe|takeaway|text|9"/>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Fixing fresh and food-to-go in two regions addresses about two thirds of the margin gap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COMPETITION</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is stuck in the middle: priced above discounters without a clear experience edge</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Customer survey 2025, n=4,000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8</a:t>
            </a:r>
          </a:p>
        </p:txBody>
      </p:sp>
      <p:sp>
        <p:nvSpPr>
          <p:cNvPr id="6" name="cpe|exhibit|text|5"/>
          <p:cNvSpPr txBox="1"/>
          <p:nvPr/>
        </p:nvSpPr>
        <p:spPr>
          <a:xfrm>
            <a:off x="502920" y="1481328"/>
            <a:ext cx="6441262"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Customer perception, 2025</a:t>
            </a:r>
            <a:r>
              <a:rPr sz="1100" b="0">
                <a:solidFill>
                  <a:srgbClr val="1E252D"/>
                </a:solidFill>
                <a:latin typeface="Arial"/>
              </a:rPr>
              <a:t>, index 0-1; bubble = revenue</a:t>
            </a:r>
          </a:p>
        </p:txBody>
      </p:sp>
      <p:sp>
        <p:nvSpPr>
          <p:cNvPr id="7" name="cpe|exhibit|fill|6"/>
          <p:cNvSpPr/>
          <p:nvPr/>
        </p:nvSpPr>
        <p:spPr>
          <a:xfrm>
            <a:off x="640080" y="2267712"/>
            <a:ext cx="3106331" cy="1773936"/>
          </a:xfrm>
          <a:prstGeom prst="rect">
            <a:avLst/>
          </a:prstGeom>
          <a:noFill/>
          <a:ln w="6350">
            <a:solidFill>
              <a:srgbClr val="B7BFC8"/>
            </a:solidFill>
          </a:ln>
        </p:spPr>
        <p:txBody>
          <a:bodyPr rtlCol="0" anchor="ctr" lIns="0" rIns="0" tIns="0" bIns="0"/>
          <a:lstStyle/>
          <a:p>
            <a:pPr algn="ctr"/>
          </a:p>
        </p:txBody>
      </p:sp>
      <p:sp>
        <p:nvSpPr>
          <p:cNvPr id="8" name="cpe|exhibit|fill|7"/>
          <p:cNvSpPr/>
          <p:nvPr/>
        </p:nvSpPr>
        <p:spPr>
          <a:xfrm>
            <a:off x="3746411" y="2267712"/>
            <a:ext cx="3106331" cy="1773936"/>
          </a:xfrm>
          <a:prstGeom prst="rect">
            <a:avLst/>
          </a:prstGeom>
          <a:noFill/>
          <a:ln w="6350">
            <a:solidFill>
              <a:srgbClr val="B7BFC8"/>
            </a:solidFill>
          </a:ln>
        </p:spPr>
        <p:txBody>
          <a:bodyPr rtlCol="0" anchor="ctr" lIns="0" rIns="0" tIns="0" bIns="0"/>
          <a:lstStyle/>
          <a:p>
            <a:pPr algn="ctr"/>
          </a:p>
        </p:txBody>
      </p:sp>
      <p:sp>
        <p:nvSpPr>
          <p:cNvPr id="9" name="cpe|exhibit|fill|8"/>
          <p:cNvSpPr/>
          <p:nvPr/>
        </p:nvSpPr>
        <p:spPr>
          <a:xfrm>
            <a:off x="640080" y="4041648"/>
            <a:ext cx="3106331" cy="1773936"/>
          </a:xfrm>
          <a:prstGeom prst="rect">
            <a:avLst/>
          </a:prstGeom>
          <a:solidFill>
            <a:srgbClr val="EEF1F4"/>
          </a:solidFill>
          <a:ln w="6350">
            <a:solidFill>
              <a:srgbClr val="B7BFC8"/>
            </a:solidFill>
          </a:ln>
        </p:spPr>
        <p:txBody>
          <a:bodyPr rtlCol="0" anchor="ctr" lIns="0" rIns="0" tIns="0" bIns="0"/>
          <a:lstStyle/>
          <a:p>
            <a:pPr algn="ctr"/>
          </a:p>
        </p:txBody>
      </p:sp>
      <p:sp>
        <p:nvSpPr>
          <p:cNvPr id="10" name="cpe|exhibit|fill|9"/>
          <p:cNvSpPr/>
          <p:nvPr/>
        </p:nvSpPr>
        <p:spPr>
          <a:xfrm>
            <a:off x="3746411" y="4041648"/>
            <a:ext cx="3106331" cy="1773936"/>
          </a:xfrm>
          <a:prstGeom prst="rect">
            <a:avLst/>
          </a:prstGeom>
          <a:noFill/>
          <a:ln w="6350">
            <a:solidFill>
              <a:srgbClr val="B7BFC8"/>
            </a:solidFill>
          </a:ln>
        </p:spPr>
        <p:txBody>
          <a:bodyPr rtlCol="0" anchor="ctr" lIns="0" rIns="0" tIns="0" bIns="0"/>
          <a:lstStyle/>
          <a:p>
            <a:pPr algn="ctr"/>
          </a:p>
        </p:txBody>
      </p:sp>
      <p:sp>
        <p:nvSpPr>
          <p:cNvPr id="11" name="cpe|exhibit|text|10"/>
          <p:cNvSpPr txBox="1"/>
          <p:nvPr/>
        </p:nvSpPr>
        <p:spPr>
          <a:xfrm>
            <a:off x="731520" y="2340864"/>
            <a:ext cx="2923451" cy="237744"/>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Experience-led</a:t>
            </a:r>
          </a:p>
        </p:txBody>
      </p:sp>
      <p:sp>
        <p:nvSpPr>
          <p:cNvPr id="12" name="cpe|exhibit|text|11"/>
          <p:cNvSpPr txBox="1"/>
          <p:nvPr/>
        </p:nvSpPr>
        <p:spPr>
          <a:xfrm>
            <a:off x="3837851" y="2340864"/>
            <a:ext cx="2923451"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Value leaders</a:t>
            </a:r>
          </a:p>
        </p:txBody>
      </p:sp>
      <p:sp>
        <p:nvSpPr>
          <p:cNvPr id="13" name="cpe|exhibit|text|12"/>
          <p:cNvSpPr txBox="1"/>
          <p:nvPr/>
        </p:nvSpPr>
        <p:spPr>
          <a:xfrm>
            <a:off x="731520" y="5504688"/>
            <a:ext cx="2923451" cy="237744"/>
          </a:xfrm>
          <a:prstGeom prst="rect">
            <a:avLst/>
          </a:prstGeom>
          <a:noFill/>
        </p:spPr>
        <p:txBody>
          <a:bodyPr wrap="square" lIns="0" rIns="0" tIns="0" bIns="0" anchor="t">
            <a:noAutofit/>
          </a:bodyPr>
          <a:lstStyle/>
          <a:p>
            <a:pPr algn="l">
              <a:lnSpc>
                <a:spcPct val="100000"/>
              </a:lnSpc>
            </a:pPr>
            <a:r>
              <a:rPr sz="1000" b="1">
                <a:solidFill>
                  <a:srgbClr val="0B1F3A"/>
                </a:solidFill>
                <a:latin typeface="Arial"/>
              </a:rPr>
              <a:t>Stuck in the middle</a:t>
            </a:r>
          </a:p>
        </p:txBody>
      </p:sp>
      <p:sp>
        <p:nvSpPr>
          <p:cNvPr id="14" name="cpe|exhibit|text|13"/>
          <p:cNvSpPr txBox="1"/>
          <p:nvPr/>
        </p:nvSpPr>
        <p:spPr>
          <a:xfrm>
            <a:off x="3837851" y="5504688"/>
            <a:ext cx="2923451"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Price-led</a:t>
            </a:r>
          </a:p>
        </p:txBody>
      </p:sp>
      <p:cxnSp>
        <p:nvCxnSpPr>
          <p:cNvPr id="15" name="cpe|exhibit|line|14"/>
          <p:cNvCxnSpPr/>
          <p:nvPr/>
        </p:nvCxnSpPr>
        <p:spPr>
          <a:xfrm>
            <a:off x="640080" y="5815584"/>
            <a:ext cx="6258382" cy="0"/>
          </a:xfrm>
          <a:prstGeom prst="line">
            <a:avLst/>
          </a:prstGeom>
          <a:ln w="9525">
            <a:solidFill>
              <a:srgbClr val="1E252D"/>
            </a:solidFill>
            <a:tailEnd type="triangle" w="med" len="med"/>
          </a:ln>
        </p:spPr>
      </p:cxnSp>
      <p:cxnSp>
        <p:nvCxnSpPr>
          <p:cNvPr id="16" name="cpe|exhibit|line|15"/>
          <p:cNvCxnSpPr/>
          <p:nvPr/>
        </p:nvCxnSpPr>
        <p:spPr>
          <a:xfrm flipV="1">
            <a:off x="640080" y="2221992"/>
            <a:ext cx="0" cy="3593592"/>
          </a:xfrm>
          <a:prstGeom prst="line">
            <a:avLst/>
          </a:prstGeom>
          <a:ln w="9525">
            <a:solidFill>
              <a:srgbClr val="1E252D"/>
            </a:solidFill>
            <a:tailEnd type="triangle" w="med" len="med"/>
          </a:ln>
        </p:spPr>
      </p:cxnSp>
      <p:sp>
        <p:nvSpPr>
          <p:cNvPr id="17" name="cpe|exhibit|text|16"/>
          <p:cNvSpPr txBox="1"/>
          <p:nvPr/>
        </p:nvSpPr>
        <p:spPr>
          <a:xfrm>
            <a:off x="640080" y="5870448"/>
            <a:ext cx="6212662" cy="274320"/>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Price perception (cheaper →)</a:t>
            </a:r>
          </a:p>
        </p:txBody>
      </p:sp>
      <p:sp>
        <p:nvSpPr>
          <p:cNvPr id="18" name="cpe|exhibit|label|17"/>
          <p:cNvSpPr txBox="1"/>
          <p:nvPr/>
        </p:nvSpPr>
        <p:spPr>
          <a:xfrm>
            <a:off x="594360" y="1938528"/>
            <a:ext cx="1234380" cy="237744"/>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 Store experience</a:t>
            </a:r>
          </a:p>
        </p:txBody>
      </p:sp>
      <p:sp>
        <p:nvSpPr>
          <p:cNvPr id="19" name="cpe|exhibit|marker|18"/>
          <p:cNvSpPr/>
          <p:nvPr/>
        </p:nvSpPr>
        <p:spPr>
          <a:xfrm>
            <a:off x="3959594" y="3296595"/>
            <a:ext cx="567660" cy="567660"/>
          </a:xfrm>
          <a:prstGeom prst="ellipse">
            <a:avLst/>
          </a:prstGeom>
          <a:solidFill>
            <a:srgbClr val="0B1F3A"/>
          </a:solidFill>
          <a:ln w="9525">
            <a:solidFill>
              <a:srgbClr val="FFFFFF"/>
            </a:solidFill>
          </a:ln>
        </p:spPr>
        <p:txBody>
          <a:bodyPr rtlCol="0" anchor="ctr" lIns="0" rIns="0" tIns="0" bIns="0"/>
          <a:lstStyle/>
          <a:p>
            <a:pPr algn="ctr"/>
          </a:p>
        </p:txBody>
      </p:sp>
      <p:sp>
        <p:nvSpPr>
          <p:cNvPr id="20" name="cpe|exhibit|label|19"/>
          <p:cNvSpPr txBox="1"/>
          <p:nvPr/>
        </p:nvSpPr>
        <p:spPr>
          <a:xfrm>
            <a:off x="4563830" y="3470697"/>
            <a:ext cx="814217"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B</a:t>
            </a:r>
          </a:p>
        </p:txBody>
      </p:sp>
      <p:sp>
        <p:nvSpPr>
          <p:cNvPr id="21" name="cpe|exhibit|marker|20"/>
          <p:cNvSpPr/>
          <p:nvPr/>
        </p:nvSpPr>
        <p:spPr>
          <a:xfrm>
            <a:off x="5713789" y="4340127"/>
            <a:ext cx="538362" cy="538362"/>
          </a:xfrm>
          <a:prstGeom prst="ellipse">
            <a:avLst/>
          </a:prstGeom>
          <a:solidFill>
            <a:srgbClr val="0B1F3A"/>
          </a:solidFill>
          <a:ln w="9525">
            <a:solidFill>
              <a:srgbClr val="FFFFFF"/>
            </a:solidFill>
          </a:ln>
        </p:spPr>
        <p:txBody>
          <a:bodyPr rtlCol="0" anchor="ctr" lIns="0" rIns="0" tIns="0" bIns="0"/>
          <a:lstStyle/>
          <a:p>
            <a:pPr algn="ctr"/>
          </a:p>
        </p:txBody>
      </p:sp>
      <p:sp>
        <p:nvSpPr>
          <p:cNvPr id="22" name="cpe|exhibit|label|21"/>
          <p:cNvSpPr txBox="1"/>
          <p:nvPr/>
        </p:nvSpPr>
        <p:spPr>
          <a:xfrm>
            <a:off x="4870001" y="4499580"/>
            <a:ext cx="80721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A</a:t>
            </a:r>
          </a:p>
        </p:txBody>
      </p:sp>
      <p:sp>
        <p:nvSpPr>
          <p:cNvPr id="23" name="cpe|exhibit|marker|22"/>
          <p:cNvSpPr/>
          <p:nvPr/>
        </p:nvSpPr>
        <p:spPr>
          <a:xfrm>
            <a:off x="2242330" y="2928610"/>
            <a:ext cx="523098" cy="523098"/>
          </a:xfrm>
          <a:prstGeom prst="ellipse">
            <a:avLst/>
          </a:prstGeom>
          <a:solidFill>
            <a:srgbClr val="0B1F3A"/>
          </a:solidFill>
          <a:ln w="9525">
            <a:solidFill>
              <a:srgbClr val="FFFFFF"/>
            </a:solidFill>
          </a:ln>
        </p:spPr>
        <p:txBody>
          <a:bodyPr rtlCol="0" anchor="ctr" lIns="0" rIns="0" tIns="0" bIns="0"/>
          <a:lstStyle/>
          <a:p>
            <a:pPr algn="ctr"/>
          </a:p>
        </p:txBody>
      </p:sp>
      <p:sp>
        <p:nvSpPr>
          <p:cNvPr id="24" name="cpe|exhibit|label|23"/>
          <p:cNvSpPr txBox="1"/>
          <p:nvPr/>
        </p:nvSpPr>
        <p:spPr>
          <a:xfrm>
            <a:off x="2802004" y="3080431"/>
            <a:ext cx="82122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C</a:t>
            </a:r>
          </a:p>
        </p:txBody>
      </p:sp>
      <p:sp>
        <p:nvSpPr>
          <p:cNvPr id="25" name="cpe|exhibit|marker|24"/>
          <p:cNvSpPr/>
          <p:nvPr/>
        </p:nvSpPr>
        <p:spPr>
          <a:xfrm>
            <a:off x="2877744" y="4007120"/>
            <a:ext cx="494801" cy="494801"/>
          </a:xfrm>
          <a:prstGeom prst="ellipse">
            <a:avLst/>
          </a:prstGeom>
          <a:solidFill>
            <a:srgbClr val="00A3AD"/>
          </a:solidFill>
          <a:ln w="9525">
            <a:solidFill>
              <a:srgbClr val="FFFFFF"/>
            </a:solidFill>
          </a:ln>
        </p:spPr>
        <p:txBody>
          <a:bodyPr rtlCol="0" anchor="ctr" lIns="0" rIns="0" tIns="0" bIns="0"/>
          <a:lstStyle/>
          <a:p>
            <a:pPr algn="ctr"/>
          </a:p>
        </p:txBody>
      </p:sp>
      <p:sp>
        <p:nvSpPr>
          <p:cNvPr id="26" name="cpe|exhibit|label|25"/>
          <p:cNvSpPr txBox="1"/>
          <p:nvPr/>
        </p:nvSpPr>
        <p:spPr>
          <a:xfrm>
            <a:off x="3409122" y="4144792"/>
            <a:ext cx="433118" cy="219456"/>
          </a:xfrm>
          <a:prstGeom prst="rect">
            <a:avLst/>
          </a:prstGeom>
          <a:noFill/>
        </p:spPr>
        <p:txBody>
          <a:bodyPr wrap="square" lIns="0" rIns="0" tIns="0" bIns="0" anchor="ctr">
            <a:noAutofit/>
          </a:bodyPr>
          <a:lstStyle/>
          <a:p>
            <a:pPr algn="l">
              <a:lnSpc>
                <a:spcPct val="100000"/>
              </a:lnSpc>
            </a:pPr>
            <a:r>
              <a:rPr sz="1000" b="1">
                <a:solidFill>
                  <a:srgbClr val="1E252D"/>
                </a:solidFill>
                <a:latin typeface="Arial"/>
              </a:rPr>
              <a:t>Alvora</a:t>
            </a:r>
          </a:p>
        </p:txBody>
      </p:sp>
      <p:sp>
        <p:nvSpPr>
          <p:cNvPr id="27" name="cpe|exhibit|marker|26"/>
          <p:cNvSpPr/>
          <p:nvPr/>
        </p:nvSpPr>
        <p:spPr>
          <a:xfrm>
            <a:off x="4576111" y="2742003"/>
            <a:ext cx="328653" cy="328653"/>
          </a:xfrm>
          <a:prstGeom prst="ellipse">
            <a:avLst/>
          </a:prstGeom>
          <a:solidFill>
            <a:srgbClr val="0B1F3A"/>
          </a:solidFill>
          <a:ln w="9525">
            <a:solidFill>
              <a:srgbClr val="FFFFFF"/>
            </a:solidFill>
          </a:ln>
        </p:spPr>
        <p:txBody>
          <a:bodyPr rtlCol="0" anchor="ctr" lIns="0" rIns="0" tIns="0" bIns="0"/>
          <a:lstStyle/>
          <a:p>
            <a:pPr algn="ctr"/>
          </a:p>
        </p:txBody>
      </p:sp>
      <p:sp>
        <p:nvSpPr>
          <p:cNvPr id="28" name="cpe|exhibit|label|27"/>
          <p:cNvSpPr txBox="1"/>
          <p:nvPr/>
        </p:nvSpPr>
        <p:spPr>
          <a:xfrm>
            <a:off x="4941339" y="2796601"/>
            <a:ext cx="1181346"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Online pure-players</a:t>
            </a:r>
          </a:p>
        </p:txBody>
      </p:sp>
      <p:cxnSp>
        <p:nvCxnSpPr>
          <p:cNvPr id="29" name="cpe|commentary|line|28"/>
          <p:cNvCxnSpPr/>
          <p:nvPr/>
        </p:nvCxnSpPr>
        <p:spPr>
          <a:xfrm>
            <a:off x="7145350" y="1481328"/>
            <a:ext cx="0" cy="4718304"/>
          </a:xfrm>
          <a:prstGeom prst="line">
            <a:avLst/>
          </a:prstGeom>
          <a:ln w="9525">
            <a:solidFill>
              <a:srgbClr val="B7BFC8"/>
            </a:solidFill>
          </a:ln>
        </p:spPr>
      </p:cxnSp>
      <p:sp>
        <p:nvSpPr>
          <p:cNvPr id="30" name="cpe|commentary|text|29"/>
          <p:cNvSpPr txBox="1"/>
          <p:nvPr/>
        </p:nvSpPr>
        <p:spPr>
          <a:xfrm>
            <a:off x="7373950" y="1481328"/>
            <a:ext cx="4314825"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Alvora's prices sit </a:t>
            </a:r>
            <a:r>
              <a:rPr sz="1200" b="1">
                <a:solidFill>
                  <a:srgbClr val="1E252D"/>
                </a:solidFill>
                <a:latin typeface="Arial"/>
              </a:rPr>
              <a:t>8% above</a:t>
            </a:r>
            <a:r>
              <a:rPr sz="1200" b="0">
                <a:solidFill>
                  <a:srgbClr val="1E252D"/>
                </a:solidFill>
                <a:latin typeface="Arial"/>
              </a:rPr>
              <a:t> Competitor A on a comparable basket</a:t>
            </a:r>
          </a:p>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Its experience score trails B and C on freshness and queues</a:t>
            </a:r>
          </a:p>
          <a:p>
            <a:pPr algn="l" marL="155448" indent="-155448">
              <a:lnSpc>
                <a:spcPct val="108000"/>
              </a:lnSpc>
              <a:buClr>
                <a:srgbClr val="1E252D"/>
              </a:buClr>
              <a:buSzPct val="100000"/>
              <a:buFont typeface="Arial"/>
              <a:buChar char="•"/>
            </a:pPr>
            <a:r>
              <a:rPr sz="1200" b="0">
                <a:solidFill>
                  <a:srgbClr val="1E252D"/>
                </a:solidFill>
                <a:latin typeface="Arial"/>
              </a:rPr>
              <a:t>Winning back price perception needs a separate low-cost format, not deeper promotions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COMPETITION</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is stuck in the middle: priced above discounters without a clear experience edge</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Customer survey 2025, n=4,000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8</a:t>
            </a:r>
          </a:p>
        </p:txBody>
      </p:sp>
      <p:sp>
        <p:nvSpPr>
          <p:cNvPr id="6" name="cpe|exhibit|text|5"/>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Customer perception, 2025</a:t>
            </a:r>
            <a:r>
              <a:rPr sz="1100" b="0">
                <a:solidFill>
                  <a:srgbClr val="1E252D"/>
                </a:solidFill>
                <a:latin typeface="Arial"/>
              </a:rPr>
              <a:t>, index 0-1; bubble = revenue</a:t>
            </a:r>
          </a:p>
        </p:txBody>
      </p:sp>
      <p:sp>
        <p:nvSpPr>
          <p:cNvPr id="7" name="cpe|exhibit|fill|6"/>
          <p:cNvSpPr/>
          <p:nvPr/>
        </p:nvSpPr>
        <p:spPr>
          <a:xfrm>
            <a:off x="640080" y="2267712"/>
            <a:ext cx="3580790" cy="1773936"/>
          </a:xfrm>
          <a:prstGeom prst="rect">
            <a:avLst/>
          </a:prstGeom>
          <a:noFill/>
          <a:ln w="6350">
            <a:solidFill>
              <a:srgbClr val="B7BFC8"/>
            </a:solidFill>
          </a:ln>
        </p:spPr>
        <p:txBody>
          <a:bodyPr rtlCol="0" anchor="ctr" lIns="0" rIns="0" tIns="0" bIns="0"/>
          <a:lstStyle/>
          <a:p>
            <a:pPr algn="ctr"/>
          </a:p>
        </p:txBody>
      </p:sp>
      <p:sp>
        <p:nvSpPr>
          <p:cNvPr id="8" name="cpe|exhibit|fill|7"/>
          <p:cNvSpPr/>
          <p:nvPr/>
        </p:nvSpPr>
        <p:spPr>
          <a:xfrm>
            <a:off x="4220870" y="2267712"/>
            <a:ext cx="3580790" cy="1773936"/>
          </a:xfrm>
          <a:prstGeom prst="rect">
            <a:avLst/>
          </a:prstGeom>
          <a:noFill/>
          <a:ln w="6350">
            <a:solidFill>
              <a:srgbClr val="B7BFC8"/>
            </a:solidFill>
          </a:ln>
        </p:spPr>
        <p:txBody>
          <a:bodyPr rtlCol="0" anchor="ctr" lIns="0" rIns="0" tIns="0" bIns="0"/>
          <a:lstStyle/>
          <a:p>
            <a:pPr algn="ctr"/>
          </a:p>
        </p:txBody>
      </p:sp>
      <p:sp>
        <p:nvSpPr>
          <p:cNvPr id="9" name="cpe|exhibit|fill|8"/>
          <p:cNvSpPr/>
          <p:nvPr/>
        </p:nvSpPr>
        <p:spPr>
          <a:xfrm>
            <a:off x="640080" y="4041648"/>
            <a:ext cx="3580790" cy="1773936"/>
          </a:xfrm>
          <a:prstGeom prst="rect">
            <a:avLst/>
          </a:prstGeom>
          <a:solidFill>
            <a:srgbClr val="EEF1F4"/>
          </a:solidFill>
          <a:ln w="6350">
            <a:solidFill>
              <a:srgbClr val="B7BFC8"/>
            </a:solidFill>
          </a:ln>
        </p:spPr>
        <p:txBody>
          <a:bodyPr rtlCol="0" anchor="ctr" lIns="0" rIns="0" tIns="0" bIns="0"/>
          <a:lstStyle/>
          <a:p>
            <a:pPr algn="ctr"/>
          </a:p>
        </p:txBody>
      </p:sp>
      <p:sp>
        <p:nvSpPr>
          <p:cNvPr id="10" name="cpe|exhibit|fill|9"/>
          <p:cNvSpPr/>
          <p:nvPr/>
        </p:nvSpPr>
        <p:spPr>
          <a:xfrm>
            <a:off x="4220870" y="4041648"/>
            <a:ext cx="3580790" cy="1773936"/>
          </a:xfrm>
          <a:prstGeom prst="rect">
            <a:avLst/>
          </a:prstGeom>
          <a:noFill/>
          <a:ln w="6350">
            <a:solidFill>
              <a:srgbClr val="B7BFC8"/>
            </a:solidFill>
          </a:ln>
        </p:spPr>
        <p:txBody>
          <a:bodyPr rtlCol="0" anchor="ctr" lIns="0" rIns="0" tIns="0" bIns="0"/>
          <a:lstStyle/>
          <a:p>
            <a:pPr algn="ctr"/>
          </a:p>
        </p:txBody>
      </p:sp>
      <p:sp>
        <p:nvSpPr>
          <p:cNvPr id="11" name="cpe|exhibit|text|10"/>
          <p:cNvSpPr txBox="1"/>
          <p:nvPr/>
        </p:nvSpPr>
        <p:spPr>
          <a:xfrm>
            <a:off x="731520" y="2340864"/>
            <a:ext cx="3397910" cy="237744"/>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Experience-led</a:t>
            </a:r>
          </a:p>
        </p:txBody>
      </p:sp>
      <p:sp>
        <p:nvSpPr>
          <p:cNvPr id="12" name="cpe|exhibit|text|11"/>
          <p:cNvSpPr txBox="1"/>
          <p:nvPr/>
        </p:nvSpPr>
        <p:spPr>
          <a:xfrm>
            <a:off x="4312310" y="2340864"/>
            <a:ext cx="3397910"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Value leaders</a:t>
            </a:r>
          </a:p>
        </p:txBody>
      </p:sp>
      <p:sp>
        <p:nvSpPr>
          <p:cNvPr id="13" name="cpe|exhibit|text|12"/>
          <p:cNvSpPr txBox="1"/>
          <p:nvPr/>
        </p:nvSpPr>
        <p:spPr>
          <a:xfrm>
            <a:off x="731520" y="5504688"/>
            <a:ext cx="3397910" cy="237744"/>
          </a:xfrm>
          <a:prstGeom prst="rect">
            <a:avLst/>
          </a:prstGeom>
          <a:noFill/>
        </p:spPr>
        <p:txBody>
          <a:bodyPr wrap="square" lIns="0" rIns="0" tIns="0" bIns="0" anchor="t">
            <a:noAutofit/>
          </a:bodyPr>
          <a:lstStyle/>
          <a:p>
            <a:pPr algn="l">
              <a:lnSpc>
                <a:spcPct val="100000"/>
              </a:lnSpc>
            </a:pPr>
            <a:r>
              <a:rPr sz="1000" b="1">
                <a:solidFill>
                  <a:srgbClr val="0B1F3A"/>
                </a:solidFill>
                <a:latin typeface="Arial"/>
              </a:rPr>
              <a:t>Stuck in the middle</a:t>
            </a:r>
          </a:p>
        </p:txBody>
      </p:sp>
      <p:sp>
        <p:nvSpPr>
          <p:cNvPr id="14" name="cpe|exhibit|text|13"/>
          <p:cNvSpPr txBox="1"/>
          <p:nvPr/>
        </p:nvSpPr>
        <p:spPr>
          <a:xfrm>
            <a:off x="4312310" y="5504688"/>
            <a:ext cx="3397910"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Price-led</a:t>
            </a:r>
          </a:p>
        </p:txBody>
      </p:sp>
      <p:cxnSp>
        <p:nvCxnSpPr>
          <p:cNvPr id="15" name="cpe|exhibit|line|14"/>
          <p:cNvCxnSpPr/>
          <p:nvPr/>
        </p:nvCxnSpPr>
        <p:spPr>
          <a:xfrm>
            <a:off x="640080" y="5815584"/>
            <a:ext cx="7207301" cy="0"/>
          </a:xfrm>
          <a:prstGeom prst="line">
            <a:avLst/>
          </a:prstGeom>
          <a:ln w="9525">
            <a:solidFill>
              <a:srgbClr val="1E252D"/>
            </a:solidFill>
            <a:tailEnd type="triangle" w="med" len="med"/>
          </a:ln>
        </p:spPr>
      </p:cxnSp>
      <p:cxnSp>
        <p:nvCxnSpPr>
          <p:cNvPr id="16" name="cpe|exhibit|line|15"/>
          <p:cNvCxnSpPr/>
          <p:nvPr/>
        </p:nvCxnSpPr>
        <p:spPr>
          <a:xfrm flipV="1">
            <a:off x="640080" y="2221992"/>
            <a:ext cx="0" cy="3593592"/>
          </a:xfrm>
          <a:prstGeom prst="line">
            <a:avLst/>
          </a:prstGeom>
          <a:ln w="9525">
            <a:solidFill>
              <a:srgbClr val="1E252D"/>
            </a:solidFill>
            <a:tailEnd type="triangle" w="med" len="med"/>
          </a:ln>
        </p:spPr>
      </p:cxnSp>
      <p:sp>
        <p:nvSpPr>
          <p:cNvPr id="17" name="cpe|exhibit|text|16"/>
          <p:cNvSpPr txBox="1"/>
          <p:nvPr/>
        </p:nvSpPr>
        <p:spPr>
          <a:xfrm>
            <a:off x="640080" y="5870448"/>
            <a:ext cx="7161581" cy="274320"/>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Price perception (cheaper →)</a:t>
            </a:r>
          </a:p>
        </p:txBody>
      </p:sp>
      <p:sp>
        <p:nvSpPr>
          <p:cNvPr id="18" name="cpe|exhibit|label|17"/>
          <p:cNvSpPr txBox="1"/>
          <p:nvPr/>
        </p:nvSpPr>
        <p:spPr>
          <a:xfrm>
            <a:off x="594360" y="1938528"/>
            <a:ext cx="1234380" cy="237744"/>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 Store experience</a:t>
            </a:r>
          </a:p>
        </p:txBody>
      </p:sp>
      <p:sp>
        <p:nvSpPr>
          <p:cNvPr id="19" name="cpe|exhibit|marker|18"/>
          <p:cNvSpPr/>
          <p:nvPr/>
        </p:nvSpPr>
        <p:spPr>
          <a:xfrm>
            <a:off x="4509967" y="3296595"/>
            <a:ext cx="567660" cy="567660"/>
          </a:xfrm>
          <a:prstGeom prst="ellipse">
            <a:avLst/>
          </a:prstGeom>
          <a:solidFill>
            <a:srgbClr val="0B1F3A"/>
          </a:solidFill>
          <a:ln w="9525">
            <a:solidFill>
              <a:srgbClr val="FFFFFF"/>
            </a:solidFill>
          </a:ln>
        </p:spPr>
        <p:txBody>
          <a:bodyPr rtlCol="0" anchor="ctr" lIns="0" rIns="0" tIns="0" bIns="0"/>
          <a:lstStyle/>
          <a:p>
            <a:pPr algn="ctr"/>
          </a:p>
        </p:txBody>
      </p:sp>
      <p:sp>
        <p:nvSpPr>
          <p:cNvPr id="20" name="cpe|exhibit|label|19"/>
          <p:cNvSpPr txBox="1"/>
          <p:nvPr/>
        </p:nvSpPr>
        <p:spPr>
          <a:xfrm>
            <a:off x="5114203" y="3470697"/>
            <a:ext cx="814217"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B</a:t>
            </a:r>
          </a:p>
        </p:txBody>
      </p:sp>
      <p:sp>
        <p:nvSpPr>
          <p:cNvPr id="21" name="cpe|exhibit|marker|20"/>
          <p:cNvSpPr/>
          <p:nvPr/>
        </p:nvSpPr>
        <p:spPr>
          <a:xfrm>
            <a:off x="6529859" y="4340127"/>
            <a:ext cx="538362" cy="538362"/>
          </a:xfrm>
          <a:prstGeom prst="ellipse">
            <a:avLst/>
          </a:prstGeom>
          <a:solidFill>
            <a:srgbClr val="0B1F3A"/>
          </a:solidFill>
          <a:ln w="9525">
            <a:solidFill>
              <a:srgbClr val="FFFFFF"/>
            </a:solidFill>
          </a:ln>
        </p:spPr>
        <p:txBody>
          <a:bodyPr rtlCol="0" anchor="ctr" lIns="0" rIns="0" tIns="0" bIns="0"/>
          <a:lstStyle/>
          <a:p>
            <a:pPr algn="ctr"/>
          </a:p>
        </p:txBody>
      </p:sp>
      <p:sp>
        <p:nvSpPr>
          <p:cNvPr id="22" name="cpe|exhibit|label|21"/>
          <p:cNvSpPr txBox="1"/>
          <p:nvPr/>
        </p:nvSpPr>
        <p:spPr>
          <a:xfrm>
            <a:off x="5686071" y="4499580"/>
            <a:ext cx="80721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A</a:t>
            </a:r>
          </a:p>
        </p:txBody>
      </p:sp>
      <p:sp>
        <p:nvSpPr>
          <p:cNvPr id="23" name="cpe|exhibit|marker|22"/>
          <p:cNvSpPr/>
          <p:nvPr/>
        </p:nvSpPr>
        <p:spPr>
          <a:xfrm>
            <a:off x="2527005" y="2928610"/>
            <a:ext cx="523098" cy="523098"/>
          </a:xfrm>
          <a:prstGeom prst="ellipse">
            <a:avLst/>
          </a:prstGeom>
          <a:solidFill>
            <a:srgbClr val="0B1F3A"/>
          </a:solidFill>
          <a:ln w="9525">
            <a:solidFill>
              <a:srgbClr val="FFFFFF"/>
            </a:solidFill>
          </a:ln>
        </p:spPr>
        <p:txBody>
          <a:bodyPr rtlCol="0" anchor="ctr" lIns="0" rIns="0" tIns="0" bIns="0"/>
          <a:lstStyle/>
          <a:p>
            <a:pPr algn="ctr"/>
          </a:p>
        </p:txBody>
      </p:sp>
      <p:sp>
        <p:nvSpPr>
          <p:cNvPr id="24" name="cpe|exhibit|label|23"/>
          <p:cNvSpPr txBox="1"/>
          <p:nvPr/>
        </p:nvSpPr>
        <p:spPr>
          <a:xfrm>
            <a:off x="3086679" y="3080431"/>
            <a:ext cx="82122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C</a:t>
            </a:r>
          </a:p>
        </p:txBody>
      </p:sp>
      <p:sp>
        <p:nvSpPr>
          <p:cNvPr id="25" name="cpe|exhibit|marker|24"/>
          <p:cNvSpPr/>
          <p:nvPr/>
        </p:nvSpPr>
        <p:spPr>
          <a:xfrm>
            <a:off x="3257312" y="4007120"/>
            <a:ext cx="494801" cy="494801"/>
          </a:xfrm>
          <a:prstGeom prst="ellipse">
            <a:avLst/>
          </a:prstGeom>
          <a:solidFill>
            <a:srgbClr val="00A3AD"/>
          </a:solidFill>
          <a:ln w="9525">
            <a:solidFill>
              <a:srgbClr val="FFFFFF"/>
            </a:solidFill>
          </a:ln>
        </p:spPr>
        <p:txBody>
          <a:bodyPr rtlCol="0" anchor="ctr" lIns="0" rIns="0" tIns="0" bIns="0"/>
          <a:lstStyle/>
          <a:p>
            <a:pPr algn="ctr"/>
          </a:p>
        </p:txBody>
      </p:sp>
      <p:sp>
        <p:nvSpPr>
          <p:cNvPr id="26" name="cpe|exhibit|label|25"/>
          <p:cNvSpPr txBox="1"/>
          <p:nvPr/>
        </p:nvSpPr>
        <p:spPr>
          <a:xfrm>
            <a:off x="3788689" y="4144792"/>
            <a:ext cx="433118" cy="219456"/>
          </a:xfrm>
          <a:prstGeom prst="rect">
            <a:avLst/>
          </a:prstGeom>
          <a:noFill/>
        </p:spPr>
        <p:txBody>
          <a:bodyPr wrap="square" lIns="0" rIns="0" tIns="0" bIns="0" anchor="ctr">
            <a:noAutofit/>
          </a:bodyPr>
          <a:lstStyle/>
          <a:p>
            <a:pPr algn="l">
              <a:lnSpc>
                <a:spcPct val="100000"/>
              </a:lnSpc>
            </a:pPr>
            <a:r>
              <a:rPr sz="1000" b="1">
                <a:solidFill>
                  <a:srgbClr val="1E252D"/>
                </a:solidFill>
                <a:latin typeface="Arial"/>
              </a:rPr>
              <a:t>Alvora</a:t>
            </a:r>
          </a:p>
        </p:txBody>
      </p:sp>
      <p:sp>
        <p:nvSpPr>
          <p:cNvPr id="27" name="cpe|exhibit|marker|26"/>
          <p:cNvSpPr/>
          <p:nvPr/>
        </p:nvSpPr>
        <p:spPr>
          <a:xfrm>
            <a:off x="5202397" y="2742003"/>
            <a:ext cx="328653" cy="328653"/>
          </a:xfrm>
          <a:prstGeom prst="ellipse">
            <a:avLst/>
          </a:prstGeom>
          <a:solidFill>
            <a:srgbClr val="0B1F3A"/>
          </a:solidFill>
          <a:ln w="9525">
            <a:solidFill>
              <a:srgbClr val="FFFFFF"/>
            </a:solidFill>
          </a:ln>
        </p:spPr>
        <p:txBody>
          <a:bodyPr rtlCol="0" anchor="ctr" lIns="0" rIns="0" tIns="0" bIns="0"/>
          <a:lstStyle/>
          <a:p>
            <a:pPr algn="ctr"/>
          </a:p>
        </p:txBody>
      </p:sp>
      <p:sp>
        <p:nvSpPr>
          <p:cNvPr id="28" name="cpe|exhibit|label|27"/>
          <p:cNvSpPr txBox="1"/>
          <p:nvPr/>
        </p:nvSpPr>
        <p:spPr>
          <a:xfrm>
            <a:off x="5567626" y="2796601"/>
            <a:ext cx="1181346"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Online pure-players</a:t>
            </a:r>
          </a:p>
        </p:txBody>
      </p:sp>
      <p:cxnSp>
        <p:nvCxnSpPr>
          <p:cNvPr id="29" name="cpe|commentary|line|28"/>
          <p:cNvCxnSpPr/>
          <p:nvPr/>
        </p:nvCxnSpPr>
        <p:spPr>
          <a:xfrm>
            <a:off x="8094269" y="1481328"/>
            <a:ext cx="0" cy="4718304"/>
          </a:xfrm>
          <a:prstGeom prst="line">
            <a:avLst/>
          </a:prstGeom>
          <a:ln w="9525">
            <a:solidFill>
              <a:srgbClr val="B7BFC8"/>
            </a:solidFill>
          </a:ln>
        </p:spPr>
      </p:cxnSp>
      <p:sp>
        <p:nvSpPr>
          <p:cNvPr id="30" name="cpe|commentary|text|29"/>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Alvora's prices sit </a:t>
            </a:r>
            <a:r>
              <a:rPr sz="1200" b="1">
                <a:solidFill>
                  <a:srgbClr val="1E252D"/>
                </a:solidFill>
                <a:latin typeface="Arial"/>
              </a:rPr>
              <a:t>8% above</a:t>
            </a:r>
            <a:r>
              <a:rPr sz="1200" b="0">
                <a:solidFill>
                  <a:srgbClr val="1E252D"/>
                </a:solidFill>
                <a:latin typeface="Arial"/>
              </a:rPr>
              <a:t> Competitor A on a comparable basket</a:t>
            </a:r>
          </a:p>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Its experience score trails B and C on freshness and queues</a:t>
            </a:r>
          </a:p>
          <a:p>
            <a:pPr algn="l" marL="155448" indent="-155448">
              <a:lnSpc>
                <a:spcPct val="108000"/>
              </a:lnSpc>
              <a:buClr>
                <a:srgbClr val="1E252D"/>
              </a:buClr>
              <a:buSzPct val="100000"/>
              <a:buFont typeface="Arial"/>
              <a:buChar char="•"/>
            </a:pPr>
            <a:r>
              <a:rPr sz="1200" b="0">
                <a:solidFill>
                  <a:srgbClr val="1E252D"/>
                </a:solidFill>
                <a:latin typeface="Arial"/>
              </a:rPr>
              <a:t>Winning back price perception needs a separate low-cost format, not deeper promotions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COMPETITION</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Alvora is stuck in the middle: priced above discounters without a clear experience edge</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Customer survey 2025, n=4,000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8</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Customer perception, 2025</a:t>
            </a:r>
            <a:r>
              <a:rPr sz="1100" b="0">
                <a:solidFill>
                  <a:srgbClr val="1E252D"/>
                </a:solidFill>
                <a:latin typeface="Arial"/>
              </a:rPr>
              <a:t>, index 0-1; bubble = revenue</a:t>
            </a:r>
          </a:p>
        </p:txBody>
      </p:sp>
      <p:sp>
        <p:nvSpPr>
          <p:cNvPr id="7" name="cpe|exhibit|fill|6"/>
          <p:cNvSpPr/>
          <p:nvPr/>
        </p:nvSpPr>
        <p:spPr>
          <a:xfrm>
            <a:off x="640080" y="2267712"/>
            <a:ext cx="5478628" cy="1357884"/>
          </a:xfrm>
          <a:prstGeom prst="rect">
            <a:avLst/>
          </a:prstGeom>
          <a:noFill/>
          <a:ln w="6350">
            <a:solidFill>
              <a:srgbClr val="B7BFC8"/>
            </a:solidFill>
          </a:ln>
        </p:spPr>
        <p:txBody>
          <a:bodyPr rtlCol="0" anchor="ctr" lIns="0" rIns="0" tIns="0" bIns="0"/>
          <a:lstStyle/>
          <a:p>
            <a:pPr algn="ctr"/>
          </a:p>
        </p:txBody>
      </p:sp>
      <p:sp>
        <p:nvSpPr>
          <p:cNvPr id="8" name="cpe|exhibit|fill|7"/>
          <p:cNvSpPr/>
          <p:nvPr/>
        </p:nvSpPr>
        <p:spPr>
          <a:xfrm>
            <a:off x="6118708" y="2267712"/>
            <a:ext cx="5478628" cy="1357884"/>
          </a:xfrm>
          <a:prstGeom prst="rect">
            <a:avLst/>
          </a:prstGeom>
          <a:noFill/>
          <a:ln w="6350">
            <a:solidFill>
              <a:srgbClr val="B7BFC8"/>
            </a:solidFill>
          </a:ln>
        </p:spPr>
        <p:txBody>
          <a:bodyPr rtlCol="0" anchor="ctr" lIns="0" rIns="0" tIns="0" bIns="0"/>
          <a:lstStyle/>
          <a:p>
            <a:pPr algn="ctr"/>
          </a:p>
        </p:txBody>
      </p:sp>
      <p:sp>
        <p:nvSpPr>
          <p:cNvPr id="9" name="cpe|exhibit|fill|8"/>
          <p:cNvSpPr/>
          <p:nvPr/>
        </p:nvSpPr>
        <p:spPr>
          <a:xfrm>
            <a:off x="640080" y="3625596"/>
            <a:ext cx="5478628" cy="1357884"/>
          </a:xfrm>
          <a:prstGeom prst="rect">
            <a:avLst/>
          </a:prstGeom>
          <a:solidFill>
            <a:srgbClr val="EEF1F4"/>
          </a:solidFill>
          <a:ln w="6350">
            <a:solidFill>
              <a:srgbClr val="B7BFC8"/>
            </a:solidFill>
          </a:ln>
        </p:spPr>
        <p:txBody>
          <a:bodyPr rtlCol="0" anchor="ctr" lIns="0" rIns="0" tIns="0" bIns="0"/>
          <a:lstStyle/>
          <a:p>
            <a:pPr algn="ctr"/>
          </a:p>
        </p:txBody>
      </p:sp>
      <p:sp>
        <p:nvSpPr>
          <p:cNvPr id="10" name="cpe|exhibit|fill|9"/>
          <p:cNvSpPr/>
          <p:nvPr/>
        </p:nvSpPr>
        <p:spPr>
          <a:xfrm>
            <a:off x="6118708" y="3625596"/>
            <a:ext cx="5478628" cy="1357884"/>
          </a:xfrm>
          <a:prstGeom prst="rect">
            <a:avLst/>
          </a:prstGeom>
          <a:noFill/>
          <a:ln w="6350">
            <a:solidFill>
              <a:srgbClr val="B7BFC8"/>
            </a:solidFill>
          </a:ln>
        </p:spPr>
        <p:txBody>
          <a:bodyPr rtlCol="0" anchor="ctr" lIns="0" rIns="0" tIns="0" bIns="0"/>
          <a:lstStyle/>
          <a:p>
            <a:pPr algn="ctr"/>
          </a:p>
        </p:txBody>
      </p:sp>
      <p:sp>
        <p:nvSpPr>
          <p:cNvPr id="11" name="cpe|exhibit|text|10"/>
          <p:cNvSpPr txBox="1"/>
          <p:nvPr/>
        </p:nvSpPr>
        <p:spPr>
          <a:xfrm>
            <a:off x="731520" y="2340864"/>
            <a:ext cx="5295748" cy="237744"/>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Experience-led</a:t>
            </a:r>
          </a:p>
        </p:txBody>
      </p:sp>
      <p:sp>
        <p:nvSpPr>
          <p:cNvPr id="12" name="cpe|exhibit|text|11"/>
          <p:cNvSpPr txBox="1"/>
          <p:nvPr/>
        </p:nvSpPr>
        <p:spPr>
          <a:xfrm>
            <a:off x="6210148" y="2340864"/>
            <a:ext cx="5295748"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Value leaders</a:t>
            </a:r>
          </a:p>
        </p:txBody>
      </p:sp>
      <p:sp>
        <p:nvSpPr>
          <p:cNvPr id="13" name="cpe|exhibit|text|12"/>
          <p:cNvSpPr txBox="1"/>
          <p:nvPr/>
        </p:nvSpPr>
        <p:spPr>
          <a:xfrm>
            <a:off x="731520" y="4672584"/>
            <a:ext cx="5295748" cy="237744"/>
          </a:xfrm>
          <a:prstGeom prst="rect">
            <a:avLst/>
          </a:prstGeom>
          <a:noFill/>
        </p:spPr>
        <p:txBody>
          <a:bodyPr wrap="square" lIns="0" rIns="0" tIns="0" bIns="0" anchor="t">
            <a:noAutofit/>
          </a:bodyPr>
          <a:lstStyle/>
          <a:p>
            <a:pPr algn="l">
              <a:lnSpc>
                <a:spcPct val="100000"/>
              </a:lnSpc>
            </a:pPr>
            <a:r>
              <a:rPr sz="1000" b="1">
                <a:solidFill>
                  <a:srgbClr val="0B1F3A"/>
                </a:solidFill>
                <a:latin typeface="Arial"/>
              </a:rPr>
              <a:t>Stuck in the middle</a:t>
            </a:r>
          </a:p>
        </p:txBody>
      </p:sp>
      <p:sp>
        <p:nvSpPr>
          <p:cNvPr id="14" name="cpe|exhibit|text|13"/>
          <p:cNvSpPr txBox="1"/>
          <p:nvPr/>
        </p:nvSpPr>
        <p:spPr>
          <a:xfrm>
            <a:off x="6210148" y="4672584"/>
            <a:ext cx="5295748" cy="237744"/>
          </a:xfrm>
          <a:prstGeom prst="rect">
            <a:avLst/>
          </a:prstGeom>
          <a:noFill/>
        </p:spPr>
        <p:txBody>
          <a:bodyPr wrap="square" lIns="0" rIns="0" tIns="0" bIns="0" anchor="t">
            <a:noAutofit/>
          </a:bodyPr>
          <a:lstStyle/>
          <a:p>
            <a:pPr algn="r">
              <a:lnSpc>
                <a:spcPct val="100000"/>
              </a:lnSpc>
            </a:pPr>
            <a:r>
              <a:rPr sz="1000" b="1">
                <a:solidFill>
                  <a:srgbClr val="5E6A77"/>
                </a:solidFill>
                <a:latin typeface="Arial"/>
              </a:rPr>
              <a:t>Price-led</a:t>
            </a:r>
          </a:p>
        </p:txBody>
      </p:sp>
      <p:cxnSp>
        <p:nvCxnSpPr>
          <p:cNvPr id="15" name="cpe|exhibit|line|14"/>
          <p:cNvCxnSpPr/>
          <p:nvPr/>
        </p:nvCxnSpPr>
        <p:spPr>
          <a:xfrm>
            <a:off x="640080" y="4983480"/>
            <a:ext cx="11002975" cy="0"/>
          </a:xfrm>
          <a:prstGeom prst="line">
            <a:avLst/>
          </a:prstGeom>
          <a:ln w="9525">
            <a:solidFill>
              <a:srgbClr val="1E252D"/>
            </a:solidFill>
            <a:tailEnd type="triangle" w="med" len="med"/>
          </a:ln>
        </p:spPr>
      </p:cxnSp>
      <p:cxnSp>
        <p:nvCxnSpPr>
          <p:cNvPr id="16" name="cpe|exhibit|line|15"/>
          <p:cNvCxnSpPr/>
          <p:nvPr/>
        </p:nvCxnSpPr>
        <p:spPr>
          <a:xfrm flipV="1">
            <a:off x="640080" y="2221992"/>
            <a:ext cx="0" cy="2761488"/>
          </a:xfrm>
          <a:prstGeom prst="line">
            <a:avLst/>
          </a:prstGeom>
          <a:ln w="9525">
            <a:solidFill>
              <a:srgbClr val="1E252D"/>
            </a:solidFill>
            <a:tailEnd type="triangle" w="med" len="med"/>
          </a:ln>
        </p:spPr>
      </p:cxnSp>
      <p:sp>
        <p:nvSpPr>
          <p:cNvPr id="17" name="cpe|exhibit|text|16"/>
          <p:cNvSpPr txBox="1"/>
          <p:nvPr/>
        </p:nvSpPr>
        <p:spPr>
          <a:xfrm>
            <a:off x="640080" y="5038344"/>
            <a:ext cx="10957255" cy="274320"/>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Price perception (cheaper →)</a:t>
            </a:r>
          </a:p>
        </p:txBody>
      </p:sp>
      <p:sp>
        <p:nvSpPr>
          <p:cNvPr id="18" name="cpe|exhibit|label|17"/>
          <p:cNvSpPr txBox="1"/>
          <p:nvPr/>
        </p:nvSpPr>
        <p:spPr>
          <a:xfrm>
            <a:off x="594360" y="1938528"/>
            <a:ext cx="1234380" cy="237744"/>
          </a:xfrm>
          <a:prstGeom prst="rect">
            <a:avLst/>
          </a:prstGeom>
          <a:noFill/>
        </p:spPr>
        <p:txBody>
          <a:bodyPr wrap="square" lIns="0" rIns="0" tIns="0" bIns="0" anchor="t">
            <a:noAutofit/>
          </a:bodyPr>
          <a:lstStyle/>
          <a:p>
            <a:pPr algn="l">
              <a:lnSpc>
                <a:spcPct val="100000"/>
              </a:lnSpc>
            </a:pPr>
            <a:r>
              <a:rPr sz="1000" b="0">
                <a:solidFill>
                  <a:srgbClr val="5E6A77"/>
                </a:solidFill>
                <a:latin typeface="Arial"/>
              </a:rPr>
              <a:t>↑ Store experience</a:t>
            </a:r>
          </a:p>
        </p:txBody>
      </p:sp>
      <p:sp>
        <p:nvSpPr>
          <p:cNvPr id="19" name="cpe|exhibit|marker|18"/>
          <p:cNvSpPr/>
          <p:nvPr/>
        </p:nvSpPr>
        <p:spPr>
          <a:xfrm>
            <a:off x="6778027" y="3055285"/>
            <a:ext cx="434523" cy="434523"/>
          </a:xfrm>
          <a:prstGeom prst="ellipse">
            <a:avLst/>
          </a:prstGeom>
          <a:solidFill>
            <a:srgbClr val="0B1F3A"/>
          </a:solidFill>
          <a:ln w="9525">
            <a:solidFill>
              <a:srgbClr val="FFFFFF"/>
            </a:solidFill>
          </a:ln>
        </p:spPr>
        <p:txBody>
          <a:bodyPr rtlCol="0" anchor="ctr" lIns="0" rIns="0" tIns="0" bIns="0"/>
          <a:lstStyle/>
          <a:p>
            <a:pPr algn="ctr"/>
          </a:p>
        </p:txBody>
      </p:sp>
      <p:sp>
        <p:nvSpPr>
          <p:cNvPr id="20" name="cpe|exhibit|label|19"/>
          <p:cNvSpPr txBox="1"/>
          <p:nvPr/>
        </p:nvSpPr>
        <p:spPr>
          <a:xfrm>
            <a:off x="7249125" y="3162818"/>
            <a:ext cx="814217"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B</a:t>
            </a:r>
          </a:p>
        </p:txBody>
      </p:sp>
      <p:sp>
        <p:nvSpPr>
          <p:cNvPr id="21" name="cpe|exhibit|marker|20"/>
          <p:cNvSpPr/>
          <p:nvPr/>
        </p:nvSpPr>
        <p:spPr>
          <a:xfrm>
            <a:off x="9857271" y="3854071"/>
            <a:ext cx="412097" cy="412097"/>
          </a:xfrm>
          <a:prstGeom prst="ellipse">
            <a:avLst/>
          </a:prstGeom>
          <a:solidFill>
            <a:srgbClr val="0B1F3A"/>
          </a:solidFill>
          <a:ln w="9525">
            <a:solidFill>
              <a:srgbClr val="FFFFFF"/>
            </a:solidFill>
          </a:ln>
        </p:spPr>
        <p:txBody>
          <a:bodyPr rtlCol="0" anchor="ctr" lIns="0" rIns="0" tIns="0" bIns="0"/>
          <a:lstStyle/>
          <a:p>
            <a:pPr algn="ctr"/>
          </a:p>
        </p:txBody>
      </p:sp>
      <p:sp>
        <p:nvSpPr>
          <p:cNvPr id="22" name="cpe|exhibit|label|21"/>
          <p:cNvSpPr txBox="1"/>
          <p:nvPr/>
        </p:nvSpPr>
        <p:spPr>
          <a:xfrm>
            <a:off x="10305944" y="3950391"/>
            <a:ext cx="80721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A</a:t>
            </a:r>
          </a:p>
        </p:txBody>
      </p:sp>
      <p:sp>
        <p:nvSpPr>
          <p:cNvPr id="23" name="cpe|exhibit|marker|22"/>
          <p:cNvSpPr/>
          <p:nvPr/>
        </p:nvSpPr>
        <p:spPr>
          <a:xfrm>
            <a:off x="3727050" y="2773605"/>
            <a:ext cx="400413" cy="400413"/>
          </a:xfrm>
          <a:prstGeom prst="ellipse">
            <a:avLst/>
          </a:prstGeom>
          <a:solidFill>
            <a:srgbClr val="0B1F3A"/>
          </a:solidFill>
          <a:ln w="9525">
            <a:solidFill>
              <a:srgbClr val="FFFFFF"/>
            </a:solidFill>
          </a:ln>
        </p:spPr>
        <p:txBody>
          <a:bodyPr rtlCol="0" anchor="ctr" lIns="0" rIns="0" tIns="0" bIns="0"/>
          <a:lstStyle/>
          <a:p>
            <a:pPr algn="ctr"/>
          </a:p>
        </p:txBody>
      </p:sp>
      <p:sp>
        <p:nvSpPr>
          <p:cNvPr id="24" name="cpe|exhibit|label|23"/>
          <p:cNvSpPr txBox="1"/>
          <p:nvPr/>
        </p:nvSpPr>
        <p:spPr>
          <a:xfrm>
            <a:off x="4164039" y="2864084"/>
            <a:ext cx="821222"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Competitor C</a:t>
            </a:r>
          </a:p>
        </p:txBody>
      </p:sp>
      <p:sp>
        <p:nvSpPr>
          <p:cNvPr id="25" name="cpe|exhibit|marker|24"/>
          <p:cNvSpPr/>
          <p:nvPr/>
        </p:nvSpPr>
        <p:spPr>
          <a:xfrm>
            <a:off x="4833606" y="3599166"/>
            <a:ext cx="378753" cy="378753"/>
          </a:xfrm>
          <a:prstGeom prst="ellipse">
            <a:avLst/>
          </a:prstGeom>
          <a:solidFill>
            <a:srgbClr val="00A3AD"/>
          </a:solidFill>
          <a:ln w="9525">
            <a:solidFill>
              <a:srgbClr val="FFFFFF"/>
            </a:solidFill>
          </a:ln>
        </p:spPr>
        <p:txBody>
          <a:bodyPr rtlCol="0" anchor="ctr" lIns="0" rIns="0" tIns="0" bIns="0"/>
          <a:lstStyle/>
          <a:p>
            <a:pPr algn="ctr"/>
          </a:p>
        </p:txBody>
      </p:sp>
      <p:sp>
        <p:nvSpPr>
          <p:cNvPr id="26" name="cpe|exhibit|label|25"/>
          <p:cNvSpPr txBox="1"/>
          <p:nvPr/>
        </p:nvSpPr>
        <p:spPr>
          <a:xfrm>
            <a:off x="5248934" y="3678814"/>
            <a:ext cx="433118" cy="219456"/>
          </a:xfrm>
          <a:prstGeom prst="rect">
            <a:avLst/>
          </a:prstGeom>
          <a:noFill/>
        </p:spPr>
        <p:txBody>
          <a:bodyPr wrap="square" lIns="0" rIns="0" tIns="0" bIns="0" anchor="ctr">
            <a:noAutofit/>
          </a:bodyPr>
          <a:lstStyle/>
          <a:p>
            <a:pPr algn="l">
              <a:lnSpc>
                <a:spcPct val="100000"/>
              </a:lnSpc>
            </a:pPr>
            <a:r>
              <a:rPr sz="1000" b="1">
                <a:solidFill>
                  <a:srgbClr val="1E252D"/>
                </a:solidFill>
                <a:latin typeface="Arial"/>
              </a:rPr>
              <a:t>Alvora</a:t>
            </a:r>
          </a:p>
        </p:txBody>
      </p:sp>
      <p:sp>
        <p:nvSpPr>
          <p:cNvPr id="27" name="cpe|exhibit|marker|26"/>
          <p:cNvSpPr/>
          <p:nvPr/>
        </p:nvSpPr>
        <p:spPr>
          <a:xfrm>
            <a:off x="7746083" y="2630764"/>
            <a:ext cx="251572" cy="251572"/>
          </a:xfrm>
          <a:prstGeom prst="ellipse">
            <a:avLst/>
          </a:prstGeom>
          <a:solidFill>
            <a:srgbClr val="0B1F3A"/>
          </a:solidFill>
          <a:ln w="9525">
            <a:solidFill>
              <a:srgbClr val="FFFFFF"/>
            </a:solidFill>
          </a:ln>
        </p:spPr>
        <p:txBody>
          <a:bodyPr rtlCol="0" anchor="ctr" lIns="0" rIns="0" tIns="0" bIns="0"/>
          <a:lstStyle/>
          <a:p>
            <a:pPr algn="ctr"/>
          </a:p>
        </p:txBody>
      </p:sp>
      <p:sp>
        <p:nvSpPr>
          <p:cNvPr id="28" name="cpe|exhibit|label|27"/>
          <p:cNvSpPr txBox="1"/>
          <p:nvPr/>
        </p:nvSpPr>
        <p:spPr>
          <a:xfrm>
            <a:off x="8034230" y="2646822"/>
            <a:ext cx="1181346" cy="219456"/>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Online pure-players</a:t>
            </a:r>
          </a:p>
        </p:txBody>
      </p:sp>
      <p:cxnSp>
        <p:nvCxnSpPr>
          <p:cNvPr id="29" name="cpe|commentary|line|28"/>
          <p:cNvCxnSpPr/>
          <p:nvPr/>
        </p:nvCxnSpPr>
        <p:spPr>
          <a:xfrm>
            <a:off x="502920" y="5568696"/>
            <a:ext cx="11185855" cy="0"/>
          </a:xfrm>
          <a:prstGeom prst="line">
            <a:avLst/>
          </a:prstGeom>
          <a:ln w="9525">
            <a:solidFill>
              <a:srgbClr val="B7BFC8"/>
            </a:solidFill>
          </a:ln>
        </p:spPr>
      </p:cxnSp>
      <p:sp>
        <p:nvSpPr>
          <p:cNvPr id="30" name="cpe|commentary|text|29"/>
          <p:cNvSpPr txBox="1"/>
          <p:nvPr/>
        </p:nvSpPr>
        <p:spPr>
          <a:xfrm>
            <a:off x="502920"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Alvora's prices sit </a:t>
            </a:r>
            <a:r>
              <a:rPr sz="1200" b="1">
                <a:solidFill>
                  <a:srgbClr val="1E252D"/>
                </a:solidFill>
                <a:latin typeface="Arial"/>
              </a:rPr>
              <a:t>8% above</a:t>
            </a:r>
            <a:r>
              <a:rPr sz="1200" b="0">
                <a:solidFill>
                  <a:srgbClr val="1E252D"/>
                </a:solidFill>
                <a:latin typeface="Arial"/>
              </a:rPr>
              <a:t> Competitor A on a comparable basket</a:t>
            </a:r>
          </a:p>
        </p:txBody>
      </p:sp>
      <p:sp>
        <p:nvSpPr>
          <p:cNvPr id="31" name="cpe|commentary|text|30"/>
          <p:cNvSpPr txBox="1"/>
          <p:nvPr/>
        </p:nvSpPr>
        <p:spPr>
          <a:xfrm>
            <a:off x="4298594"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Its experience score trails B and C on freshness and queues</a:t>
            </a:r>
          </a:p>
        </p:txBody>
      </p:sp>
      <p:sp>
        <p:nvSpPr>
          <p:cNvPr id="32" name="cpe|commentary|text|31"/>
          <p:cNvSpPr txBox="1"/>
          <p:nvPr/>
        </p:nvSpPr>
        <p:spPr>
          <a:xfrm>
            <a:off x="8094269"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Winning back price perception needs a separate low-cost format, not deeper promotions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2103120" cy="90297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Propositions</a:t>
            </a:r>
          </a:p>
        </p:txBody>
      </p:sp>
      <p:sp>
        <p:nvSpPr>
          <p:cNvPr id="8" name="cpe|exhibit|fill|7"/>
          <p:cNvSpPr/>
          <p:nvPr/>
        </p:nvSpPr>
        <p:spPr>
          <a:xfrm>
            <a:off x="2697480" y="1481328"/>
            <a:ext cx="2032940" cy="902970"/>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752344"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Discount banner</a:t>
            </a:r>
          </a:p>
        </p:txBody>
      </p:sp>
      <p:sp>
        <p:nvSpPr>
          <p:cNvPr id="10" name="cpe|exhibit|fill|9"/>
          <p:cNvSpPr/>
          <p:nvPr/>
        </p:nvSpPr>
        <p:spPr>
          <a:xfrm>
            <a:off x="4803572" y="1481328"/>
            <a:ext cx="2032940" cy="902970"/>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4858436"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Supermarkets</a:t>
            </a:r>
          </a:p>
        </p:txBody>
      </p:sp>
      <p:sp>
        <p:nvSpPr>
          <p:cNvPr id="12" name="cpe|exhibit|fill|11"/>
          <p:cNvSpPr/>
          <p:nvPr/>
        </p:nvSpPr>
        <p:spPr>
          <a:xfrm>
            <a:off x="6909664" y="1481328"/>
            <a:ext cx="2032940" cy="902970"/>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6964528"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Convenience</a:t>
            </a:r>
          </a:p>
        </p:txBody>
      </p:sp>
      <p:sp>
        <p:nvSpPr>
          <p:cNvPr id="14" name="cpe|exhibit|fill|13"/>
          <p:cNvSpPr/>
          <p:nvPr/>
        </p:nvSpPr>
        <p:spPr>
          <a:xfrm>
            <a:off x="9015755" y="1481328"/>
            <a:ext cx="203294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9070619" y="1481328"/>
            <a:ext cx="192321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Online</a:t>
            </a:r>
          </a:p>
        </p:txBody>
      </p:sp>
      <p:sp>
        <p:nvSpPr>
          <p:cNvPr id="16" name="cpe|exhibit|fill|15"/>
          <p:cNvSpPr/>
          <p:nvPr/>
        </p:nvSpPr>
        <p:spPr>
          <a:xfrm>
            <a:off x="502920" y="2475738"/>
            <a:ext cx="2103120" cy="902970"/>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47573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Commercial</a:t>
            </a:r>
          </a:p>
        </p:txBody>
      </p:sp>
      <p:sp>
        <p:nvSpPr>
          <p:cNvPr id="18" name="cpe|exhibit|fill|17"/>
          <p:cNvSpPr/>
          <p:nvPr/>
        </p:nvSpPr>
        <p:spPr>
          <a:xfrm>
            <a:off x="2697480" y="247573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752344"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Central pricing &amp; promo</a:t>
            </a:r>
          </a:p>
        </p:txBody>
      </p:sp>
      <p:sp>
        <p:nvSpPr>
          <p:cNvPr id="20" name="cpe|exhibit|fill|19"/>
          <p:cNvSpPr/>
          <p:nvPr/>
        </p:nvSpPr>
        <p:spPr>
          <a:xfrm>
            <a:off x="5505602" y="247573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5560466"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Category management</a:t>
            </a:r>
          </a:p>
        </p:txBody>
      </p:sp>
      <p:sp>
        <p:nvSpPr>
          <p:cNvPr id="22" name="cpe|exhibit|fill|21"/>
          <p:cNvSpPr/>
          <p:nvPr/>
        </p:nvSpPr>
        <p:spPr>
          <a:xfrm>
            <a:off x="8313725" y="2475738"/>
            <a:ext cx="2734970" cy="902970"/>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8368589" y="247573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Private label</a:t>
            </a:r>
          </a:p>
        </p:txBody>
      </p:sp>
      <p:sp>
        <p:nvSpPr>
          <p:cNvPr id="24" name="cpe|exhibit|fill|23"/>
          <p:cNvSpPr/>
          <p:nvPr/>
        </p:nvSpPr>
        <p:spPr>
          <a:xfrm>
            <a:off x="502920" y="3470148"/>
            <a:ext cx="2103120" cy="902970"/>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47014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Operations</a:t>
            </a:r>
          </a:p>
        </p:txBody>
      </p:sp>
      <p:sp>
        <p:nvSpPr>
          <p:cNvPr id="26" name="cpe|exhibit|fill|25"/>
          <p:cNvSpPr/>
          <p:nvPr/>
        </p:nvSpPr>
        <p:spPr>
          <a:xfrm>
            <a:off x="2697480" y="3470148"/>
            <a:ext cx="2734970" cy="902970"/>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752344"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Stores</a:t>
            </a:r>
          </a:p>
        </p:txBody>
      </p:sp>
      <p:sp>
        <p:nvSpPr>
          <p:cNvPr id="28" name="cpe|exhibit|fill|27"/>
          <p:cNvSpPr/>
          <p:nvPr/>
        </p:nvSpPr>
        <p:spPr>
          <a:xfrm>
            <a:off x="5505602" y="3470148"/>
            <a:ext cx="2734970" cy="902970"/>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5560466"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Supply chain</a:t>
            </a:r>
          </a:p>
        </p:txBody>
      </p:sp>
      <p:sp>
        <p:nvSpPr>
          <p:cNvPr id="30" name="cpe|exhibit|fill|29"/>
          <p:cNvSpPr/>
          <p:nvPr/>
        </p:nvSpPr>
        <p:spPr>
          <a:xfrm>
            <a:off x="8313725" y="3470148"/>
            <a:ext cx="2734970" cy="902970"/>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8368589" y="347014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Fulfilment hubs</a:t>
            </a:r>
          </a:p>
        </p:txBody>
      </p:sp>
      <p:sp>
        <p:nvSpPr>
          <p:cNvPr id="32" name="cpe|exhibit|fill|31"/>
          <p:cNvSpPr/>
          <p:nvPr/>
        </p:nvSpPr>
        <p:spPr>
          <a:xfrm>
            <a:off x="502920" y="4464558"/>
            <a:ext cx="2103120" cy="902970"/>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4464558"/>
            <a:ext cx="1920240" cy="902970"/>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Enablers</a:t>
            </a:r>
          </a:p>
        </p:txBody>
      </p:sp>
      <p:sp>
        <p:nvSpPr>
          <p:cNvPr id="34" name="cpe|exhibit|fill|33"/>
          <p:cNvSpPr/>
          <p:nvPr/>
        </p:nvSpPr>
        <p:spPr>
          <a:xfrm>
            <a:off x="2697480" y="4464558"/>
            <a:ext cx="2734970" cy="902970"/>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752344"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Data &amp; analytics</a:t>
            </a:r>
          </a:p>
        </p:txBody>
      </p:sp>
      <p:sp>
        <p:nvSpPr>
          <p:cNvPr id="36" name="cpe|exhibit|fill|35"/>
          <p:cNvSpPr/>
          <p:nvPr/>
        </p:nvSpPr>
        <p:spPr>
          <a:xfrm>
            <a:off x="5505602" y="4464558"/>
            <a:ext cx="2734970" cy="902970"/>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5560466"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Technology</a:t>
            </a:r>
          </a:p>
        </p:txBody>
      </p:sp>
      <p:sp>
        <p:nvSpPr>
          <p:cNvPr id="38" name="cpe|exhibit|fill|37"/>
          <p:cNvSpPr/>
          <p:nvPr/>
        </p:nvSpPr>
        <p:spPr>
          <a:xfrm>
            <a:off x="8313725" y="4464558"/>
            <a:ext cx="2734970" cy="902970"/>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8368589" y="4464558"/>
            <a:ext cx="2625242" cy="902970"/>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People &amp; capabilities</a:t>
            </a:r>
          </a:p>
        </p:txBody>
      </p:sp>
      <p:sp>
        <p:nvSpPr>
          <p:cNvPr id="40" name="cpe|exhibit|fill|39"/>
          <p:cNvSpPr/>
          <p:nvPr/>
        </p:nvSpPr>
        <p:spPr>
          <a:xfrm>
            <a:off x="11121847" y="1481328"/>
            <a:ext cx="566928" cy="3886200"/>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11121847" y="1572768"/>
            <a:ext cx="566928" cy="3703320"/>
          </a:xfrm>
          <a:prstGeom prst="rect">
            <a:avLst/>
          </a:prstGeom>
          <a:noFill/>
        </p:spPr>
        <p:txBody>
          <a:bodyPr wrap="square" lIns="0" rIns="0" tIns="0" bIns="0" anchor="ctr" vert="vert270">
            <a:noAutofit/>
          </a:bodyPr>
          <a:lstStyle/>
          <a:p>
            <a:pPr algn="ctr">
              <a:lnSpc>
                <a:spcPct val="100000"/>
              </a:lnSpc>
            </a:pPr>
            <a:r>
              <a:rPr sz="1200" b="1">
                <a:solidFill>
                  <a:srgbClr val="1E252D"/>
                </a:solidFill>
                <a:latin typeface="Arial"/>
              </a:rPr>
              <a:t>Transformation office</a:t>
            </a:r>
          </a:p>
        </p:txBody>
      </p:sp>
      <p:cxnSp>
        <p:nvCxnSpPr>
          <p:cNvPr id="42" name="cpe|commentary|line|41"/>
          <p:cNvCxnSpPr/>
          <p:nvPr/>
        </p:nvCxnSpPr>
        <p:spPr>
          <a:xfrm>
            <a:off x="502920" y="5568696"/>
            <a:ext cx="11185855" cy="0"/>
          </a:xfrm>
          <a:prstGeom prst="line">
            <a:avLst/>
          </a:prstGeom>
          <a:ln w="9525">
            <a:solidFill>
              <a:srgbClr val="B7BFC8"/>
            </a:solidFill>
          </a:ln>
        </p:spPr>
      </p:cxnSp>
      <p:sp>
        <p:nvSpPr>
          <p:cNvPr id="43" name="cpe|commentary|text|42"/>
          <p:cNvSpPr txBox="1"/>
          <p:nvPr/>
        </p:nvSpPr>
        <p:spPr>
          <a:xfrm>
            <a:off x="502920"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New:</a:t>
            </a:r>
            <a:r>
              <a:rPr sz="1200" b="0">
                <a:solidFill>
                  <a:srgbClr val="1E252D"/>
                </a:solidFill>
                <a:latin typeface="Arial"/>
              </a:rPr>
              <a:t> discount banner, private label, fulfilment hubs</a:t>
            </a:r>
          </a:p>
        </p:txBody>
      </p:sp>
      <p:sp>
        <p:nvSpPr>
          <p:cNvPr id="44" name="cpe|commentary|text|43"/>
          <p:cNvSpPr txBox="1"/>
          <p:nvPr/>
        </p:nvSpPr>
        <p:spPr>
          <a:xfrm>
            <a:off x="4298594" y="5705856"/>
            <a:ext cx="3594506" cy="493776"/>
          </a:xfrm>
          <a:prstGeom prst="rect">
            <a:avLst/>
          </a:prstGeom>
          <a:noFill/>
        </p:spPr>
        <p:txBody>
          <a:bodyPr wrap="square" lIns="0" rIns="0" tIns="0" bIns="0" anchor="t">
            <a:noAutofit/>
          </a:bodyPr>
          <a:lstStyle/>
          <a:p>
            <a:pPr algn="l">
              <a:lnSpc>
                <a:spcPct val="100000"/>
              </a:lnSpc>
            </a:pPr>
            <a:r>
              <a:rPr sz="1200" b="1">
                <a:solidFill>
                  <a:srgbClr val="1E252D"/>
                </a:solidFill>
                <a:latin typeface="Arial"/>
              </a:rPr>
              <a:t>Changed:</a:t>
            </a:r>
            <a:r>
              <a:rPr sz="1200" b="0">
                <a:solidFill>
                  <a:srgbClr val="1E252D"/>
                </a:solidFill>
                <a:latin typeface="Arial"/>
              </a:rPr>
              <a:t> pricing moves to the centre; category teams own margin</a:t>
            </a:r>
          </a:p>
        </p:txBody>
      </p:sp>
      <p:sp>
        <p:nvSpPr>
          <p:cNvPr id="45" name="cpe|commentary|text|44"/>
          <p:cNvSpPr txBox="1"/>
          <p:nvPr/>
        </p:nvSpPr>
        <p:spPr>
          <a:xfrm>
            <a:off x="8094269" y="5705856"/>
            <a:ext cx="3594506" cy="493776"/>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A transformation office steers the programme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2103120" cy="888111"/>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920240" cy="888111"/>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Propositions</a:t>
            </a:r>
          </a:p>
        </p:txBody>
      </p:sp>
      <p:sp>
        <p:nvSpPr>
          <p:cNvPr id="8" name="cpe|exhibit|fill|7"/>
          <p:cNvSpPr/>
          <p:nvPr/>
        </p:nvSpPr>
        <p:spPr>
          <a:xfrm>
            <a:off x="2697480" y="1481328"/>
            <a:ext cx="2032940" cy="888111"/>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752344" y="1481328"/>
            <a:ext cx="192321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Discount banner</a:t>
            </a:r>
          </a:p>
        </p:txBody>
      </p:sp>
      <p:sp>
        <p:nvSpPr>
          <p:cNvPr id="10" name="cpe|exhibit|fill|9"/>
          <p:cNvSpPr/>
          <p:nvPr/>
        </p:nvSpPr>
        <p:spPr>
          <a:xfrm>
            <a:off x="4803572" y="1481328"/>
            <a:ext cx="2032940" cy="888111"/>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4858436" y="1481328"/>
            <a:ext cx="192321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Supermarkets</a:t>
            </a:r>
          </a:p>
        </p:txBody>
      </p:sp>
      <p:sp>
        <p:nvSpPr>
          <p:cNvPr id="12" name="cpe|exhibit|fill|11"/>
          <p:cNvSpPr/>
          <p:nvPr/>
        </p:nvSpPr>
        <p:spPr>
          <a:xfrm>
            <a:off x="6909664" y="1481328"/>
            <a:ext cx="2032940" cy="888111"/>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6964528" y="1481328"/>
            <a:ext cx="192321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Convenience</a:t>
            </a:r>
          </a:p>
        </p:txBody>
      </p:sp>
      <p:sp>
        <p:nvSpPr>
          <p:cNvPr id="14" name="cpe|exhibit|fill|13"/>
          <p:cNvSpPr/>
          <p:nvPr/>
        </p:nvSpPr>
        <p:spPr>
          <a:xfrm>
            <a:off x="9015755" y="1481328"/>
            <a:ext cx="2032940" cy="888111"/>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9070619" y="1481328"/>
            <a:ext cx="192321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Online</a:t>
            </a:r>
          </a:p>
        </p:txBody>
      </p:sp>
      <p:sp>
        <p:nvSpPr>
          <p:cNvPr id="16" name="cpe|exhibit|fill|15"/>
          <p:cNvSpPr/>
          <p:nvPr/>
        </p:nvSpPr>
        <p:spPr>
          <a:xfrm>
            <a:off x="502920" y="2460879"/>
            <a:ext cx="2103120" cy="888111"/>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460879"/>
            <a:ext cx="1920240" cy="888111"/>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Commercial</a:t>
            </a:r>
          </a:p>
        </p:txBody>
      </p:sp>
      <p:sp>
        <p:nvSpPr>
          <p:cNvPr id="18" name="cpe|exhibit|fill|17"/>
          <p:cNvSpPr/>
          <p:nvPr/>
        </p:nvSpPr>
        <p:spPr>
          <a:xfrm>
            <a:off x="2697480" y="2460879"/>
            <a:ext cx="2734970" cy="888111"/>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752344" y="2460879"/>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Central pricing &amp; promo</a:t>
            </a:r>
          </a:p>
        </p:txBody>
      </p:sp>
      <p:sp>
        <p:nvSpPr>
          <p:cNvPr id="20" name="cpe|exhibit|fill|19"/>
          <p:cNvSpPr/>
          <p:nvPr/>
        </p:nvSpPr>
        <p:spPr>
          <a:xfrm>
            <a:off x="5505602" y="2460879"/>
            <a:ext cx="2734970" cy="888111"/>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5560466" y="2460879"/>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Category management</a:t>
            </a:r>
          </a:p>
        </p:txBody>
      </p:sp>
      <p:sp>
        <p:nvSpPr>
          <p:cNvPr id="22" name="cpe|exhibit|fill|21"/>
          <p:cNvSpPr/>
          <p:nvPr/>
        </p:nvSpPr>
        <p:spPr>
          <a:xfrm>
            <a:off x="8313725" y="2460879"/>
            <a:ext cx="2734970" cy="888111"/>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8368589" y="2460879"/>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Private label</a:t>
            </a:r>
          </a:p>
        </p:txBody>
      </p:sp>
      <p:sp>
        <p:nvSpPr>
          <p:cNvPr id="24" name="cpe|exhibit|fill|23"/>
          <p:cNvSpPr/>
          <p:nvPr/>
        </p:nvSpPr>
        <p:spPr>
          <a:xfrm>
            <a:off x="502920" y="3440430"/>
            <a:ext cx="2103120" cy="888111"/>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440430"/>
            <a:ext cx="1920240" cy="888111"/>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Operations</a:t>
            </a:r>
          </a:p>
        </p:txBody>
      </p:sp>
      <p:sp>
        <p:nvSpPr>
          <p:cNvPr id="26" name="cpe|exhibit|fill|25"/>
          <p:cNvSpPr/>
          <p:nvPr/>
        </p:nvSpPr>
        <p:spPr>
          <a:xfrm>
            <a:off x="2697480" y="3440430"/>
            <a:ext cx="2734970" cy="888111"/>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752344" y="3440430"/>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Stores</a:t>
            </a:r>
          </a:p>
        </p:txBody>
      </p:sp>
      <p:sp>
        <p:nvSpPr>
          <p:cNvPr id="28" name="cpe|exhibit|fill|27"/>
          <p:cNvSpPr/>
          <p:nvPr/>
        </p:nvSpPr>
        <p:spPr>
          <a:xfrm>
            <a:off x="5505602" y="3440430"/>
            <a:ext cx="2734970" cy="888111"/>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5560466" y="3440430"/>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Supply chain</a:t>
            </a:r>
          </a:p>
        </p:txBody>
      </p:sp>
      <p:sp>
        <p:nvSpPr>
          <p:cNvPr id="30" name="cpe|exhibit|fill|29"/>
          <p:cNvSpPr/>
          <p:nvPr/>
        </p:nvSpPr>
        <p:spPr>
          <a:xfrm>
            <a:off x="8313725" y="3440430"/>
            <a:ext cx="2734970" cy="888111"/>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8368589" y="3440430"/>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Fulfilment hubs</a:t>
            </a:r>
          </a:p>
        </p:txBody>
      </p:sp>
      <p:sp>
        <p:nvSpPr>
          <p:cNvPr id="32" name="cpe|exhibit|fill|31"/>
          <p:cNvSpPr/>
          <p:nvPr/>
        </p:nvSpPr>
        <p:spPr>
          <a:xfrm>
            <a:off x="502920" y="4419981"/>
            <a:ext cx="2103120" cy="888111"/>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4419981"/>
            <a:ext cx="1920240" cy="888111"/>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Enablers</a:t>
            </a:r>
          </a:p>
        </p:txBody>
      </p:sp>
      <p:sp>
        <p:nvSpPr>
          <p:cNvPr id="34" name="cpe|exhibit|fill|33"/>
          <p:cNvSpPr/>
          <p:nvPr/>
        </p:nvSpPr>
        <p:spPr>
          <a:xfrm>
            <a:off x="2697480" y="4419981"/>
            <a:ext cx="2734970" cy="888111"/>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752344" y="4419981"/>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Data &amp; analytics</a:t>
            </a:r>
          </a:p>
        </p:txBody>
      </p:sp>
      <p:sp>
        <p:nvSpPr>
          <p:cNvPr id="36" name="cpe|exhibit|fill|35"/>
          <p:cNvSpPr/>
          <p:nvPr/>
        </p:nvSpPr>
        <p:spPr>
          <a:xfrm>
            <a:off x="5505602" y="4419981"/>
            <a:ext cx="2734970" cy="888111"/>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5560466" y="4419981"/>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Technology</a:t>
            </a:r>
          </a:p>
        </p:txBody>
      </p:sp>
      <p:sp>
        <p:nvSpPr>
          <p:cNvPr id="38" name="cpe|exhibit|fill|37"/>
          <p:cNvSpPr/>
          <p:nvPr/>
        </p:nvSpPr>
        <p:spPr>
          <a:xfrm>
            <a:off x="8313725" y="4419981"/>
            <a:ext cx="2734970" cy="888111"/>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8368589" y="4419981"/>
            <a:ext cx="2625242" cy="888111"/>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People &amp; capabilities</a:t>
            </a:r>
          </a:p>
        </p:txBody>
      </p:sp>
      <p:sp>
        <p:nvSpPr>
          <p:cNvPr id="40" name="cpe|exhibit|fill|39"/>
          <p:cNvSpPr/>
          <p:nvPr/>
        </p:nvSpPr>
        <p:spPr>
          <a:xfrm>
            <a:off x="11121847" y="1481328"/>
            <a:ext cx="566928" cy="3826764"/>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11121847" y="1572768"/>
            <a:ext cx="566928" cy="3643884"/>
          </a:xfrm>
          <a:prstGeom prst="rect">
            <a:avLst/>
          </a:prstGeom>
          <a:noFill/>
        </p:spPr>
        <p:txBody>
          <a:bodyPr wrap="square" lIns="0" rIns="0" tIns="0" bIns="0" anchor="ctr" vert="vert270">
            <a:noAutofit/>
          </a:bodyPr>
          <a:lstStyle/>
          <a:p>
            <a:pPr algn="ctr">
              <a:lnSpc>
                <a:spcPct val="100000"/>
              </a:lnSpc>
            </a:pPr>
            <a:r>
              <a:rPr sz="1400" b="1">
                <a:solidFill>
                  <a:srgbClr val="1E252D"/>
                </a:solidFill>
                <a:latin typeface="Arial"/>
              </a:rPr>
              <a:t>Transformation office</a:t>
            </a:r>
          </a:p>
        </p:txBody>
      </p:sp>
      <p:cxnSp>
        <p:nvCxnSpPr>
          <p:cNvPr id="42" name="cpe|commentary|line|41"/>
          <p:cNvCxnSpPr/>
          <p:nvPr/>
        </p:nvCxnSpPr>
        <p:spPr>
          <a:xfrm>
            <a:off x="502920" y="5509260"/>
            <a:ext cx="11185855" cy="0"/>
          </a:xfrm>
          <a:prstGeom prst="line">
            <a:avLst/>
          </a:prstGeom>
          <a:ln w="9525">
            <a:solidFill>
              <a:srgbClr val="B7BFC8"/>
            </a:solidFill>
          </a:ln>
        </p:spPr>
      </p:cxnSp>
      <p:sp>
        <p:nvSpPr>
          <p:cNvPr id="43" name="cpe|commentary|text|42"/>
          <p:cNvSpPr txBox="1"/>
          <p:nvPr/>
        </p:nvSpPr>
        <p:spPr>
          <a:xfrm>
            <a:off x="502920" y="5646420"/>
            <a:ext cx="3594506" cy="553212"/>
          </a:xfrm>
          <a:prstGeom prst="rect">
            <a:avLst/>
          </a:prstGeom>
          <a:noFill/>
        </p:spPr>
        <p:txBody>
          <a:bodyPr wrap="square" lIns="0" rIns="0" tIns="0" bIns="0" anchor="t">
            <a:noAutofit/>
          </a:bodyPr>
          <a:lstStyle/>
          <a:p>
            <a:pPr algn="l">
              <a:lnSpc>
                <a:spcPct val="100000"/>
              </a:lnSpc>
            </a:pPr>
            <a:r>
              <a:rPr sz="1400" b="1">
                <a:solidFill>
                  <a:srgbClr val="1E252D"/>
                </a:solidFill>
                <a:latin typeface="Arial"/>
              </a:rPr>
              <a:t>New:</a:t>
            </a:r>
            <a:r>
              <a:rPr sz="1400" b="0">
                <a:solidFill>
                  <a:srgbClr val="1E252D"/>
                </a:solidFill>
                <a:latin typeface="Arial"/>
              </a:rPr>
              <a:t> discount banner, private label, fulfilment hubs</a:t>
            </a:r>
          </a:p>
        </p:txBody>
      </p:sp>
      <p:sp>
        <p:nvSpPr>
          <p:cNvPr id="44" name="cpe|commentary|text|43"/>
          <p:cNvSpPr txBox="1"/>
          <p:nvPr/>
        </p:nvSpPr>
        <p:spPr>
          <a:xfrm>
            <a:off x="4298594" y="5646420"/>
            <a:ext cx="3594506" cy="553212"/>
          </a:xfrm>
          <a:prstGeom prst="rect">
            <a:avLst/>
          </a:prstGeom>
          <a:noFill/>
        </p:spPr>
        <p:txBody>
          <a:bodyPr wrap="square" lIns="0" rIns="0" tIns="0" bIns="0" anchor="t">
            <a:noAutofit/>
          </a:bodyPr>
          <a:lstStyle/>
          <a:p>
            <a:pPr algn="l">
              <a:lnSpc>
                <a:spcPct val="100000"/>
              </a:lnSpc>
            </a:pPr>
            <a:r>
              <a:rPr sz="1400" b="1">
                <a:solidFill>
                  <a:srgbClr val="1E252D"/>
                </a:solidFill>
                <a:latin typeface="Arial"/>
              </a:rPr>
              <a:t>Changed:</a:t>
            </a:r>
            <a:r>
              <a:rPr sz="1400" b="0">
                <a:solidFill>
                  <a:srgbClr val="1E252D"/>
                </a:solidFill>
                <a:latin typeface="Arial"/>
              </a:rPr>
              <a:t> pricing moves to the centre; category teams own margin</a:t>
            </a:r>
          </a:p>
        </p:txBody>
      </p:sp>
      <p:sp>
        <p:nvSpPr>
          <p:cNvPr id="45" name="cpe|commentary|text|44"/>
          <p:cNvSpPr txBox="1"/>
          <p:nvPr/>
        </p:nvSpPr>
        <p:spPr>
          <a:xfrm>
            <a:off x="8094269" y="5646420"/>
            <a:ext cx="3594506" cy="553212"/>
          </a:xfrm>
          <a:prstGeom prst="rect">
            <a:avLst/>
          </a:prstGeom>
          <a:noFill/>
        </p:spPr>
        <p:txBody>
          <a:bodyPr wrap="square" lIns="0" rIns="0" tIns="0" bIns="0" anchor="t">
            <a:noAutofit/>
          </a:bodyPr>
          <a:lstStyle/>
          <a:p>
            <a:pPr algn="l">
              <a:lnSpc>
                <a:spcPct val="100000"/>
              </a:lnSpc>
            </a:pPr>
            <a:r>
              <a:rPr sz="1400" b="0">
                <a:solidFill>
                  <a:srgbClr val="1E252D"/>
                </a:solidFill>
                <a:latin typeface="Arial"/>
              </a:rPr>
              <a:t>A transformation office steers the programme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1478036" cy="1110996"/>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Propositions</a:t>
            </a:r>
          </a:p>
        </p:txBody>
      </p:sp>
      <p:sp>
        <p:nvSpPr>
          <p:cNvPr id="8" name="cpe|exhibit|fill|7"/>
          <p:cNvSpPr/>
          <p:nvPr/>
        </p:nvSpPr>
        <p:spPr>
          <a:xfrm>
            <a:off x="2072396" y="1481328"/>
            <a:ext cx="1240292" cy="1110996"/>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127260"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Discount banner</a:t>
            </a:r>
          </a:p>
        </p:txBody>
      </p:sp>
      <p:sp>
        <p:nvSpPr>
          <p:cNvPr id="10" name="cpe|exhibit|fill|9"/>
          <p:cNvSpPr/>
          <p:nvPr/>
        </p:nvSpPr>
        <p:spPr>
          <a:xfrm>
            <a:off x="3385840" y="1481328"/>
            <a:ext cx="1240292" cy="1110996"/>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3440704"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Supermarkets</a:t>
            </a:r>
          </a:p>
        </p:txBody>
      </p:sp>
      <p:sp>
        <p:nvSpPr>
          <p:cNvPr id="12" name="cpe|exhibit|fill|11"/>
          <p:cNvSpPr/>
          <p:nvPr/>
        </p:nvSpPr>
        <p:spPr>
          <a:xfrm>
            <a:off x="4699284" y="1481328"/>
            <a:ext cx="1240292" cy="1110996"/>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4754148"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Convenience</a:t>
            </a:r>
          </a:p>
        </p:txBody>
      </p:sp>
      <p:sp>
        <p:nvSpPr>
          <p:cNvPr id="14" name="cpe|exhibit|fill|13"/>
          <p:cNvSpPr/>
          <p:nvPr/>
        </p:nvSpPr>
        <p:spPr>
          <a:xfrm>
            <a:off x="6012729" y="1481328"/>
            <a:ext cx="1240292"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6067593"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Online</a:t>
            </a:r>
          </a:p>
        </p:txBody>
      </p:sp>
      <p:sp>
        <p:nvSpPr>
          <p:cNvPr id="16" name="cpe|exhibit|fill|15"/>
          <p:cNvSpPr/>
          <p:nvPr/>
        </p:nvSpPr>
        <p:spPr>
          <a:xfrm>
            <a:off x="502920" y="2683764"/>
            <a:ext cx="1478036" cy="1110996"/>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683764"/>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Commercial</a:t>
            </a:r>
          </a:p>
        </p:txBody>
      </p:sp>
      <p:sp>
        <p:nvSpPr>
          <p:cNvPr id="18" name="cpe|exhibit|fill|17"/>
          <p:cNvSpPr/>
          <p:nvPr/>
        </p:nvSpPr>
        <p:spPr>
          <a:xfrm>
            <a:off x="2072396"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127260"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Central pricing &amp; promo</a:t>
            </a:r>
          </a:p>
        </p:txBody>
      </p:sp>
      <p:sp>
        <p:nvSpPr>
          <p:cNvPr id="20" name="cpe|exhibit|fill|19"/>
          <p:cNvSpPr/>
          <p:nvPr/>
        </p:nvSpPr>
        <p:spPr>
          <a:xfrm>
            <a:off x="3823655"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3878519"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Category management</a:t>
            </a:r>
          </a:p>
        </p:txBody>
      </p:sp>
      <p:sp>
        <p:nvSpPr>
          <p:cNvPr id="22" name="cpe|exhibit|fill|21"/>
          <p:cNvSpPr/>
          <p:nvPr/>
        </p:nvSpPr>
        <p:spPr>
          <a:xfrm>
            <a:off x="5574914" y="2683764"/>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5629778"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Private label</a:t>
            </a:r>
          </a:p>
        </p:txBody>
      </p:sp>
      <p:sp>
        <p:nvSpPr>
          <p:cNvPr id="24" name="cpe|exhibit|fill|23"/>
          <p:cNvSpPr/>
          <p:nvPr/>
        </p:nvSpPr>
        <p:spPr>
          <a:xfrm>
            <a:off x="502920" y="3886200"/>
            <a:ext cx="1478036" cy="1110996"/>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886200"/>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Operations</a:t>
            </a:r>
          </a:p>
        </p:txBody>
      </p:sp>
      <p:sp>
        <p:nvSpPr>
          <p:cNvPr id="26" name="cpe|exhibit|fill|25"/>
          <p:cNvSpPr/>
          <p:nvPr/>
        </p:nvSpPr>
        <p:spPr>
          <a:xfrm>
            <a:off x="2072396" y="3886200"/>
            <a:ext cx="1678107" cy="1110996"/>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127260"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Stores</a:t>
            </a:r>
          </a:p>
        </p:txBody>
      </p:sp>
      <p:sp>
        <p:nvSpPr>
          <p:cNvPr id="28" name="cpe|exhibit|fill|27"/>
          <p:cNvSpPr/>
          <p:nvPr/>
        </p:nvSpPr>
        <p:spPr>
          <a:xfrm>
            <a:off x="3823655" y="3886200"/>
            <a:ext cx="1678107" cy="1110996"/>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3878519"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Supply chain</a:t>
            </a:r>
          </a:p>
        </p:txBody>
      </p:sp>
      <p:sp>
        <p:nvSpPr>
          <p:cNvPr id="30" name="cpe|exhibit|fill|29"/>
          <p:cNvSpPr/>
          <p:nvPr/>
        </p:nvSpPr>
        <p:spPr>
          <a:xfrm>
            <a:off x="5574914" y="3886200"/>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5629778"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Fulfilment hubs</a:t>
            </a:r>
          </a:p>
        </p:txBody>
      </p:sp>
      <p:sp>
        <p:nvSpPr>
          <p:cNvPr id="32" name="cpe|exhibit|fill|31"/>
          <p:cNvSpPr/>
          <p:nvPr/>
        </p:nvSpPr>
        <p:spPr>
          <a:xfrm>
            <a:off x="502920" y="5088636"/>
            <a:ext cx="1478036" cy="1110996"/>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5088636"/>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Enablers</a:t>
            </a:r>
          </a:p>
        </p:txBody>
      </p:sp>
      <p:sp>
        <p:nvSpPr>
          <p:cNvPr id="34" name="cpe|exhibit|fill|33"/>
          <p:cNvSpPr/>
          <p:nvPr/>
        </p:nvSpPr>
        <p:spPr>
          <a:xfrm>
            <a:off x="2072396" y="5088636"/>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127260"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Data &amp; analytics</a:t>
            </a:r>
          </a:p>
        </p:txBody>
      </p:sp>
      <p:sp>
        <p:nvSpPr>
          <p:cNvPr id="36" name="cpe|exhibit|fill|35"/>
          <p:cNvSpPr/>
          <p:nvPr/>
        </p:nvSpPr>
        <p:spPr>
          <a:xfrm>
            <a:off x="3823655" y="5088636"/>
            <a:ext cx="1678107" cy="1110996"/>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3878519"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Technology</a:t>
            </a:r>
          </a:p>
        </p:txBody>
      </p:sp>
      <p:sp>
        <p:nvSpPr>
          <p:cNvPr id="38" name="cpe|exhibit|fill|37"/>
          <p:cNvSpPr/>
          <p:nvPr/>
        </p:nvSpPr>
        <p:spPr>
          <a:xfrm>
            <a:off x="5574914" y="5088636"/>
            <a:ext cx="1678107" cy="1110996"/>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5629778"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People &amp; capabilities</a:t>
            </a:r>
          </a:p>
        </p:txBody>
      </p:sp>
      <p:sp>
        <p:nvSpPr>
          <p:cNvPr id="40" name="cpe|exhibit|fill|39"/>
          <p:cNvSpPr/>
          <p:nvPr/>
        </p:nvSpPr>
        <p:spPr>
          <a:xfrm>
            <a:off x="7326173" y="1481328"/>
            <a:ext cx="566928" cy="4718304"/>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7326173" y="1572768"/>
            <a:ext cx="566928" cy="4535424"/>
          </a:xfrm>
          <a:prstGeom prst="rect">
            <a:avLst/>
          </a:prstGeom>
          <a:noFill/>
        </p:spPr>
        <p:txBody>
          <a:bodyPr wrap="square" lIns="0" rIns="0" tIns="0" bIns="0" anchor="ctr" vert="vert270">
            <a:noAutofit/>
          </a:bodyPr>
          <a:lstStyle/>
          <a:p>
            <a:pPr algn="ctr">
              <a:lnSpc>
                <a:spcPct val="100000"/>
              </a:lnSpc>
            </a:pPr>
            <a:r>
              <a:rPr sz="1200" b="1">
                <a:solidFill>
                  <a:srgbClr val="1E252D"/>
                </a:solidFill>
                <a:latin typeface="Arial"/>
              </a:rPr>
              <a:t>Transformation office</a:t>
            </a:r>
          </a:p>
        </p:txBody>
      </p:sp>
      <p:cxnSp>
        <p:nvCxnSpPr>
          <p:cNvPr id="42" name="cpe|commentary|line|41"/>
          <p:cNvCxnSpPr/>
          <p:nvPr/>
        </p:nvCxnSpPr>
        <p:spPr>
          <a:xfrm>
            <a:off x="8094269" y="1481328"/>
            <a:ext cx="0" cy="4718304"/>
          </a:xfrm>
          <a:prstGeom prst="line">
            <a:avLst/>
          </a:prstGeom>
          <a:ln w="9525">
            <a:solidFill>
              <a:srgbClr val="B7BFC8"/>
            </a:solidFill>
          </a:ln>
        </p:spPr>
      </p:cxnSp>
      <p:sp>
        <p:nvSpPr>
          <p:cNvPr id="43" name="cpe|commentary|text|42"/>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New:</a:t>
            </a:r>
            <a:r>
              <a:rPr sz="1200" b="0">
                <a:solidFill>
                  <a:srgbClr val="1E252D"/>
                </a:solidFill>
                <a:latin typeface="Arial"/>
              </a:rPr>
              <a:t> discount banner, private label, fulfilment hubs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Changed:</a:t>
            </a:r>
            <a:r>
              <a:rPr sz="1200" b="0">
                <a:solidFill>
                  <a:srgbClr val="1E252D"/>
                </a:solidFill>
                <a:latin typeface="Arial"/>
              </a:rPr>
              <a:t> pricing moves to the centre; category teams own margin</a:t>
            </a:r>
          </a:p>
          <a:p>
            <a:pPr algn="l" marL="155448" indent="-155448">
              <a:lnSpc>
                <a:spcPct val="108000"/>
              </a:lnSpc>
              <a:buClr>
                <a:srgbClr val="1E252D"/>
              </a:buClr>
              <a:buSzPct val="100000"/>
              <a:buFont typeface="Arial"/>
              <a:buChar char="•"/>
            </a:pPr>
            <a:r>
              <a:rPr sz="1200" b="0">
                <a:solidFill>
                  <a:srgbClr val="1E252D"/>
                </a:solidFill>
                <a:latin typeface="Arial"/>
              </a:rPr>
              <a:t>A transformation office steers the programme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1478036" cy="1110996"/>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Propositions</a:t>
            </a:r>
          </a:p>
        </p:txBody>
      </p:sp>
      <p:sp>
        <p:nvSpPr>
          <p:cNvPr id="8" name="cpe|exhibit|fill|7"/>
          <p:cNvSpPr/>
          <p:nvPr/>
        </p:nvSpPr>
        <p:spPr>
          <a:xfrm>
            <a:off x="2072396" y="1481328"/>
            <a:ext cx="1240292" cy="1110996"/>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127260"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Discount banner</a:t>
            </a:r>
          </a:p>
        </p:txBody>
      </p:sp>
      <p:sp>
        <p:nvSpPr>
          <p:cNvPr id="10" name="cpe|exhibit|fill|9"/>
          <p:cNvSpPr/>
          <p:nvPr/>
        </p:nvSpPr>
        <p:spPr>
          <a:xfrm>
            <a:off x="3385840" y="1481328"/>
            <a:ext cx="1240292" cy="1110996"/>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3440704"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Supermarkets</a:t>
            </a:r>
          </a:p>
        </p:txBody>
      </p:sp>
      <p:sp>
        <p:nvSpPr>
          <p:cNvPr id="12" name="cpe|exhibit|fill|11"/>
          <p:cNvSpPr/>
          <p:nvPr/>
        </p:nvSpPr>
        <p:spPr>
          <a:xfrm>
            <a:off x="4699284" y="1481328"/>
            <a:ext cx="1240292" cy="1110996"/>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4754148"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Convenience</a:t>
            </a:r>
          </a:p>
        </p:txBody>
      </p:sp>
      <p:sp>
        <p:nvSpPr>
          <p:cNvPr id="14" name="cpe|exhibit|fill|13"/>
          <p:cNvSpPr/>
          <p:nvPr/>
        </p:nvSpPr>
        <p:spPr>
          <a:xfrm>
            <a:off x="6012729" y="1481328"/>
            <a:ext cx="1240292"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6067593"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Online</a:t>
            </a:r>
          </a:p>
        </p:txBody>
      </p:sp>
      <p:sp>
        <p:nvSpPr>
          <p:cNvPr id="16" name="cpe|exhibit|fill|15"/>
          <p:cNvSpPr/>
          <p:nvPr/>
        </p:nvSpPr>
        <p:spPr>
          <a:xfrm>
            <a:off x="502920" y="2683764"/>
            <a:ext cx="1478036" cy="1110996"/>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683764"/>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Commercial</a:t>
            </a:r>
          </a:p>
        </p:txBody>
      </p:sp>
      <p:sp>
        <p:nvSpPr>
          <p:cNvPr id="18" name="cpe|exhibit|fill|17"/>
          <p:cNvSpPr/>
          <p:nvPr/>
        </p:nvSpPr>
        <p:spPr>
          <a:xfrm>
            <a:off x="2072396"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127260"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Central pricing &amp; promo</a:t>
            </a:r>
          </a:p>
        </p:txBody>
      </p:sp>
      <p:sp>
        <p:nvSpPr>
          <p:cNvPr id="20" name="cpe|exhibit|fill|19"/>
          <p:cNvSpPr/>
          <p:nvPr/>
        </p:nvSpPr>
        <p:spPr>
          <a:xfrm>
            <a:off x="3823655"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3878519"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Category management</a:t>
            </a:r>
          </a:p>
        </p:txBody>
      </p:sp>
      <p:sp>
        <p:nvSpPr>
          <p:cNvPr id="22" name="cpe|exhibit|fill|21"/>
          <p:cNvSpPr/>
          <p:nvPr/>
        </p:nvSpPr>
        <p:spPr>
          <a:xfrm>
            <a:off x="5574914" y="2683764"/>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5629778"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Private label</a:t>
            </a:r>
          </a:p>
        </p:txBody>
      </p:sp>
      <p:sp>
        <p:nvSpPr>
          <p:cNvPr id="24" name="cpe|exhibit|fill|23"/>
          <p:cNvSpPr/>
          <p:nvPr/>
        </p:nvSpPr>
        <p:spPr>
          <a:xfrm>
            <a:off x="502920" y="3886200"/>
            <a:ext cx="1478036" cy="1110996"/>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886200"/>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Operations</a:t>
            </a:r>
          </a:p>
        </p:txBody>
      </p:sp>
      <p:sp>
        <p:nvSpPr>
          <p:cNvPr id="26" name="cpe|exhibit|fill|25"/>
          <p:cNvSpPr/>
          <p:nvPr/>
        </p:nvSpPr>
        <p:spPr>
          <a:xfrm>
            <a:off x="2072396" y="3886200"/>
            <a:ext cx="1678107" cy="1110996"/>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127260"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Stores</a:t>
            </a:r>
          </a:p>
        </p:txBody>
      </p:sp>
      <p:sp>
        <p:nvSpPr>
          <p:cNvPr id="28" name="cpe|exhibit|fill|27"/>
          <p:cNvSpPr/>
          <p:nvPr/>
        </p:nvSpPr>
        <p:spPr>
          <a:xfrm>
            <a:off x="3823655" y="3886200"/>
            <a:ext cx="1678107" cy="1110996"/>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3878519"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Supply chain</a:t>
            </a:r>
          </a:p>
        </p:txBody>
      </p:sp>
      <p:sp>
        <p:nvSpPr>
          <p:cNvPr id="30" name="cpe|exhibit|fill|29"/>
          <p:cNvSpPr/>
          <p:nvPr/>
        </p:nvSpPr>
        <p:spPr>
          <a:xfrm>
            <a:off x="5574914" y="3886200"/>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5629778"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Fulfilment hubs</a:t>
            </a:r>
          </a:p>
        </p:txBody>
      </p:sp>
      <p:sp>
        <p:nvSpPr>
          <p:cNvPr id="32" name="cpe|exhibit|fill|31"/>
          <p:cNvSpPr/>
          <p:nvPr/>
        </p:nvSpPr>
        <p:spPr>
          <a:xfrm>
            <a:off x="502920" y="5088636"/>
            <a:ext cx="1478036" cy="1110996"/>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5088636"/>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Enablers</a:t>
            </a:r>
          </a:p>
        </p:txBody>
      </p:sp>
      <p:sp>
        <p:nvSpPr>
          <p:cNvPr id="34" name="cpe|exhibit|fill|33"/>
          <p:cNvSpPr/>
          <p:nvPr/>
        </p:nvSpPr>
        <p:spPr>
          <a:xfrm>
            <a:off x="2072396" y="5088636"/>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127260"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Data &amp; analytics</a:t>
            </a:r>
          </a:p>
        </p:txBody>
      </p:sp>
      <p:sp>
        <p:nvSpPr>
          <p:cNvPr id="36" name="cpe|exhibit|fill|35"/>
          <p:cNvSpPr/>
          <p:nvPr/>
        </p:nvSpPr>
        <p:spPr>
          <a:xfrm>
            <a:off x="3823655" y="5088636"/>
            <a:ext cx="1678107" cy="1110996"/>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3878519"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Technology</a:t>
            </a:r>
          </a:p>
        </p:txBody>
      </p:sp>
      <p:sp>
        <p:nvSpPr>
          <p:cNvPr id="38" name="cpe|exhibit|fill|37"/>
          <p:cNvSpPr/>
          <p:nvPr/>
        </p:nvSpPr>
        <p:spPr>
          <a:xfrm>
            <a:off x="5574914" y="5088636"/>
            <a:ext cx="1678107" cy="1110996"/>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5629778"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People &amp; capabilities</a:t>
            </a:r>
          </a:p>
        </p:txBody>
      </p:sp>
      <p:sp>
        <p:nvSpPr>
          <p:cNvPr id="40" name="cpe|exhibit|fill|39"/>
          <p:cNvSpPr/>
          <p:nvPr/>
        </p:nvSpPr>
        <p:spPr>
          <a:xfrm>
            <a:off x="7326173" y="1481328"/>
            <a:ext cx="566928" cy="4718304"/>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7326173" y="1572768"/>
            <a:ext cx="566928" cy="4535424"/>
          </a:xfrm>
          <a:prstGeom prst="rect">
            <a:avLst/>
          </a:prstGeom>
          <a:noFill/>
        </p:spPr>
        <p:txBody>
          <a:bodyPr wrap="square" lIns="0" rIns="0" tIns="0" bIns="0" anchor="ctr" vert="vert270">
            <a:noAutofit/>
          </a:bodyPr>
          <a:lstStyle/>
          <a:p>
            <a:pPr algn="ctr">
              <a:lnSpc>
                <a:spcPct val="100000"/>
              </a:lnSpc>
            </a:pPr>
            <a:r>
              <a:rPr sz="1400" b="1">
                <a:solidFill>
                  <a:srgbClr val="1E252D"/>
                </a:solidFill>
                <a:latin typeface="Arial"/>
              </a:rPr>
              <a:t>Transformation office</a:t>
            </a:r>
          </a:p>
        </p:txBody>
      </p:sp>
      <p:cxnSp>
        <p:nvCxnSpPr>
          <p:cNvPr id="42" name="cpe|commentary|line|41"/>
          <p:cNvCxnSpPr/>
          <p:nvPr/>
        </p:nvCxnSpPr>
        <p:spPr>
          <a:xfrm>
            <a:off x="8094269" y="1481328"/>
            <a:ext cx="0" cy="4718304"/>
          </a:xfrm>
          <a:prstGeom prst="line">
            <a:avLst/>
          </a:prstGeom>
          <a:ln w="9525">
            <a:solidFill>
              <a:srgbClr val="B7BFC8"/>
            </a:solidFill>
          </a:ln>
        </p:spPr>
      </p:cxnSp>
      <p:sp>
        <p:nvSpPr>
          <p:cNvPr id="43" name="cpe|commentary|text|42"/>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New:</a:t>
            </a:r>
            <a:r>
              <a:rPr sz="1400" b="0">
                <a:solidFill>
                  <a:srgbClr val="1E252D"/>
                </a:solidFill>
                <a:latin typeface="Arial"/>
              </a:rPr>
              <a:t> discount banner, private label, fulfilment hubs</a:t>
            </a:r>
          </a:p>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Changed:</a:t>
            </a:r>
            <a:r>
              <a:rPr sz="1400" b="0">
                <a:solidFill>
                  <a:srgbClr val="1E252D"/>
                </a:solidFill>
                <a:latin typeface="Arial"/>
              </a:rPr>
              <a:t> pricing moves to the centre; category teams own margin</a:t>
            </a:r>
          </a:p>
          <a:p>
            <a:pPr algn="l" marL="155448" indent="-155448">
              <a:lnSpc>
                <a:spcPct val="108000"/>
              </a:lnSpc>
              <a:buClr>
                <a:srgbClr val="1E252D"/>
              </a:buClr>
              <a:buSzPct val="100000"/>
              <a:buFont typeface="Arial"/>
              <a:buChar char="•"/>
            </a:pPr>
            <a:r>
              <a:rPr sz="1400" b="0">
                <a:solidFill>
                  <a:srgbClr val="1E252D"/>
                </a:solidFill>
                <a:latin typeface="Arial"/>
              </a:rPr>
              <a:t>A transformation office steers the programme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1478036" cy="1110996"/>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Propositions</a:t>
            </a:r>
          </a:p>
        </p:txBody>
      </p:sp>
      <p:sp>
        <p:nvSpPr>
          <p:cNvPr id="8" name="cpe|exhibit|fill|7"/>
          <p:cNvSpPr/>
          <p:nvPr/>
        </p:nvSpPr>
        <p:spPr>
          <a:xfrm>
            <a:off x="2072396" y="1481328"/>
            <a:ext cx="1240292" cy="1110996"/>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127260"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Discount banner</a:t>
            </a:r>
          </a:p>
        </p:txBody>
      </p:sp>
      <p:sp>
        <p:nvSpPr>
          <p:cNvPr id="10" name="cpe|exhibit|fill|9"/>
          <p:cNvSpPr/>
          <p:nvPr/>
        </p:nvSpPr>
        <p:spPr>
          <a:xfrm>
            <a:off x="3385840" y="1481328"/>
            <a:ext cx="1240292" cy="1110996"/>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3440704"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Supermarkets</a:t>
            </a:r>
          </a:p>
        </p:txBody>
      </p:sp>
      <p:sp>
        <p:nvSpPr>
          <p:cNvPr id="12" name="cpe|exhibit|fill|11"/>
          <p:cNvSpPr/>
          <p:nvPr/>
        </p:nvSpPr>
        <p:spPr>
          <a:xfrm>
            <a:off x="4699284" y="1481328"/>
            <a:ext cx="1240292" cy="1110996"/>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4754148"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Convenience</a:t>
            </a:r>
          </a:p>
        </p:txBody>
      </p:sp>
      <p:sp>
        <p:nvSpPr>
          <p:cNvPr id="14" name="cpe|exhibit|fill|13"/>
          <p:cNvSpPr/>
          <p:nvPr/>
        </p:nvSpPr>
        <p:spPr>
          <a:xfrm>
            <a:off x="6012729" y="1481328"/>
            <a:ext cx="1240292"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6067593" y="1481328"/>
            <a:ext cx="1130564"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Online</a:t>
            </a:r>
          </a:p>
        </p:txBody>
      </p:sp>
      <p:sp>
        <p:nvSpPr>
          <p:cNvPr id="16" name="cpe|exhibit|fill|15"/>
          <p:cNvSpPr/>
          <p:nvPr/>
        </p:nvSpPr>
        <p:spPr>
          <a:xfrm>
            <a:off x="502920" y="2683764"/>
            <a:ext cx="1478036" cy="1110996"/>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683764"/>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Commercial</a:t>
            </a:r>
          </a:p>
        </p:txBody>
      </p:sp>
      <p:sp>
        <p:nvSpPr>
          <p:cNvPr id="18" name="cpe|exhibit|fill|17"/>
          <p:cNvSpPr/>
          <p:nvPr/>
        </p:nvSpPr>
        <p:spPr>
          <a:xfrm>
            <a:off x="2072396"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127260"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Central pricing &amp; promo</a:t>
            </a:r>
          </a:p>
        </p:txBody>
      </p:sp>
      <p:sp>
        <p:nvSpPr>
          <p:cNvPr id="20" name="cpe|exhibit|fill|19"/>
          <p:cNvSpPr/>
          <p:nvPr/>
        </p:nvSpPr>
        <p:spPr>
          <a:xfrm>
            <a:off x="3823655"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3878519"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Category management</a:t>
            </a:r>
          </a:p>
        </p:txBody>
      </p:sp>
      <p:sp>
        <p:nvSpPr>
          <p:cNvPr id="22" name="cpe|exhibit|fill|21"/>
          <p:cNvSpPr/>
          <p:nvPr/>
        </p:nvSpPr>
        <p:spPr>
          <a:xfrm>
            <a:off x="5574914" y="2683764"/>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5629778" y="2683764"/>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Private label</a:t>
            </a:r>
          </a:p>
        </p:txBody>
      </p:sp>
      <p:sp>
        <p:nvSpPr>
          <p:cNvPr id="24" name="cpe|exhibit|fill|23"/>
          <p:cNvSpPr/>
          <p:nvPr/>
        </p:nvSpPr>
        <p:spPr>
          <a:xfrm>
            <a:off x="502920" y="3886200"/>
            <a:ext cx="1478036" cy="1110996"/>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886200"/>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Operations</a:t>
            </a:r>
          </a:p>
        </p:txBody>
      </p:sp>
      <p:sp>
        <p:nvSpPr>
          <p:cNvPr id="26" name="cpe|exhibit|fill|25"/>
          <p:cNvSpPr/>
          <p:nvPr/>
        </p:nvSpPr>
        <p:spPr>
          <a:xfrm>
            <a:off x="2072396" y="3886200"/>
            <a:ext cx="1678107" cy="1110996"/>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127260"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Stores</a:t>
            </a:r>
          </a:p>
        </p:txBody>
      </p:sp>
      <p:sp>
        <p:nvSpPr>
          <p:cNvPr id="28" name="cpe|exhibit|fill|27"/>
          <p:cNvSpPr/>
          <p:nvPr/>
        </p:nvSpPr>
        <p:spPr>
          <a:xfrm>
            <a:off x="3823655" y="3886200"/>
            <a:ext cx="1678107" cy="1110996"/>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3878519"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Supply chain</a:t>
            </a:r>
          </a:p>
        </p:txBody>
      </p:sp>
      <p:sp>
        <p:nvSpPr>
          <p:cNvPr id="30" name="cpe|exhibit|fill|29"/>
          <p:cNvSpPr/>
          <p:nvPr/>
        </p:nvSpPr>
        <p:spPr>
          <a:xfrm>
            <a:off x="5574914" y="3886200"/>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5629778" y="3886200"/>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Fulfilment hubs</a:t>
            </a:r>
          </a:p>
        </p:txBody>
      </p:sp>
      <p:sp>
        <p:nvSpPr>
          <p:cNvPr id="32" name="cpe|exhibit|fill|31"/>
          <p:cNvSpPr/>
          <p:nvPr/>
        </p:nvSpPr>
        <p:spPr>
          <a:xfrm>
            <a:off x="502920" y="5088636"/>
            <a:ext cx="1478036" cy="1110996"/>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5088636"/>
            <a:ext cx="1295156" cy="1110996"/>
          </a:xfrm>
          <a:prstGeom prst="rect">
            <a:avLst/>
          </a:prstGeom>
          <a:noFill/>
        </p:spPr>
        <p:txBody>
          <a:bodyPr wrap="square" lIns="0" rIns="0" tIns="0" bIns="0" anchor="ctr">
            <a:noAutofit/>
          </a:bodyPr>
          <a:lstStyle/>
          <a:p>
            <a:pPr algn="l">
              <a:lnSpc>
                <a:spcPct val="100000"/>
              </a:lnSpc>
            </a:pPr>
            <a:r>
              <a:rPr sz="1200" b="0">
                <a:solidFill>
                  <a:srgbClr val="FFFFFF"/>
                </a:solidFill>
                <a:latin typeface="Arial"/>
              </a:rPr>
              <a:t>Enablers</a:t>
            </a:r>
          </a:p>
        </p:txBody>
      </p:sp>
      <p:sp>
        <p:nvSpPr>
          <p:cNvPr id="34" name="cpe|exhibit|fill|33"/>
          <p:cNvSpPr/>
          <p:nvPr/>
        </p:nvSpPr>
        <p:spPr>
          <a:xfrm>
            <a:off x="2072396" y="5088636"/>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127260"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Data &amp; analytics</a:t>
            </a:r>
          </a:p>
        </p:txBody>
      </p:sp>
      <p:sp>
        <p:nvSpPr>
          <p:cNvPr id="36" name="cpe|exhibit|fill|35"/>
          <p:cNvSpPr/>
          <p:nvPr/>
        </p:nvSpPr>
        <p:spPr>
          <a:xfrm>
            <a:off x="3823655" y="5088636"/>
            <a:ext cx="1678107" cy="1110996"/>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3878519"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Technology</a:t>
            </a:r>
          </a:p>
        </p:txBody>
      </p:sp>
      <p:sp>
        <p:nvSpPr>
          <p:cNvPr id="38" name="cpe|exhibit|fill|37"/>
          <p:cNvSpPr/>
          <p:nvPr/>
        </p:nvSpPr>
        <p:spPr>
          <a:xfrm>
            <a:off x="5574914" y="5088636"/>
            <a:ext cx="1678107" cy="1110996"/>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5629778" y="5088636"/>
            <a:ext cx="1568379" cy="1110996"/>
          </a:xfrm>
          <a:prstGeom prst="rect">
            <a:avLst/>
          </a:prstGeom>
          <a:noFill/>
        </p:spPr>
        <p:txBody>
          <a:bodyPr wrap="square" lIns="0" rIns="0" tIns="0" bIns="0" anchor="ctr">
            <a:noAutofit/>
          </a:bodyPr>
          <a:lstStyle/>
          <a:p>
            <a:pPr algn="ctr">
              <a:lnSpc>
                <a:spcPct val="100000"/>
              </a:lnSpc>
            </a:pPr>
            <a:r>
              <a:rPr sz="1200" b="0">
                <a:solidFill>
                  <a:srgbClr val="1E252D"/>
                </a:solidFill>
                <a:latin typeface="Arial"/>
              </a:rPr>
              <a:t>People &amp; capabilities</a:t>
            </a:r>
          </a:p>
        </p:txBody>
      </p:sp>
      <p:sp>
        <p:nvSpPr>
          <p:cNvPr id="40" name="cpe|exhibit|fill|39"/>
          <p:cNvSpPr/>
          <p:nvPr/>
        </p:nvSpPr>
        <p:spPr>
          <a:xfrm>
            <a:off x="7326173" y="1481328"/>
            <a:ext cx="566928" cy="4718304"/>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7326173" y="1572768"/>
            <a:ext cx="566928" cy="4535424"/>
          </a:xfrm>
          <a:prstGeom prst="rect">
            <a:avLst/>
          </a:prstGeom>
          <a:noFill/>
        </p:spPr>
        <p:txBody>
          <a:bodyPr wrap="square" lIns="0" rIns="0" tIns="0" bIns="0" anchor="ctr" vert="vert270">
            <a:noAutofit/>
          </a:bodyPr>
          <a:lstStyle/>
          <a:p>
            <a:pPr algn="ctr">
              <a:lnSpc>
                <a:spcPct val="100000"/>
              </a:lnSpc>
            </a:pPr>
            <a:r>
              <a:rPr sz="1200" b="1">
                <a:solidFill>
                  <a:srgbClr val="1E252D"/>
                </a:solidFill>
                <a:latin typeface="Arial"/>
              </a:rPr>
              <a:t>Transformation office</a:t>
            </a:r>
          </a:p>
        </p:txBody>
      </p:sp>
      <p:cxnSp>
        <p:nvCxnSpPr>
          <p:cNvPr id="42" name="cpe|commentary|line|41"/>
          <p:cNvCxnSpPr/>
          <p:nvPr/>
        </p:nvCxnSpPr>
        <p:spPr>
          <a:xfrm>
            <a:off x="8094269" y="1481328"/>
            <a:ext cx="0" cy="4718304"/>
          </a:xfrm>
          <a:prstGeom prst="line">
            <a:avLst/>
          </a:prstGeom>
          <a:ln w="9525">
            <a:solidFill>
              <a:srgbClr val="B7BFC8"/>
            </a:solidFill>
          </a:ln>
        </p:spPr>
      </p:cxnSp>
      <p:sp>
        <p:nvSpPr>
          <p:cNvPr id="43" name="cpe|commentary|text|42"/>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New:</a:t>
            </a:r>
            <a:r>
              <a:rPr sz="1200" b="0">
                <a:solidFill>
                  <a:srgbClr val="1E252D"/>
                </a:solidFill>
                <a:latin typeface="Arial"/>
              </a:rPr>
              <a:t> discount banner, private label, fulfilment hubs</a:t>
            </a:r>
          </a:p>
          <a:p>
            <a:pPr algn="l" marL="155448" indent="-155448">
              <a:lnSpc>
                <a:spcPct val="108000"/>
              </a:lnSpc>
              <a:spcAft>
                <a:spcPts val="800"/>
              </a:spcAft>
              <a:buClr>
                <a:srgbClr val="1E252D"/>
              </a:buClr>
              <a:buSzPct val="100000"/>
              <a:buFont typeface="Arial"/>
              <a:buChar char="•"/>
            </a:pPr>
            <a:r>
              <a:rPr sz="1200" b="1">
                <a:solidFill>
                  <a:srgbClr val="1E252D"/>
                </a:solidFill>
                <a:latin typeface="Arial"/>
              </a:rPr>
              <a:t>Changed:</a:t>
            </a:r>
            <a:r>
              <a:rPr sz="1200" b="0">
                <a:solidFill>
                  <a:srgbClr val="1E252D"/>
                </a:solidFill>
                <a:latin typeface="Arial"/>
              </a:rPr>
              <a:t> pricing moves to the centre; category teams own margin</a:t>
            </a:r>
          </a:p>
          <a:p>
            <a:pPr algn="l" marL="155448" indent="-155448">
              <a:lnSpc>
                <a:spcPct val="108000"/>
              </a:lnSpc>
              <a:buClr>
                <a:srgbClr val="1E252D"/>
              </a:buClr>
              <a:buSzPct val="100000"/>
              <a:buFont typeface="Arial"/>
              <a:buChar char="•"/>
            </a:pPr>
            <a:r>
              <a:rPr sz="1200" b="0">
                <a:solidFill>
                  <a:srgbClr val="1E252D"/>
                </a:solidFill>
                <a:latin typeface="Arial"/>
              </a:rPr>
              <a:t>A transformation office steers the programme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OPERATING MODEL</a:t>
            </a:r>
          </a:p>
        </p:txBody>
      </p:sp>
      <p:sp>
        <p:nvSpPr>
          <p:cNvPr id="3" name="cpe|chrome|text|2"/>
          <p:cNvSpPr txBox="1"/>
          <p:nvPr/>
        </p:nvSpPr>
        <p:spPr>
          <a:xfrm>
            <a:off x="502920" y="475488"/>
            <a:ext cx="6382527"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target model adds a discount banner and central pricing to fund the growth moves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Team analysis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9</a:t>
            </a:r>
          </a:p>
        </p:txBody>
      </p:sp>
      <p:sp>
        <p:nvSpPr>
          <p:cNvPr id="6" name="cpe|exhibit|fill|5"/>
          <p:cNvSpPr/>
          <p:nvPr/>
        </p:nvSpPr>
        <p:spPr>
          <a:xfrm>
            <a:off x="502920" y="1481328"/>
            <a:ext cx="1478036" cy="1110996"/>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594360" y="1481328"/>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Propositions</a:t>
            </a:r>
          </a:p>
        </p:txBody>
      </p:sp>
      <p:sp>
        <p:nvSpPr>
          <p:cNvPr id="8" name="cpe|exhibit|fill|7"/>
          <p:cNvSpPr/>
          <p:nvPr/>
        </p:nvSpPr>
        <p:spPr>
          <a:xfrm>
            <a:off x="2072396" y="1481328"/>
            <a:ext cx="1240292" cy="1110996"/>
          </a:xfrm>
          <a:prstGeom prst="rect">
            <a:avLst/>
          </a:prstGeom>
          <a:solidFill>
            <a:srgbClr val="00A3AD"/>
          </a:solidFill>
          <a:ln w="19050">
            <a:solidFill>
              <a:srgbClr val="00A3AD"/>
            </a:solidFill>
          </a:ln>
        </p:spPr>
        <p:txBody>
          <a:bodyPr rtlCol="0" anchor="ctr" lIns="0" rIns="0" tIns="0" bIns="0"/>
          <a:lstStyle/>
          <a:p>
            <a:pPr algn="ctr"/>
          </a:p>
        </p:txBody>
      </p:sp>
      <p:sp>
        <p:nvSpPr>
          <p:cNvPr id="9" name="cpe|exhibit|text|8"/>
          <p:cNvSpPr txBox="1"/>
          <p:nvPr/>
        </p:nvSpPr>
        <p:spPr>
          <a:xfrm>
            <a:off x="2127260"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Discount banner</a:t>
            </a:r>
          </a:p>
        </p:txBody>
      </p:sp>
      <p:sp>
        <p:nvSpPr>
          <p:cNvPr id="10" name="cpe|exhibit|fill|9"/>
          <p:cNvSpPr/>
          <p:nvPr/>
        </p:nvSpPr>
        <p:spPr>
          <a:xfrm>
            <a:off x="3385840" y="1481328"/>
            <a:ext cx="1240292" cy="1110996"/>
          </a:xfrm>
          <a:prstGeom prst="rect">
            <a:avLst/>
          </a:prstGeom>
          <a:solidFill>
            <a:srgbClr val="EEF1F4"/>
          </a:solidFill>
          <a:ln>
            <a:noFill/>
          </a:ln>
        </p:spPr>
        <p:txBody>
          <a:bodyPr rtlCol="0" anchor="ctr" lIns="0" rIns="0" tIns="0" bIns="0"/>
          <a:lstStyle/>
          <a:p>
            <a:pPr algn="ctr"/>
          </a:p>
        </p:txBody>
      </p:sp>
      <p:sp>
        <p:nvSpPr>
          <p:cNvPr id="11" name="cpe|exhibit|text|10"/>
          <p:cNvSpPr txBox="1"/>
          <p:nvPr/>
        </p:nvSpPr>
        <p:spPr>
          <a:xfrm>
            <a:off x="3440704"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Supermarkets</a:t>
            </a:r>
          </a:p>
        </p:txBody>
      </p:sp>
      <p:sp>
        <p:nvSpPr>
          <p:cNvPr id="12" name="cpe|exhibit|fill|11"/>
          <p:cNvSpPr/>
          <p:nvPr/>
        </p:nvSpPr>
        <p:spPr>
          <a:xfrm>
            <a:off x="4699284" y="1481328"/>
            <a:ext cx="1240292" cy="1110996"/>
          </a:xfrm>
          <a:prstGeom prst="rect">
            <a:avLst/>
          </a:prstGeom>
          <a:solidFill>
            <a:srgbClr val="EEF1F4"/>
          </a:solidFill>
          <a:ln>
            <a:noFill/>
          </a:ln>
        </p:spPr>
        <p:txBody>
          <a:bodyPr rtlCol="0" anchor="ctr" lIns="0" rIns="0" tIns="0" bIns="0"/>
          <a:lstStyle/>
          <a:p>
            <a:pPr algn="ctr"/>
          </a:p>
        </p:txBody>
      </p:sp>
      <p:sp>
        <p:nvSpPr>
          <p:cNvPr id="13" name="cpe|exhibit|text|12"/>
          <p:cNvSpPr txBox="1"/>
          <p:nvPr/>
        </p:nvSpPr>
        <p:spPr>
          <a:xfrm>
            <a:off x="4754148"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Convenience</a:t>
            </a:r>
          </a:p>
        </p:txBody>
      </p:sp>
      <p:sp>
        <p:nvSpPr>
          <p:cNvPr id="14" name="cpe|exhibit|fill|13"/>
          <p:cNvSpPr/>
          <p:nvPr/>
        </p:nvSpPr>
        <p:spPr>
          <a:xfrm>
            <a:off x="6012729" y="1481328"/>
            <a:ext cx="1240292"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5" name="cpe|exhibit|text|14"/>
          <p:cNvSpPr txBox="1"/>
          <p:nvPr/>
        </p:nvSpPr>
        <p:spPr>
          <a:xfrm>
            <a:off x="6067593" y="1481328"/>
            <a:ext cx="1130564"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Online</a:t>
            </a:r>
          </a:p>
        </p:txBody>
      </p:sp>
      <p:sp>
        <p:nvSpPr>
          <p:cNvPr id="16" name="cpe|exhibit|fill|15"/>
          <p:cNvSpPr/>
          <p:nvPr/>
        </p:nvSpPr>
        <p:spPr>
          <a:xfrm>
            <a:off x="502920" y="2683764"/>
            <a:ext cx="1478036" cy="1110996"/>
          </a:xfrm>
          <a:prstGeom prst="rect">
            <a:avLst/>
          </a:prstGeom>
          <a:solidFill>
            <a:srgbClr val="3D6399"/>
          </a:solidFill>
          <a:ln>
            <a:noFill/>
          </a:ln>
        </p:spPr>
        <p:txBody>
          <a:bodyPr rtlCol="0" anchor="ctr" lIns="0" rIns="0" tIns="0" bIns="0"/>
          <a:lstStyle/>
          <a:p>
            <a:pPr algn="ctr"/>
          </a:p>
        </p:txBody>
      </p:sp>
      <p:sp>
        <p:nvSpPr>
          <p:cNvPr id="17" name="cpe|exhibit|text|16"/>
          <p:cNvSpPr txBox="1"/>
          <p:nvPr/>
        </p:nvSpPr>
        <p:spPr>
          <a:xfrm>
            <a:off x="594360" y="2683764"/>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Commercial</a:t>
            </a:r>
          </a:p>
        </p:txBody>
      </p:sp>
      <p:sp>
        <p:nvSpPr>
          <p:cNvPr id="18" name="cpe|exhibit|fill|17"/>
          <p:cNvSpPr/>
          <p:nvPr/>
        </p:nvSpPr>
        <p:spPr>
          <a:xfrm>
            <a:off x="2072396"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19" name="cpe|exhibit|text|18"/>
          <p:cNvSpPr txBox="1"/>
          <p:nvPr/>
        </p:nvSpPr>
        <p:spPr>
          <a:xfrm>
            <a:off x="2127260"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Central pricing &amp; promo</a:t>
            </a:r>
          </a:p>
        </p:txBody>
      </p:sp>
      <p:sp>
        <p:nvSpPr>
          <p:cNvPr id="20" name="cpe|exhibit|fill|19"/>
          <p:cNvSpPr/>
          <p:nvPr/>
        </p:nvSpPr>
        <p:spPr>
          <a:xfrm>
            <a:off x="3823655" y="2683764"/>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21" name="cpe|exhibit|text|20"/>
          <p:cNvSpPr txBox="1"/>
          <p:nvPr/>
        </p:nvSpPr>
        <p:spPr>
          <a:xfrm>
            <a:off x="3878519"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Category management</a:t>
            </a:r>
          </a:p>
        </p:txBody>
      </p:sp>
      <p:sp>
        <p:nvSpPr>
          <p:cNvPr id="22" name="cpe|exhibit|fill|21"/>
          <p:cNvSpPr/>
          <p:nvPr/>
        </p:nvSpPr>
        <p:spPr>
          <a:xfrm>
            <a:off x="5574914" y="2683764"/>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23" name="cpe|exhibit|text|22"/>
          <p:cNvSpPr txBox="1"/>
          <p:nvPr/>
        </p:nvSpPr>
        <p:spPr>
          <a:xfrm>
            <a:off x="5629778" y="2683764"/>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Private label</a:t>
            </a:r>
          </a:p>
        </p:txBody>
      </p:sp>
      <p:sp>
        <p:nvSpPr>
          <p:cNvPr id="24" name="cpe|exhibit|fill|23"/>
          <p:cNvSpPr/>
          <p:nvPr/>
        </p:nvSpPr>
        <p:spPr>
          <a:xfrm>
            <a:off x="502920" y="3886200"/>
            <a:ext cx="1478036" cy="1110996"/>
          </a:xfrm>
          <a:prstGeom prst="rect">
            <a:avLst/>
          </a:prstGeom>
          <a:solidFill>
            <a:srgbClr val="3D6399"/>
          </a:solidFill>
          <a:ln>
            <a:noFill/>
          </a:ln>
        </p:spPr>
        <p:txBody>
          <a:bodyPr rtlCol="0" anchor="ctr" lIns="0" rIns="0" tIns="0" bIns="0"/>
          <a:lstStyle/>
          <a:p>
            <a:pPr algn="ctr"/>
          </a:p>
        </p:txBody>
      </p:sp>
      <p:sp>
        <p:nvSpPr>
          <p:cNvPr id="25" name="cpe|exhibit|text|24"/>
          <p:cNvSpPr txBox="1"/>
          <p:nvPr/>
        </p:nvSpPr>
        <p:spPr>
          <a:xfrm>
            <a:off x="594360" y="3886200"/>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Operations</a:t>
            </a:r>
          </a:p>
        </p:txBody>
      </p:sp>
      <p:sp>
        <p:nvSpPr>
          <p:cNvPr id="26" name="cpe|exhibit|fill|25"/>
          <p:cNvSpPr/>
          <p:nvPr/>
        </p:nvSpPr>
        <p:spPr>
          <a:xfrm>
            <a:off x="2072396" y="3886200"/>
            <a:ext cx="1678107" cy="1110996"/>
          </a:xfrm>
          <a:prstGeom prst="rect">
            <a:avLst/>
          </a:prstGeom>
          <a:solidFill>
            <a:srgbClr val="EEF1F4"/>
          </a:solidFill>
          <a:ln>
            <a:noFill/>
          </a:ln>
        </p:spPr>
        <p:txBody>
          <a:bodyPr rtlCol="0" anchor="ctr" lIns="0" rIns="0" tIns="0" bIns="0"/>
          <a:lstStyle/>
          <a:p>
            <a:pPr algn="ctr"/>
          </a:p>
        </p:txBody>
      </p:sp>
      <p:sp>
        <p:nvSpPr>
          <p:cNvPr id="27" name="cpe|exhibit|text|26"/>
          <p:cNvSpPr txBox="1"/>
          <p:nvPr/>
        </p:nvSpPr>
        <p:spPr>
          <a:xfrm>
            <a:off x="2127260"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Stores</a:t>
            </a:r>
          </a:p>
        </p:txBody>
      </p:sp>
      <p:sp>
        <p:nvSpPr>
          <p:cNvPr id="28" name="cpe|exhibit|fill|27"/>
          <p:cNvSpPr/>
          <p:nvPr/>
        </p:nvSpPr>
        <p:spPr>
          <a:xfrm>
            <a:off x="3823655" y="3886200"/>
            <a:ext cx="1678107" cy="1110996"/>
          </a:xfrm>
          <a:prstGeom prst="rect">
            <a:avLst/>
          </a:prstGeom>
          <a:solidFill>
            <a:srgbClr val="EEF1F4"/>
          </a:solidFill>
          <a:ln>
            <a:noFill/>
          </a:ln>
        </p:spPr>
        <p:txBody>
          <a:bodyPr rtlCol="0" anchor="ctr" lIns="0" rIns="0" tIns="0" bIns="0"/>
          <a:lstStyle/>
          <a:p>
            <a:pPr algn="ctr"/>
          </a:p>
        </p:txBody>
      </p:sp>
      <p:sp>
        <p:nvSpPr>
          <p:cNvPr id="29" name="cpe|exhibit|text|28"/>
          <p:cNvSpPr txBox="1"/>
          <p:nvPr/>
        </p:nvSpPr>
        <p:spPr>
          <a:xfrm>
            <a:off x="3878519"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Supply chain</a:t>
            </a:r>
          </a:p>
        </p:txBody>
      </p:sp>
      <p:sp>
        <p:nvSpPr>
          <p:cNvPr id="30" name="cpe|exhibit|fill|29"/>
          <p:cNvSpPr/>
          <p:nvPr/>
        </p:nvSpPr>
        <p:spPr>
          <a:xfrm>
            <a:off x="5574914" y="3886200"/>
            <a:ext cx="1678107" cy="1110996"/>
          </a:xfrm>
          <a:prstGeom prst="rect">
            <a:avLst/>
          </a:prstGeom>
          <a:solidFill>
            <a:srgbClr val="EEF1F4"/>
          </a:solidFill>
          <a:ln w="19050">
            <a:solidFill>
              <a:srgbClr val="00A3AD"/>
            </a:solidFill>
          </a:ln>
        </p:spPr>
        <p:txBody>
          <a:bodyPr rtlCol="0" anchor="ctr" lIns="0" rIns="0" tIns="0" bIns="0"/>
          <a:lstStyle/>
          <a:p>
            <a:pPr algn="ctr"/>
          </a:p>
        </p:txBody>
      </p:sp>
      <p:sp>
        <p:nvSpPr>
          <p:cNvPr id="31" name="cpe|exhibit|text|30"/>
          <p:cNvSpPr txBox="1"/>
          <p:nvPr/>
        </p:nvSpPr>
        <p:spPr>
          <a:xfrm>
            <a:off x="5629778" y="3886200"/>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Fulfilment hubs</a:t>
            </a:r>
          </a:p>
        </p:txBody>
      </p:sp>
      <p:sp>
        <p:nvSpPr>
          <p:cNvPr id="32" name="cpe|exhibit|fill|31"/>
          <p:cNvSpPr/>
          <p:nvPr/>
        </p:nvSpPr>
        <p:spPr>
          <a:xfrm>
            <a:off x="502920" y="5088636"/>
            <a:ext cx="1478036" cy="1110996"/>
          </a:xfrm>
          <a:prstGeom prst="rect">
            <a:avLst/>
          </a:prstGeom>
          <a:solidFill>
            <a:srgbClr val="3D6399"/>
          </a:solidFill>
          <a:ln>
            <a:noFill/>
          </a:ln>
        </p:spPr>
        <p:txBody>
          <a:bodyPr rtlCol="0" anchor="ctr" lIns="0" rIns="0" tIns="0" bIns="0"/>
          <a:lstStyle/>
          <a:p>
            <a:pPr algn="ctr"/>
          </a:p>
        </p:txBody>
      </p:sp>
      <p:sp>
        <p:nvSpPr>
          <p:cNvPr id="33" name="cpe|exhibit|text|32"/>
          <p:cNvSpPr txBox="1"/>
          <p:nvPr/>
        </p:nvSpPr>
        <p:spPr>
          <a:xfrm>
            <a:off x="594360" y="5088636"/>
            <a:ext cx="1295156" cy="1110996"/>
          </a:xfrm>
          <a:prstGeom prst="rect">
            <a:avLst/>
          </a:prstGeom>
          <a:noFill/>
        </p:spPr>
        <p:txBody>
          <a:bodyPr wrap="square" lIns="0" rIns="0" tIns="0" bIns="0" anchor="ctr">
            <a:noAutofit/>
          </a:bodyPr>
          <a:lstStyle/>
          <a:p>
            <a:pPr algn="l">
              <a:lnSpc>
                <a:spcPct val="100000"/>
              </a:lnSpc>
            </a:pPr>
            <a:r>
              <a:rPr sz="1400" b="0">
                <a:solidFill>
                  <a:srgbClr val="FFFFFF"/>
                </a:solidFill>
                <a:latin typeface="Arial"/>
              </a:rPr>
              <a:t>Enablers</a:t>
            </a:r>
          </a:p>
        </p:txBody>
      </p:sp>
      <p:sp>
        <p:nvSpPr>
          <p:cNvPr id="34" name="cpe|exhibit|fill|33"/>
          <p:cNvSpPr/>
          <p:nvPr/>
        </p:nvSpPr>
        <p:spPr>
          <a:xfrm>
            <a:off x="2072396" y="5088636"/>
            <a:ext cx="1678107" cy="1110996"/>
          </a:xfrm>
          <a:prstGeom prst="rect">
            <a:avLst/>
          </a:prstGeom>
          <a:solidFill>
            <a:srgbClr val="EEF1F4"/>
          </a:solidFill>
          <a:ln w="19050">
            <a:solidFill>
              <a:srgbClr val="00A3AD"/>
            </a:solidFill>
            <a:prstDash val="dash"/>
          </a:ln>
        </p:spPr>
        <p:txBody>
          <a:bodyPr rtlCol="0" anchor="ctr" lIns="0" rIns="0" tIns="0" bIns="0"/>
          <a:lstStyle/>
          <a:p>
            <a:pPr algn="ctr"/>
          </a:p>
        </p:txBody>
      </p:sp>
      <p:sp>
        <p:nvSpPr>
          <p:cNvPr id="35" name="cpe|exhibit|text|34"/>
          <p:cNvSpPr txBox="1"/>
          <p:nvPr/>
        </p:nvSpPr>
        <p:spPr>
          <a:xfrm>
            <a:off x="2127260"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Data &amp; analytics</a:t>
            </a:r>
          </a:p>
        </p:txBody>
      </p:sp>
      <p:sp>
        <p:nvSpPr>
          <p:cNvPr id="36" name="cpe|exhibit|fill|35"/>
          <p:cNvSpPr/>
          <p:nvPr/>
        </p:nvSpPr>
        <p:spPr>
          <a:xfrm>
            <a:off x="3823655" y="5088636"/>
            <a:ext cx="1678107" cy="1110996"/>
          </a:xfrm>
          <a:prstGeom prst="rect">
            <a:avLst/>
          </a:prstGeom>
          <a:solidFill>
            <a:srgbClr val="EEF1F4"/>
          </a:solidFill>
          <a:ln>
            <a:noFill/>
          </a:ln>
        </p:spPr>
        <p:txBody>
          <a:bodyPr rtlCol="0" anchor="ctr" lIns="0" rIns="0" tIns="0" bIns="0"/>
          <a:lstStyle/>
          <a:p>
            <a:pPr algn="ctr"/>
          </a:p>
        </p:txBody>
      </p:sp>
      <p:sp>
        <p:nvSpPr>
          <p:cNvPr id="37" name="cpe|exhibit|text|36"/>
          <p:cNvSpPr txBox="1"/>
          <p:nvPr/>
        </p:nvSpPr>
        <p:spPr>
          <a:xfrm>
            <a:off x="3878519"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Technology</a:t>
            </a:r>
          </a:p>
        </p:txBody>
      </p:sp>
      <p:sp>
        <p:nvSpPr>
          <p:cNvPr id="38" name="cpe|exhibit|fill|37"/>
          <p:cNvSpPr/>
          <p:nvPr/>
        </p:nvSpPr>
        <p:spPr>
          <a:xfrm>
            <a:off x="5574914" y="5088636"/>
            <a:ext cx="1678107" cy="1110996"/>
          </a:xfrm>
          <a:prstGeom prst="rect">
            <a:avLst/>
          </a:prstGeom>
          <a:solidFill>
            <a:srgbClr val="EEF1F4"/>
          </a:solidFill>
          <a:ln>
            <a:noFill/>
          </a:ln>
        </p:spPr>
        <p:txBody>
          <a:bodyPr rtlCol="0" anchor="ctr" lIns="0" rIns="0" tIns="0" bIns="0"/>
          <a:lstStyle/>
          <a:p>
            <a:pPr algn="ctr"/>
          </a:p>
        </p:txBody>
      </p:sp>
      <p:sp>
        <p:nvSpPr>
          <p:cNvPr id="39" name="cpe|exhibit|text|38"/>
          <p:cNvSpPr txBox="1"/>
          <p:nvPr/>
        </p:nvSpPr>
        <p:spPr>
          <a:xfrm>
            <a:off x="5629778" y="5088636"/>
            <a:ext cx="1568379" cy="1110996"/>
          </a:xfrm>
          <a:prstGeom prst="rect">
            <a:avLst/>
          </a:prstGeom>
          <a:noFill/>
        </p:spPr>
        <p:txBody>
          <a:bodyPr wrap="square" lIns="0" rIns="0" tIns="0" bIns="0" anchor="ctr">
            <a:noAutofit/>
          </a:bodyPr>
          <a:lstStyle/>
          <a:p>
            <a:pPr algn="ctr">
              <a:lnSpc>
                <a:spcPct val="100000"/>
              </a:lnSpc>
            </a:pPr>
            <a:r>
              <a:rPr sz="1400" b="0">
                <a:solidFill>
                  <a:srgbClr val="1E252D"/>
                </a:solidFill>
                <a:latin typeface="Arial"/>
              </a:rPr>
              <a:t>People &amp; capabilities</a:t>
            </a:r>
          </a:p>
        </p:txBody>
      </p:sp>
      <p:sp>
        <p:nvSpPr>
          <p:cNvPr id="40" name="cpe|exhibit|fill|39"/>
          <p:cNvSpPr/>
          <p:nvPr/>
        </p:nvSpPr>
        <p:spPr>
          <a:xfrm>
            <a:off x="7326173" y="1481328"/>
            <a:ext cx="566928" cy="4718304"/>
          </a:xfrm>
          <a:prstGeom prst="rect">
            <a:avLst/>
          </a:prstGeom>
          <a:solidFill>
            <a:srgbClr val="F4F6F8"/>
          </a:solidFill>
          <a:ln w="6350">
            <a:solidFill>
              <a:srgbClr val="B7BFC8"/>
            </a:solidFill>
          </a:ln>
        </p:spPr>
        <p:txBody>
          <a:bodyPr rtlCol="0" anchor="ctr" lIns="0" rIns="0" tIns="0" bIns="0"/>
          <a:lstStyle/>
          <a:p>
            <a:pPr algn="ctr"/>
          </a:p>
        </p:txBody>
      </p:sp>
      <p:sp>
        <p:nvSpPr>
          <p:cNvPr id="41" name="cpe|exhibit|vtext|40"/>
          <p:cNvSpPr txBox="1"/>
          <p:nvPr/>
        </p:nvSpPr>
        <p:spPr>
          <a:xfrm>
            <a:off x="7326173" y="1572768"/>
            <a:ext cx="566928" cy="4535424"/>
          </a:xfrm>
          <a:prstGeom prst="rect">
            <a:avLst/>
          </a:prstGeom>
          <a:noFill/>
        </p:spPr>
        <p:txBody>
          <a:bodyPr wrap="square" lIns="0" rIns="0" tIns="0" bIns="0" anchor="ctr" vert="vert270">
            <a:noAutofit/>
          </a:bodyPr>
          <a:lstStyle/>
          <a:p>
            <a:pPr algn="ctr">
              <a:lnSpc>
                <a:spcPct val="100000"/>
              </a:lnSpc>
            </a:pPr>
            <a:r>
              <a:rPr sz="1400" b="1">
                <a:solidFill>
                  <a:srgbClr val="1E252D"/>
                </a:solidFill>
                <a:latin typeface="Arial"/>
              </a:rPr>
              <a:t>Transformation office</a:t>
            </a:r>
          </a:p>
        </p:txBody>
      </p:sp>
      <p:cxnSp>
        <p:nvCxnSpPr>
          <p:cNvPr id="42" name="cpe|commentary|line|41"/>
          <p:cNvCxnSpPr/>
          <p:nvPr/>
        </p:nvCxnSpPr>
        <p:spPr>
          <a:xfrm>
            <a:off x="8094269" y="1481328"/>
            <a:ext cx="0" cy="4718304"/>
          </a:xfrm>
          <a:prstGeom prst="line">
            <a:avLst/>
          </a:prstGeom>
          <a:ln w="9525">
            <a:solidFill>
              <a:srgbClr val="B7BFC8"/>
            </a:solidFill>
          </a:ln>
        </p:spPr>
      </p:cxnSp>
      <p:sp>
        <p:nvSpPr>
          <p:cNvPr id="43" name="cpe|commentary|text|42"/>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New:</a:t>
            </a:r>
            <a:r>
              <a:rPr sz="1400" b="0">
                <a:solidFill>
                  <a:srgbClr val="1E252D"/>
                </a:solidFill>
                <a:latin typeface="Arial"/>
              </a:rPr>
              <a:t> discount banner, private label, fulfilment hubs</a:t>
            </a:r>
          </a:p>
          <a:p>
            <a:pPr algn="l" marL="155448" indent="-155448">
              <a:lnSpc>
                <a:spcPct val="108000"/>
              </a:lnSpc>
              <a:spcAft>
                <a:spcPts val="800"/>
              </a:spcAft>
              <a:buClr>
                <a:srgbClr val="1E252D"/>
              </a:buClr>
              <a:buSzPct val="100000"/>
              <a:buFont typeface="Arial"/>
              <a:buChar char="•"/>
            </a:pPr>
            <a:r>
              <a:rPr sz="1400" b="1">
                <a:solidFill>
                  <a:srgbClr val="1E252D"/>
                </a:solidFill>
                <a:latin typeface="Arial"/>
              </a:rPr>
              <a:t>Changed:</a:t>
            </a:r>
            <a:r>
              <a:rPr sz="1400" b="0">
                <a:solidFill>
                  <a:srgbClr val="1E252D"/>
                </a:solidFill>
                <a:latin typeface="Arial"/>
              </a:rPr>
              <a:t> pricing moves to the centre; category teams own margin</a:t>
            </a:r>
          </a:p>
          <a:p>
            <a:pPr algn="l" marL="155448" indent="-155448">
              <a:lnSpc>
                <a:spcPct val="108000"/>
              </a:lnSpc>
              <a:buClr>
                <a:srgbClr val="1E252D"/>
              </a:buClr>
              <a:buSzPct val="100000"/>
              <a:buFont typeface="Arial"/>
              <a:buChar char="•"/>
            </a:pPr>
            <a:r>
              <a:rPr sz="1400" b="0">
                <a:solidFill>
                  <a:srgbClr val="1E252D"/>
                </a:solidFill>
                <a:latin typeface="Arial"/>
              </a:rPr>
              <a:t>A transformation office steers the programme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ROADMAP</a:t>
            </a:r>
          </a:p>
        </p:txBody>
      </p:sp>
      <p:sp>
        <p:nvSpPr>
          <p:cNvPr id="3" name="cpe|chrome|text|2"/>
          <p:cNvSpPr txBox="1"/>
          <p:nvPr/>
        </p:nvSpPr>
        <p:spPr>
          <a:xfrm>
            <a:off x="502920" y="475488"/>
            <a:ext cx="8376964" cy="786384"/>
          </a:xfrm>
          <a:prstGeom prst="rect">
            <a:avLst/>
          </a:prstGeom>
          <a:noFill/>
        </p:spPr>
        <p:txBody>
          <a:bodyPr wrap="square" lIns="0" rIns="0" tIns="0" bIns="0" anchor="t">
            <a:noAutofit/>
          </a:bodyPr>
          <a:lstStyle/>
          <a:p>
            <a:pPr algn="l">
              <a:lnSpc>
                <a:spcPct val="100000"/>
              </a:lnSpc>
            </a:pPr>
            <a:r>
              <a:rPr sz="2000" b="1">
                <a:solidFill>
                  <a:srgbClr val="0B1F3A"/>
                </a:solidFill>
                <a:latin typeface="Arial"/>
              </a:rPr>
              <a:t>A plan in three waves over 24 months secures quick margin wins in pricing, fresh and costs before we scale the discount banner, the private label range and the online fulfilment hubs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Programme plan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10</a:t>
            </a:r>
          </a:p>
        </p:txBody>
      </p:sp>
      <p:sp>
        <p:nvSpPr>
          <p:cNvPr id="6" name="cpe|exhibit|fill|5"/>
          <p:cNvSpPr/>
          <p:nvPr/>
        </p:nvSpPr>
        <p:spPr>
          <a:xfrm>
            <a:off x="3310128" y="1481328"/>
            <a:ext cx="3112275" cy="27432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3346704"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1: Fix margins</a:t>
            </a:r>
          </a:p>
        </p:txBody>
      </p:sp>
      <p:sp>
        <p:nvSpPr>
          <p:cNvPr id="8" name="cpe|exhibit|fill|7"/>
          <p:cNvSpPr/>
          <p:nvPr/>
        </p:nvSpPr>
        <p:spPr>
          <a:xfrm>
            <a:off x="6458979" y="1481328"/>
            <a:ext cx="2062658" cy="274320"/>
          </a:xfrm>
          <a:prstGeom prst="rect">
            <a:avLst/>
          </a:prstGeom>
          <a:solidFill>
            <a:srgbClr val="0B1F3A"/>
          </a:solidFill>
          <a:ln>
            <a:noFill/>
          </a:ln>
        </p:spPr>
        <p:txBody>
          <a:bodyPr rtlCol="0" anchor="ctr" lIns="0" rIns="0" tIns="0" bIns="0"/>
          <a:lstStyle/>
          <a:p>
            <a:pPr algn="ctr"/>
          </a:p>
        </p:txBody>
      </p:sp>
      <p:sp>
        <p:nvSpPr>
          <p:cNvPr id="9" name="cpe|exhibit|text|8"/>
          <p:cNvSpPr txBox="1"/>
          <p:nvPr/>
        </p:nvSpPr>
        <p:spPr>
          <a:xfrm>
            <a:off x="6495555" y="1481328"/>
            <a:ext cx="1989506"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2: Pilot</a:t>
            </a:r>
          </a:p>
        </p:txBody>
      </p:sp>
      <p:sp>
        <p:nvSpPr>
          <p:cNvPr id="10" name="cpe|exhibit|fill|9"/>
          <p:cNvSpPr/>
          <p:nvPr/>
        </p:nvSpPr>
        <p:spPr>
          <a:xfrm>
            <a:off x="8558212" y="1481328"/>
            <a:ext cx="3112275" cy="274320"/>
          </a:xfrm>
          <a:prstGeom prst="rect">
            <a:avLst/>
          </a:prstGeom>
          <a:solidFill>
            <a:srgbClr val="0B1F3A"/>
          </a:solidFill>
          <a:ln>
            <a:noFill/>
          </a:ln>
        </p:spPr>
        <p:txBody>
          <a:bodyPr rtlCol="0" anchor="ctr" lIns="0" rIns="0" tIns="0" bIns="0"/>
          <a:lstStyle/>
          <a:p>
            <a:pPr algn="ctr"/>
          </a:p>
        </p:txBody>
      </p:sp>
      <p:sp>
        <p:nvSpPr>
          <p:cNvPr id="11" name="cpe|exhibit|text|10"/>
          <p:cNvSpPr txBox="1"/>
          <p:nvPr/>
        </p:nvSpPr>
        <p:spPr>
          <a:xfrm>
            <a:off x="8594788"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3: Scale</a:t>
            </a:r>
          </a:p>
        </p:txBody>
      </p:sp>
      <p:sp>
        <p:nvSpPr>
          <p:cNvPr id="12" name="cpe|exhibit|text|11"/>
          <p:cNvSpPr txBox="1"/>
          <p:nvPr/>
        </p:nvSpPr>
        <p:spPr>
          <a:xfrm>
            <a:off x="3291840"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26</a:t>
            </a:r>
          </a:p>
        </p:txBody>
      </p:sp>
      <p:sp>
        <p:nvSpPr>
          <p:cNvPr id="13" name="cpe|exhibit|text|12"/>
          <p:cNvSpPr txBox="1"/>
          <p:nvPr/>
        </p:nvSpPr>
        <p:spPr>
          <a:xfrm>
            <a:off x="4341457"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26</a:t>
            </a:r>
          </a:p>
        </p:txBody>
      </p:sp>
      <p:sp>
        <p:nvSpPr>
          <p:cNvPr id="14" name="cpe|exhibit|text|13"/>
          <p:cNvSpPr txBox="1"/>
          <p:nvPr/>
        </p:nvSpPr>
        <p:spPr>
          <a:xfrm>
            <a:off x="539107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26</a:t>
            </a:r>
          </a:p>
        </p:txBody>
      </p:sp>
      <p:sp>
        <p:nvSpPr>
          <p:cNvPr id="15" name="cpe|exhibit|text|14"/>
          <p:cNvSpPr txBox="1"/>
          <p:nvPr/>
        </p:nvSpPr>
        <p:spPr>
          <a:xfrm>
            <a:off x="644069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26</a:t>
            </a:r>
          </a:p>
        </p:txBody>
      </p:sp>
      <p:sp>
        <p:nvSpPr>
          <p:cNvPr id="16" name="cpe|exhibit|text|15"/>
          <p:cNvSpPr txBox="1"/>
          <p:nvPr/>
        </p:nvSpPr>
        <p:spPr>
          <a:xfrm>
            <a:off x="749030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27</a:t>
            </a:r>
          </a:p>
        </p:txBody>
      </p:sp>
      <p:sp>
        <p:nvSpPr>
          <p:cNvPr id="17" name="cpe|exhibit|text|16"/>
          <p:cNvSpPr txBox="1"/>
          <p:nvPr/>
        </p:nvSpPr>
        <p:spPr>
          <a:xfrm>
            <a:off x="853992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27</a:t>
            </a:r>
          </a:p>
        </p:txBody>
      </p:sp>
      <p:sp>
        <p:nvSpPr>
          <p:cNvPr id="18" name="cpe|exhibit|text|17"/>
          <p:cNvSpPr txBox="1"/>
          <p:nvPr/>
        </p:nvSpPr>
        <p:spPr>
          <a:xfrm>
            <a:off x="958954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27</a:t>
            </a:r>
          </a:p>
        </p:txBody>
      </p:sp>
      <p:sp>
        <p:nvSpPr>
          <p:cNvPr id="19" name="cpe|exhibit|text|18"/>
          <p:cNvSpPr txBox="1"/>
          <p:nvPr/>
        </p:nvSpPr>
        <p:spPr>
          <a:xfrm>
            <a:off x="1063915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27</a:t>
            </a:r>
          </a:p>
        </p:txBody>
      </p:sp>
      <p:cxnSp>
        <p:nvCxnSpPr>
          <p:cNvPr id="20" name="cpe|exhibit|line|19"/>
          <p:cNvCxnSpPr/>
          <p:nvPr/>
        </p:nvCxnSpPr>
        <p:spPr>
          <a:xfrm>
            <a:off x="502920" y="2121408"/>
            <a:ext cx="11185855" cy="0"/>
          </a:xfrm>
          <a:prstGeom prst="line">
            <a:avLst/>
          </a:prstGeom>
          <a:ln w="9525">
            <a:solidFill>
              <a:srgbClr val="0B1F3A"/>
            </a:solidFill>
          </a:ln>
        </p:spPr>
      </p:cxnSp>
      <p:cxnSp>
        <p:nvCxnSpPr>
          <p:cNvPr id="21" name="cpe|exhibit|line|20"/>
          <p:cNvCxnSpPr/>
          <p:nvPr/>
        </p:nvCxnSpPr>
        <p:spPr>
          <a:xfrm>
            <a:off x="4341457" y="2121408"/>
            <a:ext cx="0" cy="3401568"/>
          </a:xfrm>
          <a:prstGeom prst="line">
            <a:avLst/>
          </a:prstGeom>
          <a:ln w="6350">
            <a:solidFill>
              <a:srgbClr val="E3E7EB"/>
            </a:solidFill>
          </a:ln>
        </p:spPr>
      </p:cxnSp>
      <p:cxnSp>
        <p:nvCxnSpPr>
          <p:cNvPr id="22" name="cpe|exhibit|line|21"/>
          <p:cNvCxnSpPr/>
          <p:nvPr/>
        </p:nvCxnSpPr>
        <p:spPr>
          <a:xfrm>
            <a:off x="5391074" y="2121408"/>
            <a:ext cx="0" cy="3401568"/>
          </a:xfrm>
          <a:prstGeom prst="line">
            <a:avLst/>
          </a:prstGeom>
          <a:ln w="6350">
            <a:solidFill>
              <a:srgbClr val="E3E7EB"/>
            </a:solidFill>
          </a:ln>
        </p:spPr>
      </p:cxnSp>
      <p:cxnSp>
        <p:nvCxnSpPr>
          <p:cNvPr id="23" name="cpe|exhibit|line|22"/>
          <p:cNvCxnSpPr/>
          <p:nvPr/>
        </p:nvCxnSpPr>
        <p:spPr>
          <a:xfrm>
            <a:off x="6440691" y="2121408"/>
            <a:ext cx="0" cy="3401568"/>
          </a:xfrm>
          <a:prstGeom prst="line">
            <a:avLst/>
          </a:prstGeom>
          <a:ln w="6350">
            <a:solidFill>
              <a:srgbClr val="E3E7EB"/>
            </a:solidFill>
          </a:ln>
        </p:spPr>
      </p:cxnSp>
      <p:cxnSp>
        <p:nvCxnSpPr>
          <p:cNvPr id="24" name="cpe|exhibit|line|23"/>
          <p:cNvCxnSpPr/>
          <p:nvPr/>
        </p:nvCxnSpPr>
        <p:spPr>
          <a:xfrm>
            <a:off x="7490308" y="2121408"/>
            <a:ext cx="0" cy="3401568"/>
          </a:xfrm>
          <a:prstGeom prst="line">
            <a:avLst/>
          </a:prstGeom>
          <a:ln w="6350">
            <a:solidFill>
              <a:srgbClr val="E3E7EB"/>
            </a:solidFill>
          </a:ln>
        </p:spPr>
      </p:cxnSp>
      <p:cxnSp>
        <p:nvCxnSpPr>
          <p:cNvPr id="25" name="cpe|exhibit|line|24"/>
          <p:cNvCxnSpPr/>
          <p:nvPr/>
        </p:nvCxnSpPr>
        <p:spPr>
          <a:xfrm>
            <a:off x="8539924" y="2121408"/>
            <a:ext cx="0" cy="3401568"/>
          </a:xfrm>
          <a:prstGeom prst="line">
            <a:avLst/>
          </a:prstGeom>
          <a:ln w="6350">
            <a:solidFill>
              <a:srgbClr val="E3E7EB"/>
            </a:solidFill>
          </a:ln>
        </p:spPr>
      </p:cxnSp>
      <p:cxnSp>
        <p:nvCxnSpPr>
          <p:cNvPr id="26" name="cpe|exhibit|line|25"/>
          <p:cNvCxnSpPr/>
          <p:nvPr/>
        </p:nvCxnSpPr>
        <p:spPr>
          <a:xfrm>
            <a:off x="9589541" y="2121408"/>
            <a:ext cx="0" cy="3401568"/>
          </a:xfrm>
          <a:prstGeom prst="line">
            <a:avLst/>
          </a:prstGeom>
          <a:ln w="6350">
            <a:solidFill>
              <a:srgbClr val="E3E7EB"/>
            </a:solidFill>
          </a:ln>
        </p:spPr>
      </p:cxnSp>
      <p:cxnSp>
        <p:nvCxnSpPr>
          <p:cNvPr id="27" name="cpe|exhibit|line|26"/>
          <p:cNvCxnSpPr/>
          <p:nvPr/>
        </p:nvCxnSpPr>
        <p:spPr>
          <a:xfrm>
            <a:off x="10639158" y="2121408"/>
            <a:ext cx="0" cy="3401568"/>
          </a:xfrm>
          <a:prstGeom prst="line">
            <a:avLst/>
          </a:prstGeom>
          <a:ln w="6350">
            <a:solidFill>
              <a:srgbClr val="E3E7EB"/>
            </a:solidFill>
          </a:ln>
        </p:spPr>
      </p:cxnSp>
      <p:cxnSp>
        <p:nvCxnSpPr>
          <p:cNvPr id="28" name="cpe|exhibit|connector|27"/>
          <p:cNvCxnSpPr/>
          <p:nvPr/>
        </p:nvCxnSpPr>
        <p:spPr>
          <a:xfrm>
            <a:off x="3816648" y="2075688"/>
            <a:ext cx="0" cy="3447288"/>
          </a:xfrm>
          <a:prstGeom prst="line">
            <a:avLst/>
          </a:prstGeom>
          <a:ln w="9525">
            <a:solidFill>
              <a:srgbClr val="00A3AD"/>
            </a:solidFill>
            <a:prstDash val="dash"/>
          </a:ln>
        </p:spPr>
      </p:cxnSp>
      <p:sp>
        <p:nvSpPr>
          <p:cNvPr id="29" name="cpe|exhibit|label|28"/>
          <p:cNvSpPr txBox="1"/>
          <p:nvPr/>
        </p:nvSpPr>
        <p:spPr>
          <a:xfrm>
            <a:off x="3359448" y="5541264"/>
            <a:ext cx="914400" cy="201168"/>
          </a:xfrm>
          <a:prstGeom prst="rect">
            <a:avLst/>
          </a:prstGeom>
          <a:noFill/>
        </p:spPr>
        <p:txBody>
          <a:bodyPr wrap="square" lIns="0" rIns="0" tIns="0" bIns="0" anchor="t">
            <a:noAutofit/>
          </a:bodyPr>
          <a:lstStyle/>
          <a:p>
            <a:pPr algn="ctr">
              <a:lnSpc>
                <a:spcPct val="100000"/>
              </a:lnSpc>
            </a:pPr>
            <a:r>
              <a:rPr sz="900" b="1">
                <a:solidFill>
                  <a:srgbClr val="5E6A77"/>
                </a:solidFill>
                <a:latin typeface="Arial"/>
              </a:rPr>
              <a:t>Today</a:t>
            </a:r>
          </a:p>
        </p:txBody>
      </p:sp>
      <p:sp>
        <p:nvSpPr>
          <p:cNvPr id="30" name="cpe|exhibit|text|29"/>
          <p:cNvSpPr txBox="1"/>
          <p:nvPr/>
        </p:nvSpPr>
        <p:spPr>
          <a:xfrm>
            <a:off x="502920" y="212140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Pricing &amp; promo reset</a:t>
            </a:r>
          </a:p>
        </p:txBody>
      </p:sp>
      <p:sp>
        <p:nvSpPr>
          <p:cNvPr id="31" name="cpe|exhibit|fill|30"/>
          <p:cNvSpPr/>
          <p:nvPr/>
        </p:nvSpPr>
        <p:spPr>
          <a:xfrm>
            <a:off x="3319272" y="2257471"/>
            <a:ext cx="3093987" cy="294803"/>
          </a:xfrm>
          <a:prstGeom prst="rect">
            <a:avLst/>
          </a:prstGeom>
          <a:solidFill>
            <a:srgbClr val="3D6399"/>
          </a:solidFill>
          <a:ln>
            <a:noFill/>
          </a:ln>
        </p:spPr>
        <p:txBody>
          <a:bodyPr rtlCol="0" anchor="ctr" lIns="0" rIns="0" tIns="0" bIns="0"/>
          <a:lstStyle/>
          <a:p>
            <a:pPr algn="ctr"/>
          </a:p>
        </p:txBody>
      </p:sp>
      <p:sp>
        <p:nvSpPr>
          <p:cNvPr id="32" name="cpe|exhibit|text|31"/>
          <p:cNvSpPr txBox="1"/>
          <p:nvPr/>
        </p:nvSpPr>
        <p:spPr>
          <a:xfrm>
            <a:off x="3374136" y="2257471"/>
            <a:ext cx="298425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Reset 1,200 SKUs</a:t>
            </a:r>
          </a:p>
        </p:txBody>
      </p:sp>
      <p:cxnSp>
        <p:nvCxnSpPr>
          <p:cNvPr id="33" name="cpe|exhibit|line|32"/>
          <p:cNvCxnSpPr/>
          <p:nvPr/>
        </p:nvCxnSpPr>
        <p:spPr>
          <a:xfrm>
            <a:off x="502920" y="2688336"/>
            <a:ext cx="11185855" cy="0"/>
          </a:xfrm>
          <a:prstGeom prst="line">
            <a:avLst/>
          </a:prstGeom>
          <a:ln w="6350">
            <a:solidFill>
              <a:srgbClr val="E3E7EB"/>
            </a:solidFill>
          </a:ln>
        </p:spPr>
      </p:cxnSp>
      <p:sp>
        <p:nvSpPr>
          <p:cNvPr id="34" name="cpe|exhibit|text|33"/>
          <p:cNvSpPr txBox="1"/>
          <p:nvPr/>
        </p:nvSpPr>
        <p:spPr>
          <a:xfrm>
            <a:off x="502920" y="2688336"/>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Fresh &amp; food-to-go margins</a:t>
            </a:r>
          </a:p>
        </p:txBody>
      </p:sp>
      <p:sp>
        <p:nvSpPr>
          <p:cNvPr id="35" name="cpe|exhibit|fill|34"/>
          <p:cNvSpPr/>
          <p:nvPr/>
        </p:nvSpPr>
        <p:spPr>
          <a:xfrm>
            <a:off x="3319272" y="2824399"/>
            <a:ext cx="4143604" cy="294803"/>
          </a:xfrm>
          <a:prstGeom prst="rect">
            <a:avLst/>
          </a:prstGeom>
          <a:solidFill>
            <a:srgbClr val="3D6399"/>
          </a:solidFill>
          <a:ln>
            <a:noFill/>
          </a:ln>
        </p:spPr>
        <p:txBody>
          <a:bodyPr rtlCol="0" anchor="ctr" lIns="0" rIns="0" tIns="0" bIns="0"/>
          <a:lstStyle/>
          <a:p>
            <a:pPr algn="ctr"/>
          </a:p>
        </p:txBody>
      </p:sp>
      <p:sp>
        <p:nvSpPr>
          <p:cNvPr id="36" name="cpe|exhibit|text|35"/>
          <p:cNvSpPr txBox="1"/>
          <p:nvPr/>
        </p:nvSpPr>
        <p:spPr>
          <a:xfrm>
            <a:off x="3374136" y="2824399"/>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Waste &amp; range</a:t>
            </a:r>
          </a:p>
        </p:txBody>
      </p:sp>
      <p:cxnSp>
        <p:nvCxnSpPr>
          <p:cNvPr id="37" name="cpe|exhibit|line|36"/>
          <p:cNvCxnSpPr/>
          <p:nvPr/>
        </p:nvCxnSpPr>
        <p:spPr>
          <a:xfrm>
            <a:off x="502920" y="3255264"/>
            <a:ext cx="11185855" cy="0"/>
          </a:xfrm>
          <a:prstGeom prst="line">
            <a:avLst/>
          </a:prstGeom>
          <a:ln w="6350">
            <a:solidFill>
              <a:srgbClr val="E3E7EB"/>
            </a:solidFill>
          </a:ln>
        </p:spPr>
      </p:cxnSp>
      <p:sp>
        <p:nvSpPr>
          <p:cNvPr id="38" name="cpe|exhibit|text|37"/>
          <p:cNvSpPr txBox="1"/>
          <p:nvPr/>
        </p:nvSpPr>
        <p:spPr>
          <a:xfrm>
            <a:off x="502920" y="3255264"/>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Cost programme</a:t>
            </a:r>
          </a:p>
        </p:txBody>
      </p:sp>
      <p:sp>
        <p:nvSpPr>
          <p:cNvPr id="39" name="cpe|exhibit|fill|38"/>
          <p:cNvSpPr/>
          <p:nvPr/>
        </p:nvSpPr>
        <p:spPr>
          <a:xfrm>
            <a:off x="4368889" y="3391327"/>
            <a:ext cx="6242837" cy="294803"/>
          </a:xfrm>
          <a:prstGeom prst="rect">
            <a:avLst/>
          </a:prstGeom>
          <a:solidFill>
            <a:srgbClr val="3D6399"/>
          </a:solidFill>
          <a:ln>
            <a:noFill/>
          </a:ln>
        </p:spPr>
        <p:txBody>
          <a:bodyPr rtlCol="0" anchor="ctr" lIns="0" rIns="0" tIns="0" bIns="0"/>
          <a:lstStyle/>
          <a:p>
            <a:pPr algn="ctr"/>
          </a:p>
        </p:txBody>
      </p:sp>
      <p:sp>
        <p:nvSpPr>
          <p:cNvPr id="40" name="cpe|exhibit|text|39"/>
          <p:cNvSpPr txBox="1"/>
          <p:nvPr/>
        </p:nvSpPr>
        <p:spPr>
          <a:xfrm>
            <a:off x="4423753" y="3391327"/>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Labour scheduling, energy</a:t>
            </a:r>
          </a:p>
        </p:txBody>
      </p:sp>
      <p:cxnSp>
        <p:nvCxnSpPr>
          <p:cNvPr id="41" name="cpe|exhibit|line|40"/>
          <p:cNvCxnSpPr/>
          <p:nvPr/>
        </p:nvCxnSpPr>
        <p:spPr>
          <a:xfrm>
            <a:off x="502920" y="3822192"/>
            <a:ext cx="11185855" cy="0"/>
          </a:xfrm>
          <a:prstGeom prst="line">
            <a:avLst/>
          </a:prstGeom>
          <a:ln w="6350">
            <a:solidFill>
              <a:srgbClr val="E3E7EB"/>
            </a:solidFill>
          </a:ln>
        </p:spPr>
      </p:cxnSp>
      <p:sp>
        <p:nvSpPr>
          <p:cNvPr id="42" name="cpe|exhibit|text|41"/>
          <p:cNvSpPr txBox="1"/>
          <p:nvPr/>
        </p:nvSpPr>
        <p:spPr>
          <a:xfrm>
            <a:off x="502920" y="3822192"/>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Private label</a:t>
            </a:r>
          </a:p>
        </p:txBody>
      </p:sp>
      <p:sp>
        <p:nvSpPr>
          <p:cNvPr id="43" name="cpe|exhibit|fill|42"/>
          <p:cNvSpPr/>
          <p:nvPr/>
        </p:nvSpPr>
        <p:spPr>
          <a:xfrm>
            <a:off x="5418506" y="3958255"/>
            <a:ext cx="6242837" cy="294803"/>
          </a:xfrm>
          <a:prstGeom prst="rect">
            <a:avLst/>
          </a:prstGeom>
          <a:solidFill>
            <a:srgbClr val="3D6399"/>
          </a:solidFill>
          <a:ln>
            <a:noFill/>
          </a:ln>
        </p:spPr>
        <p:txBody>
          <a:bodyPr rtlCol="0" anchor="ctr" lIns="0" rIns="0" tIns="0" bIns="0"/>
          <a:lstStyle/>
          <a:p>
            <a:pPr algn="ctr"/>
          </a:p>
        </p:txBody>
      </p:sp>
      <p:sp>
        <p:nvSpPr>
          <p:cNvPr id="44" name="cpe|exhibit|text|43"/>
          <p:cNvSpPr txBox="1"/>
          <p:nvPr/>
        </p:nvSpPr>
        <p:spPr>
          <a:xfrm>
            <a:off x="5473370" y="3958255"/>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25% → 35% of sales</a:t>
            </a:r>
          </a:p>
        </p:txBody>
      </p:sp>
      <p:cxnSp>
        <p:nvCxnSpPr>
          <p:cNvPr id="45" name="cpe|exhibit|line|44"/>
          <p:cNvCxnSpPr/>
          <p:nvPr/>
        </p:nvCxnSpPr>
        <p:spPr>
          <a:xfrm>
            <a:off x="502920" y="4389120"/>
            <a:ext cx="11185855" cy="0"/>
          </a:xfrm>
          <a:prstGeom prst="line">
            <a:avLst/>
          </a:prstGeom>
          <a:ln w="6350">
            <a:solidFill>
              <a:srgbClr val="E3E7EB"/>
            </a:solidFill>
          </a:ln>
        </p:spPr>
      </p:cxnSp>
      <p:sp>
        <p:nvSpPr>
          <p:cNvPr id="46" name="cpe|exhibit|text|45"/>
          <p:cNvSpPr txBox="1"/>
          <p:nvPr/>
        </p:nvSpPr>
        <p:spPr>
          <a:xfrm>
            <a:off x="502920" y="4389120"/>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Discount banner</a:t>
            </a:r>
          </a:p>
        </p:txBody>
      </p:sp>
      <p:sp>
        <p:nvSpPr>
          <p:cNvPr id="47" name="cpe|exhibit|fill|46"/>
          <p:cNvSpPr/>
          <p:nvPr/>
        </p:nvSpPr>
        <p:spPr>
          <a:xfrm>
            <a:off x="6468123" y="4604553"/>
            <a:ext cx="2044370" cy="294803"/>
          </a:xfrm>
          <a:prstGeom prst="rect">
            <a:avLst/>
          </a:prstGeom>
          <a:solidFill>
            <a:srgbClr val="00A3AD"/>
          </a:solidFill>
          <a:ln>
            <a:noFill/>
          </a:ln>
        </p:spPr>
        <p:txBody>
          <a:bodyPr rtlCol="0" anchor="ctr" lIns="0" rIns="0" tIns="0" bIns="0"/>
          <a:lstStyle/>
          <a:p>
            <a:pPr algn="ctr"/>
          </a:p>
        </p:txBody>
      </p:sp>
      <p:sp>
        <p:nvSpPr>
          <p:cNvPr id="48" name="cpe|exhibit|text|47"/>
          <p:cNvSpPr txBox="1"/>
          <p:nvPr/>
        </p:nvSpPr>
        <p:spPr>
          <a:xfrm>
            <a:off x="6522987" y="4604553"/>
            <a:ext cx="1934642" cy="294803"/>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Pilot 20 stores</a:t>
            </a:r>
          </a:p>
        </p:txBody>
      </p:sp>
      <p:sp>
        <p:nvSpPr>
          <p:cNvPr id="49" name="cpe|exhibit|fill|48"/>
          <p:cNvSpPr/>
          <p:nvPr/>
        </p:nvSpPr>
        <p:spPr>
          <a:xfrm>
            <a:off x="8567356" y="4604553"/>
            <a:ext cx="3093987" cy="294803"/>
          </a:xfrm>
          <a:prstGeom prst="rect">
            <a:avLst/>
          </a:prstGeom>
          <a:solidFill>
            <a:srgbClr val="3D6399"/>
          </a:solidFill>
          <a:ln>
            <a:noFill/>
          </a:ln>
        </p:spPr>
        <p:txBody>
          <a:bodyPr rtlCol="0" anchor="ctr" lIns="0" rIns="0" tIns="0" bIns="0"/>
          <a:lstStyle/>
          <a:p>
            <a:pPr algn="ctr"/>
          </a:p>
        </p:txBody>
      </p:sp>
      <p:sp>
        <p:nvSpPr>
          <p:cNvPr id="50" name="cpe|exhibit|text|49"/>
          <p:cNvSpPr txBox="1"/>
          <p:nvPr/>
        </p:nvSpPr>
        <p:spPr>
          <a:xfrm>
            <a:off x="8750236" y="4604553"/>
            <a:ext cx="2856243"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Roll out 150 stores</a:t>
            </a:r>
          </a:p>
        </p:txBody>
      </p:sp>
      <p:sp>
        <p:nvSpPr>
          <p:cNvPr id="51" name="cpe|exhibit|marker|50"/>
          <p:cNvSpPr/>
          <p:nvPr/>
        </p:nvSpPr>
        <p:spPr>
          <a:xfrm>
            <a:off x="8448484" y="4660514"/>
            <a:ext cx="182880" cy="182880"/>
          </a:xfrm>
          <a:prstGeom prst="diamond">
            <a:avLst/>
          </a:prstGeom>
          <a:solidFill>
            <a:srgbClr val="00A3AD"/>
          </a:solidFill>
          <a:ln w="9525">
            <a:solidFill>
              <a:srgbClr val="FFFFFF"/>
            </a:solidFill>
          </a:ln>
        </p:spPr>
        <p:txBody>
          <a:bodyPr rtlCol="0" anchor="ctr" lIns="0" rIns="0" tIns="0" bIns="0"/>
          <a:lstStyle/>
          <a:p>
            <a:pPr algn="ctr"/>
          </a:p>
        </p:txBody>
      </p:sp>
      <p:sp>
        <p:nvSpPr>
          <p:cNvPr id="52" name="cpe|exhibit|label|51"/>
          <p:cNvSpPr txBox="1"/>
          <p:nvPr/>
        </p:nvSpPr>
        <p:spPr>
          <a:xfrm>
            <a:off x="8224201" y="4403385"/>
            <a:ext cx="631448" cy="182880"/>
          </a:xfrm>
          <a:prstGeom prst="rect">
            <a:avLst/>
          </a:prstGeom>
          <a:noFill/>
        </p:spPr>
        <p:txBody>
          <a:bodyPr wrap="square" lIns="0" rIns="0" tIns="0" bIns="0" anchor="b">
            <a:noAutofit/>
          </a:bodyPr>
          <a:lstStyle/>
          <a:p>
            <a:pPr algn="ctr">
              <a:lnSpc>
                <a:spcPct val="100000"/>
              </a:lnSpc>
            </a:pPr>
            <a:r>
              <a:rPr sz="900" b="1">
                <a:solidFill>
                  <a:srgbClr val="1E252D"/>
                </a:solidFill>
                <a:latin typeface="Arial"/>
              </a:rPr>
              <a:t>Go / no-go</a:t>
            </a:r>
          </a:p>
        </p:txBody>
      </p:sp>
      <p:cxnSp>
        <p:nvCxnSpPr>
          <p:cNvPr id="53" name="cpe|exhibit|line|52"/>
          <p:cNvCxnSpPr/>
          <p:nvPr/>
        </p:nvCxnSpPr>
        <p:spPr>
          <a:xfrm>
            <a:off x="502920" y="4956048"/>
            <a:ext cx="11185855" cy="0"/>
          </a:xfrm>
          <a:prstGeom prst="line">
            <a:avLst/>
          </a:prstGeom>
          <a:ln w="6350">
            <a:solidFill>
              <a:srgbClr val="E3E7EB"/>
            </a:solidFill>
          </a:ln>
        </p:spPr>
      </p:cxnSp>
      <p:sp>
        <p:nvSpPr>
          <p:cNvPr id="54" name="cpe|exhibit|text|53"/>
          <p:cNvSpPr txBox="1"/>
          <p:nvPr/>
        </p:nvSpPr>
        <p:spPr>
          <a:xfrm>
            <a:off x="502920" y="495604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Online fulfilment hubs</a:t>
            </a:r>
          </a:p>
        </p:txBody>
      </p:sp>
      <p:sp>
        <p:nvSpPr>
          <p:cNvPr id="55" name="cpe|exhibit|fill|54"/>
          <p:cNvSpPr/>
          <p:nvPr/>
        </p:nvSpPr>
        <p:spPr>
          <a:xfrm>
            <a:off x="7517740" y="5092111"/>
            <a:ext cx="4143604" cy="294803"/>
          </a:xfrm>
          <a:prstGeom prst="rect">
            <a:avLst/>
          </a:prstGeom>
          <a:solidFill>
            <a:srgbClr val="3D6399"/>
          </a:solidFill>
          <a:ln>
            <a:noFill/>
          </a:ln>
        </p:spPr>
        <p:txBody>
          <a:bodyPr rtlCol="0" anchor="ctr" lIns="0" rIns="0" tIns="0" bIns="0"/>
          <a:lstStyle/>
          <a:p>
            <a:pPr algn="ctr"/>
          </a:p>
        </p:txBody>
      </p:sp>
      <p:sp>
        <p:nvSpPr>
          <p:cNvPr id="56" name="cpe|exhibit|text|55"/>
          <p:cNvSpPr txBox="1"/>
          <p:nvPr/>
        </p:nvSpPr>
        <p:spPr>
          <a:xfrm>
            <a:off x="7572604" y="5092111"/>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 hubs</a:t>
            </a:r>
          </a:p>
        </p:txBody>
      </p:sp>
      <p:cxnSp>
        <p:nvCxnSpPr>
          <p:cNvPr id="57" name="cpe|exhibit|line|56"/>
          <p:cNvCxnSpPr/>
          <p:nvPr/>
        </p:nvCxnSpPr>
        <p:spPr>
          <a:xfrm>
            <a:off x="502920" y="5522976"/>
            <a:ext cx="11185855" cy="0"/>
          </a:xfrm>
          <a:prstGeom prst="line">
            <a:avLst/>
          </a:prstGeom>
          <a:ln w="6350">
            <a:solidFill>
              <a:srgbClr val="E3E7EB"/>
            </a:solidFill>
          </a:ln>
        </p:spPr>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ROADMAP</a:t>
            </a:r>
          </a:p>
        </p:txBody>
      </p:sp>
      <p:sp>
        <p:nvSpPr>
          <p:cNvPr id="3" name="cpe|chrome|text|2"/>
          <p:cNvSpPr txBox="1"/>
          <p:nvPr/>
        </p:nvSpPr>
        <p:spPr>
          <a:xfrm>
            <a:off x="502920" y="475488"/>
            <a:ext cx="8376964" cy="786384"/>
          </a:xfrm>
          <a:prstGeom prst="rect">
            <a:avLst/>
          </a:prstGeom>
          <a:noFill/>
        </p:spPr>
        <p:txBody>
          <a:bodyPr wrap="square" lIns="0" rIns="0" tIns="0" bIns="0" anchor="t">
            <a:noAutofit/>
          </a:bodyPr>
          <a:lstStyle/>
          <a:p>
            <a:pPr algn="l">
              <a:lnSpc>
                <a:spcPct val="100000"/>
              </a:lnSpc>
            </a:pPr>
            <a:r>
              <a:rPr sz="2000" b="1">
                <a:solidFill>
                  <a:srgbClr val="0B1F3A"/>
                </a:solidFill>
                <a:latin typeface="Arial"/>
              </a:rPr>
              <a:t>A plan in three waves over 24 months secures quick margin wins in pricing, fresh and costs before we scale the discount banner, the private label range and the online fulfilment hubs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Programme plan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10</a:t>
            </a:r>
          </a:p>
        </p:txBody>
      </p:sp>
      <p:sp>
        <p:nvSpPr>
          <p:cNvPr id="6" name="cpe|exhibit|fill|5"/>
          <p:cNvSpPr/>
          <p:nvPr/>
        </p:nvSpPr>
        <p:spPr>
          <a:xfrm>
            <a:off x="3310128" y="1481328"/>
            <a:ext cx="3112275" cy="27432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3346704"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1: Fix margins</a:t>
            </a:r>
          </a:p>
        </p:txBody>
      </p:sp>
      <p:sp>
        <p:nvSpPr>
          <p:cNvPr id="8" name="cpe|exhibit|fill|7"/>
          <p:cNvSpPr/>
          <p:nvPr/>
        </p:nvSpPr>
        <p:spPr>
          <a:xfrm>
            <a:off x="6458979" y="1481328"/>
            <a:ext cx="2062658" cy="274320"/>
          </a:xfrm>
          <a:prstGeom prst="rect">
            <a:avLst/>
          </a:prstGeom>
          <a:solidFill>
            <a:srgbClr val="0B1F3A"/>
          </a:solidFill>
          <a:ln>
            <a:noFill/>
          </a:ln>
        </p:spPr>
        <p:txBody>
          <a:bodyPr rtlCol="0" anchor="ctr" lIns="0" rIns="0" tIns="0" bIns="0"/>
          <a:lstStyle/>
          <a:p>
            <a:pPr algn="ctr"/>
          </a:p>
        </p:txBody>
      </p:sp>
      <p:sp>
        <p:nvSpPr>
          <p:cNvPr id="9" name="cpe|exhibit|text|8"/>
          <p:cNvSpPr txBox="1"/>
          <p:nvPr/>
        </p:nvSpPr>
        <p:spPr>
          <a:xfrm>
            <a:off x="6495555" y="1481328"/>
            <a:ext cx="1989506"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2: Pilot</a:t>
            </a:r>
          </a:p>
        </p:txBody>
      </p:sp>
      <p:sp>
        <p:nvSpPr>
          <p:cNvPr id="10" name="cpe|exhibit|fill|9"/>
          <p:cNvSpPr/>
          <p:nvPr/>
        </p:nvSpPr>
        <p:spPr>
          <a:xfrm>
            <a:off x="8558212" y="1481328"/>
            <a:ext cx="3112275" cy="274320"/>
          </a:xfrm>
          <a:prstGeom prst="rect">
            <a:avLst/>
          </a:prstGeom>
          <a:solidFill>
            <a:srgbClr val="0B1F3A"/>
          </a:solidFill>
          <a:ln>
            <a:noFill/>
          </a:ln>
        </p:spPr>
        <p:txBody>
          <a:bodyPr rtlCol="0" anchor="ctr" lIns="0" rIns="0" tIns="0" bIns="0"/>
          <a:lstStyle/>
          <a:p>
            <a:pPr algn="ctr"/>
          </a:p>
        </p:txBody>
      </p:sp>
      <p:sp>
        <p:nvSpPr>
          <p:cNvPr id="11" name="cpe|exhibit|text|10"/>
          <p:cNvSpPr txBox="1"/>
          <p:nvPr/>
        </p:nvSpPr>
        <p:spPr>
          <a:xfrm>
            <a:off x="8594788"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3: Scale</a:t>
            </a:r>
          </a:p>
        </p:txBody>
      </p:sp>
      <p:sp>
        <p:nvSpPr>
          <p:cNvPr id="12" name="cpe|exhibit|text|11"/>
          <p:cNvSpPr txBox="1"/>
          <p:nvPr/>
        </p:nvSpPr>
        <p:spPr>
          <a:xfrm>
            <a:off x="3291840"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26</a:t>
            </a:r>
          </a:p>
        </p:txBody>
      </p:sp>
      <p:sp>
        <p:nvSpPr>
          <p:cNvPr id="13" name="cpe|exhibit|text|12"/>
          <p:cNvSpPr txBox="1"/>
          <p:nvPr/>
        </p:nvSpPr>
        <p:spPr>
          <a:xfrm>
            <a:off x="4341457"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26</a:t>
            </a:r>
          </a:p>
        </p:txBody>
      </p:sp>
      <p:sp>
        <p:nvSpPr>
          <p:cNvPr id="14" name="cpe|exhibit|text|13"/>
          <p:cNvSpPr txBox="1"/>
          <p:nvPr/>
        </p:nvSpPr>
        <p:spPr>
          <a:xfrm>
            <a:off x="539107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26</a:t>
            </a:r>
          </a:p>
        </p:txBody>
      </p:sp>
      <p:sp>
        <p:nvSpPr>
          <p:cNvPr id="15" name="cpe|exhibit|text|14"/>
          <p:cNvSpPr txBox="1"/>
          <p:nvPr/>
        </p:nvSpPr>
        <p:spPr>
          <a:xfrm>
            <a:off x="644069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26</a:t>
            </a:r>
          </a:p>
        </p:txBody>
      </p:sp>
      <p:sp>
        <p:nvSpPr>
          <p:cNvPr id="16" name="cpe|exhibit|text|15"/>
          <p:cNvSpPr txBox="1"/>
          <p:nvPr/>
        </p:nvSpPr>
        <p:spPr>
          <a:xfrm>
            <a:off x="749030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27</a:t>
            </a:r>
          </a:p>
        </p:txBody>
      </p:sp>
      <p:sp>
        <p:nvSpPr>
          <p:cNvPr id="17" name="cpe|exhibit|text|16"/>
          <p:cNvSpPr txBox="1"/>
          <p:nvPr/>
        </p:nvSpPr>
        <p:spPr>
          <a:xfrm>
            <a:off x="853992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27</a:t>
            </a:r>
          </a:p>
        </p:txBody>
      </p:sp>
      <p:sp>
        <p:nvSpPr>
          <p:cNvPr id="18" name="cpe|exhibit|text|17"/>
          <p:cNvSpPr txBox="1"/>
          <p:nvPr/>
        </p:nvSpPr>
        <p:spPr>
          <a:xfrm>
            <a:off x="958954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27</a:t>
            </a:r>
          </a:p>
        </p:txBody>
      </p:sp>
      <p:sp>
        <p:nvSpPr>
          <p:cNvPr id="19" name="cpe|exhibit|text|18"/>
          <p:cNvSpPr txBox="1"/>
          <p:nvPr/>
        </p:nvSpPr>
        <p:spPr>
          <a:xfrm>
            <a:off x="1063915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27</a:t>
            </a:r>
          </a:p>
        </p:txBody>
      </p:sp>
      <p:cxnSp>
        <p:nvCxnSpPr>
          <p:cNvPr id="20" name="cpe|exhibit|line|19"/>
          <p:cNvCxnSpPr/>
          <p:nvPr/>
        </p:nvCxnSpPr>
        <p:spPr>
          <a:xfrm>
            <a:off x="502920" y="2121408"/>
            <a:ext cx="11185855" cy="0"/>
          </a:xfrm>
          <a:prstGeom prst="line">
            <a:avLst/>
          </a:prstGeom>
          <a:ln w="9525">
            <a:solidFill>
              <a:srgbClr val="0B1F3A"/>
            </a:solidFill>
          </a:ln>
        </p:spPr>
      </p:cxnSp>
      <p:cxnSp>
        <p:nvCxnSpPr>
          <p:cNvPr id="21" name="cpe|exhibit|line|20"/>
          <p:cNvCxnSpPr/>
          <p:nvPr/>
        </p:nvCxnSpPr>
        <p:spPr>
          <a:xfrm>
            <a:off x="4341457" y="2121408"/>
            <a:ext cx="0" cy="3401568"/>
          </a:xfrm>
          <a:prstGeom prst="line">
            <a:avLst/>
          </a:prstGeom>
          <a:ln w="6350">
            <a:solidFill>
              <a:srgbClr val="E3E7EB"/>
            </a:solidFill>
          </a:ln>
        </p:spPr>
      </p:cxnSp>
      <p:cxnSp>
        <p:nvCxnSpPr>
          <p:cNvPr id="22" name="cpe|exhibit|line|21"/>
          <p:cNvCxnSpPr/>
          <p:nvPr/>
        </p:nvCxnSpPr>
        <p:spPr>
          <a:xfrm>
            <a:off x="5391074" y="2121408"/>
            <a:ext cx="0" cy="3401568"/>
          </a:xfrm>
          <a:prstGeom prst="line">
            <a:avLst/>
          </a:prstGeom>
          <a:ln w="6350">
            <a:solidFill>
              <a:srgbClr val="E3E7EB"/>
            </a:solidFill>
          </a:ln>
        </p:spPr>
      </p:cxnSp>
      <p:cxnSp>
        <p:nvCxnSpPr>
          <p:cNvPr id="23" name="cpe|exhibit|line|22"/>
          <p:cNvCxnSpPr/>
          <p:nvPr/>
        </p:nvCxnSpPr>
        <p:spPr>
          <a:xfrm>
            <a:off x="6440691" y="2121408"/>
            <a:ext cx="0" cy="3401568"/>
          </a:xfrm>
          <a:prstGeom prst="line">
            <a:avLst/>
          </a:prstGeom>
          <a:ln w="6350">
            <a:solidFill>
              <a:srgbClr val="E3E7EB"/>
            </a:solidFill>
          </a:ln>
        </p:spPr>
      </p:cxnSp>
      <p:cxnSp>
        <p:nvCxnSpPr>
          <p:cNvPr id="24" name="cpe|exhibit|line|23"/>
          <p:cNvCxnSpPr/>
          <p:nvPr/>
        </p:nvCxnSpPr>
        <p:spPr>
          <a:xfrm>
            <a:off x="7490308" y="2121408"/>
            <a:ext cx="0" cy="3401568"/>
          </a:xfrm>
          <a:prstGeom prst="line">
            <a:avLst/>
          </a:prstGeom>
          <a:ln w="6350">
            <a:solidFill>
              <a:srgbClr val="E3E7EB"/>
            </a:solidFill>
          </a:ln>
        </p:spPr>
      </p:cxnSp>
      <p:cxnSp>
        <p:nvCxnSpPr>
          <p:cNvPr id="25" name="cpe|exhibit|line|24"/>
          <p:cNvCxnSpPr/>
          <p:nvPr/>
        </p:nvCxnSpPr>
        <p:spPr>
          <a:xfrm>
            <a:off x="8539924" y="2121408"/>
            <a:ext cx="0" cy="3401568"/>
          </a:xfrm>
          <a:prstGeom prst="line">
            <a:avLst/>
          </a:prstGeom>
          <a:ln w="6350">
            <a:solidFill>
              <a:srgbClr val="E3E7EB"/>
            </a:solidFill>
          </a:ln>
        </p:spPr>
      </p:cxnSp>
      <p:cxnSp>
        <p:nvCxnSpPr>
          <p:cNvPr id="26" name="cpe|exhibit|line|25"/>
          <p:cNvCxnSpPr/>
          <p:nvPr/>
        </p:nvCxnSpPr>
        <p:spPr>
          <a:xfrm>
            <a:off x="9589541" y="2121408"/>
            <a:ext cx="0" cy="3401568"/>
          </a:xfrm>
          <a:prstGeom prst="line">
            <a:avLst/>
          </a:prstGeom>
          <a:ln w="6350">
            <a:solidFill>
              <a:srgbClr val="E3E7EB"/>
            </a:solidFill>
          </a:ln>
        </p:spPr>
      </p:cxnSp>
      <p:cxnSp>
        <p:nvCxnSpPr>
          <p:cNvPr id="27" name="cpe|exhibit|line|26"/>
          <p:cNvCxnSpPr/>
          <p:nvPr/>
        </p:nvCxnSpPr>
        <p:spPr>
          <a:xfrm>
            <a:off x="10639158" y="2121408"/>
            <a:ext cx="0" cy="3401568"/>
          </a:xfrm>
          <a:prstGeom prst="line">
            <a:avLst/>
          </a:prstGeom>
          <a:ln w="6350">
            <a:solidFill>
              <a:srgbClr val="E3E7EB"/>
            </a:solidFill>
          </a:ln>
        </p:spPr>
      </p:cxnSp>
      <p:cxnSp>
        <p:nvCxnSpPr>
          <p:cNvPr id="28" name="cpe|exhibit|connector|27"/>
          <p:cNvCxnSpPr/>
          <p:nvPr/>
        </p:nvCxnSpPr>
        <p:spPr>
          <a:xfrm>
            <a:off x="3816648" y="2075688"/>
            <a:ext cx="0" cy="3447288"/>
          </a:xfrm>
          <a:prstGeom prst="line">
            <a:avLst/>
          </a:prstGeom>
          <a:ln w="9525">
            <a:solidFill>
              <a:srgbClr val="00A3AD"/>
            </a:solidFill>
            <a:prstDash val="dash"/>
          </a:ln>
        </p:spPr>
      </p:cxnSp>
      <p:sp>
        <p:nvSpPr>
          <p:cNvPr id="29" name="cpe|exhibit|label|28"/>
          <p:cNvSpPr txBox="1"/>
          <p:nvPr/>
        </p:nvSpPr>
        <p:spPr>
          <a:xfrm>
            <a:off x="3359448" y="5541264"/>
            <a:ext cx="914400" cy="201168"/>
          </a:xfrm>
          <a:prstGeom prst="rect">
            <a:avLst/>
          </a:prstGeom>
          <a:noFill/>
        </p:spPr>
        <p:txBody>
          <a:bodyPr wrap="square" lIns="0" rIns="0" tIns="0" bIns="0" anchor="t">
            <a:noAutofit/>
          </a:bodyPr>
          <a:lstStyle/>
          <a:p>
            <a:pPr algn="ctr">
              <a:lnSpc>
                <a:spcPct val="100000"/>
              </a:lnSpc>
            </a:pPr>
            <a:r>
              <a:rPr sz="900" b="1">
                <a:solidFill>
                  <a:srgbClr val="5E6A77"/>
                </a:solidFill>
                <a:latin typeface="Arial"/>
              </a:rPr>
              <a:t>Today</a:t>
            </a:r>
          </a:p>
        </p:txBody>
      </p:sp>
      <p:sp>
        <p:nvSpPr>
          <p:cNvPr id="30" name="cpe|exhibit|text|29"/>
          <p:cNvSpPr txBox="1"/>
          <p:nvPr/>
        </p:nvSpPr>
        <p:spPr>
          <a:xfrm>
            <a:off x="502920" y="212140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Pricing &amp; promo reset</a:t>
            </a:r>
          </a:p>
        </p:txBody>
      </p:sp>
      <p:sp>
        <p:nvSpPr>
          <p:cNvPr id="31" name="cpe|exhibit|fill|30"/>
          <p:cNvSpPr/>
          <p:nvPr/>
        </p:nvSpPr>
        <p:spPr>
          <a:xfrm>
            <a:off x="3319272" y="2257471"/>
            <a:ext cx="3093987" cy="294803"/>
          </a:xfrm>
          <a:prstGeom prst="rect">
            <a:avLst/>
          </a:prstGeom>
          <a:solidFill>
            <a:srgbClr val="3D6399"/>
          </a:solidFill>
          <a:ln>
            <a:noFill/>
          </a:ln>
        </p:spPr>
        <p:txBody>
          <a:bodyPr rtlCol="0" anchor="ctr" lIns="0" rIns="0" tIns="0" bIns="0"/>
          <a:lstStyle/>
          <a:p>
            <a:pPr algn="ctr"/>
          </a:p>
        </p:txBody>
      </p:sp>
      <p:sp>
        <p:nvSpPr>
          <p:cNvPr id="32" name="cpe|exhibit|text|31"/>
          <p:cNvSpPr txBox="1"/>
          <p:nvPr/>
        </p:nvSpPr>
        <p:spPr>
          <a:xfrm>
            <a:off x="3374136" y="2257471"/>
            <a:ext cx="298425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Reset 1,200 SKUs</a:t>
            </a:r>
          </a:p>
        </p:txBody>
      </p:sp>
      <p:cxnSp>
        <p:nvCxnSpPr>
          <p:cNvPr id="33" name="cpe|exhibit|line|32"/>
          <p:cNvCxnSpPr/>
          <p:nvPr/>
        </p:nvCxnSpPr>
        <p:spPr>
          <a:xfrm>
            <a:off x="502920" y="2688336"/>
            <a:ext cx="11185855" cy="0"/>
          </a:xfrm>
          <a:prstGeom prst="line">
            <a:avLst/>
          </a:prstGeom>
          <a:ln w="6350">
            <a:solidFill>
              <a:srgbClr val="E3E7EB"/>
            </a:solidFill>
          </a:ln>
        </p:spPr>
      </p:cxnSp>
      <p:sp>
        <p:nvSpPr>
          <p:cNvPr id="34" name="cpe|exhibit|text|33"/>
          <p:cNvSpPr txBox="1"/>
          <p:nvPr/>
        </p:nvSpPr>
        <p:spPr>
          <a:xfrm>
            <a:off x="502920" y="2688336"/>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Fresh &amp; food-to-go margins</a:t>
            </a:r>
          </a:p>
        </p:txBody>
      </p:sp>
      <p:sp>
        <p:nvSpPr>
          <p:cNvPr id="35" name="cpe|exhibit|fill|34"/>
          <p:cNvSpPr/>
          <p:nvPr/>
        </p:nvSpPr>
        <p:spPr>
          <a:xfrm>
            <a:off x="3319272" y="2824399"/>
            <a:ext cx="4143604" cy="294803"/>
          </a:xfrm>
          <a:prstGeom prst="rect">
            <a:avLst/>
          </a:prstGeom>
          <a:solidFill>
            <a:srgbClr val="3D6399"/>
          </a:solidFill>
          <a:ln>
            <a:noFill/>
          </a:ln>
        </p:spPr>
        <p:txBody>
          <a:bodyPr rtlCol="0" anchor="ctr" lIns="0" rIns="0" tIns="0" bIns="0"/>
          <a:lstStyle/>
          <a:p>
            <a:pPr algn="ctr"/>
          </a:p>
        </p:txBody>
      </p:sp>
      <p:sp>
        <p:nvSpPr>
          <p:cNvPr id="36" name="cpe|exhibit|text|35"/>
          <p:cNvSpPr txBox="1"/>
          <p:nvPr/>
        </p:nvSpPr>
        <p:spPr>
          <a:xfrm>
            <a:off x="3374136" y="2824399"/>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Waste &amp; range</a:t>
            </a:r>
          </a:p>
        </p:txBody>
      </p:sp>
      <p:cxnSp>
        <p:nvCxnSpPr>
          <p:cNvPr id="37" name="cpe|exhibit|line|36"/>
          <p:cNvCxnSpPr/>
          <p:nvPr/>
        </p:nvCxnSpPr>
        <p:spPr>
          <a:xfrm>
            <a:off x="502920" y="3255264"/>
            <a:ext cx="11185855" cy="0"/>
          </a:xfrm>
          <a:prstGeom prst="line">
            <a:avLst/>
          </a:prstGeom>
          <a:ln w="6350">
            <a:solidFill>
              <a:srgbClr val="E3E7EB"/>
            </a:solidFill>
          </a:ln>
        </p:spPr>
      </p:cxnSp>
      <p:sp>
        <p:nvSpPr>
          <p:cNvPr id="38" name="cpe|exhibit|text|37"/>
          <p:cNvSpPr txBox="1"/>
          <p:nvPr/>
        </p:nvSpPr>
        <p:spPr>
          <a:xfrm>
            <a:off x="502920" y="3255264"/>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Cost programme</a:t>
            </a:r>
          </a:p>
        </p:txBody>
      </p:sp>
      <p:sp>
        <p:nvSpPr>
          <p:cNvPr id="39" name="cpe|exhibit|fill|38"/>
          <p:cNvSpPr/>
          <p:nvPr/>
        </p:nvSpPr>
        <p:spPr>
          <a:xfrm>
            <a:off x="4368889" y="3391327"/>
            <a:ext cx="6242837" cy="294803"/>
          </a:xfrm>
          <a:prstGeom prst="rect">
            <a:avLst/>
          </a:prstGeom>
          <a:solidFill>
            <a:srgbClr val="3D6399"/>
          </a:solidFill>
          <a:ln>
            <a:noFill/>
          </a:ln>
        </p:spPr>
        <p:txBody>
          <a:bodyPr rtlCol="0" anchor="ctr" lIns="0" rIns="0" tIns="0" bIns="0"/>
          <a:lstStyle/>
          <a:p>
            <a:pPr algn="ctr"/>
          </a:p>
        </p:txBody>
      </p:sp>
      <p:sp>
        <p:nvSpPr>
          <p:cNvPr id="40" name="cpe|exhibit|text|39"/>
          <p:cNvSpPr txBox="1"/>
          <p:nvPr/>
        </p:nvSpPr>
        <p:spPr>
          <a:xfrm>
            <a:off x="4423753" y="3391327"/>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Labour scheduling, energy</a:t>
            </a:r>
          </a:p>
        </p:txBody>
      </p:sp>
      <p:cxnSp>
        <p:nvCxnSpPr>
          <p:cNvPr id="41" name="cpe|exhibit|line|40"/>
          <p:cNvCxnSpPr/>
          <p:nvPr/>
        </p:nvCxnSpPr>
        <p:spPr>
          <a:xfrm>
            <a:off x="502920" y="3822192"/>
            <a:ext cx="11185855" cy="0"/>
          </a:xfrm>
          <a:prstGeom prst="line">
            <a:avLst/>
          </a:prstGeom>
          <a:ln w="6350">
            <a:solidFill>
              <a:srgbClr val="E3E7EB"/>
            </a:solidFill>
          </a:ln>
        </p:spPr>
      </p:cxnSp>
      <p:sp>
        <p:nvSpPr>
          <p:cNvPr id="42" name="cpe|exhibit|text|41"/>
          <p:cNvSpPr txBox="1"/>
          <p:nvPr/>
        </p:nvSpPr>
        <p:spPr>
          <a:xfrm>
            <a:off x="502920" y="3822192"/>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Private label</a:t>
            </a:r>
          </a:p>
        </p:txBody>
      </p:sp>
      <p:sp>
        <p:nvSpPr>
          <p:cNvPr id="43" name="cpe|exhibit|fill|42"/>
          <p:cNvSpPr/>
          <p:nvPr/>
        </p:nvSpPr>
        <p:spPr>
          <a:xfrm>
            <a:off x="5418506" y="3958255"/>
            <a:ext cx="6242837" cy="294803"/>
          </a:xfrm>
          <a:prstGeom prst="rect">
            <a:avLst/>
          </a:prstGeom>
          <a:solidFill>
            <a:srgbClr val="3D6399"/>
          </a:solidFill>
          <a:ln>
            <a:noFill/>
          </a:ln>
        </p:spPr>
        <p:txBody>
          <a:bodyPr rtlCol="0" anchor="ctr" lIns="0" rIns="0" tIns="0" bIns="0"/>
          <a:lstStyle/>
          <a:p>
            <a:pPr algn="ctr"/>
          </a:p>
        </p:txBody>
      </p:sp>
      <p:sp>
        <p:nvSpPr>
          <p:cNvPr id="44" name="cpe|exhibit|text|43"/>
          <p:cNvSpPr txBox="1"/>
          <p:nvPr/>
        </p:nvSpPr>
        <p:spPr>
          <a:xfrm>
            <a:off x="5473370" y="3958255"/>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25% → 35% of sales</a:t>
            </a:r>
          </a:p>
        </p:txBody>
      </p:sp>
      <p:cxnSp>
        <p:nvCxnSpPr>
          <p:cNvPr id="45" name="cpe|exhibit|line|44"/>
          <p:cNvCxnSpPr/>
          <p:nvPr/>
        </p:nvCxnSpPr>
        <p:spPr>
          <a:xfrm>
            <a:off x="502920" y="4389120"/>
            <a:ext cx="11185855" cy="0"/>
          </a:xfrm>
          <a:prstGeom prst="line">
            <a:avLst/>
          </a:prstGeom>
          <a:ln w="6350">
            <a:solidFill>
              <a:srgbClr val="E3E7EB"/>
            </a:solidFill>
          </a:ln>
        </p:spPr>
      </p:cxnSp>
      <p:sp>
        <p:nvSpPr>
          <p:cNvPr id="46" name="cpe|exhibit|text|45"/>
          <p:cNvSpPr txBox="1"/>
          <p:nvPr/>
        </p:nvSpPr>
        <p:spPr>
          <a:xfrm>
            <a:off x="502920" y="4389120"/>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Discount banner</a:t>
            </a:r>
          </a:p>
        </p:txBody>
      </p:sp>
      <p:sp>
        <p:nvSpPr>
          <p:cNvPr id="47" name="cpe|exhibit|fill|46"/>
          <p:cNvSpPr/>
          <p:nvPr/>
        </p:nvSpPr>
        <p:spPr>
          <a:xfrm>
            <a:off x="6468123" y="4604553"/>
            <a:ext cx="2044370" cy="294803"/>
          </a:xfrm>
          <a:prstGeom prst="rect">
            <a:avLst/>
          </a:prstGeom>
          <a:solidFill>
            <a:srgbClr val="00A3AD"/>
          </a:solidFill>
          <a:ln>
            <a:noFill/>
          </a:ln>
        </p:spPr>
        <p:txBody>
          <a:bodyPr rtlCol="0" anchor="ctr" lIns="0" rIns="0" tIns="0" bIns="0"/>
          <a:lstStyle/>
          <a:p>
            <a:pPr algn="ctr"/>
          </a:p>
        </p:txBody>
      </p:sp>
      <p:sp>
        <p:nvSpPr>
          <p:cNvPr id="48" name="cpe|exhibit|text|47"/>
          <p:cNvSpPr txBox="1"/>
          <p:nvPr/>
        </p:nvSpPr>
        <p:spPr>
          <a:xfrm>
            <a:off x="6522987" y="4604553"/>
            <a:ext cx="1934642" cy="294803"/>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Pilot 20 stores</a:t>
            </a:r>
          </a:p>
        </p:txBody>
      </p:sp>
      <p:sp>
        <p:nvSpPr>
          <p:cNvPr id="49" name="cpe|exhibit|fill|48"/>
          <p:cNvSpPr/>
          <p:nvPr/>
        </p:nvSpPr>
        <p:spPr>
          <a:xfrm>
            <a:off x="8567356" y="4604553"/>
            <a:ext cx="3093987" cy="294803"/>
          </a:xfrm>
          <a:prstGeom prst="rect">
            <a:avLst/>
          </a:prstGeom>
          <a:solidFill>
            <a:srgbClr val="3D6399"/>
          </a:solidFill>
          <a:ln>
            <a:noFill/>
          </a:ln>
        </p:spPr>
        <p:txBody>
          <a:bodyPr rtlCol="0" anchor="ctr" lIns="0" rIns="0" tIns="0" bIns="0"/>
          <a:lstStyle/>
          <a:p>
            <a:pPr algn="ctr"/>
          </a:p>
        </p:txBody>
      </p:sp>
      <p:sp>
        <p:nvSpPr>
          <p:cNvPr id="50" name="cpe|exhibit|text|49"/>
          <p:cNvSpPr txBox="1"/>
          <p:nvPr/>
        </p:nvSpPr>
        <p:spPr>
          <a:xfrm>
            <a:off x="8750236" y="4604553"/>
            <a:ext cx="2856243"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Roll out 150 stores</a:t>
            </a:r>
          </a:p>
        </p:txBody>
      </p:sp>
      <p:sp>
        <p:nvSpPr>
          <p:cNvPr id="51" name="cpe|exhibit|marker|50"/>
          <p:cNvSpPr/>
          <p:nvPr/>
        </p:nvSpPr>
        <p:spPr>
          <a:xfrm>
            <a:off x="8448484" y="4660514"/>
            <a:ext cx="182880" cy="182880"/>
          </a:xfrm>
          <a:prstGeom prst="diamond">
            <a:avLst/>
          </a:prstGeom>
          <a:solidFill>
            <a:srgbClr val="00A3AD"/>
          </a:solidFill>
          <a:ln w="9525">
            <a:solidFill>
              <a:srgbClr val="FFFFFF"/>
            </a:solidFill>
          </a:ln>
        </p:spPr>
        <p:txBody>
          <a:bodyPr rtlCol="0" anchor="ctr" lIns="0" rIns="0" tIns="0" bIns="0"/>
          <a:lstStyle/>
          <a:p>
            <a:pPr algn="ctr"/>
          </a:p>
        </p:txBody>
      </p:sp>
      <p:sp>
        <p:nvSpPr>
          <p:cNvPr id="52" name="cpe|exhibit|label|51"/>
          <p:cNvSpPr txBox="1"/>
          <p:nvPr/>
        </p:nvSpPr>
        <p:spPr>
          <a:xfrm>
            <a:off x="8224201" y="4403385"/>
            <a:ext cx="631448" cy="182880"/>
          </a:xfrm>
          <a:prstGeom prst="rect">
            <a:avLst/>
          </a:prstGeom>
          <a:noFill/>
        </p:spPr>
        <p:txBody>
          <a:bodyPr wrap="square" lIns="0" rIns="0" tIns="0" bIns="0" anchor="b">
            <a:noAutofit/>
          </a:bodyPr>
          <a:lstStyle/>
          <a:p>
            <a:pPr algn="ctr">
              <a:lnSpc>
                <a:spcPct val="100000"/>
              </a:lnSpc>
            </a:pPr>
            <a:r>
              <a:rPr sz="900" b="1">
                <a:solidFill>
                  <a:srgbClr val="1E252D"/>
                </a:solidFill>
                <a:latin typeface="Arial"/>
              </a:rPr>
              <a:t>Go / no-go</a:t>
            </a:r>
          </a:p>
        </p:txBody>
      </p:sp>
      <p:cxnSp>
        <p:nvCxnSpPr>
          <p:cNvPr id="53" name="cpe|exhibit|line|52"/>
          <p:cNvCxnSpPr/>
          <p:nvPr/>
        </p:nvCxnSpPr>
        <p:spPr>
          <a:xfrm>
            <a:off x="502920" y="4956048"/>
            <a:ext cx="11185855" cy="0"/>
          </a:xfrm>
          <a:prstGeom prst="line">
            <a:avLst/>
          </a:prstGeom>
          <a:ln w="6350">
            <a:solidFill>
              <a:srgbClr val="E3E7EB"/>
            </a:solidFill>
          </a:ln>
        </p:spPr>
      </p:cxnSp>
      <p:sp>
        <p:nvSpPr>
          <p:cNvPr id="54" name="cpe|exhibit|text|53"/>
          <p:cNvSpPr txBox="1"/>
          <p:nvPr/>
        </p:nvSpPr>
        <p:spPr>
          <a:xfrm>
            <a:off x="502920" y="495604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Online fulfilment hubs</a:t>
            </a:r>
          </a:p>
        </p:txBody>
      </p:sp>
      <p:sp>
        <p:nvSpPr>
          <p:cNvPr id="55" name="cpe|exhibit|fill|54"/>
          <p:cNvSpPr/>
          <p:nvPr/>
        </p:nvSpPr>
        <p:spPr>
          <a:xfrm>
            <a:off x="7517740" y="5092111"/>
            <a:ext cx="4143604" cy="294803"/>
          </a:xfrm>
          <a:prstGeom prst="rect">
            <a:avLst/>
          </a:prstGeom>
          <a:solidFill>
            <a:srgbClr val="3D6399"/>
          </a:solidFill>
          <a:ln>
            <a:noFill/>
          </a:ln>
        </p:spPr>
        <p:txBody>
          <a:bodyPr rtlCol="0" anchor="ctr" lIns="0" rIns="0" tIns="0" bIns="0"/>
          <a:lstStyle/>
          <a:p>
            <a:pPr algn="ctr"/>
          </a:p>
        </p:txBody>
      </p:sp>
      <p:sp>
        <p:nvSpPr>
          <p:cNvPr id="56" name="cpe|exhibit|text|55"/>
          <p:cNvSpPr txBox="1"/>
          <p:nvPr/>
        </p:nvSpPr>
        <p:spPr>
          <a:xfrm>
            <a:off x="7572604" y="5092111"/>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 hubs</a:t>
            </a:r>
          </a:p>
        </p:txBody>
      </p:sp>
      <p:cxnSp>
        <p:nvCxnSpPr>
          <p:cNvPr id="57" name="cpe|exhibit|line|56"/>
          <p:cNvCxnSpPr/>
          <p:nvPr/>
        </p:nvCxnSpPr>
        <p:spPr>
          <a:xfrm>
            <a:off x="502920" y="5522976"/>
            <a:ext cx="11185855" cy="0"/>
          </a:xfrm>
          <a:prstGeom prst="line">
            <a:avLst/>
          </a:prstGeom>
          <a:ln w="6350">
            <a:solidFill>
              <a:srgbClr val="E3E7EB"/>
            </a:solidFill>
          </a:ln>
        </p:spPr>
      </p:cxn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ROADMAP</a:t>
            </a:r>
          </a:p>
        </p:txBody>
      </p:sp>
      <p:sp>
        <p:nvSpPr>
          <p:cNvPr id="3" name="cpe|chrome|text|2"/>
          <p:cNvSpPr txBox="1"/>
          <p:nvPr/>
        </p:nvSpPr>
        <p:spPr>
          <a:xfrm>
            <a:off x="502920" y="475488"/>
            <a:ext cx="8376964" cy="786384"/>
          </a:xfrm>
          <a:prstGeom prst="rect">
            <a:avLst/>
          </a:prstGeom>
          <a:noFill/>
        </p:spPr>
        <p:txBody>
          <a:bodyPr wrap="square" lIns="0" rIns="0" tIns="0" bIns="0" anchor="t">
            <a:noAutofit/>
          </a:bodyPr>
          <a:lstStyle/>
          <a:p>
            <a:pPr algn="l">
              <a:lnSpc>
                <a:spcPct val="100000"/>
              </a:lnSpc>
            </a:pPr>
            <a:r>
              <a:rPr sz="2000" b="1">
                <a:solidFill>
                  <a:srgbClr val="0B1F3A"/>
                </a:solidFill>
                <a:latin typeface="Arial"/>
              </a:rPr>
              <a:t>A plan in three waves over 24 months secures quick margin wins in pricing, fresh and costs before we scale the discount banner, the private label range and the online fulfilment hubs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Programme plan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10</a:t>
            </a:r>
          </a:p>
        </p:txBody>
      </p:sp>
      <p:sp>
        <p:nvSpPr>
          <p:cNvPr id="6" name="cpe|exhibit|fill|5"/>
          <p:cNvSpPr/>
          <p:nvPr/>
        </p:nvSpPr>
        <p:spPr>
          <a:xfrm>
            <a:off x="3310128" y="1481328"/>
            <a:ext cx="3112275" cy="274320"/>
          </a:xfrm>
          <a:prstGeom prst="rect">
            <a:avLst/>
          </a:prstGeom>
          <a:solidFill>
            <a:srgbClr val="0B1F3A"/>
          </a:solidFill>
          <a:ln>
            <a:noFill/>
          </a:ln>
        </p:spPr>
        <p:txBody>
          <a:bodyPr rtlCol="0" anchor="ctr" lIns="0" rIns="0" tIns="0" bIns="0"/>
          <a:lstStyle/>
          <a:p>
            <a:pPr algn="ctr"/>
          </a:p>
        </p:txBody>
      </p:sp>
      <p:sp>
        <p:nvSpPr>
          <p:cNvPr id="7" name="cpe|exhibit|text|6"/>
          <p:cNvSpPr txBox="1"/>
          <p:nvPr/>
        </p:nvSpPr>
        <p:spPr>
          <a:xfrm>
            <a:off x="3346704"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1: Fix margins</a:t>
            </a:r>
          </a:p>
        </p:txBody>
      </p:sp>
      <p:sp>
        <p:nvSpPr>
          <p:cNvPr id="8" name="cpe|exhibit|fill|7"/>
          <p:cNvSpPr/>
          <p:nvPr/>
        </p:nvSpPr>
        <p:spPr>
          <a:xfrm>
            <a:off x="6458979" y="1481328"/>
            <a:ext cx="2062658" cy="274320"/>
          </a:xfrm>
          <a:prstGeom prst="rect">
            <a:avLst/>
          </a:prstGeom>
          <a:solidFill>
            <a:srgbClr val="0B1F3A"/>
          </a:solidFill>
          <a:ln>
            <a:noFill/>
          </a:ln>
        </p:spPr>
        <p:txBody>
          <a:bodyPr rtlCol="0" anchor="ctr" lIns="0" rIns="0" tIns="0" bIns="0"/>
          <a:lstStyle/>
          <a:p>
            <a:pPr algn="ctr"/>
          </a:p>
        </p:txBody>
      </p:sp>
      <p:sp>
        <p:nvSpPr>
          <p:cNvPr id="9" name="cpe|exhibit|text|8"/>
          <p:cNvSpPr txBox="1"/>
          <p:nvPr/>
        </p:nvSpPr>
        <p:spPr>
          <a:xfrm>
            <a:off x="6495555" y="1481328"/>
            <a:ext cx="1989506"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2: Pilot</a:t>
            </a:r>
          </a:p>
        </p:txBody>
      </p:sp>
      <p:sp>
        <p:nvSpPr>
          <p:cNvPr id="10" name="cpe|exhibit|fill|9"/>
          <p:cNvSpPr/>
          <p:nvPr/>
        </p:nvSpPr>
        <p:spPr>
          <a:xfrm>
            <a:off x="8558212" y="1481328"/>
            <a:ext cx="3112275" cy="274320"/>
          </a:xfrm>
          <a:prstGeom prst="rect">
            <a:avLst/>
          </a:prstGeom>
          <a:solidFill>
            <a:srgbClr val="0B1F3A"/>
          </a:solidFill>
          <a:ln>
            <a:noFill/>
          </a:ln>
        </p:spPr>
        <p:txBody>
          <a:bodyPr rtlCol="0" anchor="ctr" lIns="0" rIns="0" tIns="0" bIns="0"/>
          <a:lstStyle/>
          <a:p>
            <a:pPr algn="ctr"/>
          </a:p>
        </p:txBody>
      </p:sp>
      <p:sp>
        <p:nvSpPr>
          <p:cNvPr id="11" name="cpe|exhibit|text|10"/>
          <p:cNvSpPr txBox="1"/>
          <p:nvPr/>
        </p:nvSpPr>
        <p:spPr>
          <a:xfrm>
            <a:off x="8594788" y="1481328"/>
            <a:ext cx="3039123" cy="274320"/>
          </a:xfrm>
          <a:prstGeom prst="rect">
            <a:avLst/>
          </a:prstGeom>
          <a:noFill/>
        </p:spPr>
        <p:txBody>
          <a:bodyPr wrap="square" lIns="0" rIns="0" tIns="0" bIns="0" anchor="ctr">
            <a:noAutofit/>
          </a:bodyPr>
          <a:lstStyle/>
          <a:p>
            <a:pPr algn="ctr">
              <a:lnSpc>
                <a:spcPct val="100000"/>
              </a:lnSpc>
            </a:pPr>
            <a:r>
              <a:rPr sz="1000" b="1">
                <a:solidFill>
                  <a:srgbClr val="FFFFFF"/>
                </a:solidFill>
                <a:latin typeface="Arial"/>
              </a:rPr>
              <a:t>Wave 3: Scale</a:t>
            </a:r>
          </a:p>
        </p:txBody>
      </p:sp>
      <p:sp>
        <p:nvSpPr>
          <p:cNvPr id="12" name="cpe|exhibit|text|11"/>
          <p:cNvSpPr txBox="1"/>
          <p:nvPr/>
        </p:nvSpPr>
        <p:spPr>
          <a:xfrm>
            <a:off x="3291840"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26</a:t>
            </a:r>
          </a:p>
        </p:txBody>
      </p:sp>
      <p:sp>
        <p:nvSpPr>
          <p:cNvPr id="13" name="cpe|exhibit|text|12"/>
          <p:cNvSpPr txBox="1"/>
          <p:nvPr/>
        </p:nvSpPr>
        <p:spPr>
          <a:xfrm>
            <a:off x="4341457"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26</a:t>
            </a:r>
          </a:p>
        </p:txBody>
      </p:sp>
      <p:sp>
        <p:nvSpPr>
          <p:cNvPr id="14" name="cpe|exhibit|text|13"/>
          <p:cNvSpPr txBox="1"/>
          <p:nvPr/>
        </p:nvSpPr>
        <p:spPr>
          <a:xfrm>
            <a:off x="539107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26</a:t>
            </a:r>
          </a:p>
        </p:txBody>
      </p:sp>
      <p:sp>
        <p:nvSpPr>
          <p:cNvPr id="15" name="cpe|exhibit|text|14"/>
          <p:cNvSpPr txBox="1"/>
          <p:nvPr/>
        </p:nvSpPr>
        <p:spPr>
          <a:xfrm>
            <a:off x="644069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26</a:t>
            </a:r>
          </a:p>
        </p:txBody>
      </p:sp>
      <p:sp>
        <p:nvSpPr>
          <p:cNvPr id="16" name="cpe|exhibit|text|15"/>
          <p:cNvSpPr txBox="1"/>
          <p:nvPr/>
        </p:nvSpPr>
        <p:spPr>
          <a:xfrm>
            <a:off x="749030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Q1 27</a:t>
            </a:r>
          </a:p>
        </p:txBody>
      </p:sp>
      <p:sp>
        <p:nvSpPr>
          <p:cNvPr id="17" name="cpe|exhibit|text|16"/>
          <p:cNvSpPr txBox="1"/>
          <p:nvPr/>
        </p:nvSpPr>
        <p:spPr>
          <a:xfrm>
            <a:off x="8539924"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Q2 27</a:t>
            </a:r>
          </a:p>
        </p:txBody>
      </p:sp>
      <p:sp>
        <p:nvSpPr>
          <p:cNvPr id="18" name="cpe|exhibit|text|17"/>
          <p:cNvSpPr txBox="1"/>
          <p:nvPr/>
        </p:nvSpPr>
        <p:spPr>
          <a:xfrm>
            <a:off x="9589541"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Q3 27</a:t>
            </a:r>
          </a:p>
        </p:txBody>
      </p:sp>
      <p:sp>
        <p:nvSpPr>
          <p:cNvPr id="19" name="cpe|exhibit|text|18"/>
          <p:cNvSpPr txBox="1"/>
          <p:nvPr/>
        </p:nvSpPr>
        <p:spPr>
          <a:xfrm>
            <a:off x="10639158" y="1828800"/>
            <a:ext cx="1049617" cy="256032"/>
          </a:xfrm>
          <a:prstGeom prst="rect">
            <a:avLst/>
          </a:prstGeom>
          <a:noFill/>
        </p:spPr>
        <p:txBody>
          <a:bodyPr wrap="square" lIns="0" rIns="0" tIns="0" bIns="0" anchor="t">
            <a:noAutofit/>
          </a:bodyPr>
          <a:lstStyle/>
          <a:p>
            <a:pPr algn="ctr">
              <a:lnSpc>
                <a:spcPct val="100000"/>
              </a:lnSpc>
            </a:pPr>
            <a:r>
              <a:rPr sz="1000" b="0">
                <a:solidFill>
                  <a:srgbClr val="5E6A77"/>
                </a:solidFill>
                <a:latin typeface="Arial"/>
              </a:rPr>
              <a:t>Q4 27</a:t>
            </a:r>
          </a:p>
        </p:txBody>
      </p:sp>
      <p:cxnSp>
        <p:nvCxnSpPr>
          <p:cNvPr id="20" name="cpe|exhibit|line|19"/>
          <p:cNvCxnSpPr/>
          <p:nvPr/>
        </p:nvCxnSpPr>
        <p:spPr>
          <a:xfrm>
            <a:off x="502920" y="2121408"/>
            <a:ext cx="11185855" cy="0"/>
          </a:xfrm>
          <a:prstGeom prst="line">
            <a:avLst/>
          </a:prstGeom>
          <a:ln w="9525">
            <a:solidFill>
              <a:srgbClr val="0B1F3A"/>
            </a:solidFill>
          </a:ln>
        </p:spPr>
      </p:cxnSp>
      <p:cxnSp>
        <p:nvCxnSpPr>
          <p:cNvPr id="21" name="cpe|exhibit|line|20"/>
          <p:cNvCxnSpPr/>
          <p:nvPr/>
        </p:nvCxnSpPr>
        <p:spPr>
          <a:xfrm>
            <a:off x="4341457" y="2121408"/>
            <a:ext cx="0" cy="3401568"/>
          </a:xfrm>
          <a:prstGeom prst="line">
            <a:avLst/>
          </a:prstGeom>
          <a:ln w="6350">
            <a:solidFill>
              <a:srgbClr val="E3E7EB"/>
            </a:solidFill>
          </a:ln>
        </p:spPr>
      </p:cxnSp>
      <p:cxnSp>
        <p:nvCxnSpPr>
          <p:cNvPr id="22" name="cpe|exhibit|line|21"/>
          <p:cNvCxnSpPr/>
          <p:nvPr/>
        </p:nvCxnSpPr>
        <p:spPr>
          <a:xfrm>
            <a:off x="5391074" y="2121408"/>
            <a:ext cx="0" cy="3401568"/>
          </a:xfrm>
          <a:prstGeom prst="line">
            <a:avLst/>
          </a:prstGeom>
          <a:ln w="6350">
            <a:solidFill>
              <a:srgbClr val="E3E7EB"/>
            </a:solidFill>
          </a:ln>
        </p:spPr>
      </p:cxnSp>
      <p:cxnSp>
        <p:nvCxnSpPr>
          <p:cNvPr id="23" name="cpe|exhibit|line|22"/>
          <p:cNvCxnSpPr/>
          <p:nvPr/>
        </p:nvCxnSpPr>
        <p:spPr>
          <a:xfrm>
            <a:off x="6440691" y="2121408"/>
            <a:ext cx="0" cy="3401568"/>
          </a:xfrm>
          <a:prstGeom prst="line">
            <a:avLst/>
          </a:prstGeom>
          <a:ln w="6350">
            <a:solidFill>
              <a:srgbClr val="E3E7EB"/>
            </a:solidFill>
          </a:ln>
        </p:spPr>
      </p:cxnSp>
      <p:cxnSp>
        <p:nvCxnSpPr>
          <p:cNvPr id="24" name="cpe|exhibit|line|23"/>
          <p:cNvCxnSpPr/>
          <p:nvPr/>
        </p:nvCxnSpPr>
        <p:spPr>
          <a:xfrm>
            <a:off x="7490308" y="2121408"/>
            <a:ext cx="0" cy="3401568"/>
          </a:xfrm>
          <a:prstGeom prst="line">
            <a:avLst/>
          </a:prstGeom>
          <a:ln w="6350">
            <a:solidFill>
              <a:srgbClr val="E3E7EB"/>
            </a:solidFill>
          </a:ln>
        </p:spPr>
      </p:cxnSp>
      <p:cxnSp>
        <p:nvCxnSpPr>
          <p:cNvPr id="25" name="cpe|exhibit|line|24"/>
          <p:cNvCxnSpPr/>
          <p:nvPr/>
        </p:nvCxnSpPr>
        <p:spPr>
          <a:xfrm>
            <a:off x="8539924" y="2121408"/>
            <a:ext cx="0" cy="3401568"/>
          </a:xfrm>
          <a:prstGeom prst="line">
            <a:avLst/>
          </a:prstGeom>
          <a:ln w="6350">
            <a:solidFill>
              <a:srgbClr val="E3E7EB"/>
            </a:solidFill>
          </a:ln>
        </p:spPr>
      </p:cxnSp>
      <p:cxnSp>
        <p:nvCxnSpPr>
          <p:cNvPr id="26" name="cpe|exhibit|line|25"/>
          <p:cNvCxnSpPr/>
          <p:nvPr/>
        </p:nvCxnSpPr>
        <p:spPr>
          <a:xfrm>
            <a:off x="9589541" y="2121408"/>
            <a:ext cx="0" cy="3401568"/>
          </a:xfrm>
          <a:prstGeom prst="line">
            <a:avLst/>
          </a:prstGeom>
          <a:ln w="6350">
            <a:solidFill>
              <a:srgbClr val="E3E7EB"/>
            </a:solidFill>
          </a:ln>
        </p:spPr>
      </p:cxnSp>
      <p:cxnSp>
        <p:nvCxnSpPr>
          <p:cNvPr id="27" name="cpe|exhibit|line|26"/>
          <p:cNvCxnSpPr/>
          <p:nvPr/>
        </p:nvCxnSpPr>
        <p:spPr>
          <a:xfrm>
            <a:off x="10639158" y="2121408"/>
            <a:ext cx="0" cy="3401568"/>
          </a:xfrm>
          <a:prstGeom prst="line">
            <a:avLst/>
          </a:prstGeom>
          <a:ln w="6350">
            <a:solidFill>
              <a:srgbClr val="E3E7EB"/>
            </a:solidFill>
          </a:ln>
        </p:spPr>
      </p:cxnSp>
      <p:cxnSp>
        <p:nvCxnSpPr>
          <p:cNvPr id="28" name="cpe|exhibit|connector|27"/>
          <p:cNvCxnSpPr/>
          <p:nvPr/>
        </p:nvCxnSpPr>
        <p:spPr>
          <a:xfrm>
            <a:off x="3816648" y="2075688"/>
            <a:ext cx="0" cy="3447288"/>
          </a:xfrm>
          <a:prstGeom prst="line">
            <a:avLst/>
          </a:prstGeom>
          <a:ln w="9525">
            <a:solidFill>
              <a:srgbClr val="00A3AD"/>
            </a:solidFill>
            <a:prstDash val="dash"/>
          </a:ln>
        </p:spPr>
      </p:cxnSp>
      <p:sp>
        <p:nvSpPr>
          <p:cNvPr id="29" name="cpe|exhibit|label|28"/>
          <p:cNvSpPr txBox="1"/>
          <p:nvPr/>
        </p:nvSpPr>
        <p:spPr>
          <a:xfrm>
            <a:off x="3359448" y="5541264"/>
            <a:ext cx="914400" cy="201168"/>
          </a:xfrm>
          <a:prstGeom prst="rect">
            <a:avLst/>
          </a:prstGeom>
          <a:noFill/>
        </p:spPr>
        <p:txBody>
          <a:bodyPr wrap="square" lIns="0" rIns="0" tIns="0" bIns="0" anchor="t">
            <a:noAutofit/>
          </a:bodyPr>
          <a:lstStyle/>
          <a:p>
            <a:pPr algn="ctr">
              <a:lnSpc>
                <a:spcPct val="100000"/>
              </a:lnSpc>
            </a:pPr>
            <a:r>
              <a:rPr sz="900" b="1">
                <a:solidFill>
                  <a:srgbClr val="5E6A77"/>
                </a:solidFill>
                <a:latin typeface="Arial"/>
              </a:rPr>
              <a:t>Today</a:t>
            </a:r>
          </a:p>
        </p:txBody>
      </p:sp>
      <p:sp>
        <p:nvSpPr>
          <p:cNvPr id="30" name="cpe|exhibit|text|29"/>
          <p:cNvSpPr txBox="1"/>
          <p:nvPr/>
        </p:nvSpPr>
        <p:spPr>
          <a:xfrm>
            <a:off x="502920" y="212140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Pricing &amp; promo reset</a:t>
            </a:r>
          </a:p>
        </p:txBody>
      </p:sp>
      <p:sp>
        <p:nvSpPr>
          <p:cNvPr id="31" name="cpe|exhibit|fill|30"/>
          <p:cNvSpPr/>
          <p:nvPr/>
        </p:nvSpPr>
        <p:spPr>
          <a:xfrm>
            <a:off x="3319272" y="2257471"/>
            <a:ext cx="3093987" cy="294803"/>
          </a:xfrm>
          <a:prstGeom prst="rect">
            <a:avLst/>
          </a:prstGeom>
          <a:solidFill>
            <a:srgbClr val="3D6399"/>
          </a:solidFill>
          <a:ln>
            <a:noFill/>
          </a:ln>
        </p:spPr>
        <p:txBody>
          <a:bodyPr rtlCol="0" anchor="ctr" lIns="0" rIns="0" tIns="0" bIns="0"/>
          <a:lstStyle/>
          <a:p>
            <a:pPr algn="ctr"/>
          </a:p>
        </p:txBody>
      </p:sp>
      <p:sp>
        <p:nvSpPr>
          <p:cNvPr id="32" name="cpe|exhibit|text|31"/>
          <p:cNvSpPr txBox="1"/>
          <p:nvPr/>
        </p:nvSpPr>
        <p:spPr>
          <a:xfrm>
            <a:off x="3374136" y="2257471"/>
            <a:ext cx="298425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Reset 1,200 SKUs</a:t>
            </a:r>
          </a:p>
        </p:txBody>
      </p:sp>
      <p:cxnSp>
        <p:nvCxnSpPr>
          <p:cNvPr id="33" name="cpe|exhibit|line|32"/>
          <p:cNvCxnSpPr/>
          <p:nvPr/>
        </p:nvCxnSpPr>
        <p:spPr>
          <a:xfrm>
            <a:off x="502920" y="2688336"/>
            <a:ext cx="11185855" cy="0"/>
          </a:xfrm>
          <a:prstGeom prst="line">
            <a:avLst/>
          </a:prstGeom>
          <a:ln w="6350">
            <a:solidFill>
              <a:srgbClr val="E3E7EB"/>
            </a:solidFill>
          </a:ln>
        </p:spPr>
      </p:cxnSp>
      <p:sp>
        <p:nvSpPr>
          <p:cNvPr id="34" name="cpe|exhibit|text|33"/>
          <p:cNvSpPr txBox="1"/>
          <p:nvPr/>
        </p:nvSpPr>
        <p:spPr>
          <a:xfrm>
            <a:off x="502920" y="2688336"/>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Fresh &amp; food-to-go margins</a:t>
            </a:r>
          </a:p>
        </p:txBody>
      </p:sp>
      <p:sp>
        <p:nvSpPr>
          <p:cNvPr id="35" name="cpe|exhibit|fill|34"/>
          <p:cNvSpPr/>
          <p:nvPr/>
        </p:nvSpPr>
        <p:spPr>
          <a:xfrm>
            <a:off x="3319272" y="2824399"/>
            <a:ext cx="4143604" cy="294803"/>
          </a:xfrm>
          <a:prstGeom prst="rect">
            <a:avLst/>
          </a:prstGeom>
          <a:solidFill>
            <a:srgbClr val="3D6399"/>
          </a:solidFill>
          <a:ln>
            <a:noFill/>
          </a:ln>
        </p:spPr>
        <p:txBody>
          <a:bodyPr rtlCol="0" anchor="ctr" lIns="0" rIns="0" tIns="0" bIns="0"/>
          <a:lstStyle/>
          <a:p>
            <a:pPr algn="ctr"/>
          </a:p>
        </p:txBody>
      </p:sp>
      <p:sp>
        <p:nvSpPr>
          <p:cNvPr id="36" name="cpe|exhibit|text|35"/>
          <p:cNvSpPr txBox="1"/>
          <p:nvPr/>
        </p:nvSpPr>
        <p:spPr>
          <a:xfrm>
            <a:off x="3374136" y="2824399"/>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Waste &amp; range</a:t>
            </a:r>
          </a:p>
        </p:txBody>
      </p:sp>
      <p:cxnSp>
        <p:nvCxnSpPr>
          <p:cNvPr id="37" name="cpe|exhibit|line|36"/>
          <p:cNvCxnSpPr/>
          <p:nvPr/>
        </p:nvCxnSpPr>
        <p:spPr>
          <a:xfrm>
            <a:off x="502920" y="3255264"/>
            <a:ext cx="11185855" cy="0"/>
          </a:xfrm>
          <a:prstGeom prst="line">
            <a:avLst/>
          </a:prstGeom>
          <a:ln w="6350">
            <a:solidFill>
              <a:srgbClr val="E3E7EB"/>
            </a:solidFill>
          </a:ln>
        </p:spPr>
      </p:cxnSp>
      <p:sp>
        <p:nvSpPr>
          <p:cNvPr id="38" name="cpe|exhibit|text|37"/>
          <p:cNvSpPr txBox="1"/>
          <p:nvPr/>
        </p:nvSpPr>
        <p:spPr>
          <a:xfrm>
            <a:off x="502920" y="3255264"/>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Cost programme</a:t>
            </a:r>
          </a:p>
        </p:txBody>
      </p:sp>
      <p:sp>
        <p:nvSpPr>
          <p:cNvPr id="39" name="cpe|exhibit|fill|38"/>
          <p:cNvSpPr/>
          <p:nvPr/>
        </p:nvSpPr>
        <p:spPr>
          <a:xfrm>
            <a:off x="4368889" y="3391327"/>
            <a:ext cx="6242837" cy="294803"/>
          </a:xfrm>
          <a:prstGeom prst="rect">
            <a:avLst/>
          </a:prstGeom>
          <a:solidFill>
            <a:srgbClr val="3D6399"/>
          </a:solidFill>
          <a:ln>
            <a:noFill/>
          </a:ln>
        </p:spPr>
        <p:txBody>
          <a:bodyPr rtlCol="0" anchor="ctr" lIns="0" rIns="0" tIns="0" bIns="0"/>
          <a:lstStyle/>
          <a:p>
            <a:pPr algn="ctr"/>
          </a:p>
        </p:txBody>
      </p:sp>
      <p:sp>
        <p:nvSpPr>
          <p:cNvPr id="40" name="cpe|exhibit|text|39"/>
          <p:cNvSpPr txBox="1"/>
          <p:nvPr/>
        </p:nvSpPr>
        <p:spPr>
          <a:xfrm>
            <a:off x="4423753" y="3391327"/>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Labour scheduling, energy</a:t>
            </a:r>
          </a:p>
        </p:txBody>
      </p:sp>
      <p:cxnSp>
        <p:nvCxnSpPr>
          <p:cNvPr id="41" name="cpe|exhibit|line|40"/>
          <p:cNvCxnSpPr/>
          <p:nvPr/>
        </p:nvCxnSpPr>
        <p:spPr>
          <a:xfrm>
            <a:off x="502920" y="3822192"/>
            <a:ext cx="11185855" cy="0"/>
          </a:xfrm>
          <a:prstGeom prst="line">
            <a:avLst/>
          </a:prstGeom>
          <a:ln w="6350">
            <a:solidFill>
              <a:srgbClr val="E3E7EB"/>
            </a:solidFill>
          </a:ln>
        </p:spPr>
      </p:cxnSp>
      <p:sp>
        <p:nvSpPr>
          <p:cNvPr id="42" name="cpe|exhibit|text|41"/>
          <p:cNvSpPr txBox="1"/>
          <p:nvPr/>
        </p:nvSpPr>
        <p:spPr>
          <a:xfrm>
            <a:off x="502920" y="3822192"/>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Private label</a:t>
            </a:r>
          </a:p>
        </p:txBody>
      </p:sp>
      <p:sp>
        <p:nvSpPr>
          <p:cNvPr id="43" name="cpe|exhibit|fill|42"/>
          <p:cNvSpPr/>
          <p:nvPr/>
        </p:nvSpPr>
        <p:spPr>
          <a:xfrm>
            <a:off x="5418506" y="3958255"/>
            <a:ext cx="6242837" cy="294803"/>
          </a:xfrm>
          <a:prstGeom prst="rect">
            <a:avLst/>
          </a:prstGeom>
          <a:solidFill>
            <a:srgbClr val="3D6399"/>
          </a:solidFill>
          <a:ln>
            <a:noFill/>
          </a:ln>
        </p:spPr>
        <p:txBody>
          <a:bodyPr rtlCol="0" anchor="ctr" lIns="0" rIns="0" tIns="0" bIns="0"/>
          <a:lstStyle/>
          <a:p>
            <a:pPr algn="ctr"/>
          </a:p>
        </p:txBody>
      </p:sp>
      <p:sp>
        <p:nvSpPr>
          <p:cNvPr id="44" name="cpe|exhibit|text|43"/>
          <p:cNvSpPr txBox="1"/>
          <p:nvPr/>
        </p:nvSpPr>
        <p:spPr>
          <a:xfrm>
            <a:off x="5473370" y="3958255"/>
            <a:ext cx="6133109"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25% → 35% of sales</a:t>
            </a:r>
          </a:p>
        </p:txBody>
      </p:sp>
      <p:cxnSp>
        <p:nvCxnSpPr>
          <p:cNvPr id="45" name="cpe|exhibit|line|44"/>
          <p:cNvCxnSpPr/>
          <p:nvPr/>
        </p:nvCxnSpPr>
        <p:spPr>
          <a:xfrm>
            <a:off x="502920" y="4389120"/>
            <a:ext cx="11185855" cy="0"/>
          </a:xfrm>
          <a:prstGeom prst="line">
            <a:avLst/>
          </a:prstGeom>
          <a:ln w="6350">
            <a:solidFill>
              <a:srgbClr val="E3E7EB"/>
            </a:solidFill>
          </a:ln>
        </p:spPr>
      </p:cxnSp>
      <p:sp>
        <p:nvSpPr>
          <p:cNvPr id="46" name="cpe|exhibit|text|45"/>
          <p:cNvSpPr txBox="1"/>
          <p:nvPr/>
        </p:nvSpPr>
        <p:spPr>
          <a:xfrm>
            <a:off x="502920" y="4389120"/>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Discount banner</a:t>
            </a:r>
          </a:p>
        </p:txBody>
      </p:sp>
      <p:sp>
        <p:nvSpPr>
          <p:cNvPr id="47" name="cpe|exhibit|fill|46"/>
          <p:cNvSpPr/>
          <p:nvPr/>
        </p:nvSpPr>
        <p:spPr>
          <a:xfrm>
            <a:off x="6468123" y="4604553"/>
            <a:ext cx="2044370" cy="294803"/>
          </a:xfrm>
          <a:prstGeom prst="rect">
            <a:avLst/>
          </a:prstGeom>
          <a:solidFill>
            <a:srgbClr val="00A3AD"/>
          </a:solidFill>
          <a:ln>
            <a:noFill/>
          </a:ln>
        </p:spPr>
        <p:txBody>
          <a:bodyPr rtlCol="0" anchor="ctr" lIns="0" rIns="0" tIns="0" bIns="0"/>
          <a:lstStyle/>
          <a:p>
            <a:pPr algn="ctr"/>
          </a:p>
        </p:txBody>
      </p:sp>
      <p:sp>
        <p:nvSpPr>
          <p:cNvPr id="48" name="cpe|exhibit|text|47"/>
          <p:cNvSpPr txBox="1"/>
          <p:nvPr/>
        </p:nvSpPr>
        <p:spPr>
          <a:xfrm>
            <a:off x="6522987" y="4604553"/>
            <a:ext cx="1934642" cy="294803"/>
          </a:xfrm>
          <a:prstGeom prst="rect">
            <a:avLst/>
          </a:prstGeom>
          <a:noFill/>
        </p:spPr>
        <p:txBody>
          <a:bodyPr wrap="square" lIns="0" rIns="0" tIns="0" bIns="0" anchor="ctr">
            <a:noAutofit/>
          </a:bodyPr>
          <a:lstStyle/>
          <a:p>
            <a:pPr algn="l">
              <a:lnSpc>
                <a:spcPct val="100000"/>
              </a:lnSpc>
            </a:pPr>
            <a:r>
              <a:rPr sz="1000" b="0">
                <a:solidFill>
                  <a:srgbClr val="1E252D"/>
                </a:solidFill>
                <a:latin typeface="Arial"/>
              </a:rPr>
              <a:t>Pilot 20 stores</a:t>
            </a:r>
          </a:p>
        </p:txBody>
      </p:sp>
      <p:sp>
        <p:nvSpPr>
          <p:cNvPr id="49" name="cpe|exhibit|fill|48"/>
          <p:cNvSpPr/>
          <p:nvPr/>
        </p:nvSpPr>
        <p:spPr>
          <a:xfrm>
            <a:off x="8567356" y="4604553"/>
            <a:ext cx="3093987" cy="294803"/>
          </a:xfrm>
          <a:prstGeom prst="rect">
            <a:avLst/>
          </a:prstGeom>
          <a:solidFill>
            <a:srgbClr val="3D6399"/>
          </a:solidFill>
          <a:ln>
            <a:noFill/>
          </a:ln>
        </p:spPr>
        <p:txBody>
          <a:bodyPr rtlCol="0" anchor="ctr" lIns="0" rIns="0" tIns="0" bIns="0"/>
          <a:lstStyle/>
          <a:p>
            <a:pPr algn="ctr"/>
          </a:p>
        </p:txBody>
      </p:sp>
      <p:sp>
        <p:nvSpPr>
          <p:cNvPr id="50" name="cpe|exhibit|text|49"/>
          <p:cNvSpPr txBox="1"/>
          <p:nvPr/>
        </p:nvSpPr>
        <p:spPr>
          <a:xfrm>
            <a:off x="8750236" y="4604553"/>
            <a:ext cx="2856243"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Roll out 150 stores</a:t>
            </a:r>
          </a:p>
        </p:txBody>
      </p:sp>
      <p:sp>
        <p:nvSpPr>
          <p:cNvPr id="51" name="cpe|exhibit|marker|50"/>
          <p:cNvSpPr/>
          <p:nvPr/>
        </p:nvSpPr>
        <p:spPr>
          <a:xfrm>
            <a:off x="8448484" y="4660514"/>
            <a:ext cx="182880" cy="182880"/>
          </a:xfrm>
          <a:prstGeom prst="diamond">
            <a:avLst/>
          </a:prstGeom>
          <a:solidFill>
            <a:srgbClr val="00A3AD"/>
          </a:solidFill>
          <a:ln w="9525">
            <a:solidFill>
              <a:srgbClr val="FFFFFF"/>
            </a:solidFill>
          </a:ln>
        </p:spPr>
        <p:txBody>
          <a:bodyPr rtlCol="0" anchor="ctr" lIns="0" rIns="0" tIns="0" bIns="0"/>
          <a:lstStyle/>
          <a:p>
            <a:pPr algn="ctr"/>
          </a:p>
        </p:txBody>
      </p:sp>
      <p:sp>
        <p:nvSpPr>
          <p:cNvPr id="52" name="cpe|exhibit|label|51"/>
          <p:cNvSpPr txBox="1"/>
          <p:nvPr/>
        </p:nvSpPr>
        <p:spPr>
          <a:xfrm>
            <a:off x="8224201" y="4403385"/>
            <a:ext cx="631448" cy="182880"/>
          </a:xfrm>
          <a:prstGeom prst="rect">
            <a:avLst/>
          </a:prstGeom>
          <a:noFill/>
        </p:spPr>
        <p:txBody>
          <a:bodyPr wrap="square" lIns="0" rIns="0" tIns="0" bIns="0" anchor="b">
            <a:noAutofit/>
          </a:bodyPr>
          <a:lstStyle/>
          <a:p>
            <a:pPr algn="ctr">
              <a:lnSpc>
                <a:spcPct val="100000"/>
              </a:lnSpc>
            </a:pPr>
            <a:r>
              <a:rPr sz="900" b="1">
                <a:solidFill>
                  <a:srgbClr val="1E252D"/>
                </a:solidFill>
                <a:latin typeface="Arial"/>
              </a:rPr>
              <a:t>Go / no-go</a:t>
            </a:r>
          </a:p>
        </p:txBody>
      </p:sp>
      <p:cxnSp>
        <p:nvCxnSpPr>
          <p:cNvPr id="53" name="cpe|exhibit|line|52"/>
          <p:cNvCxnSpPr/>
          <p:nvPr/>
        </p:nvCxnSpPr>
        <p:spPr>
          <a:xfrm>
            <a:off x="502920" y="4956048"/>
            <a:ext cx="11185855" cy="0"/>
          </a:xfrm>
          <a:prstGeom prst="line">
            <a:avLst/>
          </a:prstGeom>
          <a:ln w="6350">
            <a:solidFill>
              <a:srgbClr val="E3E7EB"/>
            </a:solidFill>
          </a:ln>
        </p:spPr>
      </p:cxnSp>
      <p:sp>
        <p:nvSpPr>
          <p:cNvPr id="54" name="cpe|exhibit|text|53"/>
          <p:cNvSpPr txBox="1"/>
          <p:nvPr/>
        </p:nvSpPr>
        <p:spPr>
          <a:xfrm>
            <a:off x="502920" y="4956048"/>
            <a:ext cx="2651760" cy="566928"/>
          </a:xfrm>
          <a:prstGeom prst="rect">
            <a:avLst/>
          </a:prstGeom>
          <a:noFill/>
        </p:spPr>
        <p:txBody>
          <a:bodyPr wrap="square" lIns="0" rIns="0" tIns="0" bIns="0" anchor="ctr">
            <a:noAutofit/>
          </a:bodyPr>
          <a:lstStyle/>
          <a:p>
            <a:pPr algn="l">
              <a:lnSpc>
                <a:spcPct val="100000"/>
              </a:lnSpc>
            </a:pPr>
            <a:r>
              <a:rPr sz="1150" b="0">
                <a:solidFill>
                  <a:srgbClr val="1E252D"/>
                </a:solidFill>
                <a:latin typeface="Arial"/>
              </a:rPr>
              <a:t>Online fulfilment hubs</a:t>
            </a:r>
          </a:p>
        </p:txBody>
      </p:sp>
      <p:sp>
        <p:nvSpPr>
          <p:cNvPr id="55" name="cpe|exhibit|fill|54"/>
          <p:cNvSpPr/>
          <p:nvPr/>
        </p:nvSpPr>
        <p:spPr>
          <a:xfrm>
            <a:off x="7517740" y="5092111"/>
            <a:ext cx="4143604" cy="294803"/>
          </a:xfrm>
          <a:prstGeom prst="rect">
            <a:avLst/>
          </a:prstGeom>
          <a:solidFill>
            <a:srgbClr val="3D6399"/>
          </a:solidFill>
          <a:ln>
            <a:noFill/>
          </a:ln>
        </p:spPr>
        <p:txBody>
          <a:bodyPr rtlCol="0" anchor="ctr" lIns="0" rIns="0" tIns="0" bIns="0"/>
          <a:lstStyle/>
          <a:p>
            <a:pPr algn="ctr"/>
          </a:p>
        </p:txBody>
      </p:sp>
      <p:sp>
        <p:nvSpPr>
          <p:cNvPr id="56" name="cpe|exhibit|text|55"/>
          <p:cNvSpPr txBox="1"/>
          <p:nvPr/>
        </p:nvSpPr>
        <p:spPr>
          <a:xfrm>
            <a:off x="7572604" y="5092111"/>
            <a:ext cx="4033876" cy="294803"/>
          </a:xfrm>
          <a:prstGeom prst="rect">
            <a:avLst/>
          </a:prstGeom>
          <a:noFill/>
        </p:spPr>
        <p:txBody>
          <a:bodyPr wrap="square" lIns="0" rIns="0" tIns="0" bIns="0" anchor="ctr">
            <a:noAutofit/>
          </a:bodyPr>
          <a:lstStyle/>
          <a:p>
            <a:pPr algn="l">
              <a:lnSpc>
                <a:spcPct val="100000"/>
              </a:lnSpc>
            </a:pPr>
            <a:r>
              <a:rPr sz="1000" b="0">
                <a:solidFill>
                  <a:srgbClr val="FFFFFF"/>
                </a:solidFill>
                <a:latin typeface="Arial"/>
              </a:rPr>
              <a:t>2 hubs</a:t>
            </a:r>
          </a:p>
        </p:txBody>
      </p:sp>
      <p:cxnSp>
        <p:nvCxnSpPr>
          <p:cNvPr id="57" name="cpe|exhibit|line|56"/>
          <p:cNvCxnSpPr/>
          <p:nvPr/>
        </p:nvCxnSpPr>
        <p:spPr>
          <a:xfrm>
            <a:off x="502920" y="5522976"/>
            <a:ext cx="11185855" cy="0"/>
          </a:xfrm>
          <a:prstGeom prst="line">
            <a:avLst/>
          </a:prstGeom>
          <a:ln w="6350">
            <a:solidFill>
              <a:srgbClr val="E3E7EB"/>
            </a:solidFill>
          </a:ln>
        </p:spPr>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VALUE AT STAKE</a:t>
            </a:r>
          </a:p>
        </p:txBody>
      </p:sp>
      <p:sp>
        <p:nvSpPr>
          <p:cNvPr id="3" name="cpe|chrome|text|2"/>
          <p:cNvSpPr txBox="1"/>
          <p:nvPr/>
        </p:nvSpPr>
        <p:spPr>
          <a:xfrm>
            <a:off x="502920" y="475488"/>
            <a:ext cx="6635743"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Five initiatives adding €250M lift EBITDA to €1,067M by 2028, net of €40M market headwinds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Initiative business cases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11</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2025 to 2028</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11185855" cy="3502152"/>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957860"/>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sp>
        <p:nvSpPr>
          <p:cNvPr id="9" name="cpe|exhibit|label|8"/>
          <p:cNvSpPr txBox="1"/>
          <p:nvPr/>
        </p:nvSpPr>
        <p:spPr>
          <a:xfrm>
            <a:off x="1901152" y="36052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+60</a:t>
            </a:r>
          </a:p>
        </p:txBody>
      </p:sp>
      <p:sp>
        <p:nvSpPr>
          <p:cNvPr id="10" name="cpe|exhibit|label|9"/>
          <p:cNvSpPr txBox="1"/>
          <p:nvPr/>
        </p:nvSpPr>
        <p:spPr>
          <a:xfrm>
            <a:off x="3299384" y="3340734"/>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+45</a:t>
            </a:r>
          </a:p>
        </p:txBody>
      </p:sp>
      <p:sp>
        <p:nvSpPr>
          <p:cNvPr id="11" name="cpe|exhibit|label|10"/>
          <p:cNvSpPr txBox="1"/>
          <p:nvPr/>
        </p:nvSpPr>
        <p:spPr>
          <a:xfrm>
            <a:off x="4697616" y="29293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+70</a:t>
            </a:r>
          </a:p>
        </p:txBody>
      </p:sp>
      <p:sp>
        <p:nvSpPr>
          <p:cNvPr id="12" name="cpe|exhibit|label|11"/>
          <p:cNvSpPr txBox="1"/>
          <p:nvPr/>
        </p:nvSpPr>
        <p:spPr>
          <a:xfrm>
            <a:off x="6095848" y="2606060"/>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+55</a:t>
            </a:r>
          </a:p>
        </p:txBody>
      </p:sp>
      <p:sp>
        <p:nvSpPr>
          <p:cNvPr id="13" name="cpe|exhibit|label|12"/>
          <p:cNvSpPr txBox="1"/>
          <p:nvPr/>
        </p:nvSpPr>
        <p:spPr>
          <a:xfrm>
            <a:off x="7494080"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+20</a:t>
            </a:r>
          </a:p>
        </p:txBody>
      </p:sp>
      <p:sp>
        <p:nvSpPr>
          <p:cNvPr id="14" name="cpe|exhibit|label|13"/>
          <p:cNvSpPr txBox="1"/>
          <p:nvPr/>
        </p:nvSpPr>
        <p:spPr>
          <a:xfrm>
            <a:off x="8892311"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−40</a:t>
            </a:r>
          </a:p>
        </p:txBody>
      </p:sp>
      <p:sp>
        <p:nvSpPr>
          <p:cNvPr id="15" name="cpe|exhibit|label|14"/>
          <p:cNvSpPr txBox="1"/>
          <p:nvPr/>
        </p:nvSpPr>
        <p:spPr>
          <a:xfrm>
            <a:off x="10290543" y="2723608"/>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1,067</a:t>
            </a:r>
          </a:p>
        </p:txBody>
      </p:sp>
      <p:cxnSp>
        <p:nvCxnSpPr>
          <p:cNvPr id="16" name="cpe|exhibit|connector|15"/>
          <p:cNvCxnSpPr/>
          <p:nvPr/>
        </p:nvCxnSpPr>
        <p:spPr>
          <a:xfrm>
            <a:off x="1684185" y="4223036"/>
            <a:ext cx="433934" cy="0"/>
          </a:xfrm>
          <a:prstGeom prst="line">
            <a:avLst/>
          </a:prstGeom>
          <a:ln w="6350">
            <a:solidFill>
              <a:srgbClr val="8A95A1"/>
            </a:solidFill>
          </a:ln>
        </p:spPr>
      </p:cxnSp>
      <p:cxnSp>
        <p:nvCxnSpPr>
          <p:cNvPr id="17" name="cpe|exhibit|connector|16"/>
          <p:cNvCxnSpPr/>
          <p:nvPr/>
        </p:nvCxnSpPr>
        <p:spPr>
          <a:xfrm>
            <a:off x="3082417" y="3870392"/>
            <a:ext cx="433934" cy="0"/>
          </a:xfrm>
          <a:prstGeom prst="line">
            <a:avLst/>
          </a:prstGeom>
          <a:ln w="6350">
            <a:solidFill>
              <a:srgbClr val="8A95A1"/>
            </a:solidFill>
          </a:ln>
        </p:spPr>
      </p:cxnSp>
      <p:cxnSp>
        <p:nvCxnSpPr>
          <p:cNvPr id="18" name="cpe|exhibit|connector|17"/>
          <p:cNvCxnSpPr/>
          <p:nvPr/>
        </p:nvCxnSpPr>
        <p:spPr>
          <a:xfrm>
            <a:off x="4480649" y="3605910"/>
            <a:ext cx="433934" cy="0"/>
          </a:xfrm>
          <a:prstGeom prst="line">
            <a:avLst/>
          </a:prstGeom>
          <a:ln w="6350">
            <a:solidFill>
              <a:srgbClr val="8A95A1"/>
            </a:solidFill>
          </a:ln>
        </p:spPr>
      </p:cxnSp>
      <p:cxnSp>
        <p:nvCxnSpPr>
          <p:cNvPr id="19" name="cpe|exhibit|connector|18"/>
          <p:cNvCxnSpPr/>
          <p:nvPr/>
        </p:nvCxnSpPr>
        <p:spPr>
          <a:xfrm>
            <a:off x="5878881" y="3194492"/>
            <a:ext cx="433934" cy="0"/>
          </a:xfrm>
          <a:prstGeom prst="line">
            <a:avLst/>
          </a:prstGeom>
          <a:ln w="6350">
            <a:solidFill>
              <a:srgbClr val="8A95A1"/>
            </a:solidFill>
          </a:ln>
        </p:spPr>
      </p:cxnSp>
      <p:cxnSp>
        <p:nvCxnSpPr>
          <p:cNvPr id="20" name="cpe|exhibit|connector|19"/>
          <p:cNvCxnSpPr/>
          <p:nvPr/>
        </p:nvCxnSpPr>
        <p:spPr>
          <a:xfrm>
            <a:off x="7277112" y="2871236"/>
            <a:ext cx="433935" cy="0"/>
          </a:xfrm>
          <a:prstGeom prst="line">
            <a:avLst/>
          </a:prstGeom>
          <a:ln w="6350">
            <a:solidFill>
              <a:srgbClr val="8A95A1"/>
            </a:solidFill>
          </a:ln>
        </p:spPr>
      </p:cxnSp>
      <p:cxnSp>
        <p:nvCxnSpPr>
          <p:cNvPr id="21" name="cpe|exhibit|connector|20"/>
          <p:cNvCxnSpPr/>
          <p:nvPr/>
        </p:nvCxnSpPr>
        <p:spPr>
          <a:xfrm>
            <a:off x="8675344" y="2753688"/>
            <a:ext cx="433934" cy="0"/>
          </a:xfrm>
          <a:prstGeom prst="line">
            <a:avLst/>
          </a:prstGeom>
          <a:ln w="6350">
            <a:solidFill>
              <a:srgbClr val="8A95A1"/>
            </a:solidFill>
          </a:ln>
        </p:spPr>
      </p:cxnSp>
      <p:cxnSp>
        <p:nvCxnSpPr>
          <p:cNvPr id="22" name="cpe|exhibit|connector|21"/>
          <p:cNvCxnSpPr/>
          <p:nvPr/>
        </p:nvCxnSpPr>
        <p:spPr>
          <a:xfrm>
            <a:off x="10073576" y="2988784"/>
            <a:ext cx="433934" cy="0"/>
          </a:xfrm>
          <a:prstGeom prst="line">
            <a:avLst/>
          </a:prstGeom>
          <a:ln w="6350">
            <a:solidFill>
              <a:srgbClr val="8A95A1"/>
            </a:solidFill>
          </a:ln>
        </p:spPr>
      </p:cxnSp>
      <p:sp>
        <p:nvSpPr>
          <p:cNvPr id="23" name="cpe|exhibit|marker|22"/>
          <p:cNvSpPr/>
          <p:nvPr/>
        </p:nvSpPr>
        <p:spPr>
          <a:xfrm>
            <a:off x="665023" y="4850735"/>
            <a:ext cx="1074026" cy="82296"/>
          </a:xfrm>
          <a:prstGeom prst="parallelogram">
            <a:avLst/>
          </a:prstGeom>
          <a:solidFill>
            <a:srgbClr val="FFFFFF"/>
          </a:solidFill>
          <a:ln>
            <a:noFill/>
          </a:ln>
        </p:spPr>
        <p:txBody>
          <a:bodyPr rtlCol="0" anchor="ctr" lIns="0" rIns="0" tIns="0" bIns="0"/>
          <a:lstStyle/>
          <a:p>
            <a:pPr algn="ctr"/>
          </a:p>
        </p:txBody>
      </p:sp>
      <p:sp>
        <p:nvSpPr>
          <p:cNvPr id="24" name="cpe|exhibit|marker|23"/>
          <p:cNvSpPr/>
          <p:nvPr/>
        </p:nvSpPr>
        <p:spPr>
          <a:xfrm>
            <a:off x="10452646" y="4850735"/>
            <a:ext cx="1074026" cy="82296"/>
          </a:xfrm>
          <a:prstGeom prst="parallelogram">
            <a:avLst/>
          </a:prstGeom>
          <a:solidFill>
            <a:srgbClr val="FFFFFF"/>
          </a:solidFill>
          <a:ln>
            <a:noFill/>
          </a:ln>
        </p:spPr>
        <p:txBody>
          <a:bodyPr rtlCol="0" anchor="ctr" lIns="0" rIns="0" tIns="0" bIns="0"/>
          <a:lstStyle/>
          <a:p>
            <a:pPr algn="ctr"/>
          </a:p>
        </p:txBody>
      </p:sp>
      <p:sp>
        <p:nvSpPr>
          <p:cNvPr id="25" name="cpe|takeaway|fill|24"/>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26" name="cpe|takeaway|fill|25"/>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27" name="cpe|takeaway|text|26"/>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Cost and pricing levers deliver €130M of the uplift and are largely within management control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VALUE AT STAKE</a:t>
            </a:r>
          </a:p>
        </p:txBody>
      </p:sp>
      <p:sp>
        <p:nvSpPr>
          <p:cNvPr id="3" name="cpe|chrome|text|2"/>
          <p:cNvSpPr txBox="1"/>
          <p:nvPr/>
        </p:nvSpPr>
        <p:spPr>
          <a:xfrm>
            <a:off x="502920" y="475488"/>
            <a:ext cx="6635743"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Five initiatives adding €250M lift EBITDA to €1,067M by 2028, net of €40M market headwinds</a:t>
            </a:r>
          </a:p>
        </p:txBody>
      </p:sp>
      <p:sp>
        <p:nvSpPr>
          <p:cNvPr id="4" name="cpe|chrome|text|3"/>
          <p:cNvSpPr txBox="1"/>
          <p:nvPr/>
        </p:nvSpPr>
        <p:spPr>
          <a:xfrm>
            <a:off x="502920" y="6272784"/>
            <a:ext cx="8808415" cy="402336"/>
          </a:xfrm>
          <a:prstGeom prst="rect">
            <a:avLst/>
          </a:prstGeom>
          <a:noFill/>
        </p:spPr>
        <p:txBody>
          <a:bodyPr wrap="square" lIns="0" rIns="0" tIns="0" bIns="0" anchor="b">
            <a:noAutofit/>
          </a:bodyPr>
          <a:lstStyle/>
          <a:p>
            <a:pPr algn="l">
              <a:lnSpc>
                <a:spcPct val="100000"/>
              </a:lnSpc>
            </a:pPr>
            <a:r>
              <a:rPr sz="800" b="0">
                <a:solidFill>
                  <a:srgbClr val="5E6A77"/>
                </a:solidFill>
                <a:latin typeface="Arial"/>
              </a:rPr>
              <a:t>Source: Initiative business cases (illustrative)</a:t>
            </a:r>
          </a:p>
        </p:txBody>
      </p:sp>
      <p:sp>
        <p:nvSpPr>
          <p:cNvPr id="5" name="cpe|chrome|text|4"/>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11</a:t>
            </a:r>
          </a:p>
        </p:txBody>
      </p:sp>
      <p:sp>
        <p:nvSpPr>
          <p:cNvPr id="6" name="cpe|exhibit|text|5"/>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EBITDA 2025 to 2028</a:t>
            </a:r>
            <a:r>
              <a:rPr sz="1100" b="0">
                <a:solidFill>
                  <a:srgbClr val="1E252D"/>
                </a:solidFill>
                <a:latin typeface="Arial"/>
              </a:rPr>
              <a:t>, €M</a:t>
            </a:r>
          </a:p>
        </p:txBody>
      </p:sp>
      <p:graphicFrame>
        <p:nvGraphicFramePr>
          <p:cNvPr id="7" name="cpe|exhibit|chart|6"/>
          <p:cNvGraphicFramePr>
            <a:graphicFrameLocks noGrp="1"/>
          </p:cNvGraphicFramePr>
          <p:nvPr/>
        </p:nvGraphicFramePr>
        <p:xfrm>
          <a:off x="502920" y="1901952"/>
          <a:ext cx="11185855" cy="3502152"/>
        </p:xfrm>
        <a:graphic>
          <a:graphicData uri="http://schemas.openxmlformats.org/drawingml/2006/chart">
            <c:chart xmlns:c="http://schemas.openxmlformats.org/drawingml/2006/chart" r:id="rId2"/>
          </a:graphicData>
        </a:graphic>
      </p:graphicFrame>
      <p:sp>
        <p:nvSpPr>
          <p:cNvPr id="8" name="cpe|exhibit|label|7"/>
          <p:cNvSpPr txBox="1"/>
          <p:nvPr/>
        </p:nvSpPr>
        <p:spPr>
          <a:xfrm>
            <a:off x="502920" y="3957860"/>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857</a:t>
            </a:r>
          </a:p>
        </p:txBody>
      </p:sp>
      <p:sp>
        <p:nvSpPr>
          <p:cNvPr id="9" name="cpe|exhibit|label|8"/>
          <p:cNvSpPr txBox="1"/>
          <p:nvPr/>
        </p:nvSpPr>
        <p:spPr>
          <a:xfrm>
            <a:off x="1901152" y="36052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+60</a:t>
            </a:r>
          </a:p>
        </p:txBody>
      </p:sp>
      <p:sp>
        <p:nvSpPr>
          <p:cNvPr id="10" name="cpe|exhibit|label|9"/>
          <p:cNvSpPr txBox="1"/>
          <p:nvPr/>
        </p:nvSpPr>
        <p:spPr>
          <a:xfrm>
            <a:off x="3299384" y="3340734"/>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+45</a:t>
            </a:r>
          </a:p>
        </p:txBody>
      </p:sp>
      <p:sp>
        <p:nvSpPr>
          <p:cNvPr id="11" name="cpe|exhibit|label|10"/>
          <p:cNvSpPr txBox="1"/>
          <p:nvPr/>
        </p:nvSpPr>
        <p:spPr>
          <a:xfrm>
            <a:off x="4697616" y="2929316"/>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+70</a:t>
            </a:r>
          </a:p>
        </p:txBody>
      </p:sp>
      <p:sp>
        <p:nvSpPr>
          <p:cNvPr id="12" name="cpe|exhibit|label|11"/>
          <p:cNvSpPr txBox="1"/>
          <p:nvPr/>
        </p:nvSpPr>
        <p:spPr>
          <a:xfrm>
            <a:off x="6095848" y="2606060"/>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+55</a:t>
            </a:r>
          </a:p>
        </p:txBody>
      </p:sp>
      <p:sp>
        <p:nvSpPr>
          <p:cNvPr id="13" name="cpe|exhibit|label|12"/>
          <p:cNvSpPr txBox="1"/>
          <p:nvPr/>
        </p:nvSpPr>
        <p:spPr>
          <a:xfrm>
            <a:off x="7494080"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+20</a:t>
            </a:r>
          </a:p>
        </p:txBody>
      </p:sp>
      <p:sp>
        <p:nvSpPr>
          <p:cNvPr id="14" name="cpe|exhibit|label|13"/>
          <p:cNvSpPr txBox="1"/>
          <p:nvPr/>
        </p:nvSpPr>
        <p:spPr>
          <a:xfrm>
            <a:off x="8892311" y="2488512"/>
            <a:ext cx="1398232" cy="237744"/>
          </a:xfrm>
          <a:prstGeom prst="rect">
            <a:avLst/>
          </a:prstGeom>
          <a:noFill/>
        </p:spPr>
        <p:txBody>
          <a:bodyPr wrap="square" lIns="0" rIns="0" tIns="0" bIns="0" anchor="b">
            <a:noAutofit/>
          </a:bodyPr>
          <a:lstStyle/>
          <a:p>
            <a:pPr algn="ctr">
              <a:lnSpc>
                <a:spcPct val="100000"/>
              </a:lnSpc>
            </a:pPr>
            <a:r>
              <a:rPr sz="1100" b="0">
                <a:solidFill>
                  <a:srgbClr val="1E252D"/>
                </a:solidFill>
                <a:latin typeface="Arial"/>
              </a:rPr>
              <a:t>−40</a:t>
            </a:r>
          </a:p>
        </p:txBody>
      </p:sp>
      <p:sp>
        <p:nvSpPr>
          <p:cNvPr id="15" name="cpe|exhibit|label|14"/>
          <p:cNvSpPr txBox="1"/>
          <p:nvPr/>
        </p:nvSpPr>
        <p:spPr>
          <a:xfrm>
            <a:off x="10290543" y="2723608"/>
            <a:ext cx="1398232" cy="237744"/>
          </a:xfrm>
          <a:prstGeom prst="rect">
            <a:avLst/>
          </a:prstGeom>
          <a:noFill/>
        </p:spPr>
        <p:txBody>
          <a:bodyPr wrap="square" lIns="0" rIns="0" tIns="0" bIns="0" anchor="b">
            <a:noAutofit/>
          </a:bodyPr>
          <a:lstStyle/>
          <a:p>
            <a:pPr algn="ctr">
              <a:lnSpc>
                <a:spcPct val="100000"/>
              </a:lnSpc>
            </a:pPr>
            <a:r>
              <a:rPr sz="1100" b="1">
                <a:solidFill>
                  <a:srgbClr val="1E252D"/>
                </a:solidFill>
                <a:latin typeface="Arial"/>
              </a:rPr>
              <a:t>1,067</a:t>
            </a:r>
          </a:p>
        </p:txBody>
      </p:sp>
      <p:cxnSp>
        <p:nvCxnSpPr>
          <p:cNvPr id="16" name="cpe|exhibit|connector|15"/>
          <p:cNvCxnSpPr/>
          <p:nvPr/>
        </p:nvCxnSpPr>
        <p:spPr>
          <a:xfrm>
            <a:off x="1684185" y="4223036"/>
            <a:ext cx="433934" cy="0"/>
          </a:xfrm>
          <a:prstGeom prst="line">
            <a:avLst/>
          </a:prstGeom>
          <a:ln w="6350">
            <a:solidFill>
              <a:srgbClr val="8A95A1"/>
            </a:solidFill>
          </a:ln>
        </p:spPr>
      </p:cxnSp>
      <p:cxnSp>
        <p:nvCxnSpPr>
          <p:cNvPr id="17" name="cpe|exhibit|connector|16"/>
          <p:cNvCxnSpPr/>
          <p:nvPr/>
        </p:nvCxnSpPr>
        <p:spPr>
          <a:xfrm>
            <a:off x="3082417" y="3870392"/>
            <a:ext cx="433934" cy="0"/>
          </a:xfrm>
          <a:prstGeom prst="line">
            <a:avLst/>
          </a:prstGeom>
          <a:ln w="6350">
            <a:solidFill>
              <a:srgbClr val="8A95A1"/>
            </a:solidFill>
          </a:ln>
        </p:spPr>
      </p:cxnSp>
      <p:cxnSp>
        <p:nvCxnSpPr>
          <p:cNvPr id="18" name="cpe|exhibit|connector|17"/>
          <p:cNvCxnSpPr/>
          <p:nvPr/>
        </p:nvCxnSpPr>
        <p:spPr>
          <a:xfrm>
            <a:off x="4480649" y="3605910"/>
            <a:ext cx="433934" cy="0"/>
          </a:xfrm>
          <a:prstGeom prst="line">
            <a:avLst/>
          </a:prstGeom>
          <a:ln w="6350">
            <a:solidFill>
              <a:srgbClr val="8A95A1"/>
            </a:solidFill>
          </a:ln>
        </p:spPr>
      </p:cxnSp>
      <p:cxnSp>
        <p:nvCxnSpPr>
          <p:cNvPr id="19" name="cpe|exhibit|connector|18"/>
          <p:cNvCxnSpPr/>
          <p:nvPr/>
        </p:nvCxnSpPr>
        <p:spPr>
          <a:xfrm>
            <a:off x="5878881" y="3194492"/>
            <a:ext cx="433934" cy="0"/>
          </a:xfrm>
          <a:prstGeom prst="line">
            <a:avLst/>
          </a:prstGeom>
          <a:ln w="6350">
            <a:solidFill>
              <a:srgbClr val="8A95A1"/>
            </a:solidFill>
          </a:ln>
        </p:spPr>
      </p:cxnSp>
      <p:cxnSp>
        <p:nvCxnSpPr>
          <p:cNvPr id="20" name="cpe|exhibit|connector|19"/>
          <p:cNvCxnSpPr/>
          <p:nvPr/>
        </p:nvCxnSpPr>
        <p:spPr>
          <a:xfrm>
            <a:off x="7277112" y="2871236"/>
            <a:ext cx="433935" cy="0"/>
          </a:xfrm>
          <a:prstGeom prst="line">
            <a:avLst/>
          </a:prstGeom>
          <a:ln w="6350">
            <a:solidFill>
              <a:srgbClr val="8A95A1"/>
            </a:solidFill>
          </a:ln>
        </p:spPr>
      </p:cxnSp>
      <p:cxnSp>
        <p:nvCxnSpPr>
          <p:cNvPr id="21" name="cpe|exhibit|connector|20"/>
          <p:cNvCxnSpPr/>
          <p:nvPr/>
        </p:nvCxnSpPr>
        <p:spPr>
          <a:xfrm>
            <a:off x="8675344" y="2753688"/>
            <a:ext cx="433934" cy="0"/>
          </a:xfrm>
          <a:prstGeom prst="line">
            <a:avLst/>
          </a:prstGeom>
          <a:ln w="6350">
            <a:solidFill>
              <a:srgbClr val="8A95A1"/>
            </a:solidFill>
          </a:ln>
        </p:spPr>
      </p:cxnSp>
      <p:cxnSp>
        <p:nvCxnSpPr>
          <p:cNvPr id="22" name="cpe|exhibit|connector|21"/>
          <p:cNvCxnSpPr/>
          <p:nvPr/>
        </p:nvCxnSpPr>
        <p:spPr>
          <a:xfrm>
            <a:off x="10073576" y="2988784"/>
            <a:ext cx="433934" cy="0"/>
          </a:xfrm>
          <a:prstGeom prst="line">
            <a:avLst/>
          </a:prstGeom>
          <a:ln w="6350">
            <a:solidFill>
              <a:srgbClr val="8A95A1"/>
            </a:solidFill>
          </a:ln>
        </p:spPr>
      </p:cxnSp>
      <p:sp>
        <p:nvSpPr>
          <p:cNvPr id="23" name="cpe|exhibit|marker|22"/>
          <p:cNvSpPr/>
          <p:nvPr/>
        </p:nvSpPr>
        <p:spPr>
          <a:xfrm>
            <a:off x="665023" y="4850735"/>
            <a:ext cx="1074026" cy="82296"/>
          </a:xfrm>
          <a:prstGeom prst="parallelogram">
            <a:avLst/>
          </a:prstGeom>
          <a:solidFill>
            <a:srgbClr val="FFFFFF"/>
          </a:solidFill>
          <a:ln>
            <a:noFill/>
          </a:ln>
        </p:spPr>
        <p:txBody>
          <a:bodyPr rtlCol="0" anchor="ctr" lIns="0" rIns="0" tIns="0" bIns="0"/>
          <a:lstStyle/>
          <a:p>
            <a:pPr algn="ctr"/>
          </a:p>
        </p:txBody>
      </p:sp>
      <p:sp>
        <p:nvSpPr>
          <p:cNvPr id="24" name="cpe|exhibit|marker|23"/>
          <p:cNvSpPr/>
          <p:nvPr/>
        </p:nvSpPr>
        <p:spPr>
          <a:xfrm>
            <a:off x="10452646" y="4850735"/>
            <a:ext cx="1074026" cy="82296"/>
          </a:xfrm>
          <a:prstGeom prst="parallelogram">
            <a:avLst/>
          </a:prstGeom>
          <a:solidFill>
            <a:srgbClr val="FFFFFF"/>
          </a:solidFill>
          <a:ln>
            <a:noFill/>
          </a:ln>
        </p:spPr>
        <p:txBody>
          <a:bodyPr rtlCol="0" anchor="ctr" lIns="0" rIns="0" tIns="0" bIns="0"/>
          <a:lstStyle/>
          <a:p>
            <a:pPr algn="ctr"/>
          </a:p>
        </p:txBody>
      </p:sp>
      <p:sp>
        <p:nvSpPr>
          <p:cNvPr id="25" name="cpe|takeaway|fill|24"/>
          <p:cNvSpPr/>
          <p:nvPr/>
        </p:nvSpPr>
        <p:spPr>
          <a:xfrm>
            <a:off x="502920" y="5632704"/>
            <a:ext cx="11185855" cy="566928"/>
          </a:xfrm>
          <a:prstGeom prst="rect">
            <a:avLst/>
          </a:prstGeom>
          <a:solidFill>
            <a:srgbClr val="EEF1F4"/>
          </a:solidFill>
          <a:ln>
            <a:noFill/>
          </a:ln>
        </p:spPr>
        <p:txBody>
          <a:bodyPr rtlCol="0" anchor="ctr" lIns="0" rIns="0" tIns="0" bIns="0"/>
          <a:lstStyle/>
          <a:p>
            <a:pPr algn="ctr"/>
          </a:p>
        </p:txBody>
      </p:sp>
      <p:sp>
        <p:nvSpPr>
          <p:cNvPr id="26" name="cpe|takeaway|fill|25"/>
          <p:cNvSpPr/>
          <p:nvPr/>
        </p:nvSpPr>
        <p:spPr>
          <a:xfrm>
            <a:off x="502920" y="5632704"/>
            <a:ext cx="64008" cy="566928"/>
          </a:xfrm>
          <a:prstGeom prst="rect">
            <a:avLst/>
          </a:prstGeom>
          <a:solidFill>
            <a:srgbClr val="00A3AD"/>
          </a:solidFill>
          <a:ln>
            <a:noFill/>
          </a:ln>
        </p:spPr>
        <p:txBody>
          <a:bodyPr rtlCol="0" anchor="ctr" lIns="0" rIns="0" tIns="0" bIns="0"/>
          <a:lstStyle/>
          <a:p>
            <a:pPr algn="ctr"/>
          </a:p>
        </p:txBody>
      </p:sp>
      <p:sp>
        <p:nvSpPr>
          <p:cNvPr id="27" name="cpe|takeaway|text|26"/>
          <p:cNvSpPr txBox="1"/>
          <p:nvPr/>
        </p:nvSpPr>
        <p:spPr>
          <a:xfrm>
            <a:off x="795528" y="5632704"/>
            <a:ext cx="10664647" cy="566928"/>
          </a:xfrm>
          <a:prstGeom prst="rect">
            <a:avLst/>
          </a:prstGeom>
          <a:noFill/>
        </p:spPr>
        <p:txBody>
          <a:bodyPr wrap="square" lIns="0" rIns="0" tIns="0" bIns="0" anchor="ctr">
            <a:noAutofit/>
          </a:bodyPr>
          <a:lstStyle/>
          <a:p>
            <a:pPr algn="l">
              <a:lnSpc>
                <a:spcPct val="100000"/>
              </a:lnSpc>
            </a:pPr>
            <a:r>
              <a:rPr sz="1300" b="1">
                <a:solidFill>
                  <a:srgbClr val="0B1F3A"/>
                </a:solidFill>
                <a:latin typeface="Arial"/>
              </a:rPr>
              <a:t>Cost and pricing levers deliver €130M of the uplift and are largely within management control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1" cy="1914525"/>
        </p:xfrm>
        <a:graphic>
          <a:graphicData uri="http://schemas.openxmlformats.org/drawingml/2006/table">
            <a:tbl>
              <a:tblPr firstRow="0" bandRow="0">
                <a:tableStyleId>{2D5ABB26-0587-4C30-8999-92F81FD0307C}</a:tableStyleId>
              </a:tblPr>
              <a:tblGrid>
                <a:gridCol w="4206240"/>
                <a:gridCol w="716798"/>
                <a:gridCol w="856875"/>
                <a:gridCol w="805134"/>
                <a:gridCol w="805134"/>
              </a:tblGrid>
              <a:tr h="464058">
                <a:tc>
                  <a:txBody>
                    <a:bodyPr wrap="square"/>
                    <a:lstStyle/>
                    <a:p>
                      <a:pPr algn="l"/>
                      <a:r>
                        <a:rPr sz="11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1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1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371662" y="2488883"/>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371662" y="2972372"/>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371662" y="3455861"/>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200" b="0">
                <a:solidFill>
                  <a:srgbClr val="1E252D"/>
                </a:solidFill>
                <a:latin typeface="Arial"/>
              </a:rPr>
              <a:t>The go / no-go on the banner comes back to the board in Q2 2027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0" cy="3685032"/>
        </p:xfrm>
        <a:graphic>
          <a:graphicData uri="http://schemas.openxmlformats.org/drawingml/2006/table">
            <a:tbl>
              <a:tblPr firstRow="0" bandRow="0">
                <a:tableStyleId>{2D5ABB26-0587-4C30-8999-92F81FD0307C}</a:tableStyleId>
              </a:tblPr>
              <a:tblGrid>
                <a:gridCol w="4206240"/>
                <a:gridCol w="711811"/>
                <a:gridCol w="877367"/>
                <a:gridCol w="797381"/>
                <a:gridCol w="797381"/>
              </a:tblGrid>
              <a:tr h="716661">
                <a:tc>
                  <a:txBody>
                    <a:bodyPr wrap="square"/>
                    <a:lstStyle/>
                    <a:p>
                      <a:pPr algn="l"/>
                      <a:r>
                        <a:rPr sz="13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3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860679">
                <a:tc>
                  <a:txBody>
                    <a:bodyPr wrap="square"/>
                    <a:lstStyle/>
                    <a:p>
                      <a:pPr algn="l"/>
                      <a:r>
                        <a:rPr sz="13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3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375538" y="2930080"/>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375538" y="3887343"/>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375538" y="4941189"/>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5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450" b="0">
                <a:solidFill>
                  <a:srgbClr val="1E252D"/>
                </a:solidFill>
                <a:latin typeface="Arial"/>
              </a:rPr>
              <a:t>The go / no-go on the banner comes back to the board in Q2 2027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1" cy="4297680"/>
        </p:xfrm>
        <a:graphic>
          <a:graphicData uri="http://schemas.openxmlformats.org/drawingml/2006/table">
            <a:tbl>
              <a:tblPr firstRow="0" bandRow="0">
                <a:tableStyleId>{2D5ABB26-0587-4C30-8999-92F81FD0307C}</a:tableStyleId>
              </a:tblPr>
              <a:tblGrid>
                <a:gridCol w="4087064"/>
                <a:gridCol w="753695"/>
                <a:gridCol w="939338"/>
                <a:gridCol w="866685"/>
                <a:gridCol w="743399"/>
              </a:tblGrid>
              <a:tr h="805815">
                <a:tc>
                  <a:txBody>
                    <a:bodyPr wrap="square"/>
                    <a:lstStyle/>
                    <a:p>
                      <a:pPr algn="l"/>
                      <a:r>
                        <a:rPr sz="15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5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1163955">
                <a:tc>
                  <a:txBody>
                    <a:bodyPr wrap="square"/>
                    <a:lstStyle/>
                    <a:p>
                      <a:pPr algn="l"/>
                      <a:r>
                        <a:rPr sz="15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163955">
                <a:tc>
                  <a:txBody>
                    <a:bodyPr wrap="square"/>
                    <a:lstStyle/>
                    <a:p>
                      <a:pPr algn="l"/>
                      <a:r>
                        <a:rPr sz="15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163955">
                <a:tc>
                  <a:txBody>
                    <a:bodyPr wrap="square"/>
                    <a:lstStyle/>
                    <a:p>
                      <a:pPr algn="l"/>
                      <a:r>
                        <a:rPr sz="15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5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402529" y="3170872"/>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402529" y="4334828"/>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402529" y="5498783"/>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60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600" b="0">
                <a:solidFill>
                  <a:srgbClr val="1E252D"/>
                </a:solidFill>
                <a:latin typeface="Arial"/>
              </a:rPr>
              <a:t>The go / no-go on the banner comes back to the board in Q2 2027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1" cy="1914525"/>
        </p:xfrm>
        <a:graphic>
          <a:graphicData uri="http://schemas.openxmlformats.org/drawingml/2006/table">
            <a:tbl>
              <a:tblPr firstRow="0" bandRow="0">
                <a:tableStyleId>{2D5ABB26-0587-4C30-8999-92F81FD0307C}</a:tableStyleId>
              </a:tblPr>
              <a:tblGrid>
                <a:gridCol w="4206240"/>
                <a:gridCol w="716798"/>
                <a:gridCol w="856875"/>
                <a:gridCol w="805134"/>
                <a:gridCol w="805134"/>
              </a:tblGrid>
              <a:tr h="464058">
                <a:tc>
                  <a:txBody>
                    <a:bodyPr wrap="square"/>
                    <a:lstStyle/>
                    <a:p>
                      <a:pPr algn="l"/>
                      <a:r>
                        <a:rPr sz="11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1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1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371662" y="2488883"/>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371662" y="2972372"/>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371662" y="3455861"/>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20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200" b="0">
                <a:solidFill>
                  <a:srgbClr val="1E252D"/>
                </a:solidFill>
                <a:latin typeface="Arial"/>
              </a:rPr>
              <a:t>The go / no-go on the banner comes back to the board in Q2 2027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0" cy="3685032"/>
        </p:xfrm>
        <a:graphic>
          <a:graphicData uri="http://schemas.openxmlformats.org/drawingml/2006/table">
            <a:tbl>
              <a:tblPr firstRow="0" bandRow="0">
                <a:tableStyleId>{2D5ABB26-0587-4C30-8999-92F81FD0307C}</a:tableStyleId>
              </a:tblPr>
              <a:tblGrid>
                <a:gridCol w="4206240"/>
                <a:gridCol w="711811"/>
                <a:gridCol w="877367"/>
                <a:gridCol w="797381"/>
                <a:gridCol w="797381"/>
              </a:tblGrid>
              <a:tr h="716661">
                <a:tc>
                  <a:txBody>
                    <a:bodyPr wrap="square"/>
                    <a:lstStyle/>
                    <a:p>
                      <a:pPr algn="l"/>
                      <a:r>
                        <a:rPr sz="13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3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860679">
                <a:tc>
                  <a:txBody>
                    <a:bodyPr wrap="square"/>
                    <a:lstStyle/>
                    <a:p>
                      <a:pPr algn="l"/>
                      <a:r>
                        <a:rPr sz="13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3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375538" y="2930080"/>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375538" y="3887343"/>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375538" y="4941189"/>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45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450" b="0">
                <a:solidFill>
                  <a:srgbClr val="1E252D"/>
                </a:solidFill>
                <a:latin typeface="Arial"/>
              </a:rPr>
              <a:t>The go / no-go on the banner comes back to the board in Q2 2027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7390181"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7390181" cy="4297680"/>
        </p:xfrm>
        <a:graphic>
          <a:graphicData uri="http://schemas.openxmlformats.org/drawingml/2006/table">
            <a:tbl>
              <a:tblPr firstRow="0" bandRow="0">
                <a:tableStyleId>{2D5ABB26-0587-4C30-8999-92F81FD0307C}</a:tableStyleId>
              </a:tblPr>
              <a:tblGrid>
                <a:gridCol w="4087064"/>
                <a:gridCol w="753695"/>
                <a:gridCol w="939338"/>
                <a:gridCol w="866685"/>
                <a:gridCol w="743399"/>
              </a:tblGrid>
              <a:tr h="805815">
                <a:tc>
                  <a:txBody>
                    <a:bodyPr wrap="square"/>
                    <a:lstStyle/>
                    <a:p>
                      <a:pPr algn="l"/>
                      <a:r>
                        <a:rPr sz="15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5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1163955">
                <a:tc>
                  <a:txBody>
                    <a:bodyPr wrap="square"/>
                    <a:lstStyle/>
                    <a:p>
                      <a:pPr algn="l"/>
                      <a:r>
                        <a:rPr sz="15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163955">
                <a:tc>
                  <a:txBody>
                    <a:bodyPr wrap="square"/>
                    <a:lstStyle/>
                    <a:p>
                      <a:pPr algn="l"/>
                      <a:r>
                        <a:rPr sz="15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163955">
                <a:tc>
                  <a:txBody>
                    <a:bodyPr wrap="square"/>
                    <a:lstStyle/>
                    <a:p>
                      <a:pPr algn="l"/>
                      <a:r>
                        <a:rPr sz="15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5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7402529" y="3170872"/>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7402529" y="4334828"/>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7402529" y="5498783"/>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8094269" y="1481328"/>
            <a:ext cx="0" cy="4718304"/>
          </a:xfrm>
          <a:prstGeom prst="line">
            <a:avLst/>
          </a:prstGeom>
          <a:ln w="9525">
            <a:solidFill>
              <a:srgbClr val="B7BFC8"/>
            </a:solidFill>
          </a:ln>
        </p:spPr>
      </p:cxnSp>
      <p:sp>
        <p:nvSpPr>
          <p:cNvPr id="11" name="cpe|commentary|text|10"/>
          <p:cNvSpPr txBox="1"/>
          <p:nvPr/>
        </p:nvSpPr>
        <p:spPr>
          <a:xfrm>
            <a:off x="8322869" y="1481328"/>
            <a:ext cx="3365906" cy="4718304"/>
          </a:xfrm>
          <a:prstGeom prst="rect">
            <a:avLst/>
          </a:prstGeom>
          <a:noFill/>
        </p:spPr>
        <p:txBody>
          <a:bodyPr wrap="square" lIns="0" rIns="0" tIns="0" bIns="0" anchor="t">
            <a:noAutofit/>
          </a:bodyPr>
          <a:lstStyle/>
          <a:p>
            <a:pPr algn="l" marL="155448" indent="-155448">
              <a:lnSpc>
                <a:spcPct val="108000"/>
              </a:lnSpc>
              <a:spcAft>
                <a:spcPts val="800"/>
              </a:spcAft>
              <a:buClr>
                <a:srgbClr val="1E252D"/>
              </a:buClr>
              <a:buSzPct val="100000"/>
              <a:buFont typeface="Arial"/>
              <a:buChar char="•"/>
            </a:pPr>
            <a:r>
              <a:rPr sz="1600" b="0">
                <a:solidFill>
                  <a:srgbClr val="1E252D"/>
                </a:solidFill>
                <a:latin typeface="Arial"/>
              </a:rPr>
              <a:t>Wave 1 is self-funding by Q4 2026</a:t>
            </a:r>
          </a:p>
          <a:p>
            <a:pPr algn="l" marL="155448" indent="-155448">
              <a:lnSpc>
                <a:spcPct val="108000"/>
              </a:lnSpc>
              <a:buClr>
                <a:srgbClr val="1E252D"/>
              </a:buClr>
              <a:buSzPct val="100000"/>
              <a:buFont typeface="Arial"/>
              <a:buChar char="•"/>
            </a:pPr>
            <a:r>
              <a:rPr sz="1600" b="0">
                <a:solidFill>
                  <a:srgbClr val="1E252D"/>
                </a:solidFill>
                <a:latin typeface="Arial"/>
              </a:rPr>
              <a:t>The go / no-go on the banner comes back to the board in Q2 2027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11185855" cy="1751076"/>
        </p:xfrm>
        <a:graphic>
          <a:graphicData uri="http://schemas.openxmlformats.org/drawingml/2006/table">
            <a:tbl>
              <a:tblPr firstRow="0" bandRow="0">
                <a:tableStyleId>{2D5ABB26-0587-4C30-8999-92F81FD0307C}</a:tableStyleId>
              </a:tblPr>
              <a:tblGrid>
                <a:gridCol w="4206240"/>
                <a:gridCol w="2048169"/>
                <a:gridCol w="2188246"/>
                <a:gridCol w="1371600"/>
                <a:gridCol w="1371600"/>
              </a:tblGrid>
              <a:tr h="300609">
                <a:tc>
                  <a:txBody>
                    <a:bodyPr wrap="square"/>
                    <a:lstStyle/>
                    <a:p>
                      <a:pPr algn="l"/>
                      <a:r>
                        <a:rPr sz="11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1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1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1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483489">
                <a:tc>
                  <a:txBody>
                    <a:bodyPr wrap="square"/>
                    <a:lstStyle/>
                    <a:p>
                      <a:pPr algn="l"/>
                      <a:r>
                        <a:rPr sz="11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1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1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483489">
                <a:tc>
                  <a:txBody>
                    <a:bodyPr wrap="square"/>
                    <a:lstStyle/>
                    <a:p>
                      <a:pPr algn="l"/>
                      <a:r>
                        <a:rPr sz="11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1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1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1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10884103" y="2325434"/>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10884103" y="2808922"/>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10884103" y="3292412"/>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502920" y="5747004"/>
            <a:ext cx="11185855" cy="0"/>
          </a:xfrm>
          <a:prstGeom prst="line">
            <a:avLst/>
          </a:prstGeom>
          <a:ln w="9525">
            <a:solidFill>
              <a:srgbClr val="B7BFC8"/>
            </a:solidFill>
          </a:ln>
        </p:spPr>
      </p:cxnSp>
      <p:sp>
        <p:nvSpPr>
          <p:cNvPr id="11" name="cpe|commentary|text|10"/>
          <p:cNvSpPr txBox="1"/>
          <p:nvPr/>
        </p:nvSpPr>
        <p:spPr>
          <a:xfrm>
            <a:off x="502920" y="5884164"/>
            <a:ext cx="5492344" cy="315468"/>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Wave 1 is self-funding by Q4 2026</a:t>
            </a:r>
          </a:p>
        </p:txBody>
      </p:sp>
      <p:sp>
        <p:nvSpPr>
          <p:cNvPr id="12" name="cpe|commentary|text|11"/>
          <p:cNvSpPr txBox="1"/>
          <p:nvPr/>
        </p:nvSpPr>
        <p:spPr>
          <a:xfrm>
            <a:off x="6196432" y="5884164"/>
            <a:ext cx="5492344" cy="315468"/>
          </a:xfrm>
          <a:prstGeom prst="rect">
            <a:avLst/>
          </a:prstGeom>
          <a:noFill/>
        </p:spPr>
        <p:txBody>
          <a:bodyPr wrap="square" lIns="0" rIns="0" tIns="0" bIns="0" anchor="t">
            <a:noAutofit/>
          </a:bodyPr>
          <a:lstStyle/>
          <a:p>
            <a:pPr algn="l">
              <a:lnSpc>
                <a:spcPct val="100000"/>
              </a:lnSpc>
            </a:pPr>
            <a:r>
              <a:rPr sz="1200" b="0">
                <a:solidFill>
                  <a:srgbClr val="1E252D"/>
                </a:solidFill>
                <a:latin typeface="Arial"/>
              </a:rPr>
              <a:t>The go / no-go on the banner comes back to the board in Q2 2027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11185855" cy="3491865"/>
        </p:xfrm>
        <a:graphic>
          <a:graphicData uri="http://schemas.openxmlformats.org/drawingml/2006/table">
            <a:tbl>
              <a:tblPr firstRow="0" bandRow="0">
                <a:tableStyleId>{2D5ABB26-0587-4C30-8999-92F81FD0307C}</a:tableStyleId>
              </a:tblPr>
              <a:tblGrid>
                <a:gridCol w="4206240"/>
                <a:gridCol w="2035429"/>
                <a:gridCol w="2200986"/>
                <a:gridCol w="1371600"/>
                <a:gridCol w="1371600"/>
              </a:tblGrid>
              <a:tr h="523494">
                <a:tc>
                  <a:txBody>
                    <a:bodyPr wrap="square"/>
                    <a:lstStyle/>
                    <a:p>
                      <a:pPr algn="l"/>
                      <a:r>
                        <a:rPr sz="13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3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3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3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860679">
                <a:tc>
                  <a:txBody>
                    <a:bodyPr wrap="square"/>
                    <a:lstStyle/>
                    <a:p>
                      <a:pPr algn="l"/>
                      <a:r>
                        <a:rPr sz="13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3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3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1053846">
                <a:tc>
                  <a:txBody>
                    <a:bodyPr wrap="square"/>
                    <a:lstStyle/>
                    <a:p>
                      <a:pPr algn="l"/>
                      <a:r>
                        <a:rPr sz="13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3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3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3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10884103" y="2736914"/>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10884103" y="3694176"/>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10884103" y="4748022"/>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502920" y="5709856"/>
            <a:ext cx="11185855" cy="0"/>
          </a:xfrm>
          <a:prstGeom prst="line">
            <a:avLst/>
          </a:prstGeom>
          <a:ln w="9525">
            <a:solidFill>
              <a:srgbClr val="B7BFC8"/>
            </a:solidFill>
          </a:ln>
        </p:spPr>
      </p:cxnSp>
      <p:sp>
        <p:nvSpPr>
          <p:cNvPr id="11" name="cpe|commentary|text|10"/>
          <p:cNvSpPr txBox="1"/>
          <p:nvPr/>
        </p:nvSpPr>
        <p:spPr>
          <a:xfrm>
            <a:off x="502920" y="5847016"/>
            <a:ext cx="5492344" cy="352616"/>
          </a:xfrm>
          <a:prstGeom prst="rect">
            <a:avLst/>
          </a:prstGeom>
          <a:noFill/>
        </p:spPr>
        <p:txBody>
          <a:bodyPr wrap="square" lIns="0" rIns="0" tIns="0" bIns="0" anchor="t">
            <a:noAutofit/>
          </a:bodyPr>
          <a:lstStyle/>
          <a:p>
            <a:pPr algn="l">
              <a:lnSpc>
                <a:spcPct val="100000"/>
              </a:lnSpc>
            </a:pPr>
            <a:r>
              <a:rPr sz="1450" b="0">
                <a:solidFill>
                  <a:srgbClr val="1E252D"/>
                </a:solidFill>
                <a:latin typeface="Arial"/>
              </a:rPr>
              <a:t>Wave 1 is self-funding by Q4 2026</a:t>
            </a:r>
          </a:p>
        </p:txBody>
      </p:sp>
      <p:sp>
        <p:nvSpPr>
          <p:cNvPr id="12" name="cpe|commentary|text|11"/>
          <p:cNvSpPr txBox="1"/>
          <p:nvPr/>
        </p:nvSpPr>
        <p:spPr>
          <a:xfrm>
            <a:off x="6196432" y="5847016"/>
            <a:ext cx="5492344" cy="352616"/>
          </a:xfrm>
          <a:prstGeom prst="rect">
            <a:avLst/>
          </a:prstGeom>
          <a:noFill/>
        </p:spPr>
        <p:txBody>
          <a:bodyPr wrap="square" lIns="0" rIns="0" tIns="0" bIns="0" anchor="t">
            <a:noAutofit/>
          </a:bodyPr>
          <a:lstStyle/>
          <a:p>
            <a:pPr algn="l">
              <a:lnSpc>
                <a:spcPct val="100000"/>
              </a:lnSpc>
            </a:pPr>
            <a:r>
              <a:rPr sz="1450" b="0">
                <a:solidFill>
                  <a:srgbClr val="1E252D"/>
                </a:solidFill>
                <a:latin typeface="Arial"/>
              </a:rPr>
              <a:t>The go / no-go on the banner comes back to the board in Q2 2027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pe|chrome|text|1"/>
          <p:cNvSpPr txBox="1"/>
          <p:nvPr/>
        </p:nvSpPr>
        <p:spPr>
          <a:xfrm>
            <a:off x="502920" y="274320"/>
            <a:ext cx="7830099" cy="201168"/>
          </a:xfrm>
          <a:prstGeom prst="rect">
            <a:avLst/>
          </a:prstGeom>
          <a:noFill/>
        </p:spPr>
        <p:txBody>
          <a:bodyPr wrap="square" lIns="0" rIns="0" tIns="0" bIns="0" anchor="t">
            <a:noAutofit/>
          </a:bodyPr>
          <a:lstStyle/>
          <a:p>
            <a:pPr algn="l">
              <a:lnSpc>
                <a:spcPct val="100000"/>
              </a:lnSpc>
            </a:pPr>
            <a:r>
              <a:rPr sz="1000" b="1">
                <a:solidFill>
                  <a:srgbClr val="5E6A77"/>
                </a:solidFill>
                <a:latin typeface="Arial"/>
              </a:rPr>
              <a:t>DECISIONS</a:t>
            </a:r>
          </a:p>
        </p:txBody>
      </p:sp>
      <p:sp>
        <p:nvSpPr>
          <p:cNvPr id="3" name="cpe|chrome|text|2"/>
          <p:cNvSpPr txBox="1"/>
          <p:nvPr/>
        </p:nvSpPr>
        <p:spPr>
          <a:xfrm>
            <a:off x="502920" y="475488"/>
            <a:ext cx="11185855" cy="786384"/>
          </a:xfrm>
          <a:prstGeom prst="rect">
            <a:avLst/>
          </a:prstGeom>
          <a:noFill/>
        </p:spPr>
        <p:txBody>
          <a:bodyPr wrap="square" lIns="0" rIns="0" tIns="0" bIns="0" anchor="t">
            <a:noAutofit/>
          </a:bodyPr>
          <a:lstStyle/>
          <a:p>
            <a:pPr algn="l">
              <a:lnSpc>
                <a:spcPct val="100000"/>
              </a:lnSpc>
            </a:pPr>
            <a:r>
              <a:rPr sz="2200" b="1">
                <a:solidFill>
                  <a:srgbClr val="0B1F3A"/>
                </a:solidFill>
                <a:latin typeface="Arial"/>
              </a:rPr>
              <a:t>The board is asked to approve three decisions to start Wave 1 in January</a:t>
            </a:r>
          </a:p>
        </p:txBody>
      </p:sp>
      <p:sp>
        <p:nvSpPr>
          <p:cNvPr id="4" name="cpe|chrome|text|3"/>
          <p:cNvSpPr txBox="1"/>
          <p:nvPr/>
        </p:nvSpPr>
        <p:spPr>
          <a:xfrm>
            <a:off x="9494215" y="6272784"/>
            <a:ext cx="2194560" cy="402336"/>
          </a:xfrm>
          <a:prstGeom prst="rect">
            <a:avLst/>
          </a:prstGeom>
          <a:noFill/>
        </p:spPr>
        <p:txBody>
          <a:bodyPr wrap="square" lIns="0" rIns="0" tIns="0" bIns="0" anchor="b">
            <a:noAutofit/>
          </a:bodyPr>
          <a:lstStyle/>
          <a:p>
            <a:pPr algn="r">
              <a:lnSpc>
                <a:spcPct val="100000"/>
              </a:lnSpc>
            </a:pPr>
            <a:r>
              <a:rPr sz="900" b="0">
                <a:solidFill>
                  <a:srgbClr val="5E6A77"/>
                </a:solidFill>
                <a:latin typeface="Arial"/>
              </a:rPr>
              <a:t>Illustrative data   12</a:t>
            </a:r>
          </a:p>
        </p:txBody>
      </p:sp>
      <p:sp>
        <p:nvSpPr>
          <p:cNvPr id="5" name="cpe|exhibit|text|4"/>
          <p:cNvSpPr txBox="1"/>
          <p:nvPr/>
        </p:nvSpPr>
        <p:spPr>
          <a:xfrm>
            <a:off x="502920" y="1481328"/>
            <a:ext cx="11185855" cy="274320"/>
          </a:xfrm>
          <a:prstGeom prst="rect">
            <a:avLst/>
          </a:prstGeom>
          <a:noFill/>
        </p:spPr>
        <p:txBody>
          <a:bodyPr wrap="square" lIns="0" rIns="0" tIns="0" bIns="0" anchor="t">
            <a:noAutofit/>
          </a:bodyPr>
          <a:lstStyle/>
          <a:p>
            <a:pPr algn="l">
              <a:lnSpc>
                <a:spcPct val="100000"/>
              </a:lnSpc>
            </a:pPr>
            <a:r>
              <a:rPr sz="1100" b="1">
                <a:solidFill>
                  <a:srgbClr val="1E252D"/>
                </a:solidFill>
                <a:latin typeface="Arial"/>
              </a:rPr>
              <a:t>Decisions requested today</a:t>
            </a:r>
          </a:p>
        </p:txBody>
      </p:sp>
      <p:graphicFrame>
        <p:nvGraphicFramePr>
          <p:cNvPr id="6" name="cpe|exhibit|table|5"/>
          <p:cNvGraphicFramePr>
            <a:graphicFrameLocks noGrp="1"/>
          </p:cNvGraphicFramePr>
          <p:nvPr/>
        </p:nvGraphicFramePr>
        <p:xfrm>
          <a:off x="502920" y="1901952"/>
          <a:ext cx="11185855" cy="3346704"/>
        </p:xfrm>
        <a:graphic>
          <a:graphicData uri="http://schemas.openxmlformats.org/drawingml/2006/table">
            <a:tbl>
              <a:tblPr firstRow="0" bandRow="0">
                <a:tableStyleId>{2D5ABB26-0587-4C30-8999-92F81FD0307C}</a:tableStyleId>
              </a:tblPr>
              <a:tblGrid>
                <a:gridCol w="4206240"/>
                <a:gridCol w="2022680"/>
                <a:gridCol w="2213735"/>
                <a:gridCol w="1371600"/>
                <a:gridCol w="1371600"/>
              </a:tblGrid>
              <a:tr h="582930">
                <a:tc>
                  <a:txBody>
                    <a:bodyPr wrap="square"/>
                    <a:lstStyle/>
                    <a:p>
                      <a:pPr algn="l"/>
                      <a:r>
                        <a:rPr sz="1500" b="1">
                          <a:solidFill>
                            <a:srgbClr val="1E252D"/>
                          </a:solidFill>
                          <a:latin typeface="Arial"/>
                        </a:rPr>
                        <a:t>Decision</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Owner</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l"/>
                      <a:r>
                        <a:rPr sz="1500" b="1">
                          <a:solidFill>
                            <a:srgbClr val="1E252D"/>
                          </a:solidFill>
                          <a:latin typeface="Arial"/>
                        </a:rPr>
                        <a:t>Timing</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r"/>
                      <a:r>
                        <a:rPr sz="1500" b="1">
                          <a:solidFill>
                            <a:srgbClr val="1E252D"/>
                          </a:solidFill>
                          <a:latin typeface="Arial"/>
                        </a:rPr>
                        <a:t>EBITDA 2028 (€M)</a:t>
                      </a:r>
                    </a:p>
                  </a:txBody>
                  <a:tcPr marL="73152" marR="73152" marT="41148" marB="41148" anchor="ctr">
                    <a:lnL w="0">
                      <a:noFill/>
                    </a:lnL>
                    <a:lnR w="0">
                      <a:noFill/>
                    </a:lnR>
                    <a:lnT w="0">
                      <a:noFill/>
                    </a:lnT>
                    <a:lnB w="12382" cap="flat">
                      <a:solidFill>
                        <a:srgbClr val="0B1F3A"/>
                      </a:solidFill>
                      <a:prstDash val="solid"/>
                    </a:lnB>
                    <a:noFill/>
                  </a:tcPr>
                </a:tc>
                <a:tc>
                  <a:txBody>
                    <a:bodyPr wrap="square"/>
                    <a:lstStyle/>
                    <a:p>
                      <a:pPr algn="ctr"/>
                      <a:r>
                        <a:rPr sz="1500" b="1">
                          <a:solidFill>
                            <a:srgbClr val="1E252D"/>
                          </a:solidFill>
                          <a:latin typeface="Arial"/>
                        </a:rPr>
                        <a:t>Status</a:t>
                      </a:r>
                    </a:p>
                  </a:txBody>
                  <a:tcPr marL="73152" marR="73152" marT="41148" marB="41148" anchor="ctr">
                    <a:lnL w="0">
                      <a:noFill/>
                    </a:lnL>
                    <a:lnR w="0">
                      <a:noFill/>
                    </a:lnR>
                    <a:lnT w="0">
                      <a:noFill/>
                    </a:lnT>
                    <a:lnB w="12382" cap="flat">
                      <a:solidFill>
                        <a:srgbClr val="0B1F3A"/>
                      </a:solidFill>
                      <a:prstDash val="solid"/>
                    </a:lnB>
                    <a:noFill/>
                  </a:tcPr>
                </a:tc>
              </a:tr>
              <a:tr h="921258">
                <a:tc>
                  <a:txBody>
                    <a:bodyPr wrap="square"/>
                    <a:lstStyle/>
                    <a:p>
                      <a:pPr algn="l"/>
                      <a:r>
                        <a:rPr sz="1500" b="0">
                          <a:solidFill>
                            <a:srgbClr val="1E252D"/>
                          </a:solidFill>
                          <a:latin typeface="Arial"/>
                        </a:rPr>
                        <a:t>Approve pricing &amp; promo reset across 1,200 SKUs</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CCO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60</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921258">
                <a:tc>
                  <a:txBody>
                    <a:bodyPr wrap="square"/>
                    <a:lstStyle/>
                    <a:p>
                      <a:pPr algn="l"/>
                      <a:r>
                        <a:rPr sz="1500" b="0">
                          <a:solidFill>
                            <a:srgbClr val="1E252D"/>
                          </a:solidFill>
                          <a:latin typeface="Arial"/>
                        </a:rPr>
                        <a:t>Approve discount banner pilot in 20 stores (€18M capex)</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CEO</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l"/>
                      <a:r>
                        <a:rPr sz="1500" b="0">
                          <a:solidFill>
                            <a:srgbClr val="1E252D"/>
                          </a:solidFill>
                          <a:latin typeface="Arial"/>
                        </a:rPr>
                        <a:t>Q4 2026</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r"/>
                      <a:r>
                        <a:rPr sz="1500" b="0">
                          <a:solidFill>
                            <a:srgbClr val="1E252D"/>
                          </a:solidFill>
                          <a:latin typeface="Arial"/>
                        </a:rPr>
                        <a:t>55</a:t>
                      </a:r>
                    </a:p>
                  </a:txBody>
                  <a:tcPr marL="73152" marR="73152" marT="41148" marB="41148" anchor="ctr">
                    <a:lnL w="0">
                      <a:noFill/>
                    </a:lnL>
                    <a:lnR w="0">
                      <a:noFill/>
                    </a:lnR>
                    <a:lnT w="0">
                      <a:noFill/>
                    </a:lnT>
                    <a:lnB w="6350" cap="flat">
                      <a:solidFill>
                        <a:srgbClr val="E3E7EB"/>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6350" cap="flat">
                      <a:solidFill>
                        <a:srgbClr val="E3E7EB"/>
                      </a:solidFill>
                      <a:prstDash val="solid"/>
                    </a:lnB>
                    <a:noFill/>
                  </a:tcPr>
                </a:tc>
              </a:tr>
              <a:tr h="921258">
                <a:tc>
                  <a:txBody>
                    <a:bodyPr wrap="square"/>
                    <a:lstStyle/>
                    <a:p>
                      <a:pPr algn="l"/>
                      <a:r>
                        <a:rPr sz="1500" b="0">
                          <a:solidFill>
                            <a:srgbClr val="1E252D"/>
                          </a:solidFill>
                          <a:latin typeface="Arial"/>
                        </a:rPr>
                        <a:t>Approve €85M programme budget and transformation office</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CFO</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l"/>
                      <a:r>
                        <a:rPr sz="1500" b="0">
                          <a:solidFill>
                            <a:srgbClr val="1E252D"/>
                          </a:solidFill>
                          <a:latin typeface="Arial"/>
                        </a:rPr>
                        <a:t>Jan 2026</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r"/>
                      <a:r>
                        <a:rPr sz="1500" b="0">
                          <a:solidFill>
                            <a:srgbClr val="1E252D"/>
                          </a:solidFill>
                          <a:latin typeface="Arial"/>
                        </a:rPr>
                        <a:t>135</a:t>
                      </a:r>
                    </a:p>
                  </a:txBody>
                  <a:tcPr marL="73152" marR="73152" marT="41148" marB="41148" anchor="ctr">
                    <a:lnL w="0">
                      <a:noFill/>
                    </a:lnL>
                    <a:lnR w="0">
                      <a:noFill/>
                    </a:lnR>
                    <a:lnT w="0">
                      <a:noFill/>
                    </a:lnT>
                    <a:lnB w="9525" cap="flat">
                      <a:solidFill>
                        <a:srgbClr val="B7BFC8"/>
                      </a:solidFill>
                      <a:prstDash val="solid"/>
                    </a:lnB>
                    <a:noFill/>
                  </a:tcPr>
                </a:tc>
                <a:tc>
                  <a:txBody>
                    <a:bodyPr wrap="square"/>
                    <a:lstStyle/>
                    <a:p>
                      <a:pPr algn="ctr"/>
                      <a:r>
                        <a:rPr sz="1500" b="0">
                          <a:solidFill>
                            <a:srgbClr val="1E252D"/>
                          </a:solidFill>
                          <a:latin typeface="Arial"/>
                        </a:rPr>
                        <a:t/>
                      </a:r>
                    </a:p>
                  </a:txBody>
                  <a:tcPr marL="73152" marR="73152" marT="41148" marB="41148" anchor="ctr">
                    <a:lnL w="0">
                      <a:noFill/>
                    </a:lnL>
                    <a:lnR w="0">
                      <a:noFill/>
                    </a:lnR>
                    <a:lnT w="0">
                      <a:noFill/>
                    </a:lnT>
                    <a:lnB w="9525" cap="flat">
                      <a:solidFill>
                        <a:srgbClr val="B7BFC8"/>
                      </a:solidFill>
                      <a:prstDash val="solid"/>
                    </a:lnB>
                    <a:noFill/>
                  </a:tcPr>
                </a:tc>
              </a:tr>
            </a:tbl>
          </a:graphicData>
        </a:graphic>
      </p:graphicFrame>
      <p:sp>
        <p:nvSpPr>
          <p:cNvPr id="7" name="cpe|exhibit|marker|6"/>
          <p:cNvSpPr/>
          <p:nvPr/>
        </p:nvSpPr>
        <p:spPr>
          <a:xfrm>
            <a:off x="10884103" y="2826639"/>
            <a:ext cx="237744" cy="237744"/>
          </a:xfrm>
          <a:prstGeom prst="ellipse">
            <a:avLst/>
          </a:prstGeom>
          <a:solidFill>
            <a:srgbClr val="2E7D4F"/>
          </a:solidFill>
          <a:ln>
            <a:noFill/>
          </a:ln>
        </p:spPr>
        <p:txBody>
          <a:bodyPr rtlCol="0" anchor="ctr" lIns="0" rIns="0" tIns="0" bIns="0"/>
          <a:lstStyle/>
          <a:p>
            <a:pPr algn="ctr"/>
          </a:p>
        </p:txBody>
      </p:sp>
      <p:sp>
        <p:nvSpPr>
          <p:cNvPr id="8" name="cpe|exhibit|marker|7"/>
          <p:cNvSpPr/>
          <p:nvPr/>
        </p:nvSpPr>
        <p:spPr>
          <a:xfrm>
            <a:off x="10884103" y="3747897"/>
            <a:ext cx="237744" cy="237744"/>
          </a:xfrm>
          <a:prstGeom prst="ellipse">
            <a:avLst/>
          </a:prstGeom>
          <a:solidFill>
            <a:srgbClr val="D98E04"/>
          </a:solidFill>
          <a:ln>
            <a:noFill/>
          </a:ln>
        </p:spPr>
        <p:txBody>
          <a:bodyPr rtlCol="0" anchor="ctr" lIns="0" rIns="0" tIns="0" bIns="0"/>
          <a:lstStyle/>
          <a:p>
            <a:pPr algn="ctr"/>
          </a:p>
        </p:txBody>
      </p:sp>
      <p:sp>
        <p:nvSpPr>
          <p:cNvPr id="9" name="cpe|exhibit|marker|8"/>
          <p:cNvSpPr/>
          <p:nvPr/>
        </p:nvSpPr>
        <p:spPr>
          <a:xfrm>
            <a:off x="10884103" y="4669155"/>
            <a:ext cx="237744" cy="237744"/>
          </a:xfrm>
          <a:prstGeom prst="ellipse">
            <a:avLst/>
          </a:prstGeom>
          <a:solidFill>
            <a:srgbClr val="2E7D4F"/>
          </a:solidFill>
          <a:ln>
            <a:noFill/>
          </a:ln>
        </p:spPr>
        <p:txBody>
          <a:bodyPr rtlCol="0" anchor="ctr" lIns="0" rIns="0" tIns="0" bIns="0"/>
          <a:lstStyle/>
          <a:p>
            <a:pPr algn="ctr"/>
          </a:p>
        </p:txBody>
      </p:sp>
      <p:cxnSp>
        <p:nvCxnSpPr>
          <p:cNvPr id="10" name="cpe|commentary|line|9"/>
          <p:cNvCxnSpPr/>
          <p:nvPr/>
        </p:nvCxnSpPr>
        <p:spPr>
          <a:xfrm>
            <a:off x="502920" y="5449824"/>
            <a:ext cx="11185855" cy="0"/>
          </a:xfrm>
          <a:prstGeom prst="line">
            <a:avLst/>
          </a:prstGeom>
          <a:ln w="9525">
            <a:solidFill>
              <a:srgbClr val="B7BFC8"/>
            </a:solidFill>
          </a:ln>
        </p:spPr>
      </p:cxnSp>
      <p:sp>
        <p:nvSpPr>
          <p:cNvPr id="11" name="cpe|commentary|text|10"/>
          <p:cNvSpPr txBox="1"/>
          <p:nvPr/>
        </p:nvSpPr>
        <p:spPr>
          <a:xfrm>
            <a:off x="502920" y="5586984"/>
            <a:ext cx="5492344" cy="612648"/>
          </a:xfrm>
          <a:prstGeom prst="rect">
            <a:avLst/>
          </a:prstGeom>
          <a:noFill/>
        </p:spPr>
        <p:txBody>
          <a:bodyPr wrap="square" lIns="0" rIns="0" tIns="0" bIns="0" anchor="t">
            <a:noAutofit/>
          </a:bodyPr>
          <a:lstStyle/>
          <a:p>
            <a:pPr algn="l">
              <a:lnSpc>
                <a:spcPct val="100000"/>
              </a:lnSpc>
            </a:pPr>
            <a:r>
              <a:rPr sz="1600" b="0">
                <a:solidFill>
                  <a:srgbClr val="1E252D"/>
                </a:solidFill>
                <a:latin typeface="Arial"/>
              </a:rPr>
              <a:t>Wave 1 is self-funding by Q4 2026</a:t>
            </a:r>
          </a:p>
        </p:txBody>
      </p:sp>
      <p:sp>
        <p:nvSpPr>
          <p:cNvPr id="12" name="cpe|commentary|text|11"/>
          <p:cNvSpPr txBox="1"/>
          <p:nvPr/>
        </p:nvSpPr>
        <p:spPr>
          <a:xfrm>
            <a:off x="6196432" y="5586984"/>
            <a:ext cx="5492344" cy="612648"/>
          </a:xfrm>
          <a:prstGeom prst="rect">
            <a:avLst/>
          </a:prstGeom>
          <a:noFill/>
        </p:spPr>
        <p:txBody>
          <a:bodyPr wrap="square" lIns="0" rIns="0" tIns="0" bIns="0" anchor="t">
            <a:noAutofit/>
          </a:bodyPr>
          <a:lstStyle/>
          <a:p>
            <a:pPr algn="l">
              <a:lnSpc>
                <a:spcPct val="100000"/>
              </a:lnSpc>
            </a:pPr>
            <a:r>
              <a:rPr sz="1600" b="0">
                <a:solidFill>
                  <a:srgbClr val="1E252D"/>
                </a:solidFill>
                <a:latin typeface="Arial"/>
              </a:rPr>
              <a:t>The go / no-go on the banner comes back to the board in Q2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Repositioning Alvora for profitable growth</dc:title>
  <dc:subject>Alvora should reposition towards discount and fix category margins now to return EBITDA above €1bn by 2028</dc:subject>
  <dc:creator>Consulting Presentation Engine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