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3298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0B1F3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9D0D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3E7EB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7BFC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0A3AD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8831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8FA9CC"/>
            </a:solidFill>
          </c:spPr>
          <c:invertIfNegative val="0"/>
          <c:dPt>
            <c:idx val="3"/>
            <c:spPr>
              <a:solidFill>
                <a:srgbClr val="0B1F3A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8831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0B1F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8A95A1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board the whole answer on one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fill|1"/>
          <p:cNvSpPr/>
          <p:nvPr/>
        </p:nvSpPr>
        <p:spPr>
          <a:xfrm>
            <a:off x="502920" y="2148840"/>
            <a:ext cx="82296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377440"/>
            <a:ext cx="928801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B1F3A"/>
                </a:solidFill>
                <a:latin typeface="Arial"/>
              </a:rPr>
              <a:t>Repositioning Alvora for profitable growth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4160520"/>
            <a:ext cx="833909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E6A77"/>
                </a:solidFill>
                <a:latin typeface="Arial"/>
              </a:rPr>
              <a:t>Board discussion: strategic options to restore EBITDA above €1bn by 2028</a:t>
            </a:r>
          </a:p>
        </p:txBody>
      </p:sp>
      <p:sp>
        <p:nvSpPr>
          <p:cNvPr id="5" name="cpe|text|text|4"/>
          <p:cNvSpPr txBox="1"/>
          <p:nvPr/>
        </p:nvSpPr>
        <p:spPr>
          <a:xfrm>
            <a:off x="502920" y="5989320"/>
            <a:ext cx="833909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Alvora Retail (fictitious)   |   October 2026   |   Illustrative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5000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can restore EBITDA to €1,067M by 2028 if it repositions towards discount now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2</a:t>
            </a:r>
          </a:p>
        </p:txBody>
      </p:sp>
      <p:sp>
        <p:nvSpPr>
          <p:cNvPr id="6" name="cpe|statements|text|5"/>
          <p:cNvSpPr txBox="1"/>
          <p:nvPr/>
        </p:nvSpPr>
        <p:spPr>
          <a:xfrm>
            <a:off x="502920" y="1517904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1</a:t>
            </a:r>
          </a:p>
        </p:txBody>
      </p:sp>
      <p:sp>
        <p:nvSpPr>
          <p:cNvPr id="7" name="cpe|statements|text|6"/>
          <p:cNvSpPr txBox="1"/>
          <p:nvPr/>
        </p:nvSpPr>
        <p:spPr>
          <a:xfrm>
            <a:off x="1005840" y="1517904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The market grows 4% a year, but discount and online capture 75% of it</a:t>
            </a:r>
          </a:p>
        </p:txBody>
      </p:sp>
      <p:sp>
        <p:nvSpPr>
          <p:cNvPr id="8" name="cpe|statements|text|7"/>
          <p:cNvSpPr txBox="1"/>
          <p:nvPr/>
        </p:nvSpPr>
        <p:spPr>
          <a:xfrm>
            <a:off x="5492673" y="1517904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Iberian grocery reached €142bn in 2025; discount (+7.8% CAGR) and online (+14.0%) outgrow supermarkets (+2.0%).</a:t>
            </a:r>
          </a:p>
        </p:txBody>
      </p:sp>
      <p:cxnSp>
        <p:nvCxnSpPr>
          <p:cNvPr id="9" name="cpe|statements|line|8"/>
          <p:cNvCxnSpPr/>
          <p:nvPr/>
        </p:nvCxnSpPr>
        <p:spPr>
          <a:xfrm>
            <a:off x="502920" y="262661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0" name="cpe|statements|text|9"/>
          <p:cNvSpPr txBox="1"/>
          <p:nvPr/>
        </p:nvSpPr>
        <p:spPr>
          <a:xfrm>
            <a:off x="502920" y="2731770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2</a:t>
            </a:r>
          </a:p>
        </p:txBody>
      </p:sp>
      <p:sp>
        <p:nvSpPr>
          <p:cNvPr id="11" name="cpe|statements|text|10"/>
          <p:cNvSpPr txBox="1"/>
          <p:nvPr/>
        </p:nvSpPr>
        <p:spPr>
          <a:xfrm>
            <a:off x="1005840" y="2731770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Alvora is falling behind: growth of 3.0% is below the market for a second year</a:t>
            </a:r>
          </a:p>
        </p:txBody>
      </p:sp>
      <p:sp>
        <p:nvSpPr>
          <p:cNvPr id="12" name="cpe|statements|text|11"/>
          <p:cNvSpPr txBox="1"/>
          <p:nvPr/>
        </p:nvSpPr>
        <p:spPr>
          <a:xfrm>
            <a:off x="5492673" y="2731770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Its mix is 54% supermarkets and only 14% discount; share slipped to 9.6%.</a:t>
            </a:r>
          </a:p>
        </p:txBody>
      </p:sp>
      <p:cxnSp>
        <p:nvCxnSpPr>
          <p:cNvPr id="13" name="cpe|statements|line|12"/>
          <p:cNvCxnSpPr/>
          <p:nvPr/>
        </p:nvCxnSpPr>
        <p:spPr>
          <a:xfrm>
            <a:off x="502920" y="384048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4" name="cpe|statements|text|13"/>
          <p:cNvSpPr txBox="1"/>
          <p:nvPr/>
        </p:nvSpPr>
        <p:spPr>
          <a:xfrm>
            <a:off x="502920" y="3945636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3</a:t>
            </a:r>
          </a:p>
        </p:txBody>
      </p:sp>
      <p:sp>
        <p:nvSpPr>
          <p:cNvPr id="15" name="cpe|statements|text|14"/>
          <p:cNvSpPr txBox="1"/>
          <p:nvPr/>
        </p:nvSpPr>
        <p:spPr>
          <a:xfrm>
            <a:off x="1005840" y="3945636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Margin erosion in grocery and convenience cut EBITDA by €67M in 2025</a:t>
            </a:r>
          </a:p>
        </p:txBody>
      </p:sp>
      <p:sp>
        <p:nvSpPr>
          <p:cNvPr id="16" name="cpe|statements|text|15"/>
          <p:cNvSpPr txBox="1"/>
          <p:nvPr/>
        </p:nvSpPr>
        <p:spPr>
          <a:xfrm>
            <a:off x="5492673" y="3945636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EBITDA fell to €857M (6.3% margin); fresh and food-to-go in Madrid and Catalonia explain most of the loss.</a:t>
            </a:r>
          </a:p>
        </p:txBody>
      </p:sp>
      <p:cxnSp>
        <p:nvCxnSpPr>
          <p:cNvPr id="17" name="cpe|statements|line|16"/>
          <p:cNvCxnSpPr/>
          <p:nvPr/>
        </p:nvCxnSpPr>
        <p:spPr>
          <a:xfrm>
            <a:off x="502920" y="505434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8" name="cpe|statements|text|17"/>
          <p:cNvSpPr txBox="1"/>
          <p:nvPr/>
        </p:nvSpPr>
        <p:spPr>
          <a:xfrm>
            <a:off x="502920" y="5159502"/>
            <a:ext cx="4114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A3AD"/>
                </a:solidFill>
                <a:latin typeface="Arial"/>
              </a:rPr>
              <a:t>4</a:t>
            </a:r>
          </a:p>
        </p:txBody>
      </p:sp>
      <p:sp>
        <p:nvSpPr>
          <p:cNvPr id="19" name="cpe|statements|text|18"/>
          <p:cNvSpPr txBox="1"/>
          <p:nvPr/>
        </p:nvSpPr>
        <p:spPr>
          <a:xfrm>
            <a:off x="1005840" y="5159502"/>
            <a:ext cx="4258233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A discount banner, a pricing reset and a cost programme add €250M by 2028</a:t>
            </a:r>
          </a:p>
        </p:txBody>
      </p:sp>
      <p:sp>
        <p:nvSpPr>
          <p:cNvPr id="20" name="cpe|statements|text|19"/>
          <p:cNvSpPr txBox="1"/>
          <p:nvPr/>
        </p:nvSpPr>
        <p:spPr>
          <a:xfrm>
            <a:off x="5492673" y="5159502"/>
            <a:ext cx="6196102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Three waves over 24 months; the board is asked to approve the banner pilot and the €85M programme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Iberian grocery market by channel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76822" y="2898830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807993" y="2793854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039164" y="2675186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270336" y="2554235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501507" y="2426439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593273" y="2741632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593273" y="3061124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593273" y="3494719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593273" y="4361910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6593273" y="5388847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192407" y="2316711"/>
            <a:ext cx="4924685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192407" y="2316711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3158595" y="2179551"/>
            <a:ext cx="992311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What moves the market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Hypermarkets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41775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502920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502920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198800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399968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399968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399968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92895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94063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94063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94063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2808671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Alvora revenue and growth vs market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502920" y="4408344"/>
          <a:ext cx="11185855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6825062" y="4786729"/>
            <a:ext cx="2484114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825062" y="4786729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7828525" y="4649569"/>
            <a:ext cx="477187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502920" y="3229295"/>
          <a:ext cx="11185855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9400616" y="3802449"/>
            <a:ext cx="2288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E6A77"/>
                </a:solidFill>
                <a:latin typeface="Arial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9400616" y="4021905"/>
            <a:ext cx="2288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1399635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1399635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3883749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3883749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6367862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6367862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8851976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8851976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47262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Market share by channel,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502920" y="4669384"/>
            <a:ext cx="2428144" cy="131216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502920" y="3593409"/>
            <a:ext cx="2428144" cy="107597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502920" y="3278490"/>
            <a:ext cx="2428144" cy="31491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502920" y="2176272"/>
            <a:ext cx="2428144" cy="110221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502920" y="1901952"/>
            <a:ext cx="24281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502920" y="4855464"/>
            <a:ext cx="242814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967640" y="4433194"/>
            <a:ext cx="3322724" cy="367406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967640" y="4328221"/>
            <a:ext cx="3322724" cy="104973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967640" y="3750869"/>
            <a:ext cx="3322724" cy="57735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967640" y="3278490"/>
            <a:ext cx="3322724" cy="47237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967640" y="2176272"/>
            <a:ext cx="3322724" cy="110221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967640" y="1901952"/>
            <a:ext cx="33227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967640" y="4855464"/>
            <a:ext cx="332272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326940" y="4564410"/>
            <a:ext cx="1533565" cy="236190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6326940" y="4170761"/>
            <a:ext cx="1533565" cy="39364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6326940" y="3357220"/>
            <a:ext cx="1533565" cy="81354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6326940" y="2176272"/>
            <a:ext cx="1533565" cy="118094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6326940" y="1901952"/>
            <a:ext cx="153356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6326940" y="4855464"/>
            <a:ext cx="1533565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7897080" y="4485681"/>
            <a:ext cx="894579" cy="314919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7897080" y="4328221"/>
            <a:ext cx="894579" cy="15746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7897080" y="4144518"/>
            <a:ext cx="894579" cy="183703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7897080" y="2176272"/>
            <a:ext cx="894579" cy="196824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7897080" y="1901952"/>
            <a:ext cx="8945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7897080" y="4855464"/>
            <a:ext cx="89457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8828236" y="4695627"/>
            <a:ext cx="894579" cy="104973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8828236" y="4459437"/>
            <a:ext cx="894579" cy="23619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8828236" y="4144518"/>
            <a:ext cx="894579" cy="31491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8828236" y="2176272"/>
            <a:ext cx="894579" cy="196824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8828236" y="1901952"/>
            <a:ext cx="8945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828236" y="4855464"/>
            <a:ext cx="89457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502920" y="4422496"/>
            <a:ext cx="2428144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967640" y="4433194"/>
            <a:ext cx="3322724" cy="367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6326940" y="4317522"/>
            <a:ext cx="1533565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7897080" y="4485681"/>
            <a:ext cx="894579" cy="31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8828236" y="4448739"/>
            <a:ext cx="894579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9905695" y="2240280"/>
            <a:ext cx="128016" cy="12801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0106863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9905695" y="2532888"/>
            <a:ext cx="128016" cy="128016"/>
          </a:xfrm>
          <a:prstGeom prst="rect">
            <a:avLst/>
          </a:prstGeom>
          <a:solidFill>
            <a:srgbClr val="C9D0D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10106863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54% of Alvora sales come from </a:t>
            </a: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, a channel growing 2% a year</a:t>
            </a:r>
          </a:p>
        </p:txBody>
      </p:sp>
      <p:sp>
        <p:nvSpPr>
          <p:cNvPr id="49" name="cpe|commentary|text|48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In </a:t>
            </a: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, Competitor A holds 41% with a lower cost-to-serve</a:t>
            </a:r>
          </a:p>
        </p:txBody>
      </p:sp>
      <p:sp>
        <p:nvSpPr>
          <p:cNvPr id="50" name="cpe|commentary|text|49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324051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145182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2966314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87445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08576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29707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50838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71970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196634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017765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838897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660028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481159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02290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3421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44553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57547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4452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2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2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77437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64412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Customer perception,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2267712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3746411" y="2267712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4041648"/>
            <a:ext cx="3106331" cy="1773936"/>
          </a:xfrm>
          <a:prstGeom prst="rect">
            <a:avLst/>
          </a:prstGeom>
          <a:solidFill>
            <a:srgbClr val="EEF1F4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3746411" y="4041648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731520" y="2340864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837851" y="2340864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731520" y="5504688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3837851" y="5504688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640080" y="5815584"/>
            <a:ext cx="6258382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640080" y="2221992"/>
            <a:ext cx="0" cy="3593592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640080" y="5870448"/>
            <a:ext cx="62126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94360" y="1938528"/>
            <a:ext cx="12343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3959594" y="3296595"/>
            <a:ext cx="567660" cy="567660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4563830" y="3470697"/>
            <a:ext cx="8142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5713789" y="4340127"/>
            <a:ext cx="538362" cy="538362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4870001" y="4499580"/>
            <a:ext cx="8072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242330" y="2928610"/>
            <a:ext cx="523098" cy="523098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2802004" y="3080431"/>
            <a:ext cx="82122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2877744" y="4007120"/>
            <a:ext cx="494801" cy="494801"/>
          </a:xfrm>
          <a:prstGeom prst="ellipse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409122" y="4144792"/>
            <a:ext cx="43311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4576111" y="2742003"/>
            <a:ext cx="328653" cy="328653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4941339" y="2796601"/>
            <a:ext cx="118134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7145350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7373950" y="1481328"/>
            <a:ext cx="43148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Alvora's prices sit </a:t>
            </a:r>
            <a:r>
              <a:rPr sz="1200" b="1">
                <a:solidFill>
                  <a:srgbClr val="1E252D"/>
                </a:solidFill>
                <a:latin typeface="Arial"/>
              </a:rPr>
              <a:t>8% above</a:t>
            </a:r>
            <a:r>
              <a:rPr sz="1200" b="0">
                <a:solidFill>
                  <a:srgbClr val="1E252D"/>
                </a:solidFill>
                <a:latin typeface="Arial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445191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90297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032940" cy="902970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03572" y="1481328"/>
            <a:ext cx="203294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858436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203294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015755" y="1481328"/>
            <a:ext cx="203294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70619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47573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47573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697480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752344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05602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560466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313725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68589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47014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47014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47014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05602" y="347014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560466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313725" y="347014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68589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446455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446455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697480" y="446455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752344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05602" y="446455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560466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313725" y="446455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68589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1121847" y="1481328"/>
            <a:ext cx="566928" cy="3886200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1121847" y="1572768"/>
            <a:ext cx="566928" cy="37033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New:</a:t>
            </a:r>
            <a:r>
              <a:rPr sz="12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2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96639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310128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346704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58979" y="1481328"/>
            <a:ext cx="206265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495555" y="1481328"/>
            <a:ext cx="198950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58212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94788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291840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341457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39107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4069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9030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53992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8954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63915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502920" y="2121408"/>
            <a:ext cx="11185855" cy="0"/>
          </a:xfrm>
          <a:prstGeom prst="line">
            <a:avLst/>
          </a:prstGeom>
          <a:ln w="9525">
            <a:solidFill>
              <a:srgbClr val="0B1F3A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341457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39107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4069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9030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53992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8954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63915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816648" y="2075688"/>
            <a:ext cx="0" cy="3447288"/>
          </a:xfrm>
          <a:prstGeom prst="line">
            <a:avLst/>
          </a:prstGeom>
          <a:ln w="9525">
            <a:solidFill>
              <a:srgbClr val="00A3AD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359448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A77"/>
                </a:solidFill>
                <a:latin typeface="Arial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502920" y="212140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319272" y="2257471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374136" y="2257471"/>
            <a:ext cx="298425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268833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502920" y="26883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319272" y="2824399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374136" y="2824399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502920" y="325526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502920" y="3255264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368889" y="3391327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23753" y="3391327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502920" y="3822192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502920" y="382219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18506" y="3958255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473370" y="3958255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502920" y="438912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502920" y="43891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68123" y="4604553"/>
            <a:ext cx="2044370" cy="294803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22987" y="4604553"/>
            <a:ext cx="1934642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67356" y="4604553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50236" y="4604553"/>
            <a:ext cx="285624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48484" y="4660514"/>
            <a:ext cx="182880" cy="182880"/>
          </a:xfrm>
          <a:prstGeom prst="diamond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224201" y="4403385"/>
            <a:ext cx="63144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E252D"/>
                </a:solidFill>
                <a:latin typeface="Arial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502920" y="4956048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502920" y="495604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17740" y="5092111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72604" y="5092111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502920" y="552297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52748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2025 to 2028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9578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01152" y="36052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299384" y="3340734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697616" y="29293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94080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92311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290543" y="2723608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684185" y="4223036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082417" y="38703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480649" y="3605910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78881" y="31944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77112" y="2871236"/>
            <a:ext cx="433935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75344" y="2753688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10073576" y="2988784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665023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452646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4918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2035429"/>
                <a:gridCol w="2200986"/>
                <a:gridCol w="1371600"/>
                <a:gridCol w="137160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884103" y="273691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884103" y="3694176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884103" y="474802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70985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847016"/>
            <a:ext cx="549234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47016"/>
            <a:ext cx="549234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Repositioning Alvora for profitable growth</dc:title>
  <dc:subject>Alvora should reposition towards discount and fix category margins now to return EBITDA above €1bn by 2028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