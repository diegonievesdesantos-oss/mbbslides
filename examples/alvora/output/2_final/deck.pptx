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3298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0B1F3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9D0D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3E7EB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7BFC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00A3AD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8831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8FA9CC"/>
            </a:solidFill>
          </c:spPr>
          <c:invertIfNegative val="0"/>
          <c:dPt>
            <c:idx val="3"/>
            <c:spPr>
              <a:solidFill>
                <a:srgbClr val="0B1F3A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8831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8A95A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1F3A"/>
                </a:solidFill>
                <a:latin typeface="Arial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E6A77"/>
                </a:solidFill>
                <a:latin typeface="Arial"/>
              </a:rPr>
              <a:t>Board discussion: strategic options to restore EBITDA above €1bn by 2028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000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005840" y="1517904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492673" y="1517904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262661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273177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005840" y="2731770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492673" y="2731770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384048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39456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005840" y="3945636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492673" y="3945636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505434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502920" y="515950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005840" y="5159502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492673" y="5159502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Iberian grocery market by channel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76822" y="2898830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807993" y="2793854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039164" y="2675186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70336" y="2554235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01507" y="2426439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593273" y="2741632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593273" y="3061124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593273" y="3494719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593273" y="4361910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593273" y="5388847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192407" y="2316711"/>
            <a:ext cx="4924685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192407" y="2316711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158595" y="2179551"/>
            <a:ext cx="9923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Hypermarkets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1775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502920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502920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198800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399968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399968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399968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92895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94063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94063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94063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2808671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Alvora revenue and growth vs market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502920" y="4408344"/>
          <a:ext cx="1118585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25062" y="4786729"/>
            <a:ext cx="2484114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25062" y="4786729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28525" y="4649569"/>
            <a:ext cx="477187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502920" y="3229295"/>
          <a:ext cx="1118585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400616" y="3802449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E6A77"/>
                </a:solidFill>
                <a:latin typeface="Arial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400616" y="4021905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399635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399635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883749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883749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67862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67862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51976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51976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7262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Market share by channel,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502920" y="4669384"/>
            <a:ext cx="2428144" cy="13121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502920" y="3593409"/>
            <a:ext cx="2428144" cy="1075974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502920" y="3278490"/>
            <a:ext cx="2428144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502920" y="2176272"/>
            <a:ext cx="242814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502920" y="1901952"/>
            <a:ext cx="24281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4855464"/>
            <a:ext cx="242814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2967640" y="4328221"/>
            <a:ext cx="3322724" cy="10497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2967640" y="3750869"/>
            <a:ext cx="3322724" cy="57735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2967640" y="3278490"/>
            <a:ext cx="3322724" cy="47237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2967640" y="2176272"/>
            <a:ext cx="332272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2967640" y="1901952"/>
            <a:ext cx="33227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967640" y="4855464"/>
            <a:ext cx="332272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326940" y="4564410"/>
            <a:ext cx="1533565" cy="236190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326940" y="4170761"/>
            <a:ext cx="1533565" cy="39364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326940" y="3357220"/>
            <a:ext cx="1533565" cy="81354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326940" y="2176272"/>
            <a:ext cx="1533565" cy="118094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326940" y="1901952"/>
            <a:ext cx="153356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326940" y="4855464"/>
            <a:ext cx="153356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97080" y="4328221"/>
            <a:ext cx="894579" cy="15746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97080" y="4144518"/>
            <a:ext cx="894579" cy="18370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97080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97080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97080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828236" y="4695627"/>
            <a:ext cx="894579" cy="104973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828236" y="4459437"/>
            <a:ext cx="894579" cy="23619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828236" y="4144518"/>
            <a:ext cx="894579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828236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828236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828236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502920" y="4422496"/>
            <a:ext cx="242814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326940" y="4317522"/>
            <a:ext cx="153356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828236" y="4448739"/>
            <a:ext cx="894579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905695" y="2240280"/>
            <a:ext cx="128016" cy="12801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010686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905695" y="2532888"/>
            <a:ext cx="128016" cy="128016"/>
          </a:xfrm>
          <a:prstGeom prst="rect">
            <a:avLst/>
          </a:prstGeom>
          <a:solidFill>
            <a:srgbClr val="C9D0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1010686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54% of Alvora sales come from </a:t>
            </a: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In </a:t>
            </a: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bridge 2024 to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580376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324051" y="299846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145182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2966314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787445" y="352442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08576" y="398323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29707" y="422943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50838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71970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196634" y="3845552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017765" y="326363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838897" y="291672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660028" y="378959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481159" y="424841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02290" y="449460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3421" y="4651278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44553" y="459532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57547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4452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Grocery (−€78M):</a:t>
            </a:r>
            <a:r>
              <a:rPr sz="1200" b="0">
                <a:solidFill>
                  <a:srgbClr val="1E252D"/>
                </a:solidFill>
                <a:latin typeface="Arial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Convenience (−€41M):</a:t>
            </a:r>
            <a:r>
              <a:rPr sz="1200" b="0">
                <a:solidFill>
                  <a:srgbClr val="1E252D"/>
                </a:solidFill>
                <a:latin typeface="Arial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Gross margin change by category and region, 2025 vs 2024</a:t>
            </a:r>
            <a:r>
              <a:rPr sz="1100" b="0">
                <a:solidFill>
                  <a:srgbClr val="1E252D"/>
                </a:solidFill>
                <a:latin typeface="Arial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68069"/>
                <a:gridCol w="1468069"/>
                <a:gridCol w="1468069"/>
                <a:gridCol w="1468069"/>
                <a:gridCol w="1468069"/>
                <a:gridCol w="146806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A59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5726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DC9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0D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C23F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64D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AB8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1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CE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2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0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DE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7437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64412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Customer perception,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3746411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4041648"/>
            <a:ext cx="3106331" cy="1773936"/>
          </a:xfrm>
          <a:prstGeom prst="rect">
            <a:avLst/>
          </a:prstGeom>
          <a:solidFill>
            <a:srgbClr val="EEF1F4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3746411" y="4041648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731520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837851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731520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3837851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640080" y="5815584"/>
            <a:ext cx="6258382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640080" y="2221992"/>
            <a:ext cx="0" cy="3593592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640080" y="5870448"/>
            <a:ext cx="62126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94360" y="1938528"/>
            <a:ext cx="12343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3959594" y="3296595"/>
            <a:ext cx="567660" cy="567660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4563830" y="3470697"/>
            <a:ext cx="8142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5713789" y="4340127"/>
            <a:ext cx="538362" cy="538362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4870001" y="4499580"/>
            <a:ext cx="8072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2242330" y="2928610"/>
            <a:ext cx="523098" cy="523098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2802004" y="3080431"/>
            <a:ext cx="82122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2877744" y="4007120"/>
            <a:ext cx="494801" cy="494801"/>
          </a:xfrm>
          <a:prstGeom prst="ellipse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3409122" y="4144792"/>
            <a:ext cx="43311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4576111" y="2742003"/>
            <a:ext cx="328653" cy="32865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4941339" y="2796601"/>
            <a:ext cx="118134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7145350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7373950" y="1481328"/>
            <a:ext cx="4314825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Alvora's prices sit </a:t>
            </a:r>
            <a:r>
              <a:rPr sz="1200" b="1">
                <a:solidFill>
                  <a:srgbClr val="1E252D"/>
                </a:solidFill>
                <a:latin typeface="Arial"/>
              </a:rPr>
              <a:t>8% above</a:t>
            </a:r>
            <a:r>
              <a:rPr sz="1200" b="0">
                <a:solidFill>
                  <a:srgbClr val="1E252D"/>
                </a:solidFill>
                <a:latin typeface="Arial"/>
              </a:rPr>
              <a:t> Competitor A on a comparable basket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Its experience score trails B and C on freshness and queues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45191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90297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032940" cy="902970"/>
          </a:xfrm>
          <a:prstGeom prst="rect">
            <a:avLst/>
          </a:prstGeom>
          <a:solidFill>
            <a:srgbClr val="00A3AD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03572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858436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015755" y="1481328"/>
            <a:ext cx="203294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70619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2920" y="247573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9436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697480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752344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05602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560466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313725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68589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47014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05602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560466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313725" y="347014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68589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502920" y="446455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59436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697480" y="446455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752344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05602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560466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313725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68589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1121847" y="1481328"/>
            <a:ext cx="566928" cy="3886200"/>
          </a:xfrm>
          <a:prstGeom prst="rect">
            <a:avLst/>
          </a:prstGeom>
          <a:solidFill>
            <a:srgbClr val="F4F6F8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112184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New:</a:t>
            </a:r>
            <a:r>
              <a:rPr sz="1200" b="0">
                <a:solidFill>
                  <a:srgbClr val="1E252D"/>
                </a:solidFill>
                <a:latin typeface="Arial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Changed:</a:t>
            </a:r>
            <a:r>
              <a:rPr sz="1200" b="0">
                <a:solidFill>
                  <a:srgbClr val="1E252D"/>
                </a:solidFill>
                <a:latin typeface="Arial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96639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310128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346704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58979" y="1481328"/>
            <a:ext cx="206265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495555" y="1481328"/>
            <a:ext cx="198950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58212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94788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291840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341457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39107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4069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9030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53992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8954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63915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502920" y="2121408"/>
            <a:ext cx="11185855" cy="0"/>
          </a:xfrm>
          <a:prstGeom prst="line">
            <a:avLst/>
          </a:prstGeom>
          <a:ln w="9525">
            <a:solidFill>
              <a:srgbClr val="0B1F3A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341457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39107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4069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9030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53992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8954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63915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816648" y="2075688"/>
            <a:ext cx="0" cy="3447288"/>
          </a:xfrm>
          <a:prstGeom prst="line">
            <a:avLst/>
          </a:prstGeom>
          <a:ln w="9525">
            <a:solidFill>
              <a:srgbClr val="00A3AD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359448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E6A77"/>
                </a:solidFill>
                <a:latin typeface="Arial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502920" y="212140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319272" y="2257471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374136" y="2257471"/>
            <a:ext cx="298425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502920" y="268833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319272" y="2824399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374136" y="2824399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502920" y="325526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502920" y="3255264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368889" y="3391327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23753" y="3391327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502920" y="3822192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502920" y="3822192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18506" y="3958255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473370" y="3958255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502920" y="438912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502920" y="4389120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68123" y="4604553"/>
            <a:ext cx="2044370" cy="294803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22987" y="4604553"/>
            <a:ext cx="1934642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67356" y="4604553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50236" y="4604553"/>
            <a:ext cx="285624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48484" y="4660514"/>
            <a:ext cx="182880" cy="182880"/>
          </a:xfrm>
          <a:prstGeom prst="diamond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224201" y="4403385"/>
            <a:ext cx="63144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E252D"/>
                </a:solidFill>
                <a:latin typeface="Arial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502920" y="495604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502920" y="495604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17740" y="5092111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72604" y="5092111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502920" y="552297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2748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2025 to 2028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9578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01152" y="36052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299384" y="3340734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697616" y="29293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94080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92311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90543" y="2723608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684185" y="4223036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082417" y="38703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480649" y="3605910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78881" y="31944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77112" y="2871236"/>
            <a:ext cx="433935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75344" y="2753688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10073576" y="2988784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665023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452646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49186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2035429"/>
                <a:gridCol w="2200986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884103" y="273691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884103" y="3694176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884103" y="4748022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502920" y="570985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502920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