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319"/>
          <c:w val="0.88626"/>
          <c:h val="0.91227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Discount</c:v>
                </c:pt>
              </c:strCache>
            </c:strRef>
          </c:tx>
          <c:spPr>
            <a:solidFill>
              <a:srgbClr val="0B1F3A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28.2</c:v>
                </c:pt>
                <c:pt idx="1">
                  <c:v>30.4</c:v>
                </c:pt>
                <c:pt idx="2">
                  <c:v>32.8</c:v>
                </c:pt>
                <c:pt idx="3">
                  <c:v>35.3</c:v>
                </c:pt>
                <c:pt idx="4">
                  <c:v>38.0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Supermarkets</c:v>
                </c:pt>
              </c:strCache>
            </c:strRef>
          </c:tx>
          <c:spPr>
            <a:solidFill>
              <a:srgbClr val="C9D0D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48.1</c:v>
                </c:pt>
                <c:pt idx="1">
                  <c:v>49.0</c:v>
                </c:pt>
                <c:pt idx="2">
                  <c:v>50.1</c:v>
                </c:pt>
                <c:pt idx="3">
                  <c:v>51.1</c:v>
                </c:pt>
                <c:pt idx="4">
                  <c:v>52.0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Hypermarkets</c:v>
                </c:pt>
              </c:strCache>
            </c:strRef>
          </c:tx>
          <c:spPr>
            <a:solidFill>
              <a:srgbClr val="E3E7EB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25.2</c:v>
                </c:pt>
                <c:pt idx="1">
                  <c:v>24.9</c:v>
                </c:pt>
                <c:pt idx="2">
                  <c:v>24.6</c:v>
                </c:pt>
                <c:pt idx="3">
                  <c:v>24.3</c:v>
                </c:pt>
                <c:pt idx="4">
                  <c:v>24.0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Convenience</c:v>
                </c:pt>
              </c:strCache>
            </c:strRef>
          </c:tx>
          <c:spPr>
            <a:solidFill>
              <a:srgbClr val="B7BFC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11.5</c:v>
                </c:pt>
                <c:pt idx="1">
                  <c:v>12.1</c:v>
                </c:pt>
                <c:pt idx="2">
                  <c:v>12.7</c:v>
                </c:pt>
                <c:pt idx="3">
                  <c:v>13.3</c:v>
                </c:pt>
                <c:pt idx="4">
                  <c:v>14.0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00A3AD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8.3</c:v>
                </c:pt>
                <c:pt idx="1">
                  <c:v>9.5</c:v>
                </c:pt>
                <c:pt idx="2">
                  <c:v>10.9</c:v>
                </c:pt>
                <c:pt idx="3">
                  <c:v>12.4</c:v>
                </c:pt>
                <c:pt idx="4">
                  <c:v>14.0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7.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552"/>
          <c:w val="0.88831"/>
          <c:h val="0.8302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Alvora revenue (€bn)</c:v>
                </c:pt>
              </c:strCache>
            </c:strRef>
          </c:tx>
          <c:spPr>
            <a:solidFill>
              <a:srgbClr val="8FA9CC"/>
            </a:solidFill>
          </c:spPr>
          <c:invertIfNegative val="0"/>
          <c:dPt>
            <c:idx val="3"/>
            <c:spPr>
              <a:solidFill>
                <a:srgbClr val="0B1F3A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</c:v>
                </c:pt>
                <c:pt idx="1">
                  <c:v>12.7</c:v>
                </c:pt>
                <c:pt idx="2">
                  <c:v>13.2</c:v>
                </c:pt>
                <c:pt idx="3">
                  <c:v>13.6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4276"/>
          <c:w val="0.88831"/>
          <c:h val="0.888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Alvora growth</c:v>
                </c:pt>
              </c:strCache>
            </c:strRef>
          </c:tx>
          <c:spPr>
            <a:ln w="31750">
              <a:solidFill>
                <a:srgbClr val="0B1F3A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6.3</c:v>
                </c:pt>
                <c:pt idx="1">
                  <c:v>6.7</c:v>
                </c:pt>
                <c:pt idx="2">
                  <c:v>3.9</c:v>
                </c:pt>
                <c:pt idx="3">
                  <c:v>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 growth</c:v>
                </c:pt>
              </c:strCache>
            </c:strRef>
          </c:tx>
          <c:spPr>
            <a:ln w="22225">
              <a:solidFill>
                <a:srgbClr val="8A95A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</c:v>
                </c:pt>
                <c:pt idx="1">
                  <c:v>4.1</c:v>
                </c:pt>
                <c:pt idx="2">
                  <c:v>4.0</c:v>
                </c:pt>
                <c:pt idx="3">
                  <c:v>4.1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.5"/>
          <c:min val="2.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88532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174.0</c:v>
                </c:pt>
                <c:pt idx="2">
                  <c:v>226.0</c:v>
                </c:pt>
                <c:pt idx="3">
                  <c:v>179.0</c:v>
                </c:pt>
                <c:pt idx="4">
                  <c:v>138.0</c:v>
                </c:pt>
                <c:pt idx="5">
                  <c:v>116.0</c:v>
                </c:pt>
                <c:pt idx="6">
                  <c:v>102.0</c:v>
                </c:pt>
                <c:pt idx="7">
                  <c:v>102.0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107.0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0.0</c:v>
                </c:pt>
                <c:pt idx="1">
                  <c:v>52.0</c:v>
                </c:pt>
                <c:pt idx="2">
                  <c:v>31.0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5.0</c:v>
                </c:pt>
                <c:pt idx="8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78.0</c:v>
                </c:pt>
                <c:pt idx="4">
                  <c:v>41.0</c:v>
                </c:pt>
                <c:pt idx="5">
                  <c:v>22.0</c:v>
                </c:pt>
                <c:pt idx="6">
                  <c:v>14.0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624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</c:v>
                </c:pt>
                <c:pt idx="1">
                  <c:v>157.0</c:v>
                </c:pt>
                <c:pt idx="2">
                  <c:v>217.0</c:v>
                </c:pt>
                <c:pt idx="3">
                  <c:v>262.0</c:v>
                </c:pt>
                <c:pt idx="4">
                  <c:v>332.0</c:v>
                </c:pt>
                <c:pt idx="5">
                  <c:v>387.0</c:v>
                </c:pt>
                <c:pt idx="6">
                  <c:v>367.0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157.0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367.0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</c:v>
                </c:pt>
                <c:pt idx="1">
                  <c:v>60.0</c:v>
                </c:pt>
                <c:pt idx="2">
                  <c:v>45.0</c:v>
                </c:pt>
                <c:pt idx="3">
                  <c:v>70.0</c:v>
                </c:pt>
                <c:pt idx="4">
                  <c:v>55.0</c:v>
                </c:pt>
                <c:pt idx="5">
                  <c:v>20.0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40.0</c:v>
                </c:pt>
                <c:pt idx="7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board the whole answer on one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market growth is coming from The market added €20.7bn in four years; €15.5bn went to discount and online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Alvora's growth has fallen below the 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 is weakest where the market grows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what drove the EBITDA decline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Locate the margin erosion by category and region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Alvora's competitive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target operating model and what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implementation plan and its sequencing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Quantify the EBITDA impact of the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explicit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148840"/>
            <a:ext cx="822960" cy="6400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377440"/>
            <a:ext cx="928801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B1F3A"/>
                </a:solidFill>
                <a:latin typeface="Arial"/>
              </a:rPr>
              <a:t>Repositioning Alvora for profitable growth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4160520"/>
            <a:ext cx="833909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E6A77"/>
                </a:solidFill>
                <a:latin typeface="Arial"/>
              </a:rPr>
              <a:t>Board discussion: strategic options to restore EBITDA above €1bn by 2028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502920" y="598932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Alvora Retail (fictitious)   |   October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can restore EBITDA to €1,067M by 2028 if it repositions towards discount now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2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15179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1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005840" y="1517904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The market grows 4% a year, but discount and online capture 75% of it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5492673" y="1517904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Iberian grocery reached €142bn in 2025; discount (+7.8% CAGR) and online (+14.0%) outgrow supermarkets (+2.0%).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262661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273177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2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005840" y="2731770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Alvora is falling behind: growth of 3.0% is below the market for a second year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5492673" y="2731770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Its mix is 54% supermarkets and only 14% discount; share slipped to 9.6%.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384048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39456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3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005840" y="3945636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Margin erosion in grocery and convenience cut EBITDA by €67M in 2025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5492673" y="3945636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EBITDA fell to €857M (6.3% margin); fresh and food-to-go in Madrid and Catalonia explain most of the loss.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502920" y="505434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8" name="cpe|statements|text|17"/>
          <p:cNvSpPr txBox="1"/>
          <p:nvPr/>
        </p:nvSpPr>
        <p:spPr>
          <a:xfrm>
            <a:off x="502920" y="515950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4</a:t>
            </a:r>
          </a:p>
        </p:txBody>
      </p:sp>
      <p:sp>
        <p:nvSpPr>
          <p:cNvPr id="19" name="cpe|statements|text|18"/>
          <p:cNvSpPr txBox="1"/>
          <p:nvPr/>
        </p:nvSpPr>
        <p:spPr>
          <a:xfrm>
            <a:off x="1005840" y="5159502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 discount banner, a pricing reset and a cost programme add €250M by 2028</a:t>
            </a:r>
          </a:p>
        </p:txBody>
      </p:sp>
      <p:sp>
        <p:nvSpPr>
          <p:cNvPr id="20" name="cpe|statements|text|19"/>
          <p:cNvSpPr txBox="1"/>
          <p:nvPr/>
        </p:nvSpPr>
        <p:spPr>
          <a:xfrm>
            <a:off x="5492673" y="5159502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Three waves over 24 months; the board is asked to approve the banner pilot and the €85M programme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MARKET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Discount and online captured 75% of Iberian grocery growth since 2021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National statistics; retailer reports; team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Iberian grocery market by channel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46557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14779" y="2789586"/>
            <a:ext cx="1982715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121.3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2597493" y="2712023"/>
            <a:ext cx="1982715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125.9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4580208" y="2624343"/>
            <a:ext cx="1982715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131.1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6562923" y="2534976"/>
            <a:ext cx="1982715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136.4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8545638" y="2440552"/>
            <a:ext cx="1982715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142.0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10248033" y="2714031"/>
            <a:ext cx="144074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10248033" y="2950092"/>
            <a:ext cx="144074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248033" y="3270461"/>
            <a:ext cx="144074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Hypermarkets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10248033" y="3911200"/>
            <a:ext cx="144074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10248033" y="4669969"/>
            <a:ext cx="144074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Discount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1606136" y="2330824"/>
            <a:ext cx="7930859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1606136" y="2330824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0" name="cpe|exhibit|label|19"/>
          <p:cNvSpPr txBox="1"/>
          <p:nvPr/>
        </p:nvSpPr>
        <p:spPr>
          <a:xfrm>
            <a:off x="5075410" y="2193664"/>
            <a:ext cx="9923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CAGR +4.0%</a:t>
            </a:r>
          </a:p>
        </p:txBody>
      </p:sp>
      <p:cxnSp>
        <p:nvCxnSpPr>
          <p:cNvPr id="21" name="cpe|commentary|line|20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2" name="cpe|commentary|text|21"/>
          <p:cNvSpPr txBox="1"/>
          <p:nvPr/>
        </p:nvSpPr>
        <p:spPr>
          <a:xfrm>
            <a:off x="502920" y="5705856"/>
            <a:ext cx="2645588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 grows 7.8% a year on price-sensitive households</a:t>
            </a:r>
          </a:p>
        </p:txBody>
      </p:sp>
      <p:sp>
        <p:nvSpPr>
          <p:cNvPr id="23" name="cpe|commentary|text|22"/>
          <p:cNvSpPr txBox="1"/>
          <p:nvPr/>
        </p:nvSpPr>
        <p:spPr>
          <a:xfrm>
            <a:off x="3349676" y="5705856"/>
            <a:ext cx="2645588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is small but compounding at 14% a year</a:t>
            </a:r>
          </a:p>
        </p:txBody>
      </p:sp>
      <p:sp>
        <p:nvSpPr>
          <p:cNvPr id="24" name="cpe|commentary|text|23"/>
          <p:cNvSpPr txBox="1"/>
          <p:nvPr/>
        </p:nvSpPr>
        <p:spPr>
          <a:xfrm>
            <a:off x="6196432" y="5705856"/>
            <a:ext cx="2645588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grow at 2%, below food inflation</a:t>
            </a:r>
          </a:p>
        </p:txBody>
      </p:sp>
      <p:sp>
        <p:nvSpPr>
          <p:cNvPr id="25" name="cpe|commentary|text|24"/>
          <p:cNvSpPr txBox="1"/>
          <p:nvPr/>
        </p:nvSpPr>
        <p:spPr>
          <a:xfrm>
            <a:off x="9043187" y="5705856"/>
            <a:ext cx="2645588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Hypermarkets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shrink as trips move to proximity formats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PERFORMANCE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Alvora's growth slowed to 3.0% in 2025, below the market (4.1%) for the second year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4</a:t>
            </a:r>
          </a:p>
        </p:txBody>
      </p:sp>
      <p:sp>
        <p:nvSpPr>
          <p:cNvPr id="6" name="cpe|kpis|text|5"/>
          <p:cNvSpPr txBox="1"/>
          <p:nvPr/>
        </p:nvSpPr>
        <p:spPr>
          <a:xfrm>
            <a:off x="502920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€13.6bn</a:t>
            </a:r>
          </a:p>
        </p:txBody>
      </p:sp>
      <p:sp>
        <p:nvSpPr>
          <p:cNvPr id="7" name="cpe|kpis|text|6"/>
          <p:cNvSpPr txBox="1"/>
          <p:nvPr/>
        </p:nvSpPr>
        <p:spPr>
          <a:xfrm>
            <a:off x="502920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+3.0% YoY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Revenue 2025</a:t>
            </a:r>
          </a:p>
        </p:txBody>
      </p:sp>
      <p:cxnSp>
        <p:nvCxnSpPr>
          <p:cNvPr id="9" name="cpe|kpis|line|8"/>
          <p:cNvCxnSpPr/>
          <p:nvPr/>
        </p:nvCxnSpPr>
        <p:spPr>
          <a:xfrm>
            <a:off x="3198800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0" name="cpe|kpis|text|9"/>
          <p:cNvSpPr txBox="1"/>
          <p:nvPr/>
        </p:nvSpPr>
        <p:spPr>
          <a:xfrm>
            <a:off x="3399968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11" name="cpe|kpis|text|10"/>
          <p:cNvSpPr txBox="1"/>
          <p:nvPr/>
        </p:nvSpPr>
        <p:spPr>
          <a:xfrm>
            <a:off x="3399968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−0.7pp</a:t>
            </a:r>
          </a:p>
        </p:txBody>
      </p:sp>
      <p:sp>
        <p:nvSpPr>
          <p:cNvPr id="12" name="cpe|kpis|text|11"/>
          <p:cNvSpPr txBox="1"/>
          <p:nvPr/>
        </p:nvSpPr>
        <p:spPr>
          <a:xfrm>
            <a:off x="3399968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EBITDA margin 2025</a:t>
            </a:r>
          </a:p>
        </p:txBody>
      </p:sp>
      <p:cxnSp>
        <p:nvCxnSpPr>
          <p:cNvPr id="13" name="cpe|kpis|line|12"/>
          <p:cNvCxnSpPr/>
          <p:nvPr/>
        </p:nvCxnSpPr>
        <p:spPr>
          <a:xfrm>
            <a:off x="6095848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4" name="cpe|kpis|text|13"/>
          <p:cNvSpPr txBox="1"/>
          <p:nvPr/>
        </p:nvSpPr>
        <p:spPr>
          <a:xfrm>
            <a:off x="6297016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9.6%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−0.1pp</a:t>
            </a:r>
          </a:p>
        </p:txBody>
      </p:sp>
      <p:sp>
        <p:nvSpPr>
          <p:cNvPr id="16" name="cpe|kpis|text|15"/>
          <p:cNvSpPr txBox="1"/>
          <p:nvPr/>
        </p:nvSpPr>
        <p:spPr>
          <a:xfrm>
            <a:off x="6297016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Market share 2025</a:t>
            </a:r>
          </a:p>
        </p:txBody>
      </p:sp>
      <p:cxnSp>
        <p:nvCxnSpPr>
          <p:cNvPr id="17" name="cpe|kpis|line|16"/>
          <p:cNvCxnSpPr/>
          <p:nvPr/>
        </p:nvCxnSpPr>
        <p:spPr>
          <a:xfrm>
            <a:off x="8992895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8" name="cpe|kpis|text|17"/>
          <p:cNvSpPr txBox="1"/>
          <p:nvPr/>
        </p:nvSpPr>
        <p:spPr>
          <a:xfrm>
            <a:off x="9194063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+1.2%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9194063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−1.8pp vs 2024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9194063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Like-for-like sales 2025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2808671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Alvora revenue and growth vs market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€bn, % YoY</a:t>
            </a:r>
          </a:p>
        </p:txBody>
      </p:sp>
      <p:graphicFrame>
        <p:nvGraphicFramePr>
          <p:cNvPr id="22" name="cpe|exhibit|chart|21"/>
          <p:cNvGraphicFramePr>
            <a:graphicFrameLocks noGrp="1"/>
          </p:cNvGraphicFramePr>
          <p:nvPr/>
        </p:nvGraphicFramePr>
        <p:xfrm>
          <a:off x="502920" y="4408344"/>
          <a:ext cx="11185855" cy="1791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pe|exhibit|connector|22"/>
          <p:cNvCxnSpPr/>
          <p:nvPr/>
        </p:nvCxnSpPr>
        <p:spPr>
          <a:xfrm>
            <a:off x="6825062" y="4786729"/>
            <a:ext cx="2484114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825062" y="4786729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5" name="cpe|exhibit|label|24"/>
          <p:cNvSpPr txBox="1"/>
          <p:nvPr/>
        </p:nvSpPr>
        <p:spPr>
          <a:xfrm>
            <a:off x="7828525" y="4649569"/>
            <a:ext cx="477187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+3%</a:t>
            </a:r>
          </a:p>
        </p:txBody>
      </p:sp>
      <p:graphicFrame>
        <p:nvGraphicFramePr>
          <p:cNvPr id="26" name="cpe|exhibit|chart|25"/>
          <p:cNvGraphicFramePr>
            <a:graphicFrameLocks noGrp="1"/>
          </p:cNvGraphicFramePr>
          <p:nvPr/>
        </p:nvGraphicFramePr>
        <p:xfrm>
          <a:off x="502920" y="3229295"/>
          <a:ext cx="11185855" cy="10693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cpe|exhibit|label|26"/>
          <p:cNvSpPr txBox="1"/>
          <p:nvPr/>
        </p:nvSpPr>
        <p:spPr>
          <a:xfrm>
            <a:off x="9400616" y="3802449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E6A77"/>
                </a:solidFill>
                <a:latin typeface="Arial"/>
              </a:rPr>
              <a:t>Market growth</a:t>
            </a:r>
          </a:p>
        </p:txBody>
      </p:sp>
      <p:sp>
        <p:nvSpPr>
          <p:cNvPr id="28" name="cpe|exhibit|label|27"/>
          <p:cNvSpPr txBox="1"/>
          <p:nvPr/>
        </p:nvSpPr>
        <p:spPr>
          <a:xfrm>
            <a:off x="9400616" y="4021905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Alvora growth</a:t>
            </a:r>
          </a:p>
        </p:txBody>
      </p:sp>
      <p:sp>
        <p:nvSpPr>
          <p:cNvPr id="29" name="cpe|exhibit|label|28"/>
          <p:cNvSpPr txBox="1"/>
          <p:nvPr/>
        </p:nvSpPr>
        <p:spPr>
          <a:xfrm>
            <a:off x="1399635" y="320137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30" name="cpe|exhibit|label|29"/>
          <p:cNvSpPr txBox="1"/>
          <p:nvPr/>
        </p:nvSpPr>
        <p:spPr>
          <a:xfrm>
            <a:off x="1399635" y="36765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3.8%</a:t>
            </a:r>
          </a:p>
        </p:txBody>
      </p:sp>
      <p:sp>
        <p:nvSpPr>
          <p:cNvPr id="31" name="cpe|exhibit|label|30"/>
          <p:cNvSpPr txBox="1"/>
          <p:nvPr/>
        </p:nvSpPr>
        <p:spPr>
          <a:xfrm>
            <a:off x="3883749" y="31253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6.7%</a:t>
            </a:r>
          </a:p>
        </p:txBody>
      </p:sp>
      <p:sp>
        <p:nvSpPr>
          <p:cNvPr id="32" name="cpe|exhibit|label|31"/>
          <p:cNvSpPr txBox="1"/>
          <p:nvPr/>
        </p:nvSpPr>
        <p:spPr>
          <a:xfrm>
            <a:off x="3883749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3" name="cpe|exhibit|label|32"/>
          <p:cNvSpPr txBox="1"/>
          <p:nvPr/>
        </p:nvSpPr>
        <p:spPr>
          <a:xfrm>
            <a:off x="6367862" y="363857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4.0%</a:t>
            </a:r>
          </a:p>
        </p:txBody>
      </p:sp>
      <p:sp>
        <p:nvSpPr>
          <p:cNvPr id="34" name="cpe|exhibit|label|33"/>
          <p:cNvSpPr txBox="1"/>
          <p:nvPr/>
        </p:nvSpPr>
        <p:spPr>
          <a:xfrm>
            <a:off x="6367862" y="402334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3.9%</a:t>
            </a:r>
          </a:p>
        </p:txBody>
      </p:sp>
      <p:sp>
        <p:nvSpPr>
          <p:cNvPr id="35" name="cpe|exhibit|label|34"/>
          <p:cNvSpPr txBox="1"/>
          <p:nvPr/>
        </p:nvSpPr>
        <p:spPr>
          <a:xfrm>
            <a:off x="8851976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6" name="cpe|exhibit|label|35"/>
          <p:cNvSpPr txBox="1"/>
          <p:nvPr/>
        </p:nvSpPr>
        <p:spPr>
          <a:xfrm>
            <a:off x="8851976" y="419442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PORTFOLIO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holds 14% of supermarkets but only 5% of discount, the segment driving growth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Retailer reports; consumer panel; team estimates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Market share by channel,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% of channel sales; width = channel size (€bn)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502920" y="4669384"/>
            <a:ext cx="2428144" cy="13121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502920" y="3593409"/>
            <a:ext cx="2428144" cy="1075974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502920" y="3278490"/>
            <a:ext cx="2428144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502920" y="2176272"/>
            <a:ext cx="242814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502920" y="1901952"/>
            <a:ext cx="24281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38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502920" y="4855464"/>
            <a:ext cx="242814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Discount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fill|13"/>
          <p:cNvSpPr/>
          <p:nvPr/>
        </p:nvSpPr>
        <p:spPr>
          <a:xfrm>
            <a:off x="2967640" y="4328221"/>
            <a:ext cx="3322724" cy="10497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fill|14"/>
          <p:cNvSpPr/>
          <p:nvPr/>
        </p:nvSpPr>
        <p:spPr>
          <a:xfrm>
            <a:off x="2967640" y="3750869"/>
            <a:ext cx="3322724" cy="57735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fill|15"/>
          <p:cNvSpPr/>
          <p:nvPr/>
        </p:nvSpPr>
        <p:spPr>
          <a:xfrm>
            <a:off x="2967640" y="3278490"/>
            <a:ext cx="3322724" cy="47237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fill|16"/>
          <p:cNvSpPr/>
          <p:nvPr/>
        </p:nvSpPr>
        <p:spPr>
          <a:xfrm>
            <a:off x="2967640" y="2176272"/>
            <a:ext cx="332272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label|17"/>
          <p:cNvSpPr txBox="1"/>
          <p:nvPr/>
        </p:nvSpPr>
        <p:spPr>
          <a:xfrm>
            <a:off x="2967640" y="1901952"/>
            <a:ext cx="332272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52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2967640" y="4855464"/>
            <a:ext cx="332272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Supermarkets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326940" y="4564410"/>
            <a:ext cx="1533565" cy="236190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fill|20"/>
          <p:cNvSpPr/>
          <p:nvPr/>
        </p:nvSpPr>
        <p:spPr>
          <a:xfrm>
            <a:off x="6326940" y="4170761"/>
            <a:ext cx="1533565" cy="39364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fill|21"/>
          <p:cNvSpPr/>
          <p:nvPr/>
        </p:nvSpPr>
        <p:spPr>
          <a:xfrm>
            <a:off x="6326940" y="3357220"/>
            <a:ext cx="1533565" cy="81354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fill|22"/>
          <p:cNvSpPr/>
          <p:nvPr/>
        </p:nvSpPr>
        <p:spPr>
          <a:xfrm>
            <a:off x="6326940" y="2176272"/>
            <a:ext cx="1533565" cy="118094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6326940" y="1901952"/>
            <a:ext cx="153356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24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6326940" y="4855464"/>
            <a:ext cx="1533565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Hypermarkets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fill|26"/>
          <p:cNvSpPr/>
          <p:nvPr/>
        </p:nvSpPr>
        <p:spPr>
          <a:xfrm>
            <a:off x="7897080" y="4328221"/>
            <a:ext cx="894579" cy="15746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fill|27"/>
          <p:cNvSpPr/>
          <p:nvPr/>
        </p:nvSpPr>
        <p:spPr>
          <a:xfrm>
            <a:off x="7897080" y="4144518"/>
            <a:ext cx="894579" cy="18370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fill|28"/>
          <p:cNvSpPr/>
          <p:nvPr/>
        </p:nvSpPr>
        <p:spPr>
          <a:xfrm>
            <a:off x="7897080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label|29"/>
          <p:cNvSpPr txBox="1"/>
          <p:nvPr/>
        </p:nvSpPr>
        <p:spPr>
          <a:xfrm>
            <a:off x="7897080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7897080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Convenience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8828236" y="4695627"/>
            <a:ext cx="894579" cy="104973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fill|32"/>
          <p:cNvSpPr/>
          <p:nvPr/>
        </p:nvSpPr>
        <p:spPr>
          <a:xfrm>
            <a:off x="8828236" y="4459437"/>
            <a:ext cx="894579" cy="23619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fill|33"/>
          <p:cNvSpPr/>
          <p:nvPr/>
        </p:nvSpPr>
        <p:spPr>
          <a:xfrm>
            <a:off x="8828236" y="4144518"/>
            <a:ext cx="894579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fill|34"/>
          <p:cNvSpPr/>
          <p:nvPr/>
        </p:nvSpPr>
        <p:spPr>
          <a:xfrm>
            <a:off x="8828236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label|35"/>
          <p:cNvSpPr txBox="1"/>
          <p:nvPr/>
        </p:nvSpPr>
        <p:spPr>
          <a:xfrm>
            <a:off x="8828236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828236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Online</a:t>
            </a:r>
          </a:p>
        </p:txBody>
      </p:sp>
      <p:sp>
        <p:nvSpPr>
          <p:cNvPr id="38" name="cpe|exhibit|label|37"/>
          <p:cNvSpPr txBox="1"/>
          <p:nvPr/>
        </p:nvSpPr>
        <p:spPr>
          <a:xfrm>
            <a:off x="502920" y="4422496"/>
            <a:ext cx="2428144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5%</a:t>
            </a:r>
          </a:p>
        </p:txBody>
      </p:sp>
      <p:sp>
        <p:nvSpPr>
          <p:cNvPr id="39" name="cpe|exhibit|label|38"/>
          <p:cNvSpPr txBox="1"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14%</a:t>
            </a:r>
          </a:p>
        </p:txBody>
      </p:sp>
      <p:sp>
        <p:nvSpPr>
          <p:cNvPr id="40" name="cpe|exhibit|label|39"/>
          <p:cNvSpPr txBox="1"/>
          <p:nvPr/>
        </p:nvSpPr>
        <p:spPr>
          <a:xfrm>
            <a:off x="6326940" y="4317522"/>
            <a:ext cx="1533565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9%</a:t>
            </a:r>
          </a:p>
        </p:txBody>
      </p:sp>
      <p:sp>
        <p:nvSpPr>
          <p:cNvPr id="41" name="cpe|exhibit|label|40"/>
          <p:cNvSpPr txBox="1"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12%</a:t>
            </a:r>
          </a:p>
        </p:txBody>
      </p:sp>
      <p:sp>
        <p:nvSpPr>
          <p:cNvPr id="42" name="cpe|exhibit|label|41"/>
          <p:cNvSpPr txBox="1"/>
          <p:nvPr/>
        </p:nvSpPr>
        <p:spPr>
          <a:xfrm>
            <a:off x="8828236" y="4448739"/>
            <a:ext cx="894579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4%</a:t>
            </a:r>
          </a:p>
        </p:txBody>
      </p:sp>
      <p:sp>
        <p:nvSpPr>
          <p:cNvPr id="43" name="cpe|exhibit|marker|42"/>
          <p:cNvSpPr/>
          <p:nvPr/>
        </p:nvSpPr>
        <p:spPr>
          <a:xfrm>
            <a:off x="9905695" y="2240280"/>
            <a:ext cx="128016" cy="12801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0106863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Alvora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9905695" y="2532888"/>
            <a:ext cx="128016" cy="128016"/>
          </a:xfrm>
          <a:prstGeom prst="rect">
            <a:avLst/>
          </a:prstGeom>
          <a:solidFill>
            <a:srgbClr val="C9D0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label|45"/>
          <p:cNvSpPr txBox="1"/>
          <p:nvPr/>
        </p:nvSpPr>
        <p:spPr>
          <a:xfrm>
            <a:off x="10106863" y="24688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Other players</a:t>
            </a:r>
          </a:p>
        </p:txBody>
      </p:sp>
      <p:cxnSp>
        <p:nvCxnSpPr>
          <p:cNvPr id="47" name="cpe|commentary|line|46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8" name="cpe|commentary|text|47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54% of Alvora sales come from </a:t>
            </a: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, a channel growing 2% a year</a:t>
            </a:r>
          </a:p>
        </p:txBody>
      </p:sp>
      <p:sp>
        <p:nvSpPr>
          <p:cNvPr id="49" name="cpe|commentary|text|48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In </a:t>
            </a: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, Competitor A holds 41% with a lower cost-to-serve</a:t>
            </a:r>
          </a:p>
        </p:txBody>
      </p:sp>
      <p:sp>
        <p:nvSpPr>
          <p:cNvPr id="50" name="cpe|commentary|text|49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share of 4% trails B and C, whose hub networks are in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Margin erosion in grocery and convenience (€119M) pushed EBITDA down to €857M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6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bridge 2024 to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580376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924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324051" y="299846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+52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145182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+31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2966314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−78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3787445" y="352442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−41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4608576" y="398323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−22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5429707" y="422943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−14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250838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7071970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1196634" y="3845552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2017765" y="326363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2838897" y="291672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3660028" y="378959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4481159" y="424841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5302290" y="449460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123421" y="4651278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944553" y="459532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5" name="cpe|exhibit|marker|24"/>
          <p:cNvSpPr/>
          <p:nvPr/>
        </p:nvSpPr>
        <p:spPr>
          <a:xfrm>
            <a:off x="57547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714452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7" name="cpe|commentary|line|26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8" name="cpe|commentary|text|27"/>
          <p:cNvSpPr txBox="1"/>
          <p:nvPr/>
        </p:nvSpPr>
        <p:spPr>
          <a:xfrm>
            <a:off x="8322869" y="1481328"/>
            <a:ext cx="336590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Two categories explain the decline</a:t>
            </a:r>
          </a:p>
        </p:txBody>
      </p:sp>
      <p:sp>
        <p:nvSpPr>
          <p:cNvPr id="29" name="cpe|commentary|text|28"/>
          <p:cNvSpPr txBox="1"/>
          <p:nvPr/>
        </p:nvSpPr>
        <p:spPr>
          <a:xfrm>
            <a:off x="8322869" y="1796796"/>
            <a:ext cx="336590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Grocery (−€78M):</a:t>
            </a:r>
            <a:r>
              <a:rPr sz="1200" b="0">
                <a:solidFill>
                  <a:srgbClr val="1E252D"/>
                </a:solidFill>
                <a:latin typeface="Arial"/>
              </a:rPr>
              <a:t> promo intensity up 3pp to match discounters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Convenience (−€41M):</a:t>
            </a:r>
            <a:r>
              <a:rPr sz="1200" b="0">
                <a:solidFill>
                  <a:srgbClr val="1E252D"/>
                </a:solidFill>
                <a:latin typeface="Arial"/>
              </a:rPr>
              <a:t> food-to-go waste doubled after the range extension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Volume and price added €83M, not enough to offset cost inflation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erosion concentrates in fresh and food-to-go, above all in Madrid and Catalonia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category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Gross margin change by category and region, 2025 vs 2024</a:t>
            </a:r>
            <a:r>
              <a:rPr sz="1100" b="0">
                <a:solidFill>
                  <a:srgbClr val="1E252D"/>
                </a:solidFill>
                <a:latin typeface="Arial"/>
              </a:rPr>
              <a:t>, pp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320154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468069"/>
                <a:gridCol w="1468069"/>
                <a:gridCol w="1468069"/>
                <a:gridCol w="1468069"/>
                <a:gridCol w="1468069"/>
                <a:gridCol w="1468069"/>
              </a:tblGrid>
              <a:tr h="30060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Madrid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Catalonia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Andalusia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Valencia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North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Portugal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Fresh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−2.9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A59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−2.6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5726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DC9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0D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Food-to-go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C23F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64D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AB8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1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CE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Ambient grocery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2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0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Drinks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Household &amp; personal care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DE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takeaway|fill|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takeaway|fill|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takeaway|text|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Fixing fresh and food-to-go in two regions addresses about two thirds of the margin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COMPETITION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is stuck in the middle: priced above discounters without a clear experience edge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Customer survey 2025, n=4,000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Customer perception,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index 0-1; bubble = revenue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640080" y="2267712"/>
            <a:ext cx="5478628" cy="1357884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6118708" y="2267712"/>
            <a:ext cx="5478628" cy="1357884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640080" y="3625596"/>
            <a:ext cx="5478628" cy="1357884"/>
          </a:xfrm>
          <a:prstGeom prst="rect">
            <a:avLst/>
          </a:prstGeom>
          <a:solidFill>
            <a:srgbClr val="EEF1F4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6118708" y="3625596"/>
            <a:ext cx="5478628" cy="1357884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731520" y="2340864"/>
            <a:ext cx="529574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Experience-led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6210148" y="2340864"/>
            <a:ext cx="529574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leaders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731520" y="4672584"/>
            <a:ext cx="529574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Stuck in the middle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6210148" y="4672584"/>
            <a:ext cx="529574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Price-led</a:t>
            </a:r>
          </a:p>
        </p:txBody>
      </p:sp>
      <p:cxnSp>
        <p:nvCxnSpPr>
          <p:cNvPr id="15" name="cpe|exhibit|line|14"/>
          <p:cNvCxnSpPr/>
          <p:nvPr/>
        </p:nvCxnSpPr>
        <p:spPr>
          <a:xfrm>
            <a:off x="640080" y="4983480"/>
            <a:ext cx="11002975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6" name="cpe|exhibit|line|15"/>
          <p:cNvCxnSpPr/>
          <p:nvPr/>
        </p:nvCxnSpPr>
        <p:spPr>
          <a:xfrm flipV="1">
            <a:off x="640080" y="2221992"/>
            <a:ext cx="0" cy="2761488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sp>
        <p:nvSpPr>
          <p:cNvPr id="17" name="cpe|exhibit|text|16"/>
          <p:cNvSpPr txBox="1"/>
          <p:nvPr/>
        </p:nvSpPr>
        <p:spPr>
          <a:xfrm>
            <a:off x="640080" y="5038344"/>
            <a:ext cx="109572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Price perception (cheaper →)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94360" y="1938528"/>
            <a:ext cx="12343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↑ Store experience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6778027" y="3055285"/>
            <a:ext cx="434523" cy="434523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7249125" y="3162818"/>
            <a:ext cx="81421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B</a:t>
            </a:r>
          </a:p>
        </p:txBody>
      </p:sp>
      <p:sp>
        <p:nvSpPr>
          <p:cNvPr id="21" name="cpe|exhibit|marker|20"/>
          <p:cNvSpPr/>
          <p:nvPr/>
        </p:nvSpPr>
        <p:spPr>
          <a:xfrm>
            <a:off x="9857271" y="3854071"/>
            <a:ext cx="412097" cy="412097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label|21"/>
          <p:cNvSpPr txBox="1"/>
          <p:nvPr/>
        </p:nvSpPr>
        <p:spPr>
          <a:xfrm>
            <a:off x="10305944" y="3950391"/>
            <a:ext cx="8072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A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3727050" y="2773605"/>
            <a:ext cx="400413" cy="400413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4164039" y="2864084"/>
            <a:ext cx="82122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C</a:t>
            </a:r>
          </a:p>
        </p:txBody>
      </p:sp>
      <p:sp>
        <p:nvSpPr>
          <p:cNvPr id="25" name="cpe|exhibit|marker|24"/>
          <p:cNvSpPr/>
          <p:nvPr/>
        </p:nvSpPr>
        <p:spPr>
          <a:xfrm>
            <a:off x="4833606" y="3599166"/>
            <a:ext cx="378753" cy="378753"/>
          </a:xfrm>
          <a:prstGeom prst="ellipse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label|25"/>
          <p:cNvSpPr txBox="1"/>
          <p:nvPr/>
        </p:nvSpPr>
        <p:spPr>
          <a:xfrm>
            <a:off x="5248934" y="3678814"/>
            <a:ext cx="43311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Alvora</a:t>
            </a:r>
          </a:p>
        </p:txBody>
      </p:sp>
      <p:sp>
        <p:nvSpPr>
          <p:cNvPr id="27" name="cpe|exhibit|marker|26"/>
          <p:cNvSpPr/>
          <p:nvPr/>
        </p:nvSpPr>
        <p:spPr>
          <a:xfrm>
            <a:off x="7746083" y="2630764"/>
            <a:ext cx="251572" cy="251572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label|27"/>
          <p:cNvSpPr txBox="1"/>
          <p:nvPr/>
        </p:nvSpPr>
        <p:spPr>
          <a:xfrm>
            <a:off x="8034230" y="2646822"/>
            <a:ext cx="118134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Online pure-players</a:t>
            </a:r>
          </a:p>
        </p:txBody>
      </p:sp>
      <p:cxnSp>
        <p:nvCxnSpPr>
          <p:cNvPr id="29" name="cpe|commentary|line|28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30" name="cpe|commentary|text|29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Alvora's prices sit </a:t>
            </a:r>
            <a:r>
              <a:rPr sz="1200" b="1">
                <a:solidFill>
                  <a:srgbClr val="1E252D"/>
                </a:solidFill>
                <a:latin typeface="Arial"/>
              </a:rPr>
              <a:t>8% above</a:t>
            </a:r>
            <a:r>
              <a:rPr sz="1200" b="0">
                <a:solidFill>
                  <a:srgbClr val="1E252D"/>
                </a:solidFill>
                <a:latin typeface="Arial"/>
              </a:rPr>
              <a:t> Competitor A on a comparable basket</a:t>
            </a:r>
          </a:p>
        </p:txBody>
      </p:sp>
      <p:sp>
        <p:nvSpPr>
          <p:cNvPr id="31" name="cpe|commentary|text|30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Its experience score trails B and C on freshness and queues</a:t>
            </a:r>
          </a:p>
        </p:txBody>
      </p:sp>
      <p:sp>
        <p:nvSpPr>
          <p:cNvPr id="32" name="cpe|commentary|text|31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Winning back price perception needs a separate low-cost format, not deeper promotions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OPERATING MODEL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target model adds a discount banner and central pricing to fund the growth moves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Team analysis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90297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Propositions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032940" cy="902970"/>
          </a:xfrm>
          <a:prstGeom prst="rect">
            <a:avLst/>
          </a:prstGeom>
          <a:solidFill>
            <a:srgbClr val="00A3AD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4803572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4858436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6909664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6964528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015755" y="1481328"/>
            <a:ext cx="203294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9070619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502920" y="247573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94360" y="247573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Commercial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2697480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2752344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Central pricing &amp; promo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5505602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5560466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Category management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8313725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8368589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47014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47014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Operations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Stores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5505602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5560466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Supply chain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8313725" y="347014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8368589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Fulfilment hubs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502920" y="446455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594360" y="446455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Enablers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2697480" y="446455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2752344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Data &amp; analytics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5505602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text|36"/>
          <p:cNvSpPr txBox="1"/>
          <p:nvPr/>
        </p:nvSpPr>
        <p:spPr>
          <a:xfrm>
            <a:off x="5560466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Technology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8313725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8368589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People &amp; capabilities</a:t>
            </a:r>
          </a:p>
        </p:txBody>
      </p:sp>
      <p:sp>
        <p:nvSpPr>
          <p:cNvPr id="40" name="cpe|exhibit|fill|39"/>
          <p:cNvSpPr/>
          <p:nvPr/>
        </p:nvSpPr>
        <p:spPr>
          <a:xfrm>
            <a:off x="11121847" y="1481328"/>
            <a:ext cx="566928" cy="3886200"/>
          </a:xfrm>
          <a:prstGeom prst="rect">
            <a:avLst/>
          </a:prstGeom>
          <a:solidFill>
            <a:srgbClr val="F4F6F8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vtext|40"/>
          <p:cNvSpPr txBox="1"/>
          <p:nvPr/>
        </p:nvSpPr>
        <p:spPr>
          <a:xfrm>
            <a:off x="11121847" y="1572768"/>
            <a:ext cx="566928" cy="370332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Transformation office</a:t>
            </a:r>
          </a:p>
        </p:txBody>
      </p:sp>
      <p:cxnSp>
        <p:nvCxnSpPr>
          <p:cNvPr id="42" name="cpe|commentary|line|41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3" name="cpe|commentary|text|42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New:</a:t>
            </a:r>
            <a:r>
              <a:rPr sz="1200" b="0">
                <a:solidFill>
                  <a:srgbClr val="1E252D"/>
                </a:solidFill>
                <a:latin typeface="Arial"/>
              </a:rPr>
              <a:t> discount banner, private label, fulfilment hubs</a:t>
            </a:r>
          </a:p>
        </p:txBody>
      </p:sp>
      <p:sp>
        <p:nvSpPr>
          <p:cNvPr id="44" name="cpe|commentary|text|43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Changed:</a:t>
            </a:r>
            <a:r>
              <a:rPr sz="1200" b="0">
                <a:solidFill>
                  <a:srgbClr val="1E252D"/>
                </a:solidFill>
                <a:latin typeface="Arial"/>
              </a:rPr>
              <a:t> pricing moves to the centre; category teams own margin</a:t>
            </a:r>
          </a:p>
        </p:txBody>
      </p:sp>
      <p:sp>
        <p:nvSpPr>
          <p:cNvPr id="45" name="cpe|commentary|text|44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A transformation office steers the programme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ROADMAP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 plan in three waves over 24 months secures quick margin wins before scaling the banner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3310128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3346704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1: Fix margins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6458979" y="1481328"/>
            <a:ext cx="2062658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6495555" y="1481328"/>
            <a:ext cx="198950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2: Pilot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8558212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594788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3: Scale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291840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26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4341457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539107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26</a:t>
            </a:r>
          </a:p>
        </p:txBody>
      </p:sp>
      <p:sp>
        <p:nvSpPr>
          <p:cNvPr id="15" name="cpe|exhibit|text|14"/>
          <p:cNvSpPr txBox="1"/>
          <p:nvPr/>
        </p:nvSpPr>
        <p:spPr>
          <a:xfrm>
            <a:off x="644069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26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749030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27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853992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958954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27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1063915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27</a:t>
            </a:r>
          </a:p>
        </p:txBody>
      </p:sp>
      <p:cxnSp>
        <p:nvCxnSpPr>
          <p:cNvPr id="20" name="cpe|exhibit|line|19"/>
          <p:cNvCxnSpPr/>
          <p:nvPr/>
        </p:nvCxnSpPr>
        <p:spPr>
          <a:xfrm>
            <a:off x="502920" y="2121408"/>
            <a:ext cx="11185855" cy="0"/>
          </a:xfrm>
          <a:prstGeom prst="line">
            <a:avLst/>
          </a:prstGeom>
          <a:ln w="9525">
            <a:solidFill>
              <a:srgbClr val="0B1F3A"/>
            </a:solidFill>
          </a:ln>
        </p:spPr>
      </p:cxnSp>
      <p:cxnSp>
        <p:nvCxnSpPr>
          <p:cNvPr id="21" name="cpe|exhibit|line|20"/>
          <p:cNvCxnSpPr/>
          <p:nvPr/>
        </p:nvCxnSpPr>
        <p:spPr>
          <a:xfrm>
            <a:off x="4341457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2" name="cpe|exhibit|line|21"/>
          <p:cNvCxnSpPr/>
          <p:nvPr/>
        </p:nvCxnSpPr>
        <p:spPr>
          <a:xfrm>
            <a:off x="5391074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3" name="cpe|exhibit|line|22"/>
          <p:cNvCxnSpPr/>
          <p:nvPr/>
        </p:nvCxnSpPr>
        <p:spPr>
          <a:xfrm>
            <a:off x="6440691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4" name="cpe|exhibit|line|23"/>
          <p:cNvCxnSpPr/>
          <p:nvPr/>
        </p:nvCxnSpPr>
        <p:spPr>
          <a:xfrm>
            <a:off x="7490308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5" name="cpe|exhibit|line|24"/>
          <p:cNvCxnSpPr/>
          <p:nvPr/>
        </p:nvCxnSpPr>
        <p:spPr>
          <a:xfrm>
            <a:off x="8539924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6" name="cpe|exhibit|line|25"/>
          <p:cNvCxnSpPr/>
          <p:nvPr/>
        </p:nvCxnSpPr>
        <p:spPr>
          <a:xfrm>
            <a:off x="9589541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7" name="cpe|exhibit|line|26"/>
          <p:cNvCxnSpPr/>
          <p:nvPr/>
        </p:nvCxnSpPr>
        <p:spPr>
          <a:xfrm>
            <a:off x="10639158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3816648" y="2075688"/>
            <a:ext cx="0" cy="3447288"/>
          </a:xfrm>
          <a:prstGeom prst="line">
            <a:avLst/>
          </a:prstGeom>
          <a:ln w="9525">
            <a:solidFill>
              <a:srgbClr val="00A3AD"/>
            </a:solidFill>
            <a:prstDash val="dash"/>
          </a:ln>
        </p:spPr>
      </p:cxnSp>
      <p:sp>
        <p:nvSpPr>
          <p:cNvPr id="29" name="cpe|exhibit|label|28"/>
          <p:cNvSpPr txBox="1"/>
          <p:nvPr/>
        </p:nvSpPr>
        <p:spPr>
          <a:xfrm>
            <a:off x="3359448" y="554126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5E6A77"/>
                </a:solidFill>
                <a:latin typeface="Arial"/>
              </a:rPr>
              <a:t>Today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502920" y="212140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Pricing &amp; promo reset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3319272" y="2257471"/>
            <a:ext cx="309398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3374136" y="2257471"/>
            <a:ext cx="298425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Reset 1,200 SKUs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268833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502920" y="2688336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Fresh &amp; food-to-go margins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3319272" y="2824399"/>
            <a:ext cx="4143604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3374136" y="2824399"/>
            <a:ext cx="4033876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Waste &amp; range</a:t>
            </a:r>
          </a:p>
        </p:txBody>
      </p:sp>
      <p:cxnSp>
        <p:nvCxnSpPr>
          <p:cNvPr id="37" name="cpe|exhibit|line|36"/>
          <p:cNvCxnSpPr/>
          <p:nvPr/>
        </p:nvCxnSpPr>
        <p:spPr>
          <a:xfrm>
            <a:off x="502920" y="325526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8" name="cpe|exhibit|text|37"/>
          <p:cNvSpPr txBox="1"/>
          <p:nvPr/>
        </p:nvSpPr>
        <p:spPr>
          <a:xfrm>
            <a:off x="502920" y="3255264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Cost programme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4368889" y="3391327"/>
            <a:ext cx="624283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4423753" y="3391327"/>
            <a:ext cx="613310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Labour scheduling, energy</a:t>
            </a:r>
          </a:p>
        </p:txBody>
      </p:sp>
      <p:cxnSp>
        <p:nvCxnSpPr>
          <p:cNvPr id="41" name="cpe|exhibit|line|40"/>
          <p:cNvCxnSpPr/>
          <p:nvPr/>
        </p:nvCxnSpPr>
        <p:spPr>
          <a:xfrm>
            <a:off x="502920" y="3822192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2" name="cpe|exhibit|text|41"/>
          <p:cNvSpPr txBox="1"/>
          <p:nvPr/>
        </p:nvSpPr>
        <p:spPr>
          <a:xfrm>
            <a:off x="502920" y="3822192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418506" y="3958255"/>
            <a:ext cx="624283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473370" y="3958255"/>
            <a:ext cx="613310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25% → 35% of sales</a:t>
            </a:r>
          </a:p>
        </p:txBody>
      </p:sp>
      <p:cxnSp>
        <p:nvCxnSpPr>
          <p:cNvPr id="45" name="cpe|exhibit|line|44"/>
          <p:cNvCxnSpPr/>
          <p:nvPr/>
        </p:nvCxnSpPr>
        <p:spPr>
          <a:xfrm>
            <a:off x="502920" y="438912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6" name="cpe|exhibit|text|45"/>
          <p:cNvSpPr txBox="1"/>
          <p:nvPr/>
        </p:nvSpPr>
        <p:spPr>
          <a:xfrm>
            <a:off x="502920" y="4389120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47" name="cpe|exhibit|fill|46"/>
          <p:cNvSpPr/>
          <p:nvPr/>
        </p:nvSpPr>
        <p:spPr>
          <a:xfrm>
            <a:off x="6468123" y="4604553"/>
            <a:ext cx="2044370" cy="294803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6522987" y="4604553"/>
            <a:ext cx="1934642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Pilot 20 stores</a:t>
            </a:r>
          </a:p>
        </p:txBody>
      </p:sp>
      <p:sp>
        <p:nvSpPr>
          <p:cNvPr id="49" name="cpe|exhibit|fill|48"/>
          <p:cNvSpPr/>
          <p:nvPr/>
        </p:nvSpPr>
        <p:spPr>
          <a:xfrm>
            <a:off x="8567356" y="4604553"/>
            <a:ext cx="309398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text|49"/>
          <p:cNvSpPr txBox="1"/>
          <p:nvPr/>
        </p:nvSpPr>
        <p:spPr>
          <a:xfrm>
            <a:off x="8750236" y="4604553"/>
            <a:ext cx="285624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Roll out 150 stores</a:t>
            </a:r>
          </a:p>
        </p:txBody>
      </p:sp>
      <p:sp>
        <p:nvSpPr>
          <p:cNvPr id="51" name="cpe|exhibit|marker|50"/>
          <p:cNvSpPr/>
          <p:nvPr/>
        </p:nvSpPr>
        <p:spPr>
          <a:xfrm>
            <a:off x="8448484" y="4660514"/>
            <a:ext cx="182880" cy="182880"/>
          </a:xfrm>
          <a:prstGeom prst="diamond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cpe|exhibit|label|51"/>
          <p:cNvSpPr txBox="1"/>
          <p:nvPr/>
        </p:nvSpPr>
        <p:spPr>
          <a:xfrm>
            <a:off x="8224201" y="4403385"/>
            <a:ext cx="631448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E252D"/>
                </a:solidFill>
                <a:latin typeface="Arial"/>
              </a:rPr>
              <a:t>Go / no-go</a:t>
            </a:r>
          </a:p>
        </p:txBody>
      </p:sp>
      <p:cxnSp>
        <p:nvCxnSpPr>
          <p:cNvPr id="53" name="cpe|exhibit|line|52"/>
          <p:cNvCxnSpPr/>
          <p:nvPr/>
        </p:nvCxnSpPr>
        <p:spPr>
          <a:xfrm>
            <a:off x="502920" y="4956048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54" name="cpe|exhibit|text|53"/>
          <p:cNvSpPr txBox="1"/>
          <p:nvPr/>
        </p:nvSpPr>
        <p:spPr>
          <a:xfrm>
            <a:off x="502920" y="495604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Online fulfilment hubs</a:t>
            </a:r>
          </a:p>
        </p:txBody>
      </p:sp>
      <p:sp>
        <p:nvSpPr>
          <p:cNvPr id="55" name="cpe|exhibit|fill|54"/>
          <p:cNvSpPr/>
          <p:nvPr/>
        </p:nvSpPr>
        <p:spPr>
          <a:xfrm>
            <a:off x="7517740" y="5092111"/>
            <a:ext cx="4143604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cpe|exhibit|text|55"/>
          <p:cNvSpPr txBox="1"/>
          <p:nvPr/>
        </p:nvSpPr>
        <p:spPr>
          <a:xfrm>
            <a:off x="7572604" y="5092111"/>
            <a:ext cx="4033876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 hubs</a:t>
            </a:r>
          </a:p>
        </p:txBody>
      </p:sp>
      <p:cxnSp>
        <p:nvCxnSpPr>
          <p:cNvPr id="57" name="cpe|exhibit|line|56"/>
          <p:cNvCxnSpPr/>
          <p:nvPr/>
        </p:nvCxnSpPr>
        <p:spPr>
          <a:xfrm>
            <a:off x="502920" y="552297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AT STAKE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63574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Five initiatives adding €250M lift EBITDA to €1,067M by 2028, net of €40M market headwinds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Initiative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2025 to 2028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9578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901152" y="36052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+60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299384" y="3340734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+45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697616" y="29293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+70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6095848" y="26060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+55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7494080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+20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892311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−40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290543" y="2723608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1,067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1684185" y="4223036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3082417" y="38703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480649" y="3605910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878881" y="31944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7277112" y="2871236"/>
            <a:ext cx="433935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8675344" y="2753688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10073576" y="2988784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3" name="cpe|exhibit|marker|22"/>
          <p:cNvSpPr/>
          <p:nvPr/>
        </p:nvSpPr>
        <p:spPr>
          <a:xfrm>
            <a:off x="665023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10452646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fill|2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takeaway|text|2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Cost and pricing levers deliver €130M of the uplift and are largely within management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DECISIONS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board is asked to approve three decisions to start Wave 1 in January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12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Decisions requested today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49186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2035429"/>
                <a:gridCol w="2200986"/>
                <a:gridCol w="1371600"/>
                <a:gridCol w="137160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EBITDA 2028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pricing &amp; promo reset across 1,200 SKUs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CCO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discount banner pilot in 20 stores (€18M capex)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CEO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Q4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€85M programme budget and transformation office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CFO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10884103" y="273691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10884103" y="3694176"/>
            <a:ext cx="237744" cy="237744"/>
          </a:xfrm>
          <a:prstGeom prst="ellipse">
            <a:avLst/>
          </a:prstGeom>
          <a:solidFill>
            <a:srgbClr val="D98E0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10884103" y="4748022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pe|commentary|line|10"/>
          <p:cNvCxnSpPr/>
          <p:nvPr/>
        </p:nvCxnSpPr>
        <p:spPr>
          <a:xfrm>
            <a:off x="502920" y="570985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502920" y="5847016"/>
            <a:ext cx="549234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E252D"/>
                </a:solidFill>
                <a:latin typeface="Arial"/>
              </a:rPr>
              <a:t>Wave 1 is self-funding by Q4 2026</a:t>
            </a:r>
          </a:p>
        </p:txBody>
      </p:sp>
      <p:sp>
        <p:nvSpPr>
          <p:cNvPr id="13" name="cpe|commentary|text|12"/>
          <p:cNvSpPr txBox="1"/>
          <p:nvPr/>
        </p:nvSpPr>
        <p:spPr>
          <a:xfrm>
            <a:off x="6196432" y="5847016"/>
            <a:ext cx="549234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E252D"/>
                </a:solidFill>
                <a:latin typeface="Arial"/>
              </a:rPr>
              <a:t>The go / no-go on the banner comes back to the board in Q2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Repositioning Alvora for profitable growth</dc:title>
  <dc:subject>Alvora should reposition towards discount and fix category margins now to return EBITDA above €1bn by 2028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