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83298"/>
          <c:h val="0.92926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Discount</c:v>
                </c:pt>
              </c:strCache>
            </c:strRef>
          </c:tx>
          <c:spPr>
            <a:solidFill>
              <a:srgbClr val="0B1F3A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28.2</c:v>
                </c:pt>
                <c:pt idx="1">
                  <c:v>30.4</c:v>
                </c:pt>
                <c:pt idx="2">
                  <c:v>32.8</c:v>
                </c:pt>
                <c:pt idx="3">
                  <c:v>35.3</c:v>
                </c:pt>
                <c:pt idx="4">
                  <c:v>38.0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Supermarkets</c:v>
                </c:pt>
              </c:strCache>
            </c:strRef>
          </c:tx>
          <c:spPr>
            <a:solidFill>
              <a:srgbClr val="C9D0D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48.1</c:v>
                </c:pt>
                <c:pt idx="1">
                  <c:v>49.0</c:v>
                </c:pt>
                <c:pt idx="2">
                  <c:v>50.1</c:v>
                </c:pt>
                <c:pt idx="3">
                  <c:v>51.1</c:v>
                </c:pt>
                <c:pt idx="4">
                  <c:v>52.0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Hypermarkets</c:v>
                </c:pt>
              </c:strCache>
            </c:strRef>
          </c:tx>
          <c:spPr>
            <a:solidFill>
              <a:srgbClr val="E3E7EB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25.2</c:v>
                </c:pt>
                <c:pt idx="1">
                  <c:v>24.9</c:v>
                </c:pt>
                <c:pt idx="2">
                  <c:v>24.6</c:v>
                </c:pt>
                <c:pt idx="3">
                  <c:v>24.3</c:v>
                </c:pt>
                <c:pt idx="4">
                  <c:v>24.0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Convenience</c:v>
                </c:pt>
              </c:strCache>
            </c:strRef>
          </c:tx>
          <c:spPr>
            <a:solidFill>
              <a:srgbClr val="B7BFC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11.5</c:v>
                </c:pt>
                <c:pt idx="1">
                  <c:v>12.1</c:v>
                </c:pt>
                <c:pt idx="2">
                  <c:v>12.7</c:v>
                </c:pt>
                <c:pt idx="3">
                  <c:v>13.3</c:v>
                </c:pt>
                <c:pt idx="4">
                  <c:v>14.0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00A3AD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8.3</c:v>
                </c:pt>
                <c:pt idx="1">
                  <c:v>9.5</c:v>
                </c:pt>
                <c:pt idx="2">
                  <c:v>10.9</c:v>
                </c:pt>
                <c:pt idx="3">
                  <c:v>12.4</c:v>
                </c:pt>
                <c:pt idx="4">
                  <c:v>14.0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5.0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2552"/>
          <c:w val="0.88831"/>
          <c:h val="0.83027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Alvora revenue (€bn)</c:v>
                </c:pt>
              </c:strCache>
            </c:strRef>
          </c:tx>
          <c:spPr>
            <a:solidFill>
              <a:srgbClr val="0B1F3A"/>
            </a:solidFill>
          </c:spPr>
          <c:invertIfNegative val="0"/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11.9</c:v>
                </c:pt>
                <c:pt idx="1">
                  <c:v>12.7</c:v>
                </c:pt>
                <c:pt idx="2">
                  <c:v>13.2</c:v>
                </c:pt>
                <c:pt idx="3">
                  <c:v>13.6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4276"/>
          <c:w val="0.88831"/>
          <c:h val="0.88883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Alvora growth</c:v>
                </c:pt>
              </c:strCache>
            </c:strRef>
          </c:tx>
          <c:spPr>
            <a:ln w="31750">
              <a:solidFill>
                <a:srgbClr val="0B1F3A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6.3</c:v>
                </c:pt>
                <c:pt idx="1">
                  <c:v>6.7</c:v>
                </c:pt>
                <c:pt idx="2">
                  <c:v>3.9</c:v>
                </c:pt>
                <c:pt idx="3">
                  <c:v>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 growth</c:v>
                </c:pt>
              </c:strCache>
            </c:strRef>
          </c:tx>
          <c:spPr>
            <a:ln w="22225">
              <a:solidFill>
                <a:srgbClr val="8A95A1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3.8</c:v>
                </c:pt>
                <c:pt idx="1">
                  <c:v>4.1</c:v>
                </c:pt>
                <c:pt idx="2">
                  <c:v>4.0</c:v>
                </c:pt>
                <c:pt idx="3">
                  <c:v>4.1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.5"/>
          <c:min val="2.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88532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</c:v>
                </c:pt>
                <c:pt idx="1">
                  <c:v>174.0</c:v>
                </c:pt>
                <c:pt idx="2">
                  <c:v>226.0</c:v>
                </c:pt>
                <c:pt idx="3">
                  <c:v>179.0</c:v>
                </c:pt>
                <c:pt idx="4">
                  <c:v>138.0</c:v>
                </c:pt>
                <c:pt idx="5">
                  <c:v>116.0</c:v>
                </c:pt>
                <c:pt idx="6">
                  <c:v>102.0</c:v>
                </c:pt>
                <c:pt idx="7">
                  <c:v>102.0</c:v>
                </c:pt>
                <c:pt idx="8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B1F3A"/>
            </a:solidFill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174.0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107.0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3D6399"/>
            </a:solidFill>
          </c:spPr>
          <c:dPt>
            <c:idx val="3"/>
            <c:spPr>
              <a:solidFill>
                <a:srgbClr val="00A3AD"/>
              </a:solidFill>
            </c:spPr>
          </c:dPt>
          <c:dPt>
            <c:idx val="4"/>
            <c:spPr>
              <a:solidFill>
                <a:srgbClr val="00A3AD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0.0</c:v>
                </c:pt>
                <c:pt idx="1">
                  <c:v>52.0</c:v>
                </c:pt>
                <c:pt idx="2">
                  <c:v>31.0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5.0</c:v>
                </c:pt>
                <c:pt idx="8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3D6399"/>
            </a:solidFill>
          </c:spPr>
          <c:dPt>
            <c:idx val="3"/>
            <c:spPr>
              <a:solidFill>
                <a:srgbClr val="00A3AD"/>
              </a:solidFill>
            </c:spPr>
          </c:dPt>
          <c:dPt>
            <c:idx val="4"/>
            <c:spPr>
              <a:solidFill>
                <a:srgbClr val="00A3AD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78.0</c:v>
                </c:pt>
                <c:pt idx="4">
                  <c:v>41.0</c:v>
                </c:pt>
                <c:pt idx="5">
                  <c:v>22.0</c:v>
                </c:pt>
                <c:pt idx="6">
                  <c:v>14.0</c:v>
                </c:pt>
                <c:pt idx="7">
                  <c:v>0.0</c:v>
                </c:pt>
                <c:pt idx="8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0624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</c:v>
                </c:pt>
                <c:pt idx="1">
                  <c:v>157.0</c:v>
                </c:pt>
                <c:pt idx="2">
                  <c:v>217.0</c:v>
                </c:pt>
                <c:pt idx="3">
                  <c:v>262.0</c:v>
                </c:pt>
                <c:pt idx="4">
                  <c:v>332.0</c:v>
                </c:pt>
                <c:pt idx="5">
                  <c:v>387.0</c:v>
                </c:pt>
                <c:pt idx="6">
                  <c:v>367.0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B1F3A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157.0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367.0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7D4F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</c:v>
                </c:pt>
                <c:pt idx="1">
                  <c:v>60.0</c:v>
                </c:pt>
                <c:pt idx="2">
                  <c:v>45.0</c:v>
                </c:pt>
                <c:pt idx="3">
                  <c:v>70.0</c:v>
                </c:pt>
                <c:pt idx="4">
                  <c:v>55.0</c:v>
                </c:pt>
                <c:pt idx="5">
                  <c:v>20.0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40.0</c:v>
                </c:pt>
                <c:pt idx="7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board the whole answer on one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market growth is coming from The market added €20.7bn in four years; €15.5bn went to discount and online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Alvora's growth has fallen below the market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 is weakest where the market grows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what drove the EBITDA decline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Locate the margin erosion by category and region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Alvora's competitive position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target operating model and what changes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implementation plan and its sequencing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Quantify the EBITDA impact of the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ask explicit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fill|1"/>
          <p:cNvSpPr/>
          <p:nvPr/>
        </p:nvSpPr>
        <p:spPr>
          <a:xfrm>
            <a:off x="502920" y="2148840"/>
            <a:ext cx="822960" cy="6400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377440"/>
            <a:ext cx="9288018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B1F3A"/>
                </a:solidFill>
                <a:latin typeface="Arial"/>
              </a:rPr>
              <a:t>Repositioning Alvora for profitable growth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4160520"/>
            <a:ext cx="833909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E6A77"/>
                </a:solidFill>
                <a:latin typeface="Arial"/>
              </a:rPr>
              <a:t>Board discussion: strategic options to restore EBITDA above €1bn by 2028</a:t>
            </a:r>
          </a:p>
        </p:txBody>
      </p:sp>
      <p:sp>
        <p:nvSpPr>
          <p:cNvPr id="5" name="cpe|text|text|4"/>
          <p:cNvSpPr txBox="1"/>
          <p:nvPr/>
        </p:nvSpPr>
        <p:spPr>
          <a:xfrm>
            <a:off x="502920" y="5989320"/>
            <a:ext cx="833909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Alvora Retail (fictitious)   |   October 2026   |  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638252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can restore EBITDA to €1,067M by 2028 if it repositions towards discount now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1008857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2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502920" y="151790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1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005840" y="1517904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The market grows 4% a year, but discount and online capture 75% of it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5492673" y="1517904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Iberian grocery reached €142bn in 2025; discount (+7.8% CAGR) and online (+14.0%) outgrow supermarkets (+2.0%).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502920" y="2626614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502920" y="273177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2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005840" y="2731770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Alvora is falling behind: growth of 3.0% is below the market for a second year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5492673" y="2731770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Its mix is 54% supermarkets and only 14% discount; share slipped to 9.6%.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502920" y="3840480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502920" y="394563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3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005840" y="3945636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Margin erosion in grocery and convenience cut EBITDA by €67M in 2025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5492673" y="3945636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EBITDA fell to €857M (6.3% margin); fresh and food-to-go in Madrid and Catalonia explain most of the loss.</a:t>
            </a:r>
          </a:p>
        </p:txBody>
      </p:sp>
      <p:cxnSp>
        <p:nvCxnSpPr>
          <p:cNvPr id="17" name="cpe|statements|line|16"/>
          <p:cNvCxnSpPr/>
          <p:nvPr/>
        </p:nvCxnSpPr>
        <p:spPr>
          <a:xfrm>
            <a:off x="502920" y="505434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8" name="cpe|statements|text|17"/>
          <p:cNvSpPr txBox="1"/>
          <p:nvPr/>
        </p:nvSpPr>
        <p:spPr>
          <a:xfrm>
            <a:off x="502920" y="515950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4</a:t>
            </a:r>
          </a:p>
        </p:txBody>
      </p:sp>
      <p:sp>
        <p:nvSpPr>
          <p:cNvPr id="19" name="cpe|statements|text|18"/>
          <p:cNvSpPr txBox="1"/>
          <p:nvPr/>
        </p:nvSpPr>
        <p:spPr>
          <a:xfrm>
            <a:off x="1005840" y="5159502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A discount banner, a pricing reset and a cost programme add €250M by 2028</a:t>
            </a:r>
          </a:p>
        </p:txBody>
      </p:sp>
      <p:sp>
        <p:nvSpPr>
          <p:cNvPr id="20" name="cpe|statements|text|19"/>
          <p:cNvSpPr txBox="1"/>
          <p:nvPr/>
        </p:nvSpPr>
        <p:spPr>
          <a:xfrm>
            <a:off x="5492673" y="5159502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Three waves over 24 months; the board is asked to approve the banner pilot and the €85M programme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MARKET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Discount and online captured 75% of Iberian grocery growth since 2021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1008857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National statistics; retailer reports; team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Iberian grocery market by channel</a:t>
            </a:r>
            <a:r>
              <a:rPr sz="1100" b="0">
                <a:solidFill>
                  <a:srgbClr val="1E252D"/>
                </a:solidFill>
                <a:latin typeface="Arial"/>
              </a:rPr>
              <a:t>, €bn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76822" y="2898830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121.3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807993" y="2793854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125.9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039164" y="2675186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131.1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270336" y="2554235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136.4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5501507" y="2426439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142.0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6593273" y="2741632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Online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6593273" y="3061124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Convenience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593273" y="3494719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Hypermarkets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6593273" y="4361910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Supermarkets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6593273" y="5388847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Discount</a:t>
            </a:r>
          </a:p>
        </p:txBody>
      </p:sp>
      <p:cxnSp>
        <p:nvCxnSpPr>
          <p:cNvPr id="18" name="cpe|exhibit|connector|17"/>
          <p:cNvCxnSpPr/>
          <p:nvPr/>
        </p:nvCxnSpPr>
        <p:spPr>
          <a:xfrm>
            <a:off x="1192407" y="2316711"/>
            <a:ext cx="4924685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1192407" y="2316711"/>
            <a:ext cx="0" cy="91440"/>
          </a:xfrm>
          <a:prstGeom prst="line">
            <a:avLst/>
          </a:prstGeom>
          <a:ln w="9525">
            <a:solidFill>
              <a:srgbClr val="1E252D"/>
            </a:solidFill>
          </a:ln>
        </p:spPr>
      </p:cxnSp>
      <p:sp>
        <p:nvSpPr>
          <p:cNvPr id="20" name="cpe|exhibit|label|19"/>
          <p:cNvSpPr txBox="1"/>
          <p:nvPr/>
        </p:nvSpPr>
        <p:spPr>
          <a:xfrm>
            <a:off x="3158595" y="2179551"/>
            <a:ext cx="992311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CAGR +4.0%</a:t>
            </a:r>
          </a:p>
        </p:txBody>
      </p:sp>
      <p:cxnSp>
        <p:nvCxnSpPr>
          <p:cNvPr id="21" name="cpe|commentary|line|20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22" name="cpe|commentary|text|21"/>
          <p:cNvSpPr txBox="1"/>
          <p:nvPr/>
        </p:nvSpPr>
        <p:spPr>
          <a:xfrm>
            <a:off x="8322869" y="1481328"/>
            <a:ext cx="336590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1F3A"/>
                </a:solidFill>
                <a:latin typeface="Arial"/>
              </a:rPr>
              <a:t>What moves the market</a:t>
            </a:r>
          </a:p>
        </p:txBody>
      </p:sp>
      <p:sp>
        <p:nvSpPr>
          <p:cNvPr id="23" name="cpe|commentary|text|22"/>
          <p:cNvSpPr txBox="1"/>
          <p:nvPr/>
        </p:nvSpPr>
        <p:spPr>
          <a:xfrm>
            <a:off x="8322869" y="1796796"/>
            <a:ext cx="336590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Discount</a:t>
            </a:r>
            <a:r>
              <a:rPr sz="1200" b="0">
                <a:solidFill>
                  <a:srgbClr val="1E252D"/>
                </a:solidFill>
                <a:latin typeface="Arial"/>
              </a:rPr>
              <a:t> grows 7.8% a year on price-sensitive households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Online</a:t>
            </a:r>
            <a:r>
              <a:rPr sz="1200" b="0">
                <a:solidFill>
                  <a:srgbClr val="1E252D"/>
                </a:solidFill>
                <a:latin typeface="Arial"/>
              </a:rPr>
              <a:t> is small but compounding at 14% a year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Supermarkets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 grow at 2%, below food inflation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Hypermarkets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 shrink as trips move to proximity formats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PERFORMANCE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638252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Alvora's growth slowed to 3.0% in 2025, below the market (4.1%) for the second year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1008857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4</a:t>
            </a:r>
          </a:p>
        </p:txBody>
      </p:sp>
      <p:sp>
        <p:nvSpPr>
          <p:cNvPr id="6" name="cpe|kpis|text|5"/>
          <p:cNvSpPr txBox="1"/>
          <p:nvPr/>
        </p:nvSpPr>
        <p:spPr>
          <a:xfrm>
            <a:off x="502920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€13.6bn</a:t>
            </a:r>
          </a:p>
        </p:txBody>
      </p:sp>
      <p:sp>
        <p:nvSpPr>
          <p:cNvPr id="7" name="cpe|kpis|text|6"/>
          <p:cNvSpPr txBox="1"/>
          <p:nvPr/>
        </p:nvSpPr>
        <p:spPr>
          <a:xfrm>
            <a:off x="502920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+3.0% YoY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502920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Revenue 2025</a:t>
            </a:r>
          </a:p>
        </p:txBody>
      </p:sp>
      <p:cxnSp>
        <p:nvCxnSpPr>
          <p:cNvPr id="9" name="cpe|kpis|line|8"/>
          <p:cNvCxnSpPr/>
          <p:nvPr/>
        </p:nvCxnSpPr>
        <p:spPr>
          <a:xfrm>
            <a:off x="3198800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0" name="cpe|kpis|text|9"/>
          <p:cNvSpPr txBox="1"/>
          <p:nvPr/>
        </p:nvSpPr>
        <p:spPr>
          <a:xfrm>
            <a:off x="3399968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6.3%</a:t>
            </a:r>
          </a:p>
        </p:txBody>
      </p:sp>
      <p:sp>
        <p:nvSpPr>
          <p:cNvPr id="11" name="cpe|kpis|text|10"/>
          <p:cNvSpPr txBox="1"/>
          <p:nvPr/>
        </p:nvSpPr>
        <p:spPr>
          <a:xfrm>
            <a:off x="3399968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−0.7pp</a:t>
            </a:r>
          </a:p>
        </p:txBody>
      </p:sp>
      <p:sp>
        <p:nvSpPr>
          <p:cNvPr id="12" name="cpe|kpis|text|11"/>
          <p:cNvSpPr txBox="1"/>
          <p:nvPr/>
        </p:nvSpPr>
        <p:spPr>
          <a:xfrm>
            <a:off x="3399968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EBITDA margin 2025</a:t>
            </a:r>
          </a:p>
        </p:txBody>
      </p:sp>
      <p:cxnSp>
        <p:nvCxnSpPr>
          <p:cNvPr id="13" name="cpe|kpis|line|12"/>
          <p:cNvCxnSpPr/>
          <p:nvPr/>
        </p:nvCxnSpPr>
        <p:spPr>
          <a:xfrm>
            <a:off x="6095848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4" name="cpe|kpis|text|13"/>
          <p:cNvSpPr txBox="1"/>
          <p:nvPr/>
        </p:nvSpPr>
        <p:spPr>
          <a:xfrm>
            <a:off x="6297016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9.6%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−0.1pp</a:t>
            </a:r>
          </a:p>
        </p:txBody>
      </p:sp>
      <p:sp>
        <p:nvSpPr>
          <p:cNvPr id="16" name="cpe|kpis|text|15"/>
          <p:cNvSpPr txBox="1"/>
          <p:nvPr/>
        </p:nvSpPr>
        <p:spPr>
          <a:xfrm>
            <a:off x="6297016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Market share 2025</a:t>
            </a:r>
          </a:p>
        </p:txBody>
      </p:sp>
      <p:cxnSp>
        <p:nvCxnSpPr>
          <p:cNvPr id="17" name="cpe|kpis|line|16"/>
          <p:cNvCxnSpPr/>
          <p:nvPr/>
        </p:nvCxnSpPr>
        <p:spPr>
          <a:xfrm>
            <a:off x="8992895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8" name="cpe|kpis|text|17"/>
          <p:cNvSpPr txBox="1"/>
          <p:nvPr/>
        </p:nvSpPr>
        <p:spPr>
          <a:xfrm>
            <a:off x="9194063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+1.2%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9194063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−1.8pp vs 2024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9194063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Like-for-like sales 2025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502920" y="2808671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Alvora revenue and growth vs market</a:t>
            </a:r>
            <a:r>
              <a:rPr sz="1100" b="0">
                <a:solidFill>
                  <a:srgbClr val="1E252D"/>
                </a:solidFill>
                <a:latin typeface="Arial"/>
              </a:rPr>
              <a:t>, €bn, % YoY</a:t>
            </a:r>
          </a:p>
        </p:txBody>
      </p:sp>
      <p:graphicFrame>
        <p:nvGraphicFramePr>
          <p:cNvPr id="22" name="cpe|exhibit|chart|21"/>
          <p:cNvGraphicFramePr>
            <a:graphicFrameLocks noGrp="1"/>
          </p:cNvGraphicFramePr>
          <p:nvPr/>
        </p:nvGraphicFramePr>
        <p:xfrm>
          <a:off x="502920" y="4408344"/>
          <a:ext cx="11185855" cy="1791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3" name="cpe|exhibit|chart|22"/>
          <p:cNvGraphicFramePr>
            <a:graphicFrameLocks noGrp="1"/>
          </p:cNvGraphicFramePr>
          <p:nvPr/>
        </p:nvGraphicFramePr>
        <p:xfrm>
          <a:off x="502920" y="3229295"/>
          <a:ext cx="11185855" cy="10693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4" name="cpe|exhibit|label|23"/>
          <p:cNvSpPr txBox="1"/>
          <p:nvPr/>
        </p:nvSpPr>
        <p:spPr>
          <a:xfrm>
            <a:off x="9400616" y="3802449"/>
            <a:ext cx="228816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E6A77"/>
                </a:solidFill>
                <a:latin typeface="Arial"/>
              </a:rPr>
              <a:t>Market growth</a:t>
            </a:r>
          </a:p>
        </p:txBody>
      </p:sp>
      <p:sp>
        <p:nvSpPr>
          <p:cNvPr id="25" name="cpe|exhibit|label|24"/>
          <p:cNvSpPr txBox="1"/>
          <p:nvPr/>
        </p:nvSpPr>
        <p:spPr>
          <a:xfrm>
            <a:off x="9400616" y="4021905"/>
            <a:ext cx="228816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Alvora growth</a:t>
            </a:r>
          </a:p>
        </p:txBody>
      </p:sp>
      <p:sp>
        <p:nvSpPr>
          <p:cNvPr id="26" name="cpe|exhibit|label|25"/>
          <p:cNvSpPr txBox="1"/>
          <p:nvPr/>
        </p:nvSpPr>
        <p:spPr>
          <a:xfrm>
            <a:off x="1399635" y="320137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6.3%</a:t>
            </a:r>
          </a:p>
        </p:txBody>
      </p:sp>
      <p:sp>
        <p:nvSpPr>
          <p:cNvPr id="27" name="cpe|exhibit|label|26"/>
          <p:cNvSpPr txBox="1"/>
          <p:nvPr/>
        </p:nvSpPr>
        <p:spPr>
          <a:xfrm>
            <a:off x="1399635" y="36765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3.8%</a:t>
            </a:r>
          </a:p>
        </p:txBody>
      </p:sp>
      <p:sp>
        <p:nvSpPr>
          <p:cNvPr id="28" name="cpe|exhibit|label|27"/>
          <p:cNvSpPr txBox="1"/>
          <p:nvPr/>
        </p:nvSpPr>
        <p:spPr>
          <a:xfrm>
            <a:off x="3883749" y="3125335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6.7%</a:t>
            </a:r>
          </a:p>
        </p:txBody>
      </p:sp>
      <p:sp>
        <p:nvSpPr>
          <p:cNvPr id="29" name="cpe|exhibit|label|28"/>
          <p:cNvSpPr txBox="1"/>
          <p:nvPr/>
        </p:nvSpPr>
        <p:spPr>
          <a:xfrm>
            <a:off x="3883749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4.1%</a:t>
            </a:r>
          </a:p>
        </p:txBody>
      </p:sp>
      <p:sp>
        <p:nvSpPr>
          <p:cNvPr id="30" name="cpe|exhibit|label|29"/>
          <p:cNvSpPr txBox="1"/>
          <p:nvPr/>
        </p:nvSpPr>
        <p:spPr>
          <a:xfrm>
            <a:off x="6367862" y="363857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4.0%</a:t>
            </a:r>
          </a:p>
        </p:txBody>
      </p:sp>
      <p:sp>
        <p:nvSpPr>
          <p:cNvPr id="31" name="cpe|exhibit|label|30"/>
          <p:cNvSpPr txBox="1"/>
          <p:nvPr/>
        </p:nvSpPr>
        <p:spPr>
          <a:xfrm>
            <a:off x="6367862" y="402334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3.9%</a:t>
            </a:r>
          </a:p>
        </p:txBody>
      </p:sp>
      <p:sp>
        <p:nvSpPr>
          <p:cNvPr id="32" name="cpe|exhibit|label|31"/>
          <p:cNvSpPr txBox="1"/>
          <p:nvPr/>
        </p:nvSpPr>
        <p:spPr>
          <a:xfrm>
            <a:off x="8851976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4.1%</a:t>
            </a:r>
          </a:p>
        </p:txBody>
      </p:sp>
      <p:sp>
        <p:nvSpPr>
          <p:cNvPr id="33" name="cpe|exhibit|label|32"/>
          <p:cNvSpPr txBox="1"/>
          <p:nvPr/>
        </p:nvSpPr>
        <p:spPr>
          <a:xfrm>
            <a:off x="8851976" y="419442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3.0%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PORTFOLIO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638252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holds 14% of supermarkets but only 5% of discount, the segment driving growth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1008857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Retailer reports; consumer panel; team estimates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Market share by channel,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% of channel sales; width = channel size (€bn)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502920" y="4669384"/>
            <a:ext cx="2428144" cy="131216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502920" y="3593409"/>
            <a:ext cx="2428144" cy="1075974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502920" y="3278490"/>
            <a:ext cx="2428144" cy="31491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502920" y="2176272"/>
            <a:ext cx="2428144" cy="110221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502920" y="1901952"/>
            <a:ext cx="24281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38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502920" y="4855464"/>
            <a:ext cx="242814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Discount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2967640" y="4433194"/>
            <a:ext cx="3322724" cy="367406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fill|13"/>
          <p:cNvSpPr/>
          <p:nvPr/>
        </p:nvSpPr>
        <p:spPr>
          <a:xfrm>
            <a:off x="2967640" y="4328221"/>
            <a:ext cx="3322724" cy="104973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fill|14"/>
          <p:cNvSpPr/>
          <p:nvPr/>
        </p:nvSpPr>
        <p:spPr>
          <a:xfrm>
            <a:off x="2967640" y="3750869"/>
            <a:ext cx="3322724" cy="577352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fill|15"/>
          <p:cNvSpPr/>
          <p:nvPr/>
        </p:nvSpPr>
        <p:spPr>
          <a:xfrm>
            <a:off x="2967640" y="3278490"/>
            <a:ext cx="3322724" cy="47237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fill|16"/>
          <p:cNvSpPr/>
          <p:nvPr/>
        </p:nvSpPr>
        <p:spPr>
          <a:xfrm>
            <a:off x="2967640" y="2176272"/>
            <a:ext cx="3322724" cy="110221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label|17"/>
          <p:cNvSpPr txBox="1"/>
          <p:nvPr/>
        </p:nvSpPr>
        <p:spPr>
          <a:xfrm>
            <a:off x="2967640" y="1901952"/>
            <a:ext cx="332272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52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2967640" y="4855464"/>
            <a:ext cx="332272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Supermarkets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326940" y="4564410"/>
            <a:ext cx="1533565" cy="236190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fill|20"/>
          <p:cNvSpPr/>
          <p:nvPr/>
        </p:nvSpPr>
        <p:spPr>
          <a:xfrm>
            <a:off x="6326940" y="4170761"/>
            <a:ext cx="1533565" cy="39364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fill|21"/>
          <p:cNvSpPr/>
          <p:nvPr/>
        </p:nvSpPr>
        <p:spPr>
          <a:xfrm>
            <a:off x="6326940" y="3357220"/>
            <a:ext cx="1533565" cy="813542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fill|22"/>
          <p:cNvSpPr/>
          <p:nvPr/>
        </p:nvSpPr>
        <p:spPr>
          <a:xfrm>
            <a:off x="6326940" y="2176272"/>
            <a:ext cx="1533565" cy="118094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6326940" y="1901952"/>
            <a:ext cx="153356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24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6326940" y="4855464"/>
            <a:ext cx="1533565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Hypermarkets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7897080" y="4485681"/>
            <a:ext cx="894579" cy="314919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fill|26"/>
          <p:cNvSpPr/>
          <p:nvPr/>
        </p:nvSpPr>
        <p:spPr>
          <a:xfrm>
            <a:off x="7897080" y="4328221"/>
            <a:ext cx="894579" cy="157460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fill|27"/>
          <p:cNvSpPr/>
          <p:nvPr/>
        </p:nvSpPr>
        <p:spPr>
          <a:xfrm>
            <a:off x="7897080" y="4144518"/>
            <a:ext cx="894579" cy="183703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fill|28"/>
          <p:cNvSpPr/>
          <p:nvPr/>
        </p:nvSpPr>
        <p:spPr>
          <a:xfrm>
            <a:off x="7897080" y="2176272"/>
            <a:ext cx="894579" cy="1968246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label|29"/>
          <p:cNvSpPr txBox="1"/>
          <p:nvPr/>
        </p:nvSpPr>
        <p:spPr>
          <a:xfrm>
            <a:off x="7897080" y="1901952"/>
            <a:ext cx="894579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7897080" y="4855464"/>
            <a:ext cx="894579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Convenience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8828236" y="4695627"/>
            <a:ext cx="894579" cy="104973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fill|32"/>
          <p:cNvSpPr/>
          <p:nvPr/>
        </p:nvSpPr>
        <p:spPr>
          <a:xfrm>
            <a:off x="8828236" y="4459437"/>
            <a:ext cx="894579" cy="236190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fill|33"/>
          <p:cNvSpPr/>
          <p:nvPr/>
        </p:nvSpPr>
        <p:spPr>
          <a:xfrm>
            <a:off x="8828236" y="4144518"/>
            <a:ext cx="894579" cy="31491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fill|34"/>
          <p:cNvSpPr/>
          <p:nvPr/>
        </p:nvSpPr>
        <p:spPr>
          <a:xfrm>
            <a:off x="8828236" y="2176272"/>
            <a:ext cx="894579" cy="1968246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label|35"/>
          <p:cNvSpPr txBox="1"/>
          <p:nvPr/>
        </p:nvSpPr>
        <p:spPr>
          <a:xfrm>
            <a:off x="8828236" y="1901952"/>
            <a:ext cx="894579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828236" y="4855464"/>
            <a:ext cx="894579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Online</a:t>
            </a:r>
          </a:p>
        </p:txBody>
      </p:sp>
      <p:sp>
        <p:nvSpPr>
          <p:cNvPr id="38" name="cpe|exhibit|label|37"/>
          <p:cNvSpPr txBox="1"/>
          <p:nvPr/>
        </p:nvSpPr>
        <p:spPr>
          <a:xfrm>
            <a:off x="502920" y="4422496"/>
            <a:ext cx="2428144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5%</a:t>
            </a:r>
          </a:p>
        </p:txBody>
      </p:sp>
      <p:sp>
        <p:nvSpPr>
          <p:cNvPr id="39" name="cpe|exhibit|label|38"/>
          <p:cNvSpPr txBox="1"/>
          <p:nvPr/>
        </p:nvSpPr>
        <p:spPr>
          <a:xfrm>
            <a:off x="2967640" y="4433194"/>
            <a:ext cx="3322724" cy="3674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14%</a:t>
            </a:r>
          </a:p>
        </p:txBody>
      </p:sp>
      <p:sp>
        <p:nvSpPr>
          <p:cNvPr id="40" name="cpe|exhibit|label|39"/>
          <p:cNvSpPr txBox="1"/>
          <p:nvPr/>
        </p:nvSpPr>
        <p:spPr>
          <a:xfrm>
            <a:off x="6326940" y="4317522"/>
            <a:ext cx="1533565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9%</a:t>
            </a:r>
          </a:p>
        </p:txBody>
      </p:sp>
      <p:sp>
        <p:nvSpPr>
          <p:cNvPr id="41" name="cpe|exhibit|label|40"/>
          <p:cNvSpPr txBox="1"/>
          <p:nvPr/>
        </p:nvSpPr>
        <p:spPr>
          <a:xfrm>
            <a:off x="7897080" y="4485681"/>
            <a:ext cx="894579" cy="3149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12%</a:t>
            </a:r>
          </a:p>
        </p:txBody>
      </p:sp>
      <p:sp>
        <p:nvSpPr>
          <p:cNvPr id="42" name="cpe|exhibit|label|41"/>
          <p:cNvSpPr txBox="1"/>
          <p:nvPr/>
        </p:nvSpPr>
        <p:spPr>
          <a:xfrm>
            <a:off x="8828236" y="4448739"/>
            <a:ext cx="894579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4%</a:t>
            </a:r>
          </a:p>
        </p:txBody>
      </p:sp>
      <p:sp>
        <p:nvSpPr>
          <p:cNvPr id="43" name="cpe|exhibit|marker|42"/>
          <p:cNvSpPr/>
          <p:nvPr/>
        </p:nvSpPr>
        <p:spPr>
          <a:xfrm>
            <a:off x="9905695" y="2240280"/>
            <a:ext cx="128016" cy="128016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10106863" y="21762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Alvora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9905695" y="2532888"/>
            <a:ext cx="128016" cy="128016"/>
          </a:xfrm>
          <a:prstGeom prst="rect">
            <a:avLst/>
          </a:prstGeom>
          <a:solidFill>
            <a:srgbClr val="C9D0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label|45"/>
          <p:cNvSpPr txBox="1"/>
          <p:nvPr/>
        </p:nvSpPr>
        <p:spPr>
          <a:xfrm>
            <a:off x="10106863" y="24688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Other players</a:t>
            </a:r>
          </a:p>
        </p:txBody>
      </p:sp>
      <p:cxnSp>
        <p:nvCxnSpPr>
          <p:cNvPr id="47" name="cpe|commentary|line|46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48" name="cpe|commentary|text|47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54% of Alvora sales come from </a:t>
            </a:r>
            <a:r>
              <a:rPr sz="1200" b="1">
                <a:solidFill>
                  <a:srgbClr val="1E252D"/>
                </a:solidFill>
                <a:latin typeface="Arial"/>
              </a:rPr>
              <a:t>supermarkets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, a channel growing 2% a year</a:t>
            </a:r>
          </a:p>
        </p:txBody>
      </p:sp>
      <p:sp>
        <p:nvSpPr>
          <p:cNvPr id="49" name="cpe|commentary|text|48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In </a:t>
            </a:r>
            <a:r>
              <a:rPr sz="1200" b="1">
                <a:solidFill>
                  <a:srgbClr val="1E252D"/>
                </a:solidFill>
                <a:latin typeface="Arial"/>
              </a:rPr>
              <a:t>discount</a:t>
            </a:r>
            <a:r>
              <a:rPr sz="1200" b="0">
                <a:solidFill>
                  <a:srgbClr val="1E252D"/>
                </a:solidFill>
                <a:latin typeface="Arial"/>
              </a:rPr>
              <a:t>, Competitor A holds 41% with a lower cost-to-serve</a:t>
            </a:r>
          </a:p>
        </p:txBody>
      </p:sp>
      <p:sp>
        <p:nvSpPr>
          <p:cNvPr id="50" name="cpe|commentary|text|49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Online</a:t>
            </a:r>
            <a:r>
              <a:rPr sz="1200" b="0">
                <a:solidFill>
                  <a:srgbClr val="1E252D"/>
                </a:solidFill>
                <a:latin typeface="Arial"/>
              </a:rPr>
              <a:t> share of 4% trails B and C, whose hub networks are in place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Margin erosion in grocery and convenience (€119M) pushed EBITDA down to €857M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1008857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6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EBITDA bridge 2024 to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3580376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924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324051" y="299846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+52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2145182" y="265155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+31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2966314" y="265155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−78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3787445" y="352442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−41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4608576" y="398323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−22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5429707" y="422943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−14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250838" y="433014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7071970" y="433014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857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1196634" y="3845552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2017765" y="326363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2838897" y="291672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3660028" y="378959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4481159" y="4248415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5302290" y="449460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123421" y="4651278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944553" y="4595325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sp>
        <p:nvSpPr>
          <p:cNvPr id="25" name="cpe|exhibit|marker|24"/>
          <p:cNvSpPr/>
          <p:nvPr/>
        </p:nvSpPr>
        <p:spPr>
          <a:xfrm>
            <a:off x="575473" y="5447191"/>
            <a:ext cx="676025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7144523" y="5447191"/>
            <a:ext cx="676025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7" name="cpe|commentary|line|26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28" name="cpe|commentary|text|27"/>
          <p:cNvSpPr txBox="1"/>
          <p:nvPr/>
        </p:nvSpPr>
        <p:spPr>
          <a:xfrm>
            <a:off x="8322869" y="1481328"/>
            <a:ext cx="336590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1F3A"/>
                </a:solidFill>
                <a:latin typeface="Arial"/>
              </a:rPr>
              <a:t>Two categories explain the decline</a:t>
            </a:r>
          </a:p>
        </p:txBody>
      </p:sp>
      <p:sp>
        <p:nvSpPr>
          <p:cNvPr id="29" name="cpe|commentary|text|28"/>
          <p:cNvSpPr txBox="1"/>
          <p:nvPr/>
        </p:nvSpPr>
        <p:spPr>
          <a:xfrm>
            <a:off x="8322869" y="1796796"/>
            <a:ext cx="336590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Grocery (−€78M):</a:t>
            </a:r>
            <a:r>
              <a:rPr sz="1200" b="0">
                <a:solidFill>
                  <a:srgbClr val="1E252D"/>
                </a:solidFill>
                <a:latin typeface="Arial"/>
              </a:rPr>
              <a:t> promo intensity up 3pp to match discounters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Convenience (−€41M):</a:t>
            </a:r>
            <a:r>
              <a:rPr sz="1200" b="0">
                <a:solidFill>
                  <a:srgbClr val="1E252D"/>
                </a:solidFill>
                <a:latin typeface="Arial"/>
              </a:rPr>
              <a:t> food-to-go waste doubled after the range extension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Volume and price added €83M, not enough to offset cost inflation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erosion concentrates in fresh and food-to-go, above all in Madrid and Catalonia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1008857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category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Gross margin change by category and region, 2025 vs 2024</a:t>
            </a:r>
            <a:r>
              <a:rPr sz="1100" b="0">
                <a:solidFill>
                  <a:srgbClr val="1E252D"/>
                </a:solidFill>
                <a:latin typeface="Arial"/>
              </a:rPr>
              <a:t>, pp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4" cy="320154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468069"/>
                <a:gridCol w="1468069"/>
                <a:gridCol w="1468069"/>
                <a:gridCol w="1468069"/>
                <a:gridCol w="1468069"/>
                <a:gridCol w="1468069"/>
              </a:tblGrid>
              <a:tr h="30060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Madrid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Catalonia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Andalusia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Valencia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North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Portugal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Fresh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−2.9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BA595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−2.6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D5726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CC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DC9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0D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4E4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Food-to-go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−3.4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C23F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−3.1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B64D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AB8B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CC1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CE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7D4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Ambient grocery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2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0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2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3EDEE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Drinks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2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3E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Household &amp; personal care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3E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DDEA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3EDEA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−1.6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takeaway|fill|7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takeaway|fill|8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takeaway|text|9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F3A"/>
                </a:solidFill>
                <a:latin typeface="Arial"/>
              </a:rPr>
              <a:t>Fixing fresh and food-to-go in two regions addresses about two thirds of the margin gap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COMPETITION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638252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is stuck in the middle: priced above discounters without a clear experience edge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1008857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Customer survey 2025, n=4,000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644126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Customer perception,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index 0-1; bubble = revenue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640080" y="2267712"/>
            <a:ext cx="3106331" cy="1773936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3746411" y="2267712"/>
            <a:ext cx="3106331" cy="1773936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640080" y="4041648"/>
            <a:ext cx="3106331" cy="1773936"/>
          </a:xfrm>
          <a:prstGeom prst="rect">
            <a:avLst/>
          </a:prstGeom>
          <a:solidFill>
            <a:srgbClr val="EEF1F4"/>
          </a:solidFill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3746411" y="4041648"/>
            <a:ext cx="3106331" cy="1773936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731520" y="2340864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Experience-led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837851" y="2340864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Value leaders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731520" y="5504688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Stuck in the middle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3837851" y="5504688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Price-led</a:t>
            </a:r>
          </a:p>
        </p:txBody>
      </p:sp>
      <p:cxnSp>
        <p:nvCxnSpPr>
          <p:cNvPr id="15" name="cpe|exhibit|line|14"/>
          <p:cNvCxnSpPr/>
          <p:nvPr/>
        </p:nvCxnSpPr>
        <p:spPr>
          <a:xfrm>
            <a:off x="640080" y="5815584"/>
            <a:ext cx="6258382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16" name="cpe|exhibit|line|15"/>
          <p:cNvCxnSpPr/>
          <p:nvPr/>
        </p:nvCxnSpPr>
        <p:spPr>
          <a:xfrm flipV="1">
            <a:off x="640080" y="2221992"/>
            <a:ext cx="0" cy="3593592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sp>
        <p:nvSpPr>
          <p:cNvPr id="17" name="cpe|exhibit|text|16"/>
          <p:cNvSpPr txBox="1"/>
          <p:nvPr/>
        </p:nvSpPr>
        <p:spPr>
          <a:xfrm>
            <a:off x="640080" y="5870448"/>
            <a:ext cx="621266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Price perception (cheaper →)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594360" y="1938528"/>
            <a:ext cx="12343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↑ Store experience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3959594" y="3296595"/>
            <a:ext cx="567660" cy="567660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4563830" y="3470697"/>
            <a:ext cx="814217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B</a:t>
            </a:r>
          </a:p>
        </p:txBody>
      </p:sp>
      <p:sp>
        <p:nvSpPr>
          <p:cNvPr id="21" name="cpe|exhibit|marker|20"/>
          <p:cNvSpPr/>
          <p:nvPr/>
        </p:nvSpPr>
        <p:spPr>
          <a:xfrm>
            <a:off x="5713789" y="4340127"/>
            <a:ext cx="538362" cy="538362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label|21"/>
          <p:cNvSpPr txBox="1"/>
          <p:nvPr/>
        </p:nvSpPr>
        <p:spPr>
          <a:xfrm>
            <a:off x="4870001" y="4499580"/>
            <a:ext cx="8072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A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2242330" y="2928610"/>
            <a:ext cx="523098" cy="523098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2802004" y="3080431"/>
            <a:ext cx="82122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C</a:t>
            </a:r>
          </a:p>
        </p:txBody>
      </p:sp>
      <p:sp>
        <p:nvSpPr>
          <p:cNvPr id="25" name="cpe|exhibit|marker|24"/>
          <p:cNvSpPr/>
          <p:nvPr/>
        </p:nvSpPr>
        <p:spPr>
          <a:xfrm>
            <a:off x="2877744" y="4007120"/>
            <a:ext cx="494801" cy="494801"/>
          </a:xfrm>
          <a:prstGeom prst="ellipse">
            <a:avLst/>
          </a:prstGeom>
          <a:solidFill>
            <a:srgbClr val="00A3AD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label|25"/>
          <p:cNvSpPr txBox="1"/>
          <p:nvPr/>
        </p:nvSpPr>
        <p:spPr>
          <a:xfrm>
            <a:off x="3409122" y="4144792"/>
            <a:ext cx="43311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Alvora</a:t>
            </a:r>
          </a:p>
        </p:txBody>
      </p:sp>
      <p:sp>
        <p:nvSpPr>
          <p:cNvPr id="27" name="cpe|exhibit|marker|26"/>
          <p:cNvSpPr/>
          <p:nvPr/>
        </p:nvSpPr>
        <p:spPr>
          <a:xfrm>
            <a:off x="4576111" y="2742003"/>
            <a:ext cx="328653" cy="328653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label|27"/>
          <p:cNvSpPr txBox="1"/>
          <p:nvPr/>
        </p:nvSpPr>
        <p:spPr>
          <a:xfrm>
            <a:off x="4941339" y="2796601"/>
            <a:ext cx="118134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Online pure-players</a:t>
            </a:r>
          </a:p>
        </p:txBody>
      </p:sp>
      <p:cxnSp>
        <p:nvCxnSpPr>
          <p:cNvPr id="29" name="cpe|commentary|line|28"/>
          <p:cNvCxnSpPr/>
          <p:nvPr/>
        </p:nvCxnSpPr>
        <p:spPr>
          <a:xfrm>
            <a:off x="7145350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30" name="cpe|commentary|text|29"/>
          <p:cNvSpPr txBox="1"/>
          <p:nvPr/>
        </p:nvSpPr>
        <p:spPr>
          <a:xfrm>
            <a:off x="7373950" y="1481328"/>
            <a:ext cx="4314825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Alvora's prices sit </a:t>
            </a:r>
            <a:r>
              <a:rPr sz="1200" b="1">
                <a:solidFill>
                  <a:srgbClr val="1E252D"/>
                </a:solidFill>
                <a:latin typeface="Arial"/>
              </a:rPr>
              <a:t>8% above</a:t>
            </a:r>
            <a:r>
              <a:rPr sz="1200" b="0">
                <a:solidFill>
                  <a:srgbClr val="1E252D"/>
                </a:solidFill>
                <a:latin typeface="Arial"/>
              </a:rPr>
              <a:t> Competitor A on a comparable basket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Its experience score trails B and C on freshness and queues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Winning back price perception needs a separate low-cost format, not deeper promotions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OPERATING MODEL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638252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target model adds a discount banner and central pricing to fund the growth moves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1008857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Team analysis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9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103120" cy="90297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94360" y="148132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Propositions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697480" y="1481328"/>
            <a:ext cx="2032940" cy="902970"/>
          </a:xfrm>
          <a:prstGeom prst="rect">
            <a:avLst/>
          </a:prstGeom>
          <a:solidFill>
            <a:srgbClr val="00A3AD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752344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Discount banner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4803572" y="1481328"/>
            <a:ext cx="203294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4858436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Supermarkets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6909664" y="1481328"/>
            <a:ext cx="203294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6964528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Convenience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9015755" y="1481328"/>
            <a:ext cx="203294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9070619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Online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502920" y="247573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594360" y="247573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Commercial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2697480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2752344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Central pricing &amp; promo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5505602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5560466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Category management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8313725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8368589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Private label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502920" y="347014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594360" y="347014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Operations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697480" y="347014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752344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Stores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5505602" y="347014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5560466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Supply chain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8313725" y="347014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8368589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Fulfilment hubs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502920" y="446455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594360" y="446455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Enablers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2697480" y="446455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2752344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Data &amp; analytics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5505602" y="446455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text|36"/>
          <p:cNvSpPr txBox="1"/>
          <p:nvPr/>
        </p:nvSpPr>
        <p:spPr>
          <a:xfrm>
            <a:off x="5560466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Technology</a:t>
            </a:r>
          </a:p>
        </p:txBody>
      </p:sp>
      <p:sp>
        <p:nvSpPr>
          <p:cNvPr id="38" name="cpe|exhibit|fill|37"/>
          <p:cNvSpPr/>
          <p:nvPr/>
        </p:nvSpPr>
        <p:spPr>
          <a:xfrm>
            <a:off x="8313725" y="446455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text|38"/>
          <p:cNvSpPr txBox="1"/>
          <p:nvPr/>
        </p:nvSpPr>
        <p:spPr>
          <a:xfrm>
            <a:off x="8368589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People &amp; capabilities</a:t>
            </a:r>
          </a:p>
        </p:txBody>
      </p:sp>
      <p:sp>
        <p:nvSpPr>
          <p:cNvPr id="40" name="cpe|exhibit|fill|39"/>
          <p:cNvSpPr/>
          <p:nvPr/>
        </p:nvSpPr>
        <p:spPr>
          <a:xfrm>
            <a:off x="11121847" y="1481328"/>
            <a:ext cx="566928" cy="3886200"/>
          </a:xfrm>
          <a:prstGeom prst="rect">
            <a:avLst/>
          </a:prstGeom>
          <a:solidFill>
            <a:srgbClr val="F4F6F8"/>
          </a:solidFill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vtext|40"/>
          <p:cNvSpPr txBox="1"/>
          <p:nvPr/>
        </p:nvSpPr>
        <p:spPr>
          <a:xfrm>
            <a:off x="11121847" y="1572768"/>
            <a:ext cx="566928" cy="370332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Transformation office</a:t>
            </a:r>
          </a:p>
        </p:txBody>
      </p:sp>
      <p:cxnSp>
        <p:nvCxnSpPr>
          <p:cNvPr id="42" name="cpe|commentary|line|41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43" name="cpe|commentary|text|42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New:</a:t>
            </a:r>
            <a:r>
              <a:rPr sz="1200" b="0">
                <a:solidFill>
                  <a:srgbClr val="1E252D"/>
                </a:solidFill>
                <a:latin typeface="Arial"/>
              </a:rPr>
              <a:t> discount banner, private label, fulfilment hubs</a:t>
            </a:r>
          </a:p>
        </p:txBody>
      </p:sp>
      <p:sp>
        <p:nvSpPr>
          <p:cNvPr id="44" name="cpe|commentary|text|43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Changed:</a:t>
            </a:r>
            <a:r>
              <a:rPr sz="1200" b="0">
                <a:solidFill>
                  <a:srgbClr val="1E252D"/>
                </a:solidFill>
                <a:latin typeface="Arial"/>
              </a:rPr>
              <a:t> pricing moves to the centre; category teams own margin</a:t>
            </a:r>
          </a:p>
        </p:txBody>
      </p:sp>
      <p:sp>
        <p:nvSpPr>
          <p:cNvPr id="45" name="cpe|commentary|text|44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A transformation office steers the programme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ROADMAP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638252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 plan in three waves over 24 months secures quick margin wins before scaling the banner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1008857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10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3310128" y="1481328"/>
            <a:ext cx="3112275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3346704" y="1481328"/>
            <a:ext cx="3039123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1: Fix margins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6458979" y="1481328"/>
            <a:ext cx="2062658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6495555" y="1481328"/>
            <a:ext cx="198950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2: Pilot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8558212" y="1481328"/>
            <a:ext cx="3112275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8594788" y="1481328"/>
            <a:ext cx="3039123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3: Scale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291840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Q1 26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4341457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Q2 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5391074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Q3 26</a:t>
            </a:r>
          </a:p>
        </p:txBody>
      </p:sp>
      <p:sp>
        <p:nvSpPr>
          <p:cNvPr id="15" name="cpe|exhibit|text|14"/>
          <p:cNvSpPr txBox="1"/>
          <p:nvPr/>
        </p:nvSpPr>
        <p:spPr>
          <a:xfrm>
            <a:off x="6440691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Q4 26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7490308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Q1 27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8539924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Q2 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9589541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Q3 27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10639158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Q4 27</a:t>
            </a:r>
          </a:p>
        </p:txBody>
      </p:sp>
      <p:cxnSp>
        <p:nvCxnSpPr>
          <p:cNvPr id="20" name="cpe|exhibit|line|19"/>
          <p:cNvCxnSpPr/>
          <p:nvPr/>
        </p:nvCxnSpPr>
        <p:spPr>
          <a:xfrm>
            <a:off x="502920" y="2121408"/>
            <a:ext cx="11185855" cy="0"/>
          </a:xfrm>
          <a:prstGeom prst="line">
            <a:avLst/>
          </a:prstGeom>
          <a:ln w="9525">
            <a:solidFill>
              <a:srgbClr val="0B1F3A"/>
            </a:solidFill>
          </a:ln>
        </p:spPr>
      </p:cxnSp>
      <p:cxnSp>
        <p:nvCxnSpPr>
          <p:cNvPr id="21" name="cpe|exhibit|line|20"/>
          <p:cNvCxnSpPr/>
          <p:nvPr/>
        </p:nvCxnSpPr>
        <p:spPr>
          <a:xfrm>
            <a:off x="4341457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2" name="cpe|exhibit|line|21"/>
          <p:cNvCxnSpPr/>
          <p:nvPr/>
        </p:nvCxnSpPr>
        <p:spPr>
          <a:xfrm>
            <a:off x="5391074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3" name="cpe|exhibit|line|22"/>
          <p:cNvCxnSpPr/>
          <p:nvPr/>
        </p:nvCxnSpPr>
        <p:spPr>
          <a:xfrm>
            <a:off x="6440691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4" name="cpe|exhibit|line|23"/>
          <p:cNvCxnSpPr/>
          <p:nvPr/>
        </p:nvCxnSpPr>
        <p:spPr>
          <a:xfrm>
            <a:off x="7490308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5" name="cpe|exhibit|line|24"/>
          <p:cNvCxnSpPr/>
          <p:nvPr/>
        </p:nvCxnSpPr>
        <p:spPr>
          <a:xfrm>
            <a:off x="8539924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6" name="cpe|exhibit|line|25"/>
          <p:cNvCxnSpPr/>
          <p:nvPr/>
        </p:nvCxnSpPr>
        <p:spPr>
          <a:xfrm>
            <a:off x="9589541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7" name="cpe|exhibit|line|26"/>
          <p:cNvCxnSpPr/>
          <p:nvPr/>
        </p:nvCxnSpPr>
        <p:spPr>
          <a:xfrm>
            <a:off x="10639158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3816648" y="2075688"/>
            <a:ext cx="0" cy="3447288"/>
          </a:xfrm>
          <a:prstGeom prst="line">
            <a:avLst/>
          </a:prstGeom>
          <a:ln w="9525">
            <a:solidFill>
              <a:srgbClr val="00A3AD"/>
            </a:solidFill>
            <a:prstDash val="dash"/>
          </a:ln>
        </p:spPr>
      </p:cxnSp>
      <p:sp>
        <p:nvSpPr>
          <p:cNvPr id="29" name="cpe|exhibit|label|28"/>
          <p:cNvSpPr txBox="1"/>
          <p:nvPr/>
        </p:nvSpPr>
        <p:spPr>
          <a:xfrm>
            <a:off x="3359448" y="554126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5E6A77"/>
                </a:solidFill>
                <a:latin typeface="Arial"/>
              </a:rPr>
              <a:t>Today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502920" y="212140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Pricing &amp; promo reset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3319272" y="2257471"/>
            <a:ext cx="309398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3374136" y="2257471"/>
            <a:ext cx="298425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Reset 1,200 SKUs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502920" y="268833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502920" y="2688336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Fresh &amp; food-to-go margins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3319272" y="2824399"/>
            <a:ext cx="4143604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3374136" y="2824399"/>
            <a:ext cx="4033876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Waste &amp; range</a:t>
            </a:r>
          </a:p>
        </p:txBody>
      </p:sp>
      <p:cxnSp>
        <p:nvCxnSpPr>
          <p:cNvPr id="37" name="cpe|exhibit|line|36"/>
          <p:cNvCxnSpPr/>
          <p:nvPr/>
        </p:nvCxnSpPr>
        <p:spPr>
          <a:xfrm>
            <a:off x="502920" y="3255264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38" name="cpe|exhibit|text|37"/>
          <p:cNvSpPr txBox="1"/>
          <p:nvPr/>
        </p:nvSpPr>
        <p:spPr>
          <a:xfrm>
            <a:off x="502920" y="3255264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Cost programme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4368889" y="3391327"/>
            <a:ext cx="624283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4423753" y="3391327"/>
            <a:ext cx="613310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Labour scheduling, energy</a:t>
            </a:r>
          </a:p>
        </p:txBody>
      </p:sp>
      <p:cxnSp>
        <p:nvCxnSpPr>
          <p:cNvPr id="41" name="cpe|exhibit|line|40"/>
          <p:cNvCxnSpPr/>
          <p:nvPr/>
        </p:nvCxnSpPr>
        <p:spPr>
          <a:xfrm>
            <a:off x="502920" y="3822192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42" name="cpe|exhibit|text|41"/>
          <p:cNvSpPr txBox="1"/>
          <p:nvPr/>
        </p:nvSpPr>
        <p:spPr>
          <a:xfrm>
            <a:off x="502920" y="3822192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Private label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418506" y="3958255"/>
            <a:ext cx="624283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473370" y="3958255"/>
            <a:ext cx="613310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25% → 35% of sales</a:t>
            </a:r>
          </a:p>
        </p:txBody>
      </p:sp>
      <p:cxnSp>
        <p:nvCxnSpPr>
          <p:cNvPr id="45" name="cpe|exhibit|line|44"/>
          <p:cNvCxnSpPr/>
          <p:nvPr/>
        </p:nvCxnSpPr>
        <p:spPr>
          <a:xfrm>
            <a:off x="502920" y="4389120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46" name="cpe|exhibit|text|45"/>
          <p:cNvSpPr txBox="1"/>
          <p:nvPr/>
        </p:nvSpPr>
        <p:spPr>
          <a:xfrm>
            <a:off x="502920" y="4389120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Discount banner</a:t>
            </a:r>
          </a:p>
        </p:txBody>
      </p:sp>
      <p:sp>
        <p:nvSpPr>
          <p:cNvPr id="47" name="cpe|exhibit|fill|46"/>
          <p:cNvSpPr/>
          <p:nvPr/>
        </p:nvSpPr>
        <p:spPr>
          <a:xfrm>
            <a:off x="6468123" y="4604553"/>
            <a:ext cx="2044370" cy="294803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text|47"/>
          <p:cNvSpPr txBox="1"/>
          <p:nvPr/>
        </p:nvSpPr>
        <p:spPr>
          <a:xfrm>
            <a:off x="6522987" y="4604553"/>
            <a:ext cx="1934642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Pilot 20 stores</a:t>
            </a:r>
          </a:p>
        </p:txBody>
      </p:sp>
      <p:sp>
        <p:nvSpPr>
          <p:cNvPr id="49" name="cpe|exhibit|fill|48"/>
          <p:cNvSpPr/>
          <p:nvPr/>
        </p:nvSpPr>
        <p:spPr>
          <a:xfrm>
            <a:off x="8567356" y="4604553"/>
            <a:ext cx="309398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text|49"/>
          <p:cNvSpPr txBox="1"/>
          <p:nvPr/>
        </p:nvSpPr>
        <p:spPr>
          <a:xfrm>
            <a:off x="8750236" y="4604553"/>
            <a:ext cx="2856243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Roll out 150 stores</a:t>
            </a:r>
          </a:p>
        </p:txBody>
      </p:sp>
      <p:sp>
        <p:nvSpPr>
          <p:cNvPr id="51" name="cpe|exhibit|marker|50"/>
          <p:cNvSpPr/>
          <p:nvPr/>
        </p:nvSpPr>
        <p:spPr>
          <a:xfrm>
            <a:off x="8448484" y="4660514"/>
            <a:ext cx="182880" cy="182880"/>
          </a:xfrm>
          <a:prstGeom prst="diamond">
            <a:avLst/>
          </a:prstGeom>
          <a:solidFill>
            <a:srgbClr val="00A3AD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cpe|exhibit|label|51"/>
          <p:cNvSpPr txBox="1"/>
          <p:nvPr/>
        </p:nvSpPr>
        <p:spPr>
          <a:xfrm>
            <a:off x="8224201" y="4403385"/>
            <a:ext cx="631448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E252D"/>
                </a:solidFill>
                <a:latin typeface="Arial"/>
              </a:rPr>
              <a:t>Go / no-go</a:t>
            </a:r>
          </a:p>
        </p:txBody>
      </p:sp>
      <p:cxnSp>
        <p:nvCxnSpPr>
          <p:cNvPr id="53" name="cpe|exhibit|line|52"/>
          <p:cNvCxnSpPr/>
          <p:nvPr/>
        </p:nvCxnSpPr>
        <p:spPr>
          <a:xfrm>
            <a:off x="502920" y="4956048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54" name="cpe|exhibit|text|53"/>
          <p:cNvSpPr txBox="1"/>
          <p:nvPr/>
        </p:nvSpPr>
        <p:spPr>
          <a:xfrm>
            <a:off x="502920" y="495604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Online fulfilment hubs</a:t>
            </a:r>
          </a:p>
        </p:txBody>
      </p:sp>
      <p:sp>
        <p:nvSpPr>
          <p:cNvPr id="55" name="cpe|exhibit|fill|54"/>
          <p:cNvSpPr/>
          <p:nvPr/>
        </p:nvSpPr>
        <p:spPr>
          <a:xfrm>
            <a:off x="7517740" y="5092111"/>
            <a:ext cx="4143604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cpe|exhibit|text|55"/>
          <p:cNvSpPr txBox="1"/>
          <p:nvPr/>
        </p:nvSpPr>
        <p:spPr>
          <a:xfrm>
            <a:off x="7572604" y="5092111"/>
            <a:ext cx="4033876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2 hubs</a:t>
            </a:r>
          </a:p>
        </p:txBody>
      </p:sp>
      <p:cxnSp>
        <p:nvCxnSpPr>
          <p:cNvPr id="57" name="cpe|exhibit|line|56"/>
          <p:cNvCxnSpPr/>
          <p:nvPr/>
        </p:nvCxnSpPr>
        <p:spPr>
          <a:xfrm>
            <a:off x="502920" y="552297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VALUE AT STAKE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6635743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Five initiatives adding €250M lift EBITDA to €1,067M by 2028, net of €40M market headwinds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1008857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Initiative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EBITDA 2025 to 2028</a:t>
            </a:r>
            <a:r>
              <a:rPr sz="1100" b="0">
                <a:solidFill>
                  <a:srgbClr val="1E252D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1118585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3957860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857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901152" y="3605216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+60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299384" y="3340734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+45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697616" y="2929316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+70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6095848" y="2606060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+55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7494080" y="2488512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+20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892311" y="2488512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−40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10290543" y="2723608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1,067</a:t>
            </a:r>
          </a:p>
        </p:txBody>
      </p:sp>
      <p:cxnSp>
        <p:nvCxnSpPr>
          <p:cNvPr id="16" name="cpe|exhibit|connector|15"/>
          <p:cNvCxnSpPr/>
          <p:nvPr/>
        </p:nvCxnSpPr>
        <p:spPr>
          <a:xfrm>
            <a:off x="1684185" y="4223036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3082417" y="3870392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480649" y="3605910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5878881" y="3194492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7277112" y="2871236"/>
            <a:ext cx="433935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8675344" y="2753688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10073576" y="2988784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sp>
        <p:nvSpPr>
          <p:cNvPr id="23" name="cpe|exhibit|marker|22"/>
          <p:cNvSpPr/>
          <p:nvPr/>
        </p:nvSpPr>
        <p:spPr>
          <a:xfrm>
            <a:off x="665023" y="4850735"/>
            <a:ext cx="1074026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10452646" y="4850735"/>
            <a:ext cx="1074026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takeaway|fill|24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takeaway|fill|25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takeaway|text|26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F3A"/>
                </a:solidFill>
                <a:latin typeface="Arial"/>
              </a:rPr>
              <a:t>Cost and pricing levers deliver €130M of the uplift and are largely within management control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DECISIONS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board is asked to approve three decisions to start Wave 1 in January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1008857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12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Decisions requested today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7390181" cy="191452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6240"/>
                <a:gridCol w="716798"/>
                <a:gridCol w="856875"/>
                <a:gridCol w="805134"/>
                <a:gridCol w="805134"/>
              </a:tblGrid>
              <a:tr h="46405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Timing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EBITDA 2028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Approve pricing &amp; promo reset across 1,200 SKUs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CCO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Approve discount banner pilot in 20 stores (€18M capex)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CEO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Q4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Approve €85M programme budget and transformation office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CFO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7371662" y="2488883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7371662" y="2972372"/>
            <a:ext cx="237744" cy="237744"/>
          </a:xfrm>
          <a:prstGeom prst="ellipse">
            <a:avLst/>
          </a:prstGeom>
          <a:solidFill>
            <a:srgbClr val="D98E0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7371662" y="3455861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pe|commentary|line|10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8322869" y="1481328"/>
            <a:ext cx="3365906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Wave 1 is self-funding by Q4 2026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The go / no-go on the banner comes back to the board in Q2 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Repositioning Alvora for profitable growth</dc:title>
  <dc:subject>Alvora should reposition towards discount and fix category margins now to return EBITDA above €1bn by 2028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