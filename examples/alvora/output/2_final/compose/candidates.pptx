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3298"/>
          <c:h val="0.929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0B1F3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9D0D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3E7EB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7BFC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0A3AD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319"/>
          <c:w val="0.88626"/>
          <c:h val="0.91227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0B1F3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9D0D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3E7EB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7BFC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0A3AD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7.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3298"/>
          <c:h val="0.929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</c:v>
                </c:pt>
              </c:strCache>
            </c:strRef>
          </c:tx>
          <c:spPr>
            <a:solidFill>
              <a:srgbClr val="0B1F3A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28.2</c:v>
                </c:pt>
                <c:pt idx="1">
                  <c:v>30.4</c:v>
                </c:pt>
                <c:pt idx="2">
                  <c:v>32.8</c:v>
                </c:pt>
                <c:pt idx="3">
                  <c:v>35.3</c:v>
                </c:pt>
                <c:pt idx="4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Supermarkets</c:v>
                </c:pt>
              </c:strCache>
            </c:strRef>
          </c:tx>
          <c:spPr>
            <a:solidFill>
              <a:srgbClr val="C9D0D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48.1</c:v>
                </c:pt>
                <c:pt idx="1">
                  <c:v>49.0</c:v>
                </c:pt>
                <c:pt idx="2">
                  <c:v>50.1</c:v>
                </c:pt>
                <c:pt idx="3">
                  <c:v>51.1</c:v>
                </c:pt>
                <c:pt idx="4">
                  <c:v>52.0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Hypermarkets</c:v>
                </c:pt>
              </c:strCache>
            </c:strRef>
          </c:tx>
          <c:spPr>
            <a:solidFill>
              <a:srgbClr val="E3E7EB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25.2</c:v>
                </c:pt>
                <c:pt idx="1">
                  <c:v>24.9</c:v>
                </c:pt>
                <c:pt idx="2">
                  <c:v>24.6</c:v>
                </c:pt>
                <c:pt idx="3">
                  <c:v>24.3</c:v>
                </c:pt>
                <c:pt idx="4">
                  <c:v>24.0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Convenience</c:v>
                </c:pt>
              </c:strCache>
            </c:strRef>
          </c:tx>
          <c:spPr>
            <a:solidFill>
              <a:srgbClr val="B7BFC8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11.5</c:v>
                </c:pt>
                <c:pt idx="1">
                  <c:v>12.1</c:v>
                </c:pt>
                <c:pt idx="2">
                  <c:v>12.7</c:v>
                </c:pt>
                <c:pt idx="3">
                  <c:v>13.3</c:v>
                </c:pt>
                <c:pt idx="4">
                  <c:v>14.0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00A3AD"/>
            </a:solidFill>
            <a:ln w="9525">
              <a:solidFill>
                <a:srgbClr val="FFFFFF"/>
              </a:solidFill>
            </a:ln>
          </c:spPr>
          <c:dLbls>
            <c:numFmt formatCode="#,##0.0;-#,##0.0" sourceLinked="0"/>
            <c:txPr>
              <a:bodyPr/>
              <a:lstStyle/>
              <a:p>
                <a:pPr>
                  <a:defRPr sz="105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8.3</c:v>
                </c:pt>
                <c:pt idx="1">
                  <c:v>9.5</c:v>
                </c:pt>
                <c:pt idx="2">
                  <c:v>10.9</c:v>
                </c:pt>
                <c:pt idx="3">
                  <c:v>12.4</c:v>
                </c:pt>
                <c:pt idx="4">
                  <c:v>14.0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552"/>
          <c:w val="0.88831"/>
          <c:h val="0.8302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Alvora revenue (€bn)</c:v>
                </c:pt>
              </c:strCache>
            </c:strRef>
          </c:tx>
          <c:spPr>
            <a:solidFill>
              <a:srgbClr val="8FA9CC"/>
            </a:solidFill>
          </c:spPr>
          <c:invertIfNegative val="0"/>
          <c:dPt>
            <c:idx val="3"/>
            <c:spPr>
              <a:solidFill>
                <a:srgbClr val="0B1F3A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12.7</c:v>
                </c:pt>
                <c:pt idx="2">
                  <c:v>13.2</c:v>
                </c:pt>
                <c:pt idx="3">
                  <c:v>13.6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4276"/>
          <c:w val="0.88831"/>
          <c:h val="0.888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Alvora growth</c:v>
                </c:pt>
              </c:strCache>
            </c:strRef>
          </c:tx>
          <c:spPr>
            <a:ln w="31750">
              <a:solidFill>
                <a:srgbClr val="0B1F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6.7</c:v>
                </c:pt>
                <c:pt idx="2">
                  <c:v>3.9</c:v>
                </c:pt>
                <c:pt idx="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ln w="22225">
              <a:solidFill>
                <a:srgbClr val="8A95A1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4.0</c:v>
                </c:pt>
                <c:pt idx="3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5"/>
          <c:min val="2.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2552"/>
          <c:w val="0.83607"/>
          <c:h val="0.8302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Alvora revenue (€bn)</c:v>
                </c:pt>
              </c:strCache>
            </c:strRef>
          </c:tx>
          <c:spPr>
            <a:solidFill>
              <a:srgbClr val="8FA9CC"/>
            </a:solidFill>
          </c:spPr>
          <c:invertIfNegative val="0"/>
          <c:dPt>
            <c:idx val="3"/>
            <c:spPr>
              <a:solidFill>
                <a:srgbClr val="0B1F3A"/>
              </a:solidFill>
            </c:spPr>
          </c:dPt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1E252D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11.9</c:v>
                </c:pt>
                <c:pt idx="1">
                  <c:v>12.7</c:v>
                </c:pt>
                <c:pt idx="2">
                  <c:v>13.2</c:v>
                </c:pt>
                <c:pt idx="3">
                  <c:v>13.6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4276"/>
          <c:w val="0.83607"/>
          <c:h val="0.8888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Alvora growth</c:v>
                </c:pt>
              </c:strCache>
            </c:strRef>
          </c:tx>
          <c:spPr>
            <a:ln w="31750">
              <a:solidFill>
                <a:srgbClr val="0B1F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6.7</c:v>
                </c:pt>
                <c:pt idx="2">
                  <c:v>3.9</c:v>
                </c:pt>
                <c:pt idx="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ln w="22225">
              <a:solidFill>
                <a:srgbClr val="8A95A1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4.0</c:v>
                </c:pt>
                <c:pt idx="3">
                  <c:v>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5"/>
          <c:min val="2.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8853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</c:v>
                </c:pt>
                <c:pt idx="1">
                  <c:v>174.0</c:v>
                </c:pt>
                <c:pt idx="2">
                  <c:v>226.0</c:v>
                </c:pt>
                <c:pt idx="3">
                  <c:v>179.0</c:v>
                </c:pt>
                <c:pt idx="4">
                  <c:v>138.0</c:v>
                </c:pt>
                <c:pt idx="5">
                  <c:v>116.0</c:v>
                </c:pt>
                <c:pt idx="6">
                  <c:v>102.0</c:v>
                </c:pt>
                <c:pt idx="7">
                  <c:v>102.0</c:v>
                </c:pt>
                <c:pt idx="8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107.0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0.0</c:v>
                </c:pt>
                <c:pt idx="1">
                  <c:v>52.0</c:v>
                </c:pt>
                <c:pt idx="2">
                  <c:v>31.0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5.0</c:v>
                </c:pt>
                <c:pt idx="8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3D6399"/>
            </a:solidFill>
          </c:spPr>
          <c:dPt>
            <c:idx val="3"/>
            <c:spPr>
              <a:solidFill>
                <a:srgbClr val="00A3AD"/>
              </a:solidFill>
            </c:spPr>
          </c:dPt>
          <c:dPt>
            <c:idx val="4"/>
            <c:spPr>
              <a:solidFill>
                <a:srgbClr val="00A3AD"/>
              </a:solidFill>
            </c:spPr>
          </c:dPt>
          <c:cat>
            <c:strRef>
              <c:f>Sheet1!$A$2:$A$10</c:f>
              <c:strCache>
                <c:ptCount val="9"/>
                <c:pt idx="0">
                  <c:v>EBITDA 2024</c:v>
                </c:pt>
                <c:pt idx="1">
                  <c:v>Volume</c:v>
                </c:pt>
                <c:pt idx="2">
                  <c:v>Price / mix</c:v>
                </c:pt>
                <c:pt idx="3">
                  <c:v>Grocery margin</c:v>
                </c:pt>
                <c:pt idx="4">
                  <c:v>Convenience margin</c:v>
                </c:pt>
                <c:pt idx="5">
                  <c:v>Labour cost</c:v>
                </c:pt>
                <c:pt idx="6">
                  <c:v>Energy</c:v>
                </c:pt>
                <c:pt idx="7">
                  <c:v>Other</c:v>
                </c:pt>
                <c:pt idx="8">
                  <c:v>EBITDA 2025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78.0</c:v>
                </c:pt>
                <c:pt idx="4">
                  <c:v>41.0</c:v>
                </c:pt>
                <c:pt idx="5">
                  <c:v>22.0</c:v>
                </c:pt>
                <c:pt idx="6">
                  <c:v>14.0</c:v>
                </c:pt>
                <c:pt idx="7">
                  <c:v>0.0</c:v>
                </c:pt>
                <c:pt idx="8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62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157.0</c:v>
                </c:pt>
                <c:pt idx="2">
                  <c:v>217.0</c:v>
                </c:pt>
                <c:pt idx="3">
                  <c:v>262.0</c:v>
                </c:pt>
                <c:pt idx="4">
                  <c:v>332.0</c:v>
                </c:pt>
                <c:pt idx="5">
                  <c:v>387.0</c:v>
                </c:pt>
                <c:pt idx="6">
                  <c:v>367.0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157.0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367.0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</c:v>
                </c:pt>
                <c:pt idx="1">
                  <c:v>60.0</c:v>
                </c:pt>
                <c:pt idx="2">
                  <c:v>45.0</c:v>
                </c:pt>
                <c:pt idx="3">
                  <c:v>70.0</c:v>
                </c:pt>
                <c:pt idx="4">
                  <c:v>55.0</c:v>
                </c:pt>
                <c:pt idx="5">
                  <c:v>20.0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40.0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062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157.0</c:v>
                </c:pt>
                <c:pt idx="2">
                  <c:v>217.0</c:v>
                </c:pt>
                <c:pt idx="3">
                  <c:v>262.0</c:v>
                </c:pt>
                <c:pt idx="4">
                  <c:v>332.0</c:v>
                </c:pt>
                <c:pt idx="5">
                  <c:v>387.0</c:v>
                </c:pt>
                <c:pt idx="6">
                  <c:v>367.0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157.0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367.0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</c:v>
                </c:pt>
                <c:pt idx="1">
                  <c:v>60.0</c:v>
                </c:pt>
                <c:pt idx="2">
                  <c:v>45.0</c:v>
                </c:pt>
                <c:pt idx="3">
                  <c:v>70.0</c:v>
                </c:pt>
                <c:pt idx="4">
                  <c:v>55.0</c:v>
                </c:pt>
                <c:pt idx="5">
                  <c:v>20.0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Sheet1!$A$2:$A$9</c:f>
              <c:strCache>
                <c:ptCount val="8"/>
                <c:pt idx="0">
                  <c:v>EBITDA 2025</c:v>
                </c:pt>
                <c:pt idx="1">
                  <c:v>Pricing &amp; promo</c:v>
                </c:pt>
                <c:pt idx="2">
                  <c:v>Private label</c:v>
                </c:pt>
                <c:pt idx="3">
                  <c:v>Cost programme</c:v>
                </c:pt>
                <c:pt idx="4">
                  <c:v>Discount banner</c:v>
                </c:pt>
                <c:pt idx="5">
                  <c:v>Online hubs</c:v>
                </c:pt>
                <c:pt idx="6">
                  <c:v>Market headwinds</c:v>
                </c:pt>
                <c:pt idx="7">
                  <c:v>EBITDA 2028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40.0</c:v>
                </c:pt>
                <c:pt idx="7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FC8"/>
            </a:solidFill>
          </a:ln>
        </c:spPr>
        <c:txPr>
          <a:bodyPr/>
          <a:lstStyle/>
          <a:p>
            <a:pPr>
              <a:defRPr sz="1000" b="0">
                <a:solidFill>
                  <a:srgbClr val="1E252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market growth is coming from The market added €20.7bn in four years; €15.5bn went to discount and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Alvora's growth has fallen below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Alvora's growth has fallen below the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Alvora is weakest where the market grows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drove the EBITDA decline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Locate the margin erosion by category and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Alvora's competitive 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target operating model and what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implementation plan and its sequencing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 the EBITDA impact of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 the EBITDA impact of the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ask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Iberian grocery market by channel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76822" y="2898830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121.3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807993" y="2793854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125.9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039164" y="2675186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131.1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270336" y="2554235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136.4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501507" y="2426439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142.0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593273" y="2741632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593273" y="3061124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593273" y="3494719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Hypermarkets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6593273" y="4361910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6593273" y="5388847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Discount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1192407" y="2316711"/>
            <a:ext cx="4924685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1192407" y="2316711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0" name="cpe|exhibit|label|19"/>
          <p:cNvSpPr txBox="1"/>
          <p:nvPr/>
        </p:nvSpPr>
        <p:spPr>
          <a:xfrm>
            <a:off x="3158595" y="2179551"/>
            <a:ext cx="992311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CAGR +4.0%</a:t>
            </a:r>
          </a:p>
        </p:txBody>
      </p:sp>
      <p:cxnSp>
        <p:nvCxnSpPr>
          <p:cNvPr id="21" name="cpe|commentary|line|2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2" name="cpe|commentary|text|21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What moves the market</a:t>
            </a:r>
          </a:p>
        </p:txBody>
      </p:sp>
      <p:sp>
        <p:nvSpPr>
          <p:cNvPr id="23" name="cpe|commentary|text|22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 grows 7.8% a year on price-sensitive households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is small but compounding at 14%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grow at 2%, below food inflation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Hypermarkets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shrink as trips move to proximity formats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Iberian grocery market by channel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4655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14779" y="2789586"/>
            <a:ext cx="198271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121.3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2597493" y="2712023"/>
            <a:ext cx="198271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125.9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4580208" y="2624343"/>
            <a:ext cx="198271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131.1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6562923" y="2534976"/>
            <a:ext cx="198271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136.4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8545638" y="2440552"/>
            <a:ext cx="1982715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142.0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10248033" y="2714031"/>
            <a:ext cx="144074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10248033" y="2950092"/>
            <a:ext cx="144074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248033" y="3270461"/>
            <a:ext cx="144074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Hypermarkets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10248033" y="3911200"/>
            <a:ext cx="144074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10248033" y="4669969"/>
            <a:ext cx="144074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Discount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1606136" y="2330824"/>
            <a:ext cx="7930859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1606136" y="2330824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0" name="cpe|exhibit|label|19"/>
          <p:cNvSpPr txBox="1"/>
          <p:nvPr/>
        </p:nvSpPr>
        <p:spPr>
          <a:xfrm>
            <a:off x="5075410" y="2193664"/>
            <a:ext cx="992311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CAGR +4.0%</a:t>
            </a:r>
          </a:p>
        </p:txBody>
      </p:sp>
      <p:cxnSp>
        <p:nvCxnSpPr>
          <p:cNvPr id="21" name="cpe|commentary|line|20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2" name="cpe|commentary|text|21"/>
          <p:cNvSpPr txBox="1"/>
          <p:nvPr/>
        </p:nvSpPr>
        <p:spPr>
          <a:xfrm>
            <a:off x="502920" y="5705856"/>
            <a:ext cx="264558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 grows 7.8% a year on price-sensitive households</a:t>
            </a:r>
          </a:p>
        </p:txBody>
      </p:sp>
      <p:sp>
        <p:nvSpPr>
          <p:cNvPr id="23" name="cpe|commentary|text|22"/>
          <p:cNvSpPr txBox="1"/>
          <p:nvPr/>
        </p:nvSpPr>
        <p:spPr>
          <a:xfrm>
            <a:off x="3349676" y="5705856"/>
            <a:ext cx="264558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is small but compounding at 14% a year</a:t>
            </a:r>
          </a:p>
        </p:txBody>
      </p:sp>
      <p:sp>
        <p:nvSpPr>
          <p:cNvPr id="24" name="cpe|commentary|text|23"/>
          <p:cNvSpPr txBox="1"/>
          <p:nvPr/>
        </p:nvSpPr>
        <p:spPr>
          <a:xfrm>
            <a:off x="6196432" y="5705856"/>
            <a:ext cx="264558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grow at 2%, below food inflation</a:t>
            </a:r>
          </a:p>
        </p:txBody>
      </p:sp>
      <p:sp>
        <p:nvSpPr>
          <p:cNvPr id="25" name="cpe|commentary|text|24"/>
          <p:cNvSpPr txBox="1"/>
          <p:nvPr/>
        </p:nvSpPr>
        <p:spPr>
          <a:xfrm>
            <a:off x="9043187" y="5705856"/>
            <a:ext cx="264558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Hypermarkets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shrink as trips move to proximity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MARKET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Discount and online captured 75% of Iberian grocery growth since 2021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National statistics; retailer reports; team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3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What moves the market</a:t>
            </a:r>
          </a:p>
        </p:txBody>
      </p:sp>
      <p:sp>
        <p:nvSpPr>
          <p:cNvPr id="8" name="cpe|commentary|text|7"/>
          <p:cNvSpPr txBox="1"/>
          <p:nvPr/>
        </p:nvSpPr>
        <p:spPr>
          <a:xfrm>
            <a:off x="502920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 grows 7.8% a year on price-sensitive households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is small but compounding at 14%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grow at 2%, below food inflation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Hypermarkets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 shrink as trips move to proximity formats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Iberian grocery market by channel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</a:t>
            </a:r>
          </a:p>
        </p:txBody>
      </p:sp>
      <p:graphicFrame>
        <p:nvGraphicFramePr>
          <p:cNvPr id="10" name="cpe|exhibit|chart|9"/>
          <p:cNvGraphicFramePr>
            <a:graphicFrameLocks noGrp="1"/>
          </p:cNvGraphicFramePr>
          <p:nvPr/>
        </p:nvGraphicFramePr>
        <p:xfrm>
          <a:off x="4298594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pe|exhibit|label|10"/>
          <p:cNvSpPr txBox="1"/>
          <p:nvPr/>
        </p:nvSpPr>
        <p:spPr>
          <a:xfrm>
            <a:off x="4372496" y="2898830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121.3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603667" y="2793854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125.9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834839" y="2675186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131.1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066010" y="2554235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136.4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9297181" y="2426439"/>
            <a:ext cx="123117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142.0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10388948" y="2741632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10388948" y="3061124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10388948" y="3494719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Hypermarkets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10388948" y="4361910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20" name="cpe|exhibit|label|19"/>
          <p:cNvSpPr txBox="1"/>
          <p:nvPr/>
        </p:nvSpPr>
        <p:spPr>
          <a:xfrm>
            <a:off x="10388948" y="5388847"/>
            <a:ext cx="1299827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Discount</a:t>
            </a:r>
          </a:p>
        </p:txBody>
      </p:sp>
      <p:cxnSp>
        <p:nvCxnSpPr>
          <p:cNvPr id="21" name="cpe|exhibit|connector|20"/>
          <p:cNvCxnSpPr/>
          <p:nvPr/>
        </p:nvCxnSpPr>
        <p:spPr>
          <a:xfrm>
            <a:off x="4988082" y="2316711"/>
            <a:ext cx="4924685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4988082" y="2316711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3" name="cpe|exhibit|label|22"/>
          <p:cNvSpPr txBox="1"/>
          <p:nvPr/>
        </p:nvSpPr>
        <p:spPr>
          <a:xfrm>
            <a:off x="6954269" y="2179551"/>
            <a:ext cx="992311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CAGR +4.0%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PERFORMANCE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Alvora's growth slowed to 3.0% in 2025, below the market (4.1%) for the second year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502920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€13.6bn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502920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+3.0% YoY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Revenue 2025</a:t>
            </a:r>
          </a:p>
        </p:txBody>
      </p:sp>
      <p:cxnSp>
        <p:nvCxnSpPr>
          <p:cNvPr id="9" name="cpe|kpis|line|8"/>
          <p:cNvCxnSpPr/>
          <p:nvPr/>
        </p:nvCxnSpPr>
        <p:spPr>
          <a:xfrm>
            <a:off x="3198800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0" name="cpe|kpis|text|9"/>
          <p:cNvSpPr txBox="1"/>
          <p:nvPr/>
        </p:nvSpPr>
        <p:spPr>
          <a:xfrm>
            <a:off x="3399968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6.3%</a:t>
            </a:r>
          </a:p>
        </p:txBody>
      </p:sp>
      <p:sp>
        <p:nvSpPr>
          <p:cNvPr id="11" name="cpe|kpis|text|10"/>
          <p:cNvSpPr txBox="1"/>
          <p:nvPr/>
        </p:nvSpPr>
        <p:spPr>
          <a:xfrm>
            <a:off x="3399968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−0.7pp</a:t>
            </a:r>
          </a:p>
        </p:txBody>
      </p:sp>
      <p:sp>
        <p:nvSpPr>
          <p:cNvPr id="12" name="cpe|kpis|text|11"/>
          <p:cNvSpPr txBox="1"/>
          <p:nvPr/>
        </p:nvSpPr>
        <p:spPr>
          <a:xfrm>
            <a:off x="3399968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EBITDA margin 2025</a:t>
            </a:r>
          </a:p>
        </p:txBody>
      </p:sp>
      <p:cxnSp>
        <p:nvCxnSpPr>
          <p:cNvPr id="13" name="cpe|kpis|line|12"/>
          <p:cNvCxnSpPr/>
          <p:nvPr/>
        </p:nvCxnSpPr>
        <p:spPr>
          <a:xfrm>
            <a:off x="6095848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4" name="cpe|kpis|text|13"/>
          <p:cNvSpPr txBox="1"/>
          <p:nvPr/>
        </p:nvSpPr>
        <p:spPr>
          <a:xfrm>
            <a:off x="6297016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9.6%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−0.1pp</a:t>
            </a:r>
          </a:p>
        </p:txBody>
      </p:sp>
      <p:sp>
        <p:nvSpPr>
          <p:cNvPr id="16" name="cpe|kpis|text|15"/>
          <p:cNvSpPr txBox="1"/>
          <p:nvPr/>
        </p:nvSpPr>
        <p:spPr>
          <a:xfrm>
            <a:off x="6297016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Market share 2025</a:t>
            </a:r>
          </a:p>
        </p:txBody>
      </p:sp>
      <p:cxnSp>
        <p:nvCxnSpPr>
          <p:cNvPr id="17" name="cpe|kpis|line|16"/>
          <p:cNvCxnSpPr/>
          <p:nvPr/>
        </p:nvCxnSpPr>
        <p:spPr>
          <a:xfrm>
            <a:off x="8992895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8" name="cpe|kpis|text|17"/>
          <p:cNvSpPr txBox="1"/>
          <p:nvPr/>
        </p:nvSpPr>
        <p:spPr>
          <a:xfrm>
            <a:off x="9194063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+1.2%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9194063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−1.8pp vs 2024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9194063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Like-for-like sales 2025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2808671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Alvora revenue and growth vs market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€bn, % YoY</a:t>
            </a:r>
          </a:p>
        </p:txBody>
      </p:sp>
      <p:graphicFrame>
        <p:nvGraphicFramePr>
          <p:cNvPr id="22" name="cpe|exhibit|chart|21"/>
          <p:cNvGraphicFramePr>
            <a:graphicFrameLocks noGrp="1"/>
          </p:cNvGraphicFramePr>
          <p:nvPr/>
        </p:nvGraphicFramePr>
        <p:xfrm>
          <a:off x="502920" y="4408344"/>
          <a:ext cx="11185855" cy="179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3" name="cpe|exhibit|connector|22"/>
          <p:cNvCxnSpPr/>
          <p:nvPr/>
        </p:nvCxnSpPr>
        <p:spPr>
          <a:xfrm>
            <a:off x="6825062" y="4786729"/>
            <a:ext cx="2484114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825062" y="4786729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5" name="cpe|exhibit|label|24"/>
          <p:cNvSpPr txBox="1"/>
          <p:nvPr/>
        </p:nvSpPr>
        <p:spPr>
          <a:xfrm>
            <a:off x="7828525" y="4649569"/>
            <a:ext cx="477187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+3%</a:t>
            </a:r>
          </a:p>
        </p:txBody>
      </p:sp>
      <p:graphicFrame>
        <p:nvGraphicFramePr>
          <p:cNvPr id="26" name="cpe|exhibit|chart|25"/>
          <p:cNvGraphicFramePr>
            <a:graphicFrameLocks noGrp="1"/>
          </p:cNvGraphicFramePr>
          <p:nvPr/>
        </p:nvGraphicFramePr>
        <p:xfrm>
          <a:off x="502920" y="3229295"/>
          <a:ext cx="11185855" cy="10693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cpe|exhibit|label|26"/>
          <p:cNvSpPr txBox="1"/>
          <p:nvPr/>
        </p:nvSpPr>
        <p:spPr>
          <a:xfrm>
            <a:off x="9400616" y="3802449"/>
            <a:ext cx="2288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E6A77"/>
                </a:solidFill>
                <a:latin typeface="Arial"/>
              </a:rPr>
              <a:t>Market growth</a:t>
            </a:r>
          </a:p>
        </p:txBody>
      </p:sp>
      <p:sp>
        <p:nvSpPr>
          <p:cNvPr id="28" name="cpe|exhibit|label|27"/>
          <p:cNvSpPr txBox="1"/>
          <p:nvPr/>
        </p:nvSpPr>
        <p:spPr>
          <a:xfrm>
            <a:off x="9400616" y="4021905"/>
            <a:ext cx="228816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Alvora growth</a:t>
            </a:r>
          </a:p>
        </p:txBody>
      </p:sp>
      <p:sp>
        <p:nvSpPr>
          <p:cNvPr id="29" name="cpe|exhibit|label|28"/>
          <p:cNvSpPr txBox="1"/>
          <p:nvPr/>
        </p:nvSpPr>
        <p:spPr>
          <a:xfrm>
            <a:off x="1399635" y="320137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6.3%</a:t>
            </a:r>
          </a:p>
        </p:txBody>
      </p:sp>
      <p:sp>
        <p:nvSpPr>
          <p:cNvPr id="30" name="cpe|exhibit|label|29"/>
          <p:cNvSpPr txBox="1"/>
          <p:nvPr/>
        </p:nvSpPr>
        <p:spPr>
          <a:xfrm>
            <a:off x="1399635" y="36765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3.8%</a:t>
            </a:r>
          </a:p>
        </p:txBody>
      </p:sp>
      <p:sp>
        <p:nvSpPr>
          <p:cNvPr id="31" name="cpe|exhibit|label|30"/>
          <p:cNvSpPr txBox="1"/>
          <p:nvPr/>
        </p:nvSpPr>
        <p:spPr>
          <a:xfrm>
            <a:off x="3883749" y="31253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6.7%</a:t>
            </a:r>
          </a:p>
        </p:txBody>
      </p:sp>
      <p:sp>
        <p:nvSpPr>
          <p:cNvPr id="32" name="cpe|exhibit|label|31"/>
          <p:cNvSpPr txBox="1"/>
          <p:nvPr/>
        </p:nvSpPr>
        <p:spPr>
          <a:xfrm>
            <a:off x="3883749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4.1%</a:t>
            </a:r>
          </a:p>
        </p:txBody>
      </p:sp>
      <p:sp>
        <p:nvSpPr>
          <p:cNvPr id="33" name="cpe|exhibit|label|32"/>
          <p:cNvSpPr txBox="1"/>
          <p:nvPr/>
        </p:nvSpPr>
        <p:spPr>
          <a:xfrm>
            <a:off x="6367862" y="363857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4.0%</a:t>
            </a:r>
          </a:p>
        </p:txBody>
      </p:sp>
      <p:sp>
        <p:nvSpPr>
          <p:cNvPr id="34" name="cpe|exhibit|label|33"/>
          <p:cNvSpPr txBox="1"/>
          <p:nvPr/>
        </p:nvSpPr>
        <p:spPr>
          <a:xfrm>
            <a:off x="6367862" y="402334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3.9%</a:t>
            </a:r>
          </a:p>
        </p:txBody>
      </p:sp>
      <p:sp>
        <p:nvSpPr>
          <p:cNvPr id="35" name="cpe|exhibit|label|34"/>
          <p:cNvSpPr txBox="1"/>
          <p:nvPr/>
        </p:nvSpPr>
        <p:spPr>
          <a:xfrm>
            <a:off x="8851976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4.1%</a:t>
            </a:r>
          </a:p>
        </p:txBody>
      </p:sp>
      <p:sp>
        <p:nvSpPr>
          <p:cNvPr id="36" name="cpe|exhibit|label|35"/>
          <p:cNvSpPr txBox="1"/>
          <p:nvPr/>
        </p:nvSpPr>
        <p:spPr>
          <a:xfrm>
            <a:off x="8851976" y="419442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3.0%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PERFORMANCE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Alvora's growth slowed to 3.0% in 2025, below the market (4.1%) for the second year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accounts; market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4</a:t>
            </a:r>
          </a:p>
        </p:txBody>
      </p:sp>
      <p:sp>
        <p:nvSpPr>
          <p:cNvPr id="6" name="cpe|kpis|text|5"/>
          <p:cNvSpPr txBox="1"/>
          <p:nvPr/>
        </p:nvSpPr>
        <p:spPr>
          <a:xfrm>
            <a:off x="502920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€13.6bn</a:t>
            </a:r>
          </a:p>
        </p:txBody>
      </p:sp>
      <p:sp>
        <p:nvSpPr>
          <p:cNvPr id="7" name="cpe|kpis|text|6"/>
          <p:cNvSpPr txBox="1"/>
          <p:nvPr/>
        </p:nvSpPr>
        <p:spPr>
          <a:xfrm>
            <a:off x="502920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+3.0% YoY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Revenue 2025</a:t>
            </a:r>
          </a:p>
        </p:txBody>
      </p:sp>
      <p:cxnSp>
        <p:nvCxnSpPr>
          <p:cNvPr id="9" name="cpe|kpis|line|8"/>
          <p:cNvCxnSpPr/>
          <p:nvPr/>
        </p:nvCxnSpPr>
        <p:spPr>
          <a:xfrm>
            <a:off x="3198800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0" name="cpe|kpis|text|9"/>
          <p:cNvSpPr txBox="1"/>
          <p:nvPr/>
        </p:nvSpPr>
        <p:spPr>
          <a:xfrm>
            <a:off x="3399968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6.3%</a:t>
            </a:r>
          </a:p>
        </p:txBody>
      </p:sp>
      <p:sp>
        <p:nvSpPr>
          <p:cNvPr id="11" name="cpe|kpis|text|10"/>
          <p:cNvSpPr txBox="1"/>
          <p:nvPr/>
        </p:nvSpPr>
        <p:spPr>
          <a:xfrm>
            <a:off x="3399968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−0.7pp</a:t>
            </a:r>
          </a:p>
        </p:txBody>
      </p:sp>
      <p:sp>
        <p:nvSpPr>
          <p:cNvPr id="12" name="cpe|kpis|text|11"/>
          <p:cNvSpPr txBox="1"/>
          <p:nvPr/>
        </p:nvSpPr>
        <p:spPr>
          <a:xfrm>
            <a:off x="3399968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EBITDA margin 2025</a:t>
            </a:r>
          </a:p>
        </p:txBody>
      </p:sp>
      <p:cxnSp>
        <p:nvCxnSpPr>
          <p:cNvPr id="13" name="cpe|kpis|line|12"/>
          <p:cNvCxnSpPr/>
          <p:nvPr/>
        </p:nvCxnSpPr>
        <p:spPr>
          <a:xfrm>
            <a:off x="6095848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4" name="cpe|kpis|text|13"/>
          <p:cNvSpPr txBox="1"/>
          <p:nvPr/>
        </p:nvSpPr>
        <p:spPr>
          <a:xfrm>
            <a:off x="6297016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9.6%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−0.1pp</a:t>
            </a:r>
          </a:p>
        </p:txBody>
      </p:sp>
      <p:sp>
        <p:nvSpPr>
          <p:cNvPr id="16" name="cpe|kpis|text|15"/>
          <p:cNvSpPr txBox="1"/>
          <p:nvPr/>
        </p:nvSpPr>
        <p:spPr>
          <a:xfrm>
            <a:off x="6297016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Market share 2025</a:t>
            </a:r>
          </a:p>
        </p:txBody>
      </p:sp>
      <p:cxnSp>
        <p:nvCxnSpPr>
          <p:cNvPr id="17" name="cpe|kpis|line|16"/>
          <p:cNvCxnSpPr/>
          <p:nvPr/>
        </p:nvCxnSpPr>
        <p:spPr>
          <a:xfrm>
            <a:off x="8992895" y="1527048"/>
            <a:ext cx="0" cy="1034735"/>
          </a:xfrm>
          <a:prstGeom prst="line">
            <a:avLst/>
          </a:prstGeom>
          <a:ln w="9525">
            <a:solidFill>
              <a:srgbClr val="E3E7EB"/>
            </a:solidFill>
          </a:ln>
        </p:spPr>
      </p:cxnSp>
      <p:sp>
        <p:nvSpPr>
          <p:cNvPr id="18" name="cpe|kpis|text|17"/>
          <p:cNvSpPr txBox="1"/>
          <p:nvPr/>
        </p:nvSpPr>
        <p:spPr>
          <a:xfrm>
            <a:off x="9194063" y="1481328"/>
            <a:ext cx="249471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1F3A"/>
                </a:solidFill>
                <a:latin typeface="Arial"/>
              </a:rPr>
              <a:t>+1.2%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9194063" y="2048256"/>
            <a:ext cx="249471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Arial"/>
              </a:rPr>
              <a:t>▼ −1.8pp vs 2024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9194063" y="2304288"/>
            <a:ext cx="2494712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Like-for-like sales 2025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2808671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Alvora revenue and growth vs market</a:t>
            </a:r>
            <a:r>
              <a:rPr sz="1100" b="0">
                <a:solidFill>
                  <a:srgbClr val="1E252D"/>
                </a:solidFill>
                <a:latin typeface="Arial"/>
              </a:rPr>
              <a:t>, €bn, % YoY</a:t>
            </a:r>
          </a:p>
        </p:txBody>
      </p:sp>
      <p:graphicFrame>
        <p:nvGraphicFramePr>
          <p:cNvPr id="22" name="cpe|exhibit|chart|21"/>
          <p:cNvGraphicFramePr>
            <a:graphicFrameLocks noGrp="1"/>
          </p:cNvGraphicFramePr>
          <p:nvPr/>
        </p:nvGraphicFramePr>
        <p:xfrm>
          <a:off x="502920" y="4408344"/>
          <a:ext cx="7390181" cy="1791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3" name="cpe|exhibit|connector|22"/>
          <p:cNvCxnSpPr/>
          <p:nvPr/>
        </p:nvCxnSpPr>
        <p:spPr>
          <a:xfrm>
            <a:off x="4438532" y="4786729"/>
            <a:ext cx="1544684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4438532" y="4786729"/>
            <a:ext cx="0" cy="91440"/>
          </a:xfrm>
          <a:prstGeom prst="line">
            <a:avLst/>
          </a:prstGeom>
          <a:ln w="9525">
            <a:solidFill>
              <a:srgbClr val="1E252D"/>
            </a:solidFill>
          </a:ln>
        </p:spPr>
      </p:cxnSp>
      <p:sp>
        <p:nvSpPr>
          <p:cNvPr id="25" name="cpe|exhibit|label|24"/>
          <p:cNvSpPr txBox="1"/>
          <p:nvPr/>
        </p:nvSpPr>
        <p:spPr>
          <a:xfrm>
            <a:off x="4972281" y="4649569"/>
            <a:ext cx="477187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+3%</a:t>
            </a:r>
          </a:p>
        </p:txBody>
      </p:sp>
      <p:graphicFrame>
        <p:nvGraphicFramePr>
          <p:cNvPr id="26" name="cpe|exhibit|chart|25"/>
          <p:cNvGraphicFramePr>
            <a:graphicFrameLocks noGrp="1"/>
          </p:cNvGraphicFramePr>
          <p:nvPr/>
        </p:nvGraphicFramePr>
        <p:xfrm>
          <a:off x="502920" y="3229295"/>
          <a:ext cx="7390181" cy="10693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cpe|exhibit|label|26"/>
          <p:cNvSpPr txBox="1"/>
          <p:nvPr/>
        </p:nvSpPr>
        <p:spPr>
          <a:xfrm>
            <a:off x="6074656" y="3802449"/>
            <a:ext cx="181844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E6A77"/>
                </a:solidFill>
                <a:latin typeface="Arial"/>
              </a:rPr>
              <a:t>Market growth</a:t>
            </a:r>
          </a:p>
        </p:txBody>
      </p:sp>
      <p:sp>
        <p:nvSpPr>
          <p:cNvPr id="28" name="cpe|exhibit|label|27"/>
          <p:cNvSpPr txBox="1"/>
          <p:nvPr/>
        </p:nvSpPr>
        <p:spPr>
          <a:xfrm>
            <a:off x="6074656" y="4021905"/>
            <a:ext cx="181844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Alvora growth</a:t>
            </a:r>
          </a:p>
        </p:txBody>
      </p:sp>
      <p:sp>
        <p:nvSpPr>
          <p:cNvPr id="29" name="cpe|exhibit|label|28"/>
          <p:cNvSpPr txBox="1"/>
          <p:nvPr/>
        </p:nvSpPr>
        <p:spPr>
          <a:xfrm>
            <a:off x="891964" y="320137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6.3%</a:t>
            </a:r>
          </a:p>
        </p:txBody>
      </p:sp>
      <p:sp>
        <p:nvSpPr>
          <p:cNvPr id="30" name="cpe|exhibit|label|29"/>
          <p:cNvSpPr txBox="1"/>
          <p:nvPr/>
        </p:nvSpPr>
        <p:spPr>
          <a:xfrm>
            <a:off x="891964" y="367659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3.8%</a:t>
            </a:r>
          </a:p>
        </p:txBody>
      </p:sp>
      <p:sp>
        <p:nvSpPr>
          <p:cNvPr id="31" name="cpe|exhibit|label|30"/>
          <p:cNvSpPr txBox="1"/>
          <p:nvPr/>
        </p:nvSpPr>
        <p:spPr>
          <a:xfrm>
            <a:off x="2436648" y="3125335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6.7%</a:t>
            </a:r>
          </a:p>
        </p:txBody>
      </p:sp>
      <p:sp>
        <p:nvSpPr>
          <p:cNvPr id="32" name="cpe|exhibit|label|31"/>
          <p:cNvSpPr txBox="1"/>
          <p:nvPr/>
        </p:nvSpPr>
        <p:spPr>
          <a:xfrm>
            <a:off x="2436648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4.1%</a:t>
            </a:r>
          </a:p>
        </p:txBody>
      </p:sp>
      <p:sp>
        <p:nvSpPr>
          <p:cNvPr id="33" name="cpe|exhibit|label|32"/>
          <p:cNvSpPr txBox="1"/>
          <p:nvPr/>
        </p:nvSpPr>
        <p:spPr>
          <a:xfrm>
            <a:off x="3981332" y="363857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4.0%</a:t>
            </a:r>
          </a:p>
        </p:txBody>
      </p:sp>
      <p:sp>
        <p:nvSpPr>
          <p:cNvPr id="34" name="cpe|exhibit|label|33"/>
          <p:cNvSpPr txBox="1"/>
          <p:nvPr/>
        </p:nvSpPr>
        <p:spPr>
          <a:xfrm>
            <a:off x="3981332" y="402334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3.9%</a:t>
            </a:r>
          </a:p>
        </p:txBody>
      </p:sp>
      <p:sp>
        <p:nvSpPr>
          <p:cNvPr id="35" name="cpe|exhibit|label|34"/>
          <p:cNvSpPr txBox="1"/>
          <p:nvPr/>
        </p:nvSpPr>
        <p:spPr>
          <a:xfrm>
            <a:off x="5526016" y="361956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E6A77"/>
                </a:solidFill>
                <a:latin typeface="Arial"/>
              </a:rPr>
              <a:t>4.1%</a:t>
            </a:r>
          </a:p>
        </p:txBody>
      </p:sp>
      <p:sp>
        <p:nvSpPr>
          <p:cNvPr id="36" name="cpe|exhibit|label|35"/>
          <p:cNvSpPr txBox="1"/>
          <p:nvPr/>
        </p:nvSpPr>
        <p:spPr>
          <a:xfrm>
            <a:off x="5526016" y="4194427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Arial"/>
              </a:rPr>
              <a:t>3.0%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Market share by channel,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502920" y="4669384"/>
            <a:ext cx="2428144" cy="131216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502920" y="3593409"/>
            <a:ext cx="2428144" cy="107597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502920" y="3278490"/>
            <a:ext cx="2428144" cy="31491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502920" y="2176272"/>
            <a:ext cx="2428144" cy="110221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502920" y="1901952"/>
            <a:ext cx="24281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502920" y="4855464"/>
            <a:ext cx="242814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2967640" y="4433194"/>
            <a:ext cx="3322724" cy="367406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2967640" y="4328221"/>
            <a:ext cx="3322724" cy="104973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2967640" y="3750869"/>
            <a:ext cx="3322724" cy="57735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2967640" y="3278490"/>
            <a:ext cx="3322724" cy="47237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2967640" y="2176272"/>
            <a:ext cx="3322724" cy="110221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2967640" y="1901952"/>
            <a:ext cx="332272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2967640" y="4855464"/>
            <a:ext cx="3322724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326940" y="4564410"/>
            <a:ext cx="1533565" cy="236190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6326940" y="4170761"/>
            <a:ext cx="1533565" cy="39364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6326940" y="3357220"/>
            <a:ext cx="1533565" cy="81354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6326940" y="2176272"/>
            <a:ext cx="1533565" cy="118094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6326940" y="1901952"/>
            <a:ext cx="153356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6326940" y="4855464"/>
            <a:ext cx="1533565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7897080" y="4485681"/>
            <a:ext cx="894579" cy="314919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7897080" y="4328221"/>
            <a:ext cx="894579" cy="157460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7897080" y="4144518"/>
            <a:ext cx="894579" cy="183703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7897080" y="2176272"/>
            <a:ext cx="894579" cy="1968246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7897080" y="1901952"/>
            <a:ext cx="8945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7897080" y="4855464"/>
            <a:ext cx="894579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8828236" y="4695627"/>
            <a:ext cx="894579" cy="104973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8828236" y="4459437"/>
            <a:ext cx="894579" cy="236190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8828236" y="4144518"/>
            <a:ext cx="894579" cy="31491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8828236" y="2176272"/>
            <a:ext cx="894579" cy="1968246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8828236" y="1901952"/>
            <a:ext cx="8945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828236" y="4855464"/>
            <a:ext cx="894579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502920" y="4422496"/>
            <a:ext cx="2428144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2967640" y="4433194"/>
            <a:ext cx="3322724" cy="3674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6326940" y="4317522"/>
            <a:ext cx="1533565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7897080" y="4485681"/>
            <a:ext cx="894579" cy="3149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8828236" y="4448739"/>
            <a:ext cx="894579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9905695" y="2240280"/>
            <a:ext cx="128016" cy="12801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0106863" y="21762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9905695" y="2532888"/>
            <a:ext cx="128016" cy="128016"/>
          </a:xfrm>
          <a:prstGeom prst="rect">
            <a:avLst/>
          </a:prstGeom>
          <a:solidFill>
            <a:srgbClr val="C9D0D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10106863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502920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54% of Alvora sales come from </a:t>
            </a: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, a channel growing 2% a year</a:t>
            </a:r>
          </a:p>
        </p:txBody>
      </p:sp>
      <p:sp>
        <p:nvSpPr>
          <p:cNvPr id="49" name="cpe|commentary|text|48"/>
          <p:cNvSpPr txBox="1"/>
          <p:nvPr/>
        </p:nvSpPr>
        <p:spPr>
          <a:xfrm>
            <a:off x="4298594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In </a:t>
            </a: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, Competitor A holds 41% with a lower cost-to-serve</a:t>
            </a:r>
          </a:p>
        </p:txBody>
      </p:sp>
      <p:sp>
        <p:nvSpPr>
          <p:cNvPr id="50" name="cpe|commentary|text|49"/>
          <p:cNvSpPr txBox="1"/>
          <p:nvPr/>
        </p:nvSpPr>
        <p:spPr>
          <a:xfrm>
            <a:off x="8094269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Market share by channel,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502920" y="5459882"/>
            <a:ext cx="1545820" cy="172822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502920" y="4042745"/>
            <a:ext cx="1545820" cy="1417137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502920" y="3627973"/>
            <a:ext cx="1545820" cy="41477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502920" y="2176272"/>
            <a:ext cx="1545820" cy="1451701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502920" y="1901952"/>
            <a:ext cx="15458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502920" y="5687568"/>
            <a:ext cx="154582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2085316" y="5148804"/>
            <a:ext cx="2115332" cy="483900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2085316" y="5010546"/>
            <a:ext cx="2115332" cy="138257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2085316" y="4250131"/>
            <a:ext cx="2115332" cy="760415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2085316" y="3627973"/>
            <a:ext cx="2115332" cy="62215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2085316" y="2176272"/>
            <a:ext cx="2115332" cy="1451701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2085316" y="1901952"/>
            <a:ext cx="211533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2085316" y="5687568"/>
            <a:ext cx="2115332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4237224" y="5321625"/>
            <a:ext cx="976307" cy="311079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4237224" y="4803160"/>
            <a:ext cx="976307" cy="518465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4237224" y="3731666"/>
            <a:ext cx="976307" cy="107149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4237224" y="2176272"/>
            <a:ext cx="976307" cy="155539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4237224" y="1901952"/>
            <a:ext cx="97630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4237224" y="5687568"/>
            <a:ext cx="976307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5250107" y="5217932"/>
            <a:ext cx="569513" cy="414772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5250107" y="5010546"/>
            <a:ext cx="569513" cy="207386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5250107" y="4768596"/>
            <a:ext cx="569513" cy="241950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5250107" y="2176272"/>
            <a:ext cx="569513" cy="259232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5250107" y="1901952"/>
            <a:ext cx="56951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5250107" y="5687568"/>
            <a:ext cx="569513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856196" y="5494447"/>
            <a:ext cx="569513" cy="138257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5856196" y="5183368"/>
            <a:ext cx="569513" cy="31107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5856196" y="4768596"/>
            <a:ext cx="569513" cy="41477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5856196" y="2176272"/>
            <a:ext cx="569513" cy="259232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5856196" y="1901952"/>
            <a:ext cx="56951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5856196" y="5687568"/>
            <a:ext cx="569513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502920" y="5212994"/>
            <a:ext cx="1545820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2085316" y="5148804"/>
            <a:ext cx="2115332" cy="48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4237224" y="5321625"/>
            <a:ext cx="976307" cy="3110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5250107" y="5217932"/>
            <a:ext cx="569513" cy="4147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5856196" y="5247559"/>
            <a:ext cx="569513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6608588" y="2240280"/>
            <a:ext cx="128016" cy="12801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6809756" y="2176272"/>
            <a:ext cx="105591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6608588" y="2532888"/>
            <a:ext cx="128016" cy="128016"/>
          </a:xfrm>
          <a:prstGeom prst="rect">
            <a:avLst/>
          </a:prstGeom>
          <a:solidFill>
            <a:srgbClr val="C9D0D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6809756" y="2468880"/>
            <a:ext cx="105591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54% of Alvora sales come from </a:t>
            </a: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, a channel growing 2%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In </a:t>
            </a: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, Competitor A holds 41% with a lower cost-to-serve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PORTFOLIO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holds 14% of supermarkets but only 5% of discount, the segment driving growth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Retailer reports; consumer panel; team estimates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Market share by channel,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% of channel sales; width = channel size (€bn)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502920" y="5459882"/>
            <a:ext cx="1545820" cy="172822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502920" y="4042745"/>
            <a:ext cx="1545820" cy="1417137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502920" y="3627973"/>
            <a:ext cx="1545820" cy="41477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502920" y="2176272"/>
            <a:ext cx="1545820" cy="1451701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label|10"/>
          <p:cNvSpPr txBox="1"/>
          <p:nvPr/>
        </p:nvSpPr>
        <p:spPr>
          <a:xfrm>
            <a:off x="502920" y="1901952"/>
            <a:ext cx="15458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38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502920" y="5687568"/>
            <a:ext cx="154582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Discount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2085316" y="5148804"/>
            <a:ext cx="2115332" cy="483900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fill|13"/>
          <p:cNvSpPr/>
          <p:nvPr/>
        </p:nvSpPr>
        <p:spPr>
          <a:xfrm>
            <a:off x="2085316" y="5010546"/>
            <a:ext cx="2115332" cy="138257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fill|14"/>
          <p:cNvSpPr/>
          <p:nvPr/>
        </p:nvSpPr>
        <p:spPr>
          <a:xfrm>
            <a:off x="2085316" y="4250131"/>
            <a:ext cx="2115332" cy="760415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fill|15"/>
          <p:cNvSpPr/>
          <p:nvPr/>
        </p:nvSpPr>
        <p:spPr>
          <a:xfrm>
            <a:off x="2085316" y="3627973"/>
            <a:ext cx="2115332" cy="622158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fill|16"/>
          <p:cNvSpPr/>
          <p:nvPr/>
        </p:nvSpPr>
        <p:spPr>
          <a:xfrm>
            <a:off x="2085316" y="2176272"/>
            <a:ext cx="2115332" cy="1451701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2085316" y="1901952"/>
            <a:ext cx="211533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52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2085316" y="5687568"/>
            <a:ext cx="2115332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Supermarkets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4237224" y="5321625"/>
            <a:ext cx="976307" cy="311079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fill|20"/>
          <p:cNvSpPr/>
          <p:nvPr/>
        </p:nvSpPr>
        <p:spPr>
          <a:xfrm>
            <a:off x="4237224" y="4803160"/>
            <a:ext cx="976307" cy="518465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fill|21"/>
          <p:cNvSpPr/>
          <p:nvPr/>
        </p:nvSpPr>
        <p:spPr>
          <a:xfrm>
            <a:off x="4237224" y="3731666"/>
            <a:ext cx="976307" cy="107149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fill|22"/>
          <p:cNvSpPr/>
          <p:nvPr/>
        </p:nvSpPr>
        <p:spPr>
          <a:xfrm>
            <a:off x="4237224" y="2176272"/>
            <a:ext cx="976307" cy="155539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4237224" y="1901952"/>
            <a:ext cx="97630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24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4237224" y="5687568"/>
            <a:ext cx="976307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Hypermarkets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5250107" y="5217932"/>
            <a:ext cx="569513" cy="414772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fill|26"/>
          <p:cNvSpPr/>
          <p:nvPr/>
        </p:nvSpPr>
        <p:spPr>
          <a:xfrm>
            <a:off x="5250107" y="5010546"/>
            <a:ext cx="569513" cy="207386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fill|27"/>
          <p:cNvSpPr/>
          <p:nvPr/>
        </p:nvSpPr>
        <p:spPr>
          <a:xfrm>
            <a:off x="5250107" y="4768596"/>
            <a:ext cx="569513" cy="241950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fill|28"/>
          <p:cNvSpPr/>
          <p:nvPr/>
        </p:nvSpPr>
        <p:spPr>
          <a:xfrm>
            <a:off x="5250107" y="2176272"/>
            <a:ext cx="569513" cy="259232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label|29"/>
          <p:cNvSpPr txBox="1"/>
          <p:nvPr/>
        </p:nvSpPr>
        <p:spPr>
          <a:xfrm>
            <a:off x="5250107" y="1901952"/>
            <a:ext cx="56951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5250107" y="5687568"/>
            <a:ext cx="569513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Convenience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856196" y="5494447"/>
            <a:ext cx="569513" cy="138257"/>
          </a:xfrm>
          <a:prstGeom prst="rect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fill|32"/>
          <p:cNvSpPr/>
          <p:nvPr/>
        </p:nvSpPr>
        <p:spPr>
          <a:xfrm>
            <a:off x="5856196" y="5183368"/>
            <a:ext cx="569513" cy="311079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fill|33"/>
          <p:cNvSpPr/>
          <p:nvPr/>
        </p:nvSpPr>
        <p:spPr>
          <a:xfrm>
            <a:off x="5856196" y="4768596"/>
            <a:ext cx="569513" cy="414772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fill|34"/>
          <p:cNvSpPr/>
          <p:nvPr/>
        </p:nvSpPr>
        <p:spPr>
          <a:xfrm>
            <a:off x="5856196" y="2176272"/>
            <a:ext cx="569513" cy="2592324"/>
          </a:xfrm>
          <a:prstGeom prst="rect">
            <a:avLst/>
          </a:prstGeom>
          <a:solidFill>
            <a:srgbClr val="C9D0D8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label|35"/>
          <p:cNvSpPr txBox="1"/>
          <p:nvPr/>
        </p:nvSpPr>
        <p:spPr>
          <a:xfrm>
            <a:off x="5856196" y="1901952"/>
            <a:ext cx="569513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14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5856196" y="5687568"/>
            <a:ext cx="569513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Online</a:t>
            </a:r>
          </a:p>
        </p:txBody>
      </p:sp>
      <p:sp>
        <p:nvSpPr>
          <p:cNvPr id="38" name="cpe|exhibit|label|37"/>
          <p:cNvSpPr txBox="1"/>
          <p:nvPr/>
        </p:nvSpPr>
        <p:spPr>
          <a:xfrm>
            <a:off x="502920" y="5212994"/>
            <a:ext cx="1545820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5%</a:t>
            </a:r>
          </a:p>
        </p:txBody>
      </p:sp>
      <p:sp>
        <p:nvSpPr>
          <p:cNvPr id="39" name="cpe|exhibit|label|38"/>
          <p:cNvSpPr txBox="1"/>
          <p:nvPr/>
        </p:nvSpPr>
        <p:spPr>
          <a:xfrm>
            <a:off x="2085316" y="5148804"/>
            <a:ext cx="2115332" cy="48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14%</a:t>
            </a:r>
          </a:p>
        </p:txBody>
      </p:sp>
      <p:sp>
        <p:nvSpPr>
          <p:cNvPr id="40" name="cpe|exhibit|label|39"/>
          <p:cNvSpPr txBox="1"/>
          <p:nvPr/>
        </p:nvSpPr>
        <p:spPr>
          <a:xfrm>
            <a:off x="4237224" y="5321625"/>
            <a:ext cx="976307" cy="3110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9%</a:t>
            </a:r>
          </a:p>
        </p:txBody>
      </p:sp>
      <p:sp>
        <p:nvSpPr>
          <p:cNvPr id="41" name="cpe|exhibit|label|40"/>
          <p:cNvSpPr txBox="1"/>
          <p:nvPr/>
        </p:nvSpPr>
        <p:spPr>
          <a:xfrm>
            <a:off x="5250107" y="5217932"/>
            <a:ext cx="569513" cy="4147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12%</a:t>
            </a:r>
          </a:p>
        </p:txBody>
      </p:sp>
      <p:sp>
        <p:nvSpPr>
          <p:cNvPr id="42" name="cpe|exhibit|label|41"/>
          <p:cNvSpPr txBox="1"/>
          <p:nvPr/>
        </p:nvSpPr>
        <p:spPr>
          <a:xfrm>
            <a:off x="5856196" y="5247559"/>
            <a:ext cx="569513" cy="2286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4%</a:t>
            </a:r>
          </a:p>
        </p:txBody>
      </p:sp>
      <p:sp>
        <p:nvSpPr>
          <p:cNvPr id="43" name="cpe|exhibit|marker|42"/>
          <p:cNvSpPr/>
          <p:nvPr/>
        </p:nvSpPr>
        <p:spPr>
          <a:xfrm>
            <a:off x="6608588" y="2240280"/>
            <a:ext cx="128016" cy="12801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6809756" y="2176272"/>
            <a:ext cx="105591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Alvora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6608588" y="2532888"/>
            <a:ext cx="128016" cy="128016"/>
          </a:xfrm>
          <a:prstGeom prst="rect">
            <a:avLst/>
          </a:prstGeom>
          <a:solidFill>
            <a:srgbClr val="C9D0D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label|45"/>
          <p:cNvSpPr txBox="1"/>
          <p:nvPr/>
        </p:nvSpPr>
        <p:spPr>
          <a:xfrm>
            <a:off x="6809756" y="2468880"/>
            <a:ext cx="105591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Other players</a:t>
            </a:r>
          </a:p>
        </p:txBody>
      </p:sp>
      <p:cxnSp>
        <p:nvCxnSpPr>
          <p:cNvPr id="47" name="cpe|commentary|line|4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8" name="cpe|commentary|text|47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54% of Alvora sales come from </a:t>
            </a:r>
            <a:r>
              <a:rPr sz="1200" b="1">
                <a:solidFill>
                  <a:srgbClr val="1E252D"/>
                </a:solidFill>
                <a:latin typeface="Arial"/>
              </a:rPr>
              <a:t>supermarkets</a:t>
            </a:r>
            <a:r>
              <a:rPr sz="1200" b="0">
                <a:solidFill>
                  <a:srgbClr val="1E252D"/>
                </a:solidFill>
                <a:latin typeface="Arial"/>
              </a:rPr>
              <a:t>, a channel growing 2% a year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In </a:t>
            </a:r>
            <a:r>
              <a:rPr sz="1200" b="1">
                <a:solidFill>
                  <a:srgbClr val="1E252D"/>
                </a:solidFill>
                <a:latin typeface="Arial"/>
              </a:rPr>
              <a:t>discount</a:t>
            </a:r>
            <a:r>
              <a:rPr sz="1200" b="0">
                <a:solidFill>
                  <a:srgbClr val="1E252D"/>
                </a:solidFill>
                <a:latin typeface="Arial"/>
              </a:rPr>
              <a:t>, Competitor A holds 41% with a lower cost-to-serve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Online</a:t>
            </a:r>
            <a:r>
              <a:rPr sz="1200" b="0">
                <a:solidFill>
                  <a:srgbClr val="1E252D"/>
                </a:solidFill>
                <a:latin typeface="Arial"/>
              </a:rPr>
              <a:t> share of 4% trails B and C, whose hub networks are in 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324051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145182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2966314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87445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08576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29707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50838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71970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196634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017765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838897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660028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481159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02290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3421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44553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57547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4452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2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2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324051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145182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2966314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87445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08576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29707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50838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71970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196634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017765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838897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660028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481159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02290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3421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44553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57547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4452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4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4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324051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145182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2966314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87445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08576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29707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50838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71970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196634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017765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838897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660028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481159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02290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3421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44553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57547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4452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2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2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324051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145182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2966314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3787445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4608576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5429707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6250838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7071970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1196634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2017765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2838897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3660028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4481159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5302290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123421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6944553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5" name="cpe|exhibit|marker|24"/>
          <p:cNvSpPr/>
          <p:nvPr/>
        </p:nvSpPr>
        <p:spPr>
          <a:xfrm>
            <a:off x="57547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7144523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" name="cpe|commentary|line|26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28" name="cpe|commentary|text|27"/>
          <p:cNvSpPr txBox="1"/>
          <p:nvPr/>
        </p:nvSpPr>
        <p:spPr>
          <a:xfrm>
            <a:off x="8322869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29" name="cpe|commentary|text|28"/>
          <p:cNvSpPr txBox="1"/>
          <p:nvPr/>
        </p:nvSpPr>
        <p:spPr>
          <a:xfrm>
            <a:off x="8322869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4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4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8" name="cpe|commentary|text|7"/>
          <p:cNvSpPr txBox="1"/>
          <p:nvPr/>
        </p:nvSpPr>
        <p:spPr>
          <a:xfrm>
            <a:off x="502920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2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2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10" name="cpe|exhibit|chart|9"/>
          <p:cNvGraphicFramePr>
            <a:graphicFrameLocks noGrp="1"/>
          </p:cNvGraphicFramePr>
          <p:nvPr/>
        </p:nvGraphicFramePr>
        <p:xfrm>
          <a:off x="4298594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pe|exhibit|label|10"/>
          <p:cNvSpPr txBox="1"/>
          <p:nvPr/>
        </p:nvSpPr>
        <p:spPr>
          <a:xfrm>
            <a:off x="4298594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119726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940857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61988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7583119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8404250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9225382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10046513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10867644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20" name="cpe|exhibit|connector|19"/>
          <p:cNvCxnSpPr/>
          <p:nvPr/>
        </p:nvCxnSpPr>
        <p:spPr>
          <a:xfrm>
            <a:off x="4992309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5813440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6634571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7455702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8276833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5" name="cpe|exhibit|connector|24"/>
          <p:cNvCxnSpPr/>
          <p:nvPr/>
        </p:nvCxnSpPr>
        <p:spPr>
          <a:xfrm>
            <a:off x="9097965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6" name="cpe|exhibit|connector|25"/>
          <p:cNvCxnSpPr/>
          <p:nvPr/>
        </p:nvCxnSpPr>
        <p:spPr>
          <a:xfrm>
            <a:off x="9919096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7" name="cpe|exhibit|connector|26"/>
          <p:cNvCxnSpPr/>
          <p:nvPr/>
        </p:nvCxnSpPr>
        <p:spPr>
          <a:xfrm>
            <a:off x="10740227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8" name="cpe|exhibit|marker|27"/>
          <p:cNvSpPr/>
          <p:nvPr/>
        </p:nvSpPr>
        <p:spPr>
          <a:xfrm>
            <a:off x="4371147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10940197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Margin erosion in grocery and convenience (€119M) pushed EBITDA down to €857M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management accounts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6</a:t>
            </a:r>
          </a:p>
        </p:txBody>
      </p:sp>
      <p:cxnSp>
        <p:nvCxnSpPr>
          <p:cNvPr id="6" name="cpe|commentary|line|5"/>
          <p:cNvCxnSpPr/>
          <p:nvPr/>
        </p:nvCxnSpPr>
        <p:spPr>
          <a:xfrm>
            <a:off x="4097426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7" name="cpe|commentary|text|6"/>
          <p:cNvSpPr txBox="1"/>
          <p:nvPr/>
        </p:nvSpPr>
        <p:spPr>
          <a:xfrm>
            <a:off x="502920" y="1481328"/>
            <a:ext cx="3365906" cy="196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Arial"/>
              </a:rPr>
              <a:t>Two categories explain the decline</a:t>
            </a:r>
          </a:p>
        </p:txBody>
      </p:sp>
      <p:sp>
        <p:nvSpPr>
          <p:cNvPr id="8" name="cpe|commentary|text|7"/>
          <p:cNvSpPr txBox="1"/>
          <p:nvPr/>
        </p:nvSpPr>
        <p:spPr>
          <a:xfrm>
            <a:off x="502920" y="1796796"/>
            <a:ext cx="3365906" cy="44028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Grocery (−€78M):</a:t>
            </a:r>
            <a:r>
              <a:rPr sz="1400" b="0">
                <a:solidFill>
                  <a:srgbClr val="1E252D"/>
                </a:solidFill>
                <a:latin typeface="Arial"/>
              </a:rPr>
              <a:t> promo intensity up 3pp to match discounters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Convenience (−€41M):</a:t>
            </a:r>
            <a:r>
              <a:rPr sz="1400" b="0">
                <a:solidFill>
                  <a:srgbClr val="1E252D"/>
                </a:solidFill>
                <a:latin typeface="Arial"/>
              </a:rPr>
              <a:t> food-to-go waste doubled after the range extension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E252D"/>
                </a:solidFill>
                <a:latin typeface="Arial"/>
              </a:rPr>
              <a:t>Volume and price added €83M, not enough to offset cost inflation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4298594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bridge 2024 to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10" name="cpe|exhibit|chart|9"/>
          <p:cNvGraphicFramePr>
            <a:graphicFrameLocks noGrp="1"/>
          </p:cNvGraphicFramePr>
          <p:nvPr/>
        </p:nvGraphicFramePr>
        <p:xfrm>
          <a:off x="4298594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pe|exhibit|label|10"/>
          <p:cNvSpPr txBox="1"/>
          <p:nvPr/>
        </p:nvSpPr>
        <p:spPr>
          <a:xfrm>
            <a:off x="4298594" y="3580376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924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119726" y="299846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+52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940857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+31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61988" y="265155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−78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7583119" y="352442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−41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8404250" y="398323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−22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9225382" y="4229433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−14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10046513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10867644" y="4330149"/>
            <a:ext cx="821131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cxnSp>
        <p:nvCxnSpPr>
          <p:cNvPr id="20" name="cpe|exhibit|connector|19"/>
          <p:cNvCxnSpPr/>
          <p:nvPr/>
        </p:nvCxnSpPr>
        <p:spPr>
          <a:xfrm>
            <a:off x="4992309" y="3845552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5813440" y="326363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6634571" y="291672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7455702" y="378959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8276833" y="424841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5" name="cpe|exhibit|connector|24"/>
          <p:cNvCxnSpPr/>
          <p:nvPr/>
        </p:nvCxnSpPr>
        <p:spPr>
          <a:xfrm>
            <a:off x="9097965" y="4494609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6" name="cpe|exhibit|connector|25"/>
          <p:cNvCxnSpPr/>
          <p:nvPr/>
        </p:nvCxnSpPr>
        <p:spPr>
          <a:xfrm>
            <a:off x="9919096" y="4651278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7" name="cpe|exhibit|connector|26"/>
          <p:cNvCxnSpPr/>
          <p:nvPr/>
        </p:nvCxnSpPr>
        <p:spPr>
          <a:xfrm>
            <a:off x="10740227" y="4595325"/>
            <a:ext cx="2548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8" name="cpe|exhibit|marker|27"/>
          <p:cNvSpPr/>
          <p:nvPr/>
        </p:nvSpPr>
        <p:spPr>
          <a:xfrm>
            <a:off x="4371147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10940197" y="5447191"/>
            <a:ext cx="676025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5021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70942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5021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70942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20154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50215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3032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52863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PROFITABILITY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erosion concentrates in fresh and food-to-go, above all in Madrid and Catalonia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Alvora category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Gross margin change by category and region, 2025 vs 2024</a:t>
            </a:r>
            <a:r>
              <a:rPr sz="1100" b="0">
                <a:solidFill>
                  <a:srgbClr val="1E252D"/>
                </a:solidFill>
                <a:latin typeface="Arial"/>
              </a:rPr>
              <a:t>, pp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35021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468069"/>
                <a:gridCol w="1468069"/>
                <a:gridCol w="1468069"/>
                <a:gridCol w="1468069"/>
                <a:gridCol w="1468069"/>
                <a:gridCol w="1468069"/>
              </a:tblGrid>
              <a:tr h="36004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Madrid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Catalonia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Andalusia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Valencia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North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Portugal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Fresh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−2.9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A59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−2.6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5726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5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DC9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0DB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Food-to-go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−3.4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C23F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FFFFFF"/>
                          </a:solidFill>
                          <a:latin typeface="Arial"/>
                        </a:rPr>
                        <a:t>−3.1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B64D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AB8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−1.2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CC1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−0.9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CE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Ambient grocery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2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FD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0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1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Drinks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2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3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</a:tr>
              <a:tr h="709422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Household &amp; personal care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E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8F0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DDE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solidFill>
                      <a:srgbClr val="E3EDEA"/>
                    </a:solidFill>
                  </a:tcPr>
                </a:tc>
              </a:tr>
              <a:tr h="486537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−1.6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−1.4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−0.2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0B1F3A"/>
                      </a:solidFill>
                      <a:prstDash val="solid"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takeaway|fill|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takeaway|fill|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takeaway|text|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Fixing fresh and food-to-go in two regions addresses about two thirds of the margin gap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644126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Customer perception,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2267712"/>
            <a:ext cx="3106331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3746411" y="2267712"/>
            <a:ext cx="3106331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4041648"/>
            <a:ext cx="3106331" cy="1773936"/>
          </a:xfrm>
          <a:prstGeom prst="rect">
            <a:avLst/>
          </a:prstGeom>
          <a:solidFill>
            <a:srgbClr val="EEF1F4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3746411" y="4041648"/>
            <a:ext cx="3106331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731520" y="2340864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837851" y="2340864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731520" y="5504688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3837851" y="5504688"/>
            <a:ext cx="29234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640080" y="5815584"/>
            <a:ext cx="6258382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640080" y="2221992"/>
            <a:ext cx="0" cy="3593592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640080" y="5870448"/>
            <a:ext cx="621266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594360" y="1938528"/>
            <a:ext cx="12343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3959594" y="3296595"/>
            <a:ext cx="567660" cy="567660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4563830" y="3470697"/>
            <a:ext cx="8142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5713789" y="4340127"/>
            <a:ext cx="538362" cy="538362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4870001" y="4499580"/>
            <a:ext cx="8072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2242330" y="2928610"/>
            <a:ext cx="523098" cy="523098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2802004" y="3080431"/>
            <a:ext cx="82122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2877744" y="4007120"/>
            <a:ext cx="494801" cy="494801"/>
          </a:xfrm>
          <a:prstGeom prst="ellipse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3409122" y="4144792"/>
            <a:ext cx="43311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4576111" y="2742003"/>
            <a:ext cx="328653" cy="328653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4941339" y="2796601"/>
            <a:ext cx="118134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7145350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7373950" y="1481328"/>
            <a:ext cx="4314825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Alvora's prices sit </a:t>
            </a:r>
            <a:r>
              <a:rPr sz="1200" b="1">
                <a:solidFill>
                  <a:srgbClr val="1E252D"/>
                </a:solidFill>
                <a:latin typeface="Arial"/>
              </a:rPr>
              <a:t>8% above</a:t>
            </a:r>
            <a:r>
              <a:rPr sz="1200" b="0">
                <a:solidFill>
                  <a:srgbClr val="1E252D"/>
                </a:solidFill>
                <a:latin typeface="Arial"/>
              </a:rPr>
              <a:t> Competitor A on a comparable basket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Its experience score trails B and C on freshness and queues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Customer perception,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2267712"/>
            <a:ext cx="3580790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4220870" y="2267712"/>
            <a:ext cx="3580790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4041648"/>
            <a:ext cx="3580790" cy="1773936"/>
          </a:xfrm>
          <a:prstGeom prst="rect">
            <a:avLst/>
          </a:prstGeom>
          <a:solidFill>
            <a:srgbClr val="EEF1F4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4220870" y="4041648"/>
            <a:ext cx="3580790" cy="1773936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731520" y="2340864"/>
            <a:ext cx="339791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4312310" y="2340864"/>
            <a:ext cx="339791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731520" y="5504688"/>
            <a:ext cx="339791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4312310" y="5504688"/>
            <a:ext cx="339791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640080" y="5815584"/>
            <a:ext cx="7207301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640080" y="2221992"/>
            <a:ext cx="0" cy="3593592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640080" y="5870448"/>
            <a:ext cx="71615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594360" y="1938528"/>
            <a:ext cx="12343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4509967" y="3296595"/>
            <a:ext cx="567660" cy="567660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5114203" y="3470697"/>
            <a:ext cx="8142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6529859" y="4340127"/>
            <a:ext cx="538362" cy="538362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5686071" y="4499580"/>
            <a:ext cx="8072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2527005" y="2928610"/>
            <a:ext cx="523098" cy="523098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3086679" y="3080431"/>
            <a:ext cx="82122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3257312" y="4007120"/>
            <a:ext cx="494801" cy="494801"/>
          </a:xfrm>
          <a:prstGeom prst="ellipse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3788689" y="4144792"/>
            <a:ext cx="43311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5202397" y="2742003"/>
            <a:ext cx="328653" cy="328653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5567626" y="2796601"/>
            <a:ext cx="118134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Alvora's prices sit </a:t>
            </a:r>
            <a:r>
              <a:rPr sz="1200" b="1">
                <a:solidFill>
                  <a:srgbClr val="1E252D"/>
                </a:solidFill>
                <a:latin typeface="Arial"/>
              </a:rPr>
              <a:t>8% above</a:t>
            </a:r>
            <a:r>
              <a:rPr sz="1200" b="0">
                <a:solidFill>
                  <a:srgbClr val="1E252D"/>
                </a:solidFill>
                <a:latin typeface="Arial"/>
              </a:rPr>
              <a:t> Competitor A on a comparable basket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Its experience score trails B and C on freshness and queues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COMPETITION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Alvora is stuck in the middle: priced above discounters without a clear experience edge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Customer survey 2025, n=4,000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Customer perception, 2025</a:t>
            </a:r>
            <a:r>
              <a:rPr sz="1100" b="0">
                <a:solidFill>
                  <a:srgbClr val="1E252D"/>
                </a:solidFill>
                <a:latin typeface="Arial"/>
              </a:rPr>
              <a:t>, index 0-1; bubble = revenue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640080" y="2267712"/>
            <a:ext cx="5478628" cy="1357884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fill|7"/>
          <p:cNvSpPr/>
          <p:nvPr/>
        </p:nvSpPr>
        <p:spPr>
          <a:xfrm>
            <a:off x="6118708" y="2267712"/>
            <a:ext cx="5478628" cy="1357884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fill|8"/>
          <p:cNvSpPr/>
          <p:nvPr/>
        </p:nvSpPr>
        <p:spPr>
          <a:xfrm>
            <a:off x="640080" y="3625596"/>
            <a:ext cx="5478628" cy="1357884"/>
          </a:xfrm>
          <a:prstGeom prst="rect">
            <a:avLst/>
          </a:prstGeom>
          <a:solidFill>
            <a:srgbClr val="EEF1F4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fill|9"/>
          <p:cNvSpPr/>
          <p:nvPr/>
        </p:nvSpPr>
        <p:spPr>
          <a:xfrm>
            <a:off x="6118708" y="3625596"/>
            <a:ext cx="5478628" cy="1357884"/>
          </a:xfrm>
          <a:prstGeom prst="rect">
            <a:avLst/>
          </a:prstGeom>
          <a:noFill/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731520" y="2340864"/>
            <a:ext cx="52957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Experience-led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6210148" y="2340864"/>
            <a:ext cx="52957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leaders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731520" y="4672584"/>
            <a:ext cx="52957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1F3A"/>
                </a:solidFill>
                <a:latin typeface="Arial"/>
              </a:rPr>
              <a:t>Stuck in the middle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6210148" y="4672584"/>
            <a:ext cx="52957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Price-led</a:t>
            </a:r>
          </a:p>
        </p:txBody>
      </p:sp>
      <p:cxnSp>
        <p:nvCxnSpPr>
          <p:cNvPr id="15" name="cpe|exhibit|line|14"/>
          <p:cNvCxnSpPr/>
          <p:nvPr/>
        </p:nvCxnSpPr>
        <p:spPr>
          <a:xfrm>
            <a:off x="640080" y="4983480"/>
            <a:ext cx="11002975" cy="0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cxnSp>
        <p:nvCxnSpPr>
          <p:cNvPr id="16" name="cpe|exhibit|line|15"/>
          <p:cNvCxnSpPr/>
          <p:nvPr/>
        </p:nvCxnSpPr>
        <p:spPr>
          <a:xfrm flipV="1">
            <a:off x="640080" y="2221992"/>
            <a:ext cx="0" cy="2761488"/>
          </a:xfrm>
          <a:prstGeom prst="line">
            <a:avLst/>
          </a:prstGeom>
          <a:ln w="9525">
            <a:solidFill>
              <a:srgbClr val="1E252D"/>
            </a:solidFill>
            <a:tailEnd type="triangle" w="med" len="med"/>
          </a:ln>
        </p:spPr>
      </p:cxnSp>
      <p:sp>
        <p:nvSpPr>
          <p:cNvPr id="17" name="cpe|exhibit|text|16"/>
          <p:cNvSpPr txBox="1"/>
          <p:nvPr/>
        </p:nvSpPr>
        <p:spPr>
          <a:xfrm>
            <a:off x="640080" y="5038344"/>
            <a:ext cx="109572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Price perception (cheaper →)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594360" y="1938528"/>
            <a:ext cx="12343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↑ Store experience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6778027" y="3055285"/>
            <a:ext cx="434523" cy="434523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label|19"/>
          <p:cNvSpPr txBox="1"/>
          <p:nvPr/>
        </p:nvSpPr>
        <p:spPr>
          <a:xfrm>
            <a:off x="7249125" y="3162818"/>
            <a:ext cx="81421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B</a:t>
            </a:r>
          </a:p>
        </p:txBody>
      </p:sp>
      <p:sp>
        <p:nvSpPr>
          <p:cNvPr id="21" name="cpe|exhibit|marker|20"/>
          <p:cNvSpPr/>
          <p:nvPr/>
        </p:nvSpPr>
        <p:spPr>
          <a:xfrm>
            <a:off x="9857271" y="3854071"/>
            <a:ext cx="412097" cy="412097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label|21"/>
          <p:cNvSpPr txBox="1"/>
          <p:nvPr/>
        </p:nvSpPr>
        <p:spPr>
          <a:xfrm>
            <a:off x="10305944" y="3950391"/>
            <a:ext cx="8072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A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3727050" y="2773605"/>
            <a:ext cx="400413" cy="400413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label|23"/>
          <p:cNvSpPr txBox="1"/>
          <p:nvPr/>
        </p:nvSpPr>
        <p:spPr>
          <a:xfrm>
            <a:off x="4164039" y="2864084"/>
            <a:ext cx="82122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Competitor C</a:t>
            </a:r>
          </a:p>
        </p:txBody>
      </p:sp>
      <p:sp>
        <p:nvSpPr>
          <p:cNvPr id="25" name="cpe|exhibit|marker|24"/>
          <p:cNvSpPr/>
          <p:nvPr/>
        </p:nvSpPr>
        <p:spPr>
          <a:xfrm>
            <a:off x="4833606" y="3599166"/>
            <a:ext cx="378753" cy="378753"/>
          </a:xfrm>
          <a:prstGeom prst="ellipse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label|25"/>
          <p:cNvSpPr txBox="1"/>
          <p:nvPr/>
        </p:nvSpPr>
        <p:spPr>
          <a:xfrm>
            <a:off x="5248934" y="3678814"/>
            <a:ext cx="43311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52D"/>
                </a:solidFill>
                <a:latin typeface="Arial"/>
              </a:rPr>
              <a:t>Alvora</a:t>
            </a:r>
          </a:p>
        </p:txBody>
      </p:sp>
      <p:sp>
        <p:nvSpPr>
          <p:cNvPr id="27" name="cpe|exhibit|marker|26"/>
          <p:cNvSpPr/>
          <p:nvPr/>
        </p:nvSpPr>
        <p:spPr>
          <a:xfrm>
            <a:off x="7746083" y="2630764"/>
            <a:ext cx="251572" cy="251572"/>
          </a:xfrm>
          <a:prstGeom prst="ellipse">
            <a:avLst/>
          </a:prstGeom>
          <a:solidFill>
            <a:srgbClr val="0B1F3A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label|27"/>
          <p:cNvSpPr txBox="1"/>
          <p:nvPr/>
        </p:nvSpPr>
        <p:spPr>
          <a:xfrm>
            <a:off x="8034230" y="2646822"/>
            <a:ext cx="118134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Online pure-players</a:t>
            </a:r>
          </a:p>
        </p:txBody>
      </p:sp>
      <p:cxnSp>
        <p:nvCxnSpPr>
          <p:cNvPr id="29" name="cpe|commentary|line|28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30" name="cpe|commentary|text|29"/>
          <p:cNvSpPr txBox="1"/>
          <p:nvPr/>
        </p:nvSpPr>
        <p:spPr>
          <a:xfrm>
            <a:off x="502920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Alvora's prices sit </a:t>
            </a:r>
            <a:r>
              <a:rPr sz="1200" b="1">
                <a:solidFill>
                  <a:srgbClr val="1E252D"/>
                </a:solidFill>
                <a:latin typeface="Arial"/>
              </a:rPr>
              <a:t>8% above</a:t>
            </a:r>
            <a:r>
              <a:rPr sz="1200" b="0">
                <a:solidFill>
                  <a:srgbClr val="1E252D"/>
                </a:solidFill>
                <a:latin typeface="Arial"/>
              </a:rPr>
              <a:t> Competitor A on a comparable basket</a:t>
            </a:r>
          </a:p>
        </p:txBody>
      </p:sp>
      <p:sp>
        <p:nvSpPr>
          <p:cNvPr id="31" name="cpe|commentary|text|30"/>
          <p:cNvSpPr txBox="1"/>
          <p:nvPr/>
        </p:nvSpPr>
        <p:spPr>
          <a:xfrm>
            <a:off x="4298594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Its experience score trails B and C on freshness and queues</a:t>
            </a:r>
          </a:p>
        </p:txBody>
      </p:sp>
      <p:sp>
        <p:nvSpPr>
          <p:cNvPr id="32" name="cpe|commentary|text|31"/>
          <p:cNvSpPr txBox="1"/>
          <p:nvPr/>
        </p:nvSpPr>
        <p:spPr>
          <a:xfrm>
            <a:off x="8094269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Winning back price perception needs a separate low-cost format, not deeper promotions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103120" cy="90297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697480" y="1481328"/>
            <a:ext cx="2032940" cy="902970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752344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4803572" y="1481328"/>
            <a:ext cx="203294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4858436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6909664" y="1481328"/>
            <a:ext cx="203294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6964528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9015755" y="1481328"/>
            <a:ext cx="203294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9070619" y="1481328"/>
            <a:ext cx="192321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475738"/>
            <a:ext cx="2103120" cy="902970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47573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697480" y="247573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752344" y="247573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05602" y="247573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560466" y="247573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8313725" y="247573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8368589" y="247573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470148"/>
            <a:ext cx="2103120" cy="902970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47014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697480" y="347014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752344" y="347014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5505602" y="347014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5560466" y="347014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8313725" y="347014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68589" y="347014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4464558"/>
            <a:ext cx="2103120" cy="902970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4464558"/>
            <a:ext cx="1920240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697480" y="4464558"/>
            <a:ext cx="2734970" cy="902970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752344" y="446455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5505602" y="446455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5560466" y="446455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8313725" y="4464558"/>
            <a:ext cx="2734970" cy="90297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8368589" y="4464558"/>
            <a:ext cx="2625242" cy="90297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11121847" y="1481328"/>
            <a:ext cx="566928" cy="3886200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11121847" y="1572768"/>
            <a:ext cx="566928" cy="370332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502920" y="556869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502920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New:</a:t>
            </a:r>
            <a:r>
              <a:rPr sz="12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</p:txBody>
      </p:sp>
      <p:sp>
        <p:nvSpPr>
          <p:cNvPr id="44" name="cpe|commentary|text|43"/>
          <p:cNvSpPr txBox="1"/>
          <p:nvPr/>
        </p:nvSpPr>
        <p:spPr>
          <a:xfrm>
            <a:off x="4298594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2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</p:txBody>
      </p:sp>
      <p:sp>
        <p:nvSpPr>
          <p:cNvPr id="45" name="cpe|commentary|text|44"/>
          <p:cNvSpPr txBox="1"/>
          <p:nvPr/>
        </p:nvSpPr>
        <p:spPr>
          <a:xfrm>
            <a:off x="8094269" y="5705856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103120" cy="888111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697480" y="1481328"/>
            <a:ext cx="2032940" cy="888111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752344" y="1481328"/>
            <a:ext cx="192321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4803572" y="1481328"/>
            <a:ext cx="2032940" cy="888111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4858436" y="1481328"/>
            <a:ext cx="192321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6909664" y="1481328"/>
            <a:ext cx="2032940" cy="888111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6964528" y="1481328"/>
            <a:ext cx="192321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9015755" y="1481328"/>
            <a:ext cx="2032940" cy="888111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9070619" y="1481328"/>
            <a:ext cx="192321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460879"/>
            <a:ext cx="2103120" cy="888111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460879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697480" y="2460879"/>
            <a:ext cx="2734970" cy="888111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752344" y="2460879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5505602" y="2460879"/>
            <a:ext cx="2734970" cy="888111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5560466" y="2460879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8313725" y="2460879"/>
            <a:ext cx="2734970" cy="888111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8368589" y="2460879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440430"/>
            <a:ext cx="2103120" cy="888111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440430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697480" y="3440430"/>
            <a:ext cx="2734970" cy="888111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752344" y="3440430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5505602" y="3440430"/>
            <a:ext cx="2734970" cy="888111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5560466" y="3440430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8313725" y="3440430"/>
            <a:ext cx="2734970" cy="888111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8368589" y="3440430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4419981"/>
            <a:ext cx="2103120" cy="888111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4419981"/>
            <a:ext cx="1920240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697480" y="4419981"/>
            <a:ext cx="2734970" cy="888111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752344" y="4419981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5505602" y="4419981"/>
            <a:ext cx="2734970" cy="888111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5560466" y="4419981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8313725" y="4419981"/>
            <a:ext cx="2734970" cy="888111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8368589" y="4419981"/>
            <a:ext cx="2625242" cy="8881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11121847" y="1481328"/>
            <a:ext cx="566928" cy="3826764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11121847" y="1572768"/>
            <a:ext cx="566928" cy="364388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502920" y="5509260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502920" y="5646420"/>
            <a:ext cx="359450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52D"/>
                </a:solidFill>
                <a:latin typeface="Arial"/>
              </a:rPr>
              <a:t>New:</a:t>
            </a:r>
            <a:r>
              <a:rPr sz="14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</p:txBody>
      </p:sp>
      <p:sp>
        <p:nvSpPr>
          <p:cNvPr id="44" name="cpe|commentary|text|43"/>
          <p:cNvSpPr txBox="1"/>
          <p:nvPr/>
        </p:nvSpPr>
        <p:spPr>
          <a:xfrm>
            <a:off x="4298594" y="5646420"/>
            <a:ext cx="359450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4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</p:txBody>
      </p:sp>
      <p:sp>
        <p:nvSpPr>
          <p:cNvPr id="45" name="cpe|commentary|text|44"/>
          <p:cNvSpPr txBox="1"/>
          <p:nvPr/>
        </p:nvSpPr>
        <p:spPr>
          <a:xfrm>
            <a:off x="8094269" y="5646420"/>
            <a:ext cx="3594506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1478036" cy="11109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072396" y="1481328"/>
            <a:ext cx="1240292" cy="1110996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127260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385840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440704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699284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54148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12729" y="1481328"/>
            <a:ext cx="1240292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67593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683764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683764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072396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127260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23655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878519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4914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29778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072396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127260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23655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878519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4914" y="3886200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29778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5088636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5088636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072396" y="5088636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127260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23655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878519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4914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29778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326173" y="1481328"/>
            <a:ext cx="566928" cy="4718304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32617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New:</a:t>
            </a:r>
            <a:r>
              <a:rPr sz="12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2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1478036" cy="11109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072396" y="1481328"/>
            <a:ext cx="1240292" cy="1110996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127260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385840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440704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699284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54148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12729" y="1481328"/>
            <a:ext cx="1240292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67593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683764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683764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072396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127260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23655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878519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4914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29778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072396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127260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23655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878519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4914" y="3886200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29778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5088636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5088636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072396" y="5088636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127260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23655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878519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4914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29778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326173" y="1481328"/>
            <a:ext cx="566928" cy="4718304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32617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New:</a:t>
            </a:r>
            <a:r>
              <a:rPr sz="14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4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1478036" cy="11109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072396" y="1481328"/>
            <a:ext cx="1240292" cy="1110996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127260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385840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440704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699284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54148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12729" y="1481328"/>
            <a:ext cx="1240292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67593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683764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683764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072396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127260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23655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878519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4914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29778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072396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127260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23655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878519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4914" y="3886200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29778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5088636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5088636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072396" y="5088636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127260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23655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878519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4914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29778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326173" y="1481328"/>
            <a:ext cx="566928" cy="4718304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32617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New:</a:t>
            </a:r>
            <a:r>
              <a:rPr sz="12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2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OPERATING MODEL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target model adds a discount banner and central pricing to fund the growth moves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Team analysis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1478036" cy="11109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Propositions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072396" y="1481328"/>
            <a:ext cx="1240292" cy="1110996"/>
          </a:xfrm>
          <a:prstGeom prst="rect">
            <a:avLst/>
          </a:prstGeom>
          <a:solidFill>
            <a:srgbClr val="00A3AD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127260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3385840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3440704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Supermarkets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4699284" y="1481328"/>
            <a:ext cx="1240292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4754148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Convenience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6012729" y="1481328"/>
            <a:ext cx="1240292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6067593" y="1481328"/>
            <a:ext cx="113056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Online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2920" y="2683764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94360" y="2683764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Commercial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2072396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2127260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Central pricing &amp; promo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3823655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878519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Category management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5574914" y="2683764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5629778" y="2683764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Operations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072396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127260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Stores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3823655" y="3886200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3878519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Supply chain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574914" y="3886200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629778" y="3886200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Fulfilment hubs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502920" y="5088636"/>
            <a:ext cx="1478036" cy="1110996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594360" y="5088636"/>
            <a:ext cx="1295156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Enablers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2072396" y="5088636"/>
            <a:ext cx="1678107" cy="1110996"/>
          </a:xfrm>
          <a:prstGeom prst="rect">
            <a:avLst/>
          </a:prstGeom>
          <a:solidFill>
            <a:srgbClr val="EEF1F4"/>
          </a:solidFill>
          <a:ln w="19050">
            <a:solidFill>
              <a:srgbClr val="00A3AD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2127260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Data &amp; analytics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3823655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text|36"/>
          <p:cNvSpPr txBox="1"/>
          <p:nvPr/>
        </p:nvSpPr>
        <p:spPr>
          <a:xfrm>
            <a:off x="3878519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Technology</a:t>
            </a:r>
          </a:p>
        </p:txBody>
      </p:sp>
      <p:sp>
        <p:nvSpPr>
          <p:cNvPr id="38" name="cpe|exhibit|fill|37"/>
          <p:cNvSpPr/>
          <p:nvPr/>
        </p:nvSpPr>
        <p:spPr>
          <a:xfrm>
            <a:off x="5574914" y="5088636"/>
            <a:ext cx="1678107" cy="111099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text|38"/>
          <p:cNvSpPr txBox="1"/>
          <p:nvPr/>
        </p:nvSpPr>
        <p:spPr>
          <a:xfrm>
            <a:off x="5629778" y="5088636"/>
            <a:ext cx="1568379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E252D"/>
                </a:solidFill>
                <a:latin typeface="Arial"/>
              </a:rPr>
              <a:t>People &amp; capabilities</a:t>
            </a:r>
          </a:p>
        </p:txBody>
      </p:sp>
      <p:sp>
        <p:nvSpPr>
          <p:cNvPr id="40" name="cpe|exhibit|fill|39"/>
          <p:cNvSpPr/>
          <p:nvPr/>
        </p:nvSpPr>
        <p:spPr>
          <a:xfrm>
            <a:off x="7326173" y="1481328"/>
            <a:ext cx="566928" cy="4718304"/>
          </a:xfrm>
          <a:prstGeom prst="rect">
            <a:avLst/>
          </a:prstGeom>
          <a:solidFill>
            <a:srgbClr val="F4F6F8"/>
          </a:solidFill>
          <a:ln w="6350">
            <a:solidFill>
              <a:srgbClr val="B7BFC8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vtext|40"/>
          <p:cNvSpPr txBox="1"/>
          <p:nvPr/>
        </p:nvSpPr>
        <p:spPr>
          <a:xfrm>
            <a:off x="7326173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252D"/>
                </a:solidFill>
                <a:latin typeface="Arial"/>
              </a:rPr>
              <a:t>Transformation office</a:t>
            </a:r>
          </a:p>
        </p:txBody>
      </p:sp>
      <p:cxnSp>
        <p:nvCxnSpPr>
          <p:cNvPr id="42" name="cpe|commentary|line|4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43" name="cpe|commentary|text|4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New:</a:t>
            </a:r>
            <a:r>
              <a:rPr sz="1400" b="0">
                <a:solidFill>
                  <a:srgbClr val="1E252D"/>
                </a:solidFill>
                <a:latin typeface="Arial"/>
              </a:rPr>
              <a:t> discount banner, private label, fulfilment hubs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1">
                <a:solidFill>
                  <a:srgbClr val="1E252D"/>
                </a:solidFill>
                <a:latin typeface="Arial"/>
              </a:rPr>
              <a:t>Changed:</a:t>
            </a:r>
            <a:r>
              <a:rPr sz="1400" b="0">
                <a:solidFill>
                  <a:srgbClr val="1E252D"/>
                </a:solidFill>
                <a:latin typeface="Arial"/>
              </a:rPr>
              <a:t> pricing moves to the centre; category teams own margin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00" b="0">
                <a:solidFill>
                  <a:srgbClr val="1E252D"/>
                </a:solidFill>
                <a:latin typeface="Arial"/>
              </a:rPr>
              <a:t>A transformation office steers the programme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310128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346704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58979" y="1481328"/>
            <a:ext cx="206265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495555" y="1481328"/>
            <a:ext cx="1989506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58212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94788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291840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341457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39107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4069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9030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53992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8954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63915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502920" y="2121408"/>
            <a:ext cx="11185855" cy="0"/>
          </a:xfrm>
          <a:prstGeom prst="line">
            <a:avLst/>
          </a:prstGeom>
          <a:ln w="9525">
            <a:solidFill>
              <a:srgbClr val="0B1F3A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341457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39107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4069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9030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53992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8954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63915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816648" y="2075688"/>
            <a:ext cx="0" cy="3447288"/>
          </a:xfrm>
          <a:prstGeom prst="line">
            <a:avLst/>
          </a:prstGeom>
          <a:ln w="9525">
            <a:solidFill>
              <a:srgbClr val="00A3AD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359448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A77"/>
                </a:solidFill>
                <a:latin typeface="Arial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502920" y="212140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319272" y="2257471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374136" y="2257471"/>
            <a:ext cx="298425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268833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502920" y="2688336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319272" y="2824399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374136" y="2824399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502920" y="325526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502920" y="3255264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368889" y="3391327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23753" y="3391327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502920" y="3822192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502920" y="382219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18506" y="3958255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473370" y="3958255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502920" y="438912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502920" y="43891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68123" y="4604553"/>
            <a:ext cx="2044370" cy="294803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22987" y="4604553"/>
            <a:ext cx="1934642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67356" y="4604553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50236" y="4604553"/>
            <a:ext cx="285624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48484" y="4660514"/>
            <a:ext cx="182880" cy="182880"/>
          </a:xfrm>
          <a:prstGeom prst="diamond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224201" y="4403385"/>
            <a:ext cx="63144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E252D"/>
                </a:solidFill>
                <a:latin typeface="Arial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502920" y="4956048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502920" y="495604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17740" y="5092111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72604" y="5092111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502920" y="552297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310128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346704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58979" y="1481328"/>
            <a:ext cx="206265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495555" y="1481328"/>
            <a:ext cx="1989506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58212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94788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291840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341457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39107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4069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9030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53992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8954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63915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502920" y="2121408"/>
            <a:ext cx="11185855" cy="0"/>
          </a:xfrm>
          <a:prstGeom prst="line">
            <a:avLst/>
          </a:prstGeom>
          <a:ln w="9525">
            <a:solidFill>
              <a:srgbClr val="0B1F3A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341457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39107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4069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9030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53992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8954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63915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816648" y="2075688"/>
            <a:ext cx="0" cy="3447288"/>
          </a:xfrm>
          <a:prstGeom prst="line">
            <a:avLst/>
          </a:prstGeom>
          <a:ln w="9525">
            <a:solidFill>
              <a:srgbClr val="00A3AD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359448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A77"/>
                </a:solidFill>
                <a:latin typeface="Arial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502920" y="212140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319272" y="2257471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374136" y="2257471"/>
            <a:ext cx="298425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268833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502920" y="2688336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319272" y="2824399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374136" y="2824399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502920" y="325526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502920" y="3255264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368889" y="3391327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23753" y="3391327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502920" y="3822192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502920" y="382219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18506" y="3958255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473370" y="3958255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502920" y="438912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502920" y="43891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68123" y="4604553"/>
            <a:ext cx="2044370" cy="294803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22987" y="4604553"/>
            <a:ext cx="1934642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67356" y="4604553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50236" y="4604553"/>
            <a:ext cx="285624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48484" y="4660514"/>
            <a:ext cx="182880" cy="182880"/>
          </a:xfrm>
          <a:prstGeom prst="diamond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224201" y="4403385"/>
            <a:ext cx="63144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E252D"/>
                </a:solidFill>
                <a:latin typeface="Arial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502920" y="4956048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502920" y="495604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17740" y="5092111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72604" y="5092111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502920" y="552297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ROADMAP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A plan in three waves over 24 months secures quick margin wins before scaling the banner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3310128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3346704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1: Fix margins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6458979" y="1481328"/>
            <a:ext cx="206265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6495555" y="1481328"/>
            <a:ext cx="1989506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2: Pilot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8558212" y="1481328"/>
            <a:ext cx="3112275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8594788" y="1481328"/>
            <a:ext cx="303912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Wave 3: Scale</a:t>
            </a:r>
          </a:p>
        </p:txBody>
      </p:sp>
      <p:sp>
        <p:nvSpPr>
          <p:cNvPr id="12" name="cpe|exhibit|text|11"/>
          <p:cNvSpPr txBox="1"/>
          <p:nvPr/>
        </p:nvSpPr>
        <p:spPr>
          <a:xfrm>
            <a:off x="3291840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26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4341457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539107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26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644069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26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749030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Q1 27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8539924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Q2 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9589541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Q3 27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10639158" y="1828800"/>
            <a:ext cx="104961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E6A77"/>
                </a:solidFill>
                <a:latin typeface="Arial"/>
              </a:rPr>
              <a:t>Q4 27</a:t>
            </a:r>
          </a:p>
        </p:txBody>
      </p:sp>
      <p:cxnSp>
        <p:nvCxnSpPr>
          <p:cNvPr id="20" name="cpe|exhibit|line|19"/>
          <p:cNvCxnSpPr/>
          <p:nvPr/>
        </p:nvCxnSpPr>
        <p:spPr>
          <a:xfrm>
            <a:off x="502920" y="2121408"/>
            <a:ext cx="11185855" cy="0"/>
          </a:xfrm>
          <a:prstGeom prst="line">
            <a:avLst/>
          </a:prstGeom>
          <a:ln w="9525">
            <a:solidFill>
              <a:srgbClr val="0B1F3A"/>
            </a:solidFill>
          </a:ln>
        </p:spPr>
      </p:cxnSp>
      <p:cxnSp>
        <p:nvCxnSpPr>
          <p:cNvPr id="21" name="cpe|exhibit|line|20"/>
          <p:cNvCxnSpPr/>
          <p:nvPr/>
        </p:nvCxnSpPr>
        <p:spPr>
          <a:xfrm>
            <a:off x="4341457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2" name="cpe|exhibit|line|21"/>
          <p:cNvCxnSpPr/>
          <p:nvPr/>
        </p:nvCxnSpPr>
        <p:spPr>
          <a:xfrm>
            <a:off x="539107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3" name="cpe|exhibit|line|22"/>
          <p:cNvCxnSpPr/>
          <p:nvPr/>
        </p:nvCxnSpPr>
        <p:spPr>
          <a:xfrm>
            <a:off x="644069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4" name="cpe|exhibit|line|23"/>
          <p:cNvCxnSpPr/>
          <p:nvPr/>
        </p:nvCxnSpPr>
        <p:spPr>
          <a:xfrm>
            <a:off x="749030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5" name="cpe|exhibit|line|24"/>
          <p:cNvCxnSpPr/>
          <p:nvPr/>
        </p:nvCxnSpPr>
        <p:spPr>
          <a:xfrm>
            <a:off x="8539924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6" name="cpe|exhibit|line|25"/>
          <p:cNvCxnSpPr/>
          <p:nvPr/>
        </p:nvCxnSpPr>
        <p:spPr>
          <a:xfrm>
            <a:off x="9589541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7" name="cpe|exhibit|line|26"/>
          <p:cNvCxnSpPr/>
          <p:nvPr/>
        </p:nvCxnSpPr>
        <p:spPr>
          <a:xfrm>
            <a:off x="10639158" y="2121408"/>
            <a:ext cx="0" cy="3401568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3816648" y="2075688"/>
            <a:ext cx="0" cy="3447288"/>
          </a:xfrm>
          <a:prstGeom prst="line">
            <a:avLst/>
          </a:prstGeom>
          <a:ln w="9525">
            <a:solidFill>
              <a:srgbClr val="00A3AD"/>
            </a:solidFill>
            <a:prstDash val="dash"/>
          </a:ln>
        </p:spPr>
      </p:cxnSp>
      <p:sp>
        <p:nvSpPr>
          <p:cNvPr id="29" name="cpe|exhibit|label|28"/>
          <p:cNvSpPr txBox="1"/>
          <p:nvPr/>
        </p:nvSpPr>
        <p:spPr>
          <a:xfrm>
            <a:off x="3359448" y="554126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E6A77"/>
                </a:solidFill>
                <a:latin typeface="Arial"/>
              </a:rPr>
              <a:t>Today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502920" y="212140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Pricing &amp; promo reset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3319272" y="2257471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3374136" y="2257471"/>
            <a:ext cx="298425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Reset 1,200 SKUs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268833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502920" y="2688336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Fresh &amp; food-to-go margins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3319272" y="2824399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3374136" y="2824399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Waste &amp; range</a:t>
            </a:r>
          </a:p>
        </p:txBody>
      </p:sp>
      <p:cxnSp>
        <p:nvCxnSpPr>
          <p:cNvPr id="37" name="cpe|exhibit|line|36"/>
          <p:cNvCxnSpPr/>
          <p:nvPr/>
        </p:nvCxnSpPr>
        <p:spPr>
          <a:xfrm>
            <a:off x="502920" y="3255264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38" name="cpe|exhibit|text|37"/>
          <p:cNvSpPr txBox="1"/>
          <p:nvPr/>
        </p:nvSpPr>
        <p:spPr>
          <a:xfrm>
            <a:off x="502920" y="3255264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Cost programme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4368889" y="3391327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4423753" y="3391327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Labour scheduling, energy</a:t>
            </a:r>
          </a:p>
        </p:txBody>
      </p:sp>
      <p:cxnSp>
        <p:nvCxnSpPr>
          <p:cNvPr id="41" name="cpe|exhibit|line|40"/>
          <p:cNvCxnSpPr/>
          <p:nvPr/>
        </p:nvCxnSpPr>
        <p:spPr>
          <a:xfrm>
            <a:off x="502920" y="3822192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2" name="cpe|exhibit|text|41"/>
          <p:cNvSpPr txBox="1"/>
          <p:nvPr/>
        </p:nvSpPr>
        <p:spPr>
          <a:xfrm>
            <a:off x="502920" y="3822192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Private label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5418506" y="3958255"/>
            <a:ext cx="624283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5473370" y="3958255"/>
            <a:ext cx="6133109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25% → 35% of sales</a:t>
            </a:r>
          </a:p>
        </p:txBody>
      </p:sp>
      <p:cxnSp>
        <p:nvCxnSpPr>
          <p:cNvPr id="45" name="cpe|exhibit|line|44"/>
          <p:cNvCxnSpPr/>
          <p:nvPr/>
        </p:nvCxnSpPr>
        <p:spPr>
          <a:xfrm>
            <a:off x="502920" y="4389120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46" name="cpe|exhibit|text|45"/>
          <p:cNvSpPr txBox="1"/>
          <p:nvPr/>
        </p:nvSpPr>
        <p:spPr>
          <a:xfrm>
            <a:off x="502920" y="43891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Discount banner</a:t>
            </a:r>
          </a:p>
        </p:txBody>
      </p:sp>
      <p:sp>
        <p:nvSpPr>
          <p:cNvPr id="47" name="cpe|exhibit|fill|46"/>
          <p:cNvSpPr/>
          <p:nvPr/>
        </p:nvSpPr>
        <p:spPr>
          <a:xfrm>
            <a:off x="6468123" y="4604553"/>
            <a:ext cx="2044370" cy="294803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text|47"/>
          <p:cNvSpPr txBox="1"/>
          <p:nvPr/>
        </p:nvSpPr>
        <p:spPr>
          <a:xfrm>
            <a:off x="6522987" y="4604553"/>
            <a:ext cx="1934642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252D"/>
                </a:solidFill>
                <a:latin typeface="Arial"/>
              </a:rPr>
              <a:t>Pilot 20 stores</a:t>
            </a:r>
          </a:p>
        </p:txBody>
      </p:sp>
      <p:sp>
        <p:nvSpPr>
          <p:cNvPr id="49" name="cpe|exhibit|fill|48"/>
          <p:cNvSpPr/>
          <p:nvPr/>
        </p:nvSpPr>
        <p:spPr>
          <a:xfrm>
            <a:off x="8567356" y="4604553"/>
            <a:ext cx="3093987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text|49"/>
          <p:cNvSpPr txBox="1"/>
          <p:nvPr/>
        </p:nvSpPr>
        <p:spPr>
          <a:xfrm>
            <a:off x="8750236" y="4604553"/>
            <a:ext cx="2856243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Roll out 150 stores</a:t>
            </a:r>
          </a:p>
        </p:txBody>
      </p:sp>
      <p:sp>
        <p:nvSpPr>
          <p:cNvPr id="51" name="cpe|exhibit|marker|50"/>
          <p:cNvSpPr/>
          <p:nvPr/>
        </p:nvSpPr>
        <p:spPr>
          <a:xfrm>
            <a:off x="8448484" y="4660514"/>
            <a:ext cx="182880" cy="182880"/>
          </a:xfrm>
          <a:prstGeom prst="diamond">
            <a:avLst/>
          </a:prstGeom>
          <a:solidFill>
            <a:srgbClr val="00A3AD"/>
          </a:solidFill>
          <a:ln w="9525">
            <a:solidFill>
              <a:srgbClr val="FFFFFF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cpe|exhibit|label|51"/>
          <p:cNvSpPr txBox="1"/>
          <p:nvPr/>
        </p:nvSpPr>
        <p:spPr>
          <a:xfrm>
            <a:off x="8224201" y="4403385"/>
            <a:ext cx="631448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E252D"/>
                </a:solidFill>
                <a:latin typeface="Arial"/>
              </a:rPr>
              <a:t>Go / no-go</a:t>
            </a:r>
          </a:p>
        </p:txBody>
      </p:sp>
      <p:cxnSp>
        <p:nvCxnSpPr>
          <p:cNvPr id="53" name="cpe|exhibit|line|52"/>
          <p:cNvCxnSpPr/>
          <p:nvPr/>
        </p:nvCxnSpPr>
        <p:spPr>
          <a:xfrm>
            <a:off x="502920" y="4956048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  <p:sp>
        <p:nvSpPr>
          <p:cNvPr id="54" name="cpe|exhibit|text|53"/>
          <p:cNvSpPr txBox="1"/>
          <p:nvPr/>
        </p:nvSpPr>
        <p:spPr>
          <a:xfrm>
            <a:off x="502920" y="495604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52D"/>
                </a:solidFill>
                <a:latin typeface="Arial"/>
              </a:rPr>
              <a:t>Online fulfilment hubs</a:t>
            </a:r>
          </a:p>
        </p:txBody>
      </p:sp>
      <p:sp>
        <p:nvSpPr>
          <p:cNvPr id="55" name="cpe|exhibit|fill|54"/>
          <p:cNvSpPr/>
          <p:nvPr/>
        </p:nvSpPr>
        <p:spPr>
          <a:xfrm>
            <a:off x="7517740" y="5092111"/>
            <a:ext cx="4143604" cy="294803"/>
          </a:xfrm>
          <a:prstGeom prst="rect">
            <a:avLst/>
          </a:prstGeom>
          <a:solidFill>
            <a:srgbClr val="3D639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cpe|exhibit|text|55"/>
          <p:cNvSpPr txBox="1"/>
          <p:nvPr/>
        </p:nvSpPr>
        <p:spPr>
          <a:xfrm>
            <a:off x="7572604" y="5092111"/>
            <a:ext cx="4033876" cy="29480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2 hubs</a:t>
            </a:r>
          </a:p>
        </p:txBody>
      </p:sp>
      <p:cxnSp>
        <p:nvCxnSpPr>
          <p:cNvPr id="57" name="cpe|exhibit|line|56"/>
          <p:cNvCxnSpPr/>
          <p:nvPr/>
        </p:nvCxnSpPr>
        <p:spPr>
          <a:xfrm>
            <a:off x="502920" y="5522976"/>
            <a:ext cx="11185855" cy="0"/>
          </a:xfrm>
          <a:prstGeom prst="line">
            <a:avLst/>
          </a:prstGeom>
          <a:ln w="6350">
            <a:solidFill>
              <a:srgbClr val="E3E7EB"/>
            </a:solidFill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AT STAKE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6357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Five initiatives adding €250M lift EBITDA to €1,067M by 2028, net of €40M market headwinds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Initiative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2025 to 2028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957860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901152" y="3605216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+60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299384" y="3340734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+45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697616" y="2929316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+70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95848" y="2606060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+55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7494080" y="2488512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+20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892311" y="2488512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−40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290543" y="2723608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1,067</a:t>
            </a:r>
          </a:p>
        </p:txBody>
      </p:sp>
      <p:cxnSp>
        <p:nvCxnSpPr>
          <p:cNvPr id="16" name="cpe|exhibit|connector|15"/>
          <p:cNvCxnSpPr/>
          <p:nvPr/>
        </p:nvCxnSpPr>
        <p:spPr>
          <a:xfrm>
            <a:off x="1684185" y="4223036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3082417" y="3870392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480649" y="3605910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878881" y="3194492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277112" y="2871236"/>
            <a:ext cx="433935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8675344" y="2753688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10073576" y="2988784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3" name="cpe|exhibit|marker|22"/>
          <p:cNvSpPr/>
          <p:nvPr/>
        </p:nvSpPr>
        <p:spPr>
          <a:xfrm>
            <a:off x="665023" y="4850735"/>
            <a:ext cx="1074026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10452646" y="4850735"/>
            <a:ext cx="1074026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takeaway|fill|24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takeaway|fill|25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takeaway|text|26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Cost and pricing levers deliver €130M of the uplift and are largely within management control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VALUE AT STAKE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635743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Five initiatives adding €250M lift EBITDA to €1,067M by 2028, net of €40M market headwinds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Initiative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EBITDA 2025 to 2028</a:t>
            </a:r>
            <a:r>
              <a:rPr sz="1100" b="0">
                <a:solidFill>
                  <a:srgbClr val="1E252D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3957860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857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901152" y="3605216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+60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3299384" y="3340734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+45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697616" y="2929316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+70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95848" y="2606060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+55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7494080" y="2488512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+20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8892311" y="2488512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52D"/>
                </a:solidFill>
                <a:latin typeface="Arial"/>
              </a:rPr>
              <a:t>−40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10290543" y="2723608"/>
            <a:ext cx="1398232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1,067</a:t>
            </a:r>
          </a:p>
        </p:txBody>
      </p:sp>
      <p:cxnSp>
        <p:nvCxnSpPr>
          <p:cNvPr id="16" name="cpe|exhibit|connector|15"/>
          <p:cNvCxnSpPr/>
          <p:nvPr/>
        </p:nvCxnSpPr>
        <p:spPr>
          <a:xfrm>
            <a:off x="1684185" y="4223036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3082417" y="3870392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480649" y="3605910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878881" y="3194492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7277112" y="2871236"/>
            <a:ext cx="433935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1" name="cpe|exhibit|connector|20"/>
          <p:cNvCxnSpPr/>
          <p:nvPr/>
        </p:nvCxnSpPr>
        <p:spPr>
          <a:xfrm>
            <a:off x="8675344" y="2753688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22" name="cpe|exhibit|connector|21"/>
          <p:cNvCxnSpPr/>
          <p:nvPr/>
        </p:nvCxnSpPr>
        <p:spPr>
          <a:xfrm>
            <a:off x="10073576" y="2988784"/>
            <a:ext cx="433934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sp>
        <p:nvSpPr>
          <p:cNvPr id="23" name="cpe|exhibit|marker|22"/>
          <p:cNvSpPr/>
          <p:nvPr/>
        </p:nvSpPr>
        <p:spPr>
          <a:xfrm>
            <a:off x="665023" y="4850735"/>
            <a:ext cx="1074026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10452646" y="4850735"/>
            <a:ext cx="1074026" cy="82296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takeaway|fill|24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takeaway|fill|25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takeaway|text|26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F3A"/>
                </a:solidFill>
                <a:latin typeface="Arial"/>
              </a:rPr>
              <a:t>Cost and pricing levers deliver €130M of the uplift and are largely within management control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1" cy="19145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716798"/>
                <a:gridCol w="856875"/>
                <a:gridCol w="805134"/>
                <a:gridCol w="805134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71662" y="24888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71662" y="297237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71662" y="3455861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0" cy="36850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711811"/>
                <a:gridCol w="877367"/>
                <a:gridCol w="797381"/>
                <a:gridCol w="797381"/>
              </a:tblGrid>
              <a:tr h="71666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75538" y="293008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75538" y="3887343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75538" y="4941189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87064"/>
                <a:gridCol w="753695"/>
                <a:gridCol w="939338"/>
                <a:gridCol w="866685"/>
                <a:gridCol w="743399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116395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16395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16395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402529" y="317087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402529" y="4334828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402529" y="54987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1" cy="191452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716798"/>
                <a:gridCol w="856875"/>
                <a:gridCol w="805134"/>
                <a:gridCol w="805134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71662" y="24888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71662" y="297237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71662" y="3455861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0" cy="36850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711811"/>
                <a:gridCol w="877367"/>
                <a:gridCol w="797381"/>
                <a:gridCol w="797381"/>
              </a:tblGrid>
              <a:tr h="716661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375538" y="293008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375538" y="3887343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375538" y="4941189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45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87064"/>
                <a:gridCol w="753695"/>
                <a:gridCol w="939338"/>
                <a:gridCol w="866685"/>
                <a:gridCol w="743399"/>
              </a:tblGrid>
              <a:tr h="80581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116395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16395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16395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402529" y="317087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402529" y="4334828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402529" y="54987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E252D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  <a:p>
            <a:pPr algn="l" marL="155448" indent="-155448">
              <a:lnSpc>
                <a:spcPct val="108000"/>
              </a:lnSpc>
              <a:buClr>
                <a:srgbClr val="1E252D"/>
              </a:buClr>
              <a:buSzPct val="100000"/>
              <a:buFont typeface="Arial"/>
              <a:buChar char="•"/>
            </a:pPr>
            <a:r>
              <a:rPr sz="160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17510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2048169"/>
                <a:gridCol w="2188246"/>
                <a:gridCol w="1371600"/>
                <a:gridCol w="1371600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884103" y="232543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884103" y="2808922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884103" y="329241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4918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2035429"/>
                <a:gridCol w="2200986"/>
                <a:gridCol w="1371600"/>
                <a:gridCol w="1371600"/>
              </a:tblGrid>
              <a:tr h="52349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860679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105384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884103" y="2736914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884103" y="3694176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884103" y="474802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502920" y="5709856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502920" y="5847016"/>
            <a:ext cx="549234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847016"/>
            <a:ext cx="5492344" cy="352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E6A77"/>
                </a:solidFill>
                <a:latin typeface="Arial"/>
              </a:rPr>
              <a:t>DECISIONS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The board is asked to approve three decisions to start Wave 1 in January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880841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E6A77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7"/>
                </a:solidFill>
                <a:latin typeface="Arial"/>
              </a:rPr>
              <a:t>Illustrative data   12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E252D"/>
                </a:solidFill>
                <a:latin typeface="Arial"/>
              </a:rPr>
              <a:t>Decisions requested today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3346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2022680"/>
                <a:gridCol w="2213735"/>
                <a:gridCol w="1371600"/>
                <a:gridCol w="1371600"/>
              </a:tblGrid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EBITDA 2028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E252D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0B1F3A"/>
                      </a:solidFill>
                      <a:prstDash val="solid"/>
                    </a:lnB>
                    <a:noFill/>
                  </a:tcPr>
                </a:tc>
              </a:tr>
              <a:tr h="92125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pricing &amp; promo reset across 1,200 SKUs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CCO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92125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discount banner pilot in 20 stores (€18M capex)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CEO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Q4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7EB"/>
                      </a:solidFill>
                      <a:prstDash val="solid"/>
                    </a:lnB>
                    <a:noFill/>
                  </a:tcPr>
                </a:tc>
              </a:tr>
              <a:tr h="92125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Approve €85M programme budget and transformation office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E252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7BFC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10884103" y="2826639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10884103" y="3747897"/>
            <a:ext cx="237744" cy="237744"/>
          </a:xfrm>
          <a:prstGeom prst="ellipse">
            <a:avLst/>
          </a:prstGeom>
          <a:solidFill>
            <a:srgbClr val="D98E0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10884103" y="4669155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1" name="cpe|commentary|line|10"/>
          <p:cNvCxnSpPr/>
          <p:nvPr/>
        </p:nvCxnSpPr>
        <p:spPr>
          <a:xfrm>
            <a:off x="502920" y="5449824"/>
            <a:ext cx="11185855" cy="0"/>
          </a:xfrm>
          <a:prstGeom prst="line">
            <a:avLst/>
          </a:prstGeom>
          <a:ln w="9525">
            <a:solidFill>
              <a:srgbClr val="B7BFC8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502920" y="5586984"/>
            <a:ext cx="5492344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E252D"/>
                </a:solidFill>
                <a:latin typeface="Arial"/>
              </a:rPr>
              <a:t>Wave 1 is self-funding by Q4 2026</a:t>
            </a:r>
          </a:p>
        </p:txBody>
      </p:sp>
      <p:sp>
        <p:nvSpPr>
          <p:cNvPr id="13" name="cpe|commentary|text|12"/>
          <p:cNvSpPr txBox="1"/>
          <p:nvPr/>
        </p:nvSpPr>
        <p:spPr>
          <a:xfrm>
            <a:off x="6196432" y="5586984"/>
            <a:ext cx="5492344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E252D"/>
                </a:solidFill>
                <a:latin typeface="Arial"/>
              </a:rPr>
              <a:t>The go / no-go on the banner comes back to the board in Q2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Repositioning Alvora for profitable growth</dc:title>
  <dc:subject>Alvora should reposition towards discount and fix category margins now to return EBITDA above €1bn by 2028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