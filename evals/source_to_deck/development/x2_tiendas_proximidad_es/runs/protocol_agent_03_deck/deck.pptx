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91816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Mejora prometida (pérdida 2025)</c:v>
                </c:pt>
                <c:pt idx="1">
                  <c:v>Coste central que permanece</c:v>
                </c:pt>
                <c:pt idx="2">
                  <c:v>Mejora real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1596.0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Sheet1!$A$2:$A$4</c:f>
              <c:strCache>
                <c:ptCount val="3"/>
                <c:pt idx="0">
                  <c:v>Mejora prometida (pérdida 2025)</c:v>
                </c:pt>
                <c:pt idx="1">
                  <c:v>Coste central que permanece</c:v>
                </c:pt>
                <c:pt idx="2">
                  <c:v>Mejora real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5196.0</c:v>
                </c:pt>
                <c:pt idx="1">
                  <c:v>0.0</c:v>
                </c:pt>
                <c:pt idx="2">
                  <c:v>1596.0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(below zero)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Sheet1!$A$2:$A$4</c:f>
              <c:strCache>
                <c:ptCount val="3"/>
                <c:pt idx="0">
                  <c:v>Mejora prometida (pérdida 2025)</c:v>
                </c:pt>
                <c:pt idx="1">
                  <c:v>Coste central que permanece</c:v>
                </c:pt>
                <c:pt idx="2">
                  <c:v>Mejora real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9D0D8"/>
            </a:solidFill>
          </c:spPr>
          <c:dPt>
            <c:idx val="1"/>
            <c:spPr>
              <a:solidFill>
                <a:srgbClr val="00A3AD"/>
              </a:solidFill>
            </c:spPr>
          </c:dPt>
          <c:cat>
            <c:strRef>
              <c:f>Sheet1!$A$2:$A$4</c:f>
              <c:strCache>
                <c:ptCount val="3"/>
                <c:pt idx="0">
                  <c:v>Mejora prometida (pérdida 2025)</c:v>
                </c:pt>
                <c:pt idx="1">
                  <c:v>Coste central que permanece</c:v>
                </c:pt>
                <c:pt idx="2">
                  <c:v>Mejora real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Increase (below zero)</c:v>
                </c:pt>
              </c:strCache>
            </c:strRef>
          </c:tx>
          <c:spPr>
            <a:solidFill>
              <a:srgbClr val="C9D0D8"/>
            </a:solidFill>
          </c:spPr>
          <c:dPt>
            <c:idx val="1"/>
            <c:spPr>
              <a:solidFill>
                <a:srgbClr val="00A3AD"/>
              </a:solidFill>
            </c:spPr>
          </c:dPt>
          <c:cat>
            <c:strRef>
              <c:f>Sheet1!$A$2:$A$4</c:f>
              <c:strCache>
                <c:ptCount val="3"/>
                <c:pt idx="0">
                  <c:v>Mejora prometida (pérdida 2025)</c:v>
                </c:pt>
                <c:pt idx="1">
                  <c:v>Coste central que permanece</c:v>
                </c:pt>
                <c:pt idx="2">
                  <c:v>Mejora real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9D0D8"/>
            </a:solidFill>
          </c:spPr>
          <c:dPt>
            <c:idx val="1"/>
            <c:spPr>
              <a:solidFill>
                <a:srgbClr val="00A3AD"/>
              </a:solidFill>
            </c:spPr>
          </c:dPt>
          <c:cat>
            <c:strRef>
              <c:f>Sheet1!$A$2:$A$4</c:f>
              <c:strCache>
                <c:ptCount val="3"/>
                <c:pt idx="0">
                  <c:v>Mejora prometida (pérdida 2025)</c:v>
                </c:pt>
                <c:pt idx="1">
                  <c:v>Coste central que permanece</c:v>
                </c:pt>
                <c:pt idx="2">
                  <c:v>Mejora real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0.0</c:v>
                </c:pt>
                <c:pt idx="1">
                  <c:v>3600.0</c:v>
                </c:pt>
                <c:pt idx="2">
                  <c:v>0.0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Decrease (below zero)</c:v>
                </c:pt>
              </c:strCache>
            </c:strRef>
          </c:tx>
          <c:spPr>
            <a:solidFill>
              <a:srgbClr val="C9D0D8"/>
            </a:solidFill>
          </c:spPr>
          <c:dPt>
            <c:idx val="1"/>
            <c:spPr>
              <a:solidFill>
                <a:srgbClr val="00A3AD"/>
              </a:solidFill>
            </c:spPr>
          </c:dPt>
          <c:cat>
            <c:strRef>
              <c:f>Sheet1!$A$2:$A$4</c:f>
              <c:strCache>
                <c:ptCount val="3"/>
                <c:pt idx="0">
                  <c:v>Mejora prometida (pérdida 2025)</c:v>
                </c:pt>
                <c:pt idx="1">
                  <c:v>Coste central que permanece</c:v>
                </c:pt>
                <c:pt idx="2">
                  <c:v>Mejora real</c:v>
                </c:pt>
              </c:strCache>
            </c:strRef>
          </c:cat>
          <c:val>
            <c:numRef>
              <c:f>Sheet1!$H$2:$H$4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5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8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20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5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86842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EBITDA contable</c:v>
                </c:pt>
                <c:pt idx="1">
                  <c:v>Coste central asignado</c:v>
                </c:pt>
                <c:pt idx="2">
                  <c:v>Contribución antes de coste central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Sheet1!$A$2:$A$4</c:f>
              <c:strCache>
                <c:ptCount val="3"/>
                <c:pt idx="0">
                  <c:v>EBITDA contable</c:v>
                </c:pt>
                <c:pt idx="1">
                  <c:v>Coste central asignado</c:v>
                </c:pt>
                <c:pt idx="2">
                  <c:v>Contribución antes de coste central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324.0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(below zero)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Sheet1!$A$2:$A$4</c:f>
              <c:strCache>
                <c:ptCount val="3"/>
                <c:pt idx="0">
                  <c:v>EBITDA contable</c:v>
                </c:pt>
                <c:pt idx="1">
                  <c:v>Coste central asignado</c:v>
                </c:pt>
                <c:pt idx="2">
                  <c:v>Contribución antes de coste central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-1296.0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9D0D8"/>
            </a:solidFill>
          </c:spPr>
          <c:dPt>
            <c:idx val="2"/>
            <c:spPr>
              <a:solidFill>
                <a:srgbClr val="00A3AD"/>
              </a:solidFill>
            </c:spPr>
          </c:dPt>
          <c:cat>
            <c:strRef>
              <c:f>Sheet1!$A$2:$A$4</c:f>
              <c:strCache>
                <c:ptCount val="3"/>
                <c:pt idx="0">
                  <c:v>EBITDA contable</c:v>
                </c:pt>
                <c:pt idx="1">
                  <c:v>Coste central asignado</c:v>
                </c:pt>
                <c:pt idx="2">
                  <c:v>Contribución antes de coste central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</c:v>
                </c:pt>
                <c:pt idx="1">
                  <c:v>324.0</c:v>
                </c:pt>
                <c:pt idx="2">
                  <c:v>0.0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Increase (below zero)</c:v>
                </c:pt>
              </c:strCache>
            </c:strRef>
          </c:tx>
          <c:spPr>
            <a:solidFill>
              <a:srgbClr val="C9D0D8"/>
            </a:solidFill>
          </c:spPr>
          <c:dPt>
            <c:idx val="2"/>
            <c:spPr>
              <a:solidFill>
                <a:srgbClr val="00A3AD"/>
              </a:solidFill>
            </c:spPr>
          </c:dPt>
          <c:cat>
            <c:strRef>
              <c:f>Sheet1!$A$2:$A$4</c:f>
              <c:strCache>
                <c:ptCount val="3"/>
                <c:pt idx="0">
                  <c:v>EBITDA contable</c:v>
                </c:pt>
                <c:pt idx="1">
                  <c:v>Coste central asignado</c:v>
                </c:pt>
                <c:pt idx="2">
                  <c:v>Contribución antes de coste central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0.0</c:v>
                </c:pt>
                <c:pt idx="1">
                  <c:v>-1296.0</c:v>
                </c:pt>
                <c:pt idx="2">
                  <c:v>0.0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9D0D8"/>
            </a:solidFill>
          </c:spPr>
          <c:dPt>
            <c:idx val="2"/>
            <c:spPr>
              <a:solidFill>
                <a:srgbClr val="00A3AD"/>
              </a:solidFill>
            </c:spPr>
          </c:dPt>
          <c:cat>
            <c:strRef>
              <c:f>Sheet1!$A$2:$A$4</c:f>
              <c:strCache>
                <c:ptCount val="3"/>
                <c:pt idx="0">
                  <c:v>EBITDA contable</c:v>
                </c:pt>
                <c:pt idx="1">
                  <c:v>Coste central asignado</c:v>
                </c:pt>
                <c:pt idx="2">
                  <c:v>Contribución antes de coste central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Decrease (below zero)</c:v>
                </c:pt>
              </c:strCache>
            </c:strRef>
          </c:tx>
          <c:spPr>
            <a:solidFill>
              <a:srgbClr val="C9D0D8"/>
            </a:solidFill>
          </c:spPr>
          <c:dPt>
            <c:idx val="2"/>
            <c:spPr>
              <a:solidFill>
                <a:srgbClr val="00A3AD"/>
              </a:solidFill>
            </c:spPr>
          </c:dPt>
          <c:cat>
            <c:strRef>
              <c:f>Sheet1!$A$2:$A$4</c:f>
              <c:strCache>
                <c:ptCount val="3"/>
                <c:pt idx="0">
                  <c:v>EBITDA contable</c:v>
                </c:pt>
                <c:pt idx="1">
                  <c:v>Coste central asignado</c:v>
                </c:pt>
                <c:pt idx="2">
                  <c:v>Contribución antes de coste central</c:v>
                </c:pt>
              </c:strCache>
            </c:strRef>
          </c:cat>
          <c:val>
            <c:numRef>
              <c:f>Sheet1!$H$2:$H$4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5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0.0"/>
          <c:min val="-170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5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5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completa en una página: rechazar el cierre total y aprobar el cierre selectivo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Desmontar la cifra de 5,2 M€: el coste central asignado no desaparece al cerrar El coste central asignado se reparte entre el resto de la red si se cierra una tienda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Corregir el coste de cierre de la propuesta La propuesta aplica 250 k€ a todas las tiendas; el informe inmobiliario fija 100 k€ para las 15 con ruptura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Localizar la pérdida evitable: separar el problema estructural (A) de la rampa (B) El problema es el contrato de alquiler del grupo A, no el formato de proximidad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que el grupo B ya aporta y está en rampa: responde a 'B también pierde dinero' Sus ventas por m2 crecen un 11% al año; cerrarlas costaría 4500 k€ y restaría su contribución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Comparar las cuatro opciones en la misma base 2026-2027 Las cuatro opciones cargan los mismos componentes; el coste central permanece en todas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para las 7 tiendas A sin ruptura: negociar antes de cerrar, con criterio y fecha Cinco de los siete propietarios ya aceptan negociar una rebaja de alquiler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Decisiones, umbrales y seguimiento que el consejo aprueba hoy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text|fill|1"/>
          <p:cNvSpPr/>
          <p:nvPr/>
        </p:nvSpPr>
        <p:spPr>
          <a:xfrm>
            <a:off x="502920" y="2360466"/>
            <a:ext cx="822960" cy="6400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cpe|text|text|2"/>
          <p:cNvSpPr txBox="1"/>
          <p:nvPr/>
        </p:nvSpPr>
        <p:spPr>
          <a:xfrm>
            <a:off x="502920" y="2653074"/>
            <a:ext cx="9288018" cy="6560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B1F3A"/>
                </a:solidFill>
                <a:latin typeface="Arial"/>
              </a:rPr>
              <a:t>Tiendas de proximidad: cerrar 15, no 40</a:t>
            </a:r>
          </a:p>
        </p:txBody>
      </p:sp>
      <p:sp>
        <p:nvSpPr>
          <p:cNvPr id="4" name="cpe|text|text|3"/>
          <p:cNvSpPr txBox="1"/>
          <p:nvPr/>
        </p:nvSpPr>
        <p:spPr>
          <a:xfrm>
            <a:off x="502920" y="3510324"/>
            <a:ext cx="8339099" cy="344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5E6A77"/>
                </a:solidFill>
                <a:latin typeface="Arial"/>
              </a:rPr>
              <a:t>Decisión sobre las 40 tiendas en pérdidas y su efecto real en el EBITDA</a:t>
            </a:r>
          </a:p>
        </p:txBody>
      </p:sp>
      <p:sp>
        <p:nvSpPr>
          <p:cNvPr id="5" name="cpe|text|bleed|4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cpe|text|text|5"/>
          <p:cNvSpPr txBox="1"/>
          <p:nvPr/>
        </p:nvSpPr>
        <p:spPr>
          <a:xfrm>
            <a:off x="502920" y="6012180"/>
            <a:ext cx="8339099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Consejo de administración   |   Octubre 2026   |  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E6A77"/>
                </a:solidFill>
                <a:latin typeface="Arial"/>
              </a:rPr>
              <a:t>RESUMEN EJECUTIVO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F3A"/>
                </a:solidFill>
                <a:latin typeface="Arial"/>
              </a:rPr>
              <a:t>Cerrar 15 tiendas A con ruptura, no las 40: la mejora real es 1596 k€, no 5,2 M€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A77"/>
                </a:solidFill>
                <a:latin typeface="Arial"/>
              </a:rPr>
              <a:t>Source: tiendas_proximidad_2025.xlsx; informe_inmobiliario.pdf; propuesta_direccion_financiera.md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E6A77"/>
                </a:solidFill>
                <a:latin typeface="Arial"/>
              </a:rPr>
              <a:t>Confidencial   2</a:t>
            </a:r>
          </a:p>
        </p:txBody>
      </p:sp>
      <p:sp>
        <p:nvSpPr>
          <p:cNvPr id="6" name="cpe|statements|text|5"/>
          <p:cNvSpPr txBox="1"/>
          <p:nvPr/>
        </p:nvSpPr>
        <p:spPr>
          <a:xfrm>
            <a:off x="502920" y="1517904"/>
            <a:ext cx="132588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Arial"/>
              </a:rPr>
              <a:t>Problema</a:t>
            </a:r>
          </a:p>
        </p:txBody>
      </p:sp>
      <p:sp>
        <p:nvSpPr>
          <p:cNvPr id="7" name="cpe|statements|text|6"/>
          <p:cNvSpPr txBox="1"/>
          <p:nvPr/>
        </p:nvSpPr>
        <p:spPr>
          <a:xfrm>
            <a:off x="1920240" y="1517904"/>
            <a:ext cx="3874185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La mejora de 5,2 M€ no existe</a:t>
            </a:r>
          </a:p>
        </p:txBody>
      </p:sp>
      <p:sp>
        <p:nvSpPr>
          <p:cNvPr id="8" name="cpe|statements|text|7"/>
          <p:cNvSpPr txBox="1"/>
          <p:nvPr/>
        </p:nvSpPr>
        <p:spPr>
          <a:xfrm>
            <a:off x="6023025" y="1517904"/>
            <a:ext cx="566575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E252D"/>
                </a:solidFill>
                <a:latin typeface="Arial"/>
              </a:rPr>
              <a:t>3600 k€ son coste central que no desaparece: la mejora real es 1596 k€.</a:t>
            </a:r>
          </a:p>
        </p:txBody>
      </p:sp>
      <p:cxnSp>
        <p:nvCxnSpPr>
          <p:cNvPr id="9" name="cpe|statements|line|8"/>
          <p:cNvCxnSpPr/>
          <p:nvPr/>
        </p:nvCxnSpPr>
        <p:spPr>
          <a:xfrm>
            <a:off x="502920" y="2626614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0" name="cpe|statements|text|9"/>
          <p:cNvSpPr txBox="1"/>
          <p:nvPr/>
        </p:nvSpPr>
        <p:spPr>
          <a:xfrm>
            <a:off x="502920" y="2731770"/>
            <a:ext cx="132588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Arial"/>
              </a:rPr>
              <a:t>Diagnóstico</a:t>
            </a:r>
          </a:p>
        </p:txBody>
      </p:sp>
      <p:sp>
        <p:nvSpPr>
          <p:cNvPr id="11" name="cpe|statements|text|10"/>
          <p:cNvSpPr txBox="1"/>
          <p:nvPr/>
        </p:nvSpPr>
        <p:spPr>
          <a:xfrm>
            <a:off x="1920240" y="2731770"/>
            <a:ext cx="3874185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La pérdida evitable está en las 22 A</a:t>
            </a:r>
          </a:p>
        </p:txBody>
      </p:sp>
      <p:sp>
        <p:nvSpPr>
          <p:cNvPr id="12" name="cpe|statements|text|11"/>
          <p:cNvSpPr txBox="1"/>
          <p:nvPr/>
        </p:nvSpPr>
        <p:spPr>
          <a:xfrm>
            <a:off x="6023025" y="2731770"/>
            <a:ext cx="566575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E252D"/>
                </a:solidFill>
                <a:latin typeface="Arial"/>
              </a:rPr>
              <a:t>Pierden 1920 k€ por un alquiler del 16% (red: 9%); B aporta 324 k€.</a:t>
            </a:r>
          </a:p>
        </p:txBody>
      </p:sp>
      <p:cxnSp>
        <p:nvCxnSpPr>
          <p:cNvPr id="13" name="cpe|statements|line|12"/>
          <p:cNvCxnSpPr/>
          <p:nvPr/>
        </p:nvCxnSpPr>
        <p:spPr>
          <a:xfrm>
            <a:off x="502920" y="3840480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4" name="cpe|statements|text|13"/>
          <p:cNvSpPr txBox="1"/>
          <p:nvPr/>
        </p:nvSpPr>
        <p:spPr>
          <a:xfrm>
            <a:off x="502920" y="3945636"/>
            <a:ext cx="132588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Arial"/>
              </a:rPr>
              <a:t>Solución</a:t>
            </a:r>
          </a:p>
        </p:txBody>
      </p:sp>
      <p:sp>
        <p:nvSpPr>
          <p:cNvPr id="15" name="cpe|statements|text|14"/>
          <p:cNvSpPr txBox="1"/>
          <p:nvPr/>
        </p:nvSpPr>
        <p:spPr>
          <a:xfrm>
            <a:off x="1920240" y="3945636"/>
            <a:ext cx="3874185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Cerrar las 15 A con ruptura es lo más barato</a:t>
            </a:r>
          </a:p>
        </p:txBody>
      </p:sp>
      <p:sp>
        <p:nvSpPr>
          <p:cNvPr id="16" name="cpe|statements|text|15"/>
          <p:cNvSpPr txBox="1"/>
          <p:nvPr/>
        </p:nvSpPr>
        <p:spPr>
          <a:xfrm>
            <a:off x="6023025" y="3945636"/>
            <a:ext cx="566575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E252D"/>
                </a:solidFill>
                <a:latin typeface="Arial"/>
              </a:rPr>
              <a:t>1500 k€ de mejora anual por 1500 k€ de cierre; 9540 k€ en 2026-2027 frente a 15598 k€.</a:t>
            </a:r>
          </a:p>
        </p:txBody>
      </p:sp>
      <p:cxnSp>
        <p:nvCxnSpPr>
          <p:cNvPr id="17" name="cpe|statements|line|16"/>
          <p:cNvCxnSpPr/>
          <p:nvPr/>
        </p:nvCxnSpPr>
        <p:spPr>
          <a:xfrm>
            <a:off x="502920" y="5054346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18" name="cpe|statements|text|17"/>
          <p:cNvSpPr txBox="1"/>
          <p:nvPr/>
        </p:nvSpPr>
        <p:spPr>
          <a:xfrm>
            <a:off x="502920" y="5159502"/>
            <a:ext cx="132588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Arial"/>
              </a:rPr>
              <a:t>Siguiente paso</a:t>
            </a:r>
          </a:p>
        </p:txBody>
      </p:sp>
      <p:sp>
        <p:nvSpPr>
          <p:cNvPr id="19" name="cpe|statements|text|18"/>
          <p:cNvSpPr txBox="1"/>
          <p:nvPr/>
        </p:nvSpPr>
        <p:spPr>
          <a:xfrm>
            <a:off x="1920240" y="5159502"/>
            <a:ext cx="3874185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Negociar las 7 A sin ruptura antes de cerrar</a:t>
            </a:r>
          </a:p>
        </p:txBody>
      </p:sp>
      <p:sp>
        <p:nvSpPr>
          <p:cNvPr id="20" name="cpe|statements|text|19"/>
          <p:cNvSpPr txBox="1"/>
          <p:nvPr/>
        </p:nvSpPr>
        <p:spPr>
          <a:xfrm>
            <a:off x="6023025" y="5159502"/>
            <a:ext cx="5665750" cy="10035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E252D"/>
                </a:solidFill>
                <a:latin typeface="Arial"/>
              </a:rPr>
              <a:t>Cerrarlas costaría 1750 k€ para evitar 420 k€ al año; revisión en junio.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E6A77"/>
                </a:solidFill>
                <a:latin typeface="Arial"/>
              </a:rPr>
              <a:t>LA PROPUESTA SOBREVALORA EL AHORRO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F3A"/>
                </a:solidFill>
                <a:latin typeface="Arial"/>
              </a:rPr>
              <a:t>Cerrar las 40 mejora el EBITDA 1596 k€, no 5196 k€: 3600 k€ son coste central que permanece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A77"/>
                </a:solidFill>
                <a:latin typeface="Arial"/>
              </a:rPr>
              <a:t>Source: tiendas_proximidad_2025.xlsx (Resumen, Notas controller); propuesta_direccion_financiera.md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E6A77"/>
                </a:solidFill>
                <a:latin typeface="Arial"/>
              </a:rPr>
              <a:t>Confidencial   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Mejora anual de EBITDA al cerrar las 40 tiendas</a:t>
            </a:r>
            <a:r>
              <a:rPr sz="1150" b="0">
                <a:solidFill>
                  <a:srgbClr val="1E252D"/>
                </a:solidFill>
                <a:latin typeface="Arial"/>
              </a:rPr>
              <a:t>, k€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2653516"/>
            <a:ext cx="2463394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5196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2966314" y="2653516"/>
            <a:ext cx="2463394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−3600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5429707" y="4742564"/>
            <a:ext cx="2463394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1596</a:t>
            </a:r>
          </a:p>
        </p:txBody>
      </p:sp>
      <p:cxnSp>
        <p:nvCxnSpPr>
          <p:cNvPr id="11" name="cpe|exhibit|connector|10"/>
          <p:cNvCxnSpPr/>
          <p:nvPr/>
        </p:nvCxnSpPr>
        <p:spPr>
          <a:xfrm>
            <a:off x="2584063" y="2918692"/>
            <a:ext cx="76450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2" name="cpe|exhibit|connector|11"/>
          <p:cNvCxnSpPr/>
          <p:nvPr/>
        </p:nvCxnSpPr>
        <p:spPr>
          <a:xfrm>
            <a:off x="5047456" y="5007740"/>
            <a:ext cx="764502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3" name="cpe|commentary|line|12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14" name="cpe|commentary|text|13"/>
          <p:cNvSpPr txBox="1"/>
          <p:nvPr/>
        </p:nvSpPr>
        <p:spPr>
          <a:xfrm>
            <a:off x="8322869" y="1481328"/>
            <a:ext cx="3365906" cy="2040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1F3A"/>
                </a:solidFill>
                <a:latin typeface="Arial"/>
              </a:rPr>
              <a:t>El 69% de la pérdida no se ahorra</a:t>
            </a:r>
          </a:p>
        </p:txBody>
      </p:sp>
      <p:sp>
        <p:nvSpPr>
          <p:cNvPr id="15" name="cpe|commentary|text|14"/>
          <p:cNvSpPr txBox="1"/>
          <p:nvPr/>
        </p:nvSpPr>
        <p:spPr>
          <a:xfrm>
            <a:off x="8322869" y="1804226"/>
            <a:ext cx="3365906" cy="43954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1E252D"/>
                </a:solidFill>
                <a:latin typeface="Arial"/>
              </a:rPr>
              <a:t>Coste central:</a:t>
            </a:r>
            <a:r>
              <a:rPr sz="1250" b="0">
                <a:solidFill>
                  <a:srgbClr val="1E252D"/>
                </a:solidFill>
                <a:latin typeface="Arial"/>
              </a:rPr>
              <a:t> 90 k€ por tienda (sistemas, logística, compras) que se reparte entre el resto de la red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1E252D"/>
                </a:solidFill>
                <a:latin typeface="Arial"/>
              </a:rPr>
              <a:t>1596 k€ reales:</a:t>
            </a:r>
            <a:r>
              <a:rPr sz="1250" b="0">
                <a:solidFill>
                  <a:srgbClr val="1E252D"/>
                </a:solidFill>
                <a:latin typeface="Arial"/>
              </a:rPr>
              <a:t> el grupo A pierde 1920 k€ antes de coste central y el grupo B aporta 324 k€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E6A77"/>
                </a:solidFill>
                <a:latin typeface="Arial"/>
              </a:rPr>
              <a:t>LA PROPUESTA SOBREVALORA EL COSTE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F3A"/>
                </a:solidFill>
                <a:latin typeface="Arial"/>
              </a:rPr>
              <a:t>Cerrar las 40 cuesta 7750 k€, no 10 M€: 15 contratos A rompen en 2026 a 100 k€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E6A77"/>
                </a:solidFill>
                <a:latin typeface="Arial"/>
              </a:rPr>
              <a:t>1. ~ Supuesto: 100 k€ por tienda con ruptura (informe inmobiliario), a confirmar contrato a contrato antes de notificar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A77"/>
                </a:solidFill>
                <a:latin typeface="Arial"/>
              </a:rPr>
              <a:t>Source: informe_inmobiliario.pdf; propuesta_direccion_financiera.md; tiendas_proximidad_2025.xlsx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E6A77"/>
                </a:solidFill>
                <a:latin typeface="Arial"/>
              </a:rPr>
              <a:t>Confidencial   4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Coste de cerrar las 40 tiendas</a:t>
            </a:r>
            <a:r>
              <a:rPr sz="1150" b="0">
                <a:solidFill>
                  <a:srgbClr val="1E252D"/>
                </a:solidFill>
                <a:latin typeface="Arial"/>
              </a:rPr>
              <a:t>, k€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27626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840480"/>
                <a:gridCol w="2448458"/>
                <a:gridCol w="2448458"/>
                <a:gridCol w="2448458"/>
              </a:tblGrid>
              <a:tr h="30803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Grupo de tiendas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Tiendas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Coste por tienda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Coste de cierre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49091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A con ruptura en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~100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~1500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49091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A sin ruptura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1750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49091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B (aperturas 2023-2024)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E252D"/>
                          </a:solidFill>
                          <a:latin typeface="Arial"/>
                        </a:rPr>
                        <a:t>4500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49091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Coste real de cerrar las 40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~7750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49091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Según la propuesta financiera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E252D"/>
                          </a:solidFill>
                          <a:latin typeface="Arial"/>
                        </a:rPr>
                        <a:t>10000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La propuesta sobrestima el cierre total en 2250 k€ al aplicar 250 k€ también a las 15 tiendas con ruptura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E6A77"/>
                </a:solidFill>
                <a:latin typeface="Arial"/>
              </a:rPr>
              <a:t>LA PÉRDIDA EVITABLE ESTÁ EN EL GRUPO A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F3A"/>
                </a:solidFill>
                <a:latin typeface="Arial"/>
              </a:rPr>
              <a:t>Sin coste central, A pierde 1920 k€ por su alquiler del 16%, mientras B aporta 324 k€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E6A77"/>
                </a:solidFill>
                <a:latin typeface="Arial"/>
              </a:rPr>
              <a:t>1. Alquiler con gastos comunes, según el informe inmobiliario; el excel lo mide sin ellos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A77"/>
                </a:solidFill>
                <a:latin typeface="Arial"/>
              </a:rPr>
              <a:t>Source: tiendas_proximidad_2025.xlsx (Resumen); informe_inmobiliario.pdf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E6A77"/>
                </a:solidFill>
                <a:latin typeface="Arial"/>
              </a:rPr>
              <a:t>Confidencial   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EBITDA 2025 por grupo, con y sin coste central asignado</a:t>
            </a:r>
            <a:r>
              <a:rPr sz="1150" b="0">
                <a:solidFill>
                  <a:srgbClr val="1E252D"/>
                </a:solidFill>
                <a:latin typeface="Arial"/>
              </a:rPr>
              <a:t>, k€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7390180" cy="33878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1070305"/>
                <a:gridCol w="1070305"/>
                <a:gridCol w="1070305"/>
                <a:gridCol w="1070305"/>
              </a:tblGrid>
              <a:tr h="76123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Grupo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Tiendas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EBITDA 2025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Coste central asignado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0B1F3A"/>
                          </a:solidFill>
                          <a:latin typeface="Arial"/>
                        </a:rPr>
                        <a:t>Antes de coste central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87553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A: alquiler alto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−3900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1980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C0392B"/>
                          </a:solidFill>
                          <a:latin typeface="Arial"/>
                        </a:rPr>
                        <a:t>−1920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</a:tr>
              <a:tr h="87553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B: aperturas 2023-2024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−1296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1620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E7D4F"/>
                          </a:solidFill>
                          <a:latin typeface="Arial"/>
                        </a:rPr>
                        <a:t>+324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</a:tr>
              <a:tr h="87553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−5196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3600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C0392B"/>
                          </a:solidFill>
                          <a:latin typeface="Arial"/>
                        </a:rPr>
                        <a:t>−1596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cxnSp>
        <p:nvCxnSpPr>
          <p:cNvPr id="8" name="cpe|commentary|line|7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9" name="cpe|commentary|text|8"/>
          <p:cNvSpPr txBox="1"/>
          <p:nvPr/>
        </p:nvSpPr>
        <p:spPr>
          <a:xfrm>
            <a:off x="8322869" y="1481328"/>
            <a:ext cx="3365906" cy="2040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1F3A"/>
                </a:solidFill>
                <a:latin typeface="Arial"/>
              </a:rPr>
              <a:t>El alquiler explica la pérdida de A</a:t>
            </a:r>
          </a:p>
        </p:txBody>
      </p:sp>
      <p:sp>
        <p:nvSpPr>
          <p:cNvPr id="10" name="cpe|commentary|text|9"/>
          <p:cNvSpPr txBox="1"/>
          <p:nvPr/>
        </p:nvSpPr>
        <p:spPr>
          <a:xfrm>
            <a:off x="8322869" y="1804226"/>
            <a:ext cx="3365906" cy="43954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500" b="1">
                <a:solidFill>
                  <a:srgbClr val="1E252D"/>
                </a:solidFill>
                <a:latin typeface="Arial"/>
              </a:rPr>
              <a:t>Alquiler de A:</a:t>
            </a:r>
            <a:r>
              <a:rPr sz="1500" b="0">
                <a:solidFill>
                  <a:srgbClr val="1E252D"/>
                </a:solidFill>
                <a:latin typeface="Arial"/>
              </a:rPr>
              <a:t> 16% de las ventas frente al 9% de media de la red, 7 pp más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500" b="1">
                <a:solidFill>
                  <a:srgbClr val="1E252D"/>
                </a:solidFill>
                <a:latin typeface="Arial"/>
              </a:rPr>
              <a:t>Grupo B:</a:t>
            </a:r>
            <a:r>
              <a:rPr sz="1500" b="0">
                <a:solidFill>
                  <a:srgbClr val="1E252D"/>
                </a:solidFill>
                <a:latin typeface="Arial"/>
              </a:rPr>
              <a:t> positivo antes de coste central; su pérdida contable es coste asignado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E6A77"/>
                </a:solidFill>
                <a:latin typeface="Arial"/>
              </a:rPr>
              <a:t>EL GRUPO B ESTÁ EN RAMPA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06372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F3A"/>
                </a:solidFill>
                <a:latin typeface="Arial"/>
              </a:rPr>
              <a:t>Antes de coste central, cada tienda B ya aporta 10 k€ (aperturas 2023) o 28 k€ (2024)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A77"/>
                </a:solidFill>
                <a:latin typeface="Arial"/>
              </a:rPr>
              <a:t>Source: tiendas_proximidad_2025.xlsx (Tiendas); informe_inmobiliario.pdf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E6A77"/>
                </a:solidFill>
                <a:latin typeface="Arial"/>
              </a:rPr>
              <a:t>Confidencial   6</a:t>
            </a:r>
          </a:p>
        </p:txBody>
      </p:sp>
      <p:sp>
        <p:nvSpPr>
          <p:cNvPr id="6" name="cpe|kpis|text|5"/>
          <p:cNvSpPr txBox="1"/>
          <p:nvPr/>
        </p:nvSpPr>
        <p:spPr>
          <a:xfrm>
            <a:off x="502920" y="1481328"/>
            <a:ext cx="3460394" cy="540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1">
                <a:solidFill>
                  <a:srgbClr val="0B1F3A"/>
                </a:solidFill>
                <a:latin typeface="Arial"/>
              </a:rPr>
              <a:t>+10 k€</a:t>
            </a:r>
          </a:p>
        </p:txBody>
      </p:sp>
      <p:sp>
        <p:nvSpPr>
          <p:cNvPr id="7" name="cpe|kpis|text|6"/>
          <p:cNvSpPr txBox="1"/>
          <p:nvPr/>
        </p:nvSpPr>
        <p:spPr>
          <a:xfrm>
            <a:off x="502920" y="2021396"/>
            <a:ext cx="3460394" cy="2165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E6A77"/>
                </a:solidFill>
                <a:latin typeface="Arial"/>
              </a:rPr>
              <a:t>Por tienda abierta en 2023, antes de coste central</a:t>
            </a:r>
          </a:p>
        </p:txBody>
      </p:sp>
      <p:cxnSp>
        <p:nvCxnSpPr>
          <p:cNvPr id="8" name="cpe|kpis|line|7"/>
          <p:cNvCxnSpPr/>
          <p:nvPr/>
        </p:nvCxnSpPr>
        <p:spPr>
          <a:xfrm>
            <a:off x="4164482" y="1527048"/>
            <a:ext cx="0" cy="827898"/>
          </a:xfrm>
          <a:prstGeom prst="line">
            <a:avLst/>
          </a:prstGeom>
          <a:ln w="9525">
            <a:solidFill>
              <a:srgbClr val="E3E7EB"/>
            </a:solidFill>
          </a:ln>
        </p:spPr>
      </p:cxnSp>
      <p:sp>
        <p:nvSpPr>
          <p:cNvPr id="9" name="cpe|kpis|text|8"/>
          <p:cNvSpPr txBox="1"/>
          <p:nvPr/>
        </p:nvSpPr>
        <p:spPr>
          <a:xfrm>
            <a:off x="4365650" y="1481328"/>
            <a:ext cx="3460394" cy="540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1">
                <a:solidFill>
                  <a:srgbClr val="0B1F3A"/>
                </a:solidFill>
                <a:latin typeface="Arial"/>
              </a:rPr>
              <a:t>+28 k€</a:t>
            </a:r>
          </a:p>
        </p:txBody>
      </p:sp>
      <p:sp>
        <p:nvSpPr>
          <p:cNvPr id="10" name="cpe|kpis|text|9"/>
          <p:cNvSpPr txBox="1"/>
          <p:nvPr/>
        </p:nvSpPr>
        <p:spPr>
          <a:xfrm>
            <a:off x="4365650" y="2021396"/>
            <a:ext cx="3460394" cy="2165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E6A77"/>
                </a:solidFill>
                <a:latin typeface="Arial"/>
              </a:rPr>
              <a:t>Por tienda abierta en 2024, antes de coste central</a:t>
            </a:r>
          </a:p>
        </p:txBody>
      </p:sp>
      <p:cxnSp>
        <p:nvCxnSpPr>
          <p:cNvPr id="11" name="cpe|kpis|line|10"/>
          <p:cNvCxnSpPr/>
          <p:nvPr/>
        </p:nvCxnSpPr>
        <p:spPr>
          <a:xfrm>
            <a:off x="8027213" y="1527048"/>
            <a:ext cx="0" cy="827898"/>
          </a:xfrm>
          <a:prstGeom prst="line">
            <a:avLst/>
          </a:prstGeom>
          <a:ln w="9525">
            <a:solidFill>
              <a:srgbClr val="E3E7EB"/>
            </a:solidFill>
          </a:ln>
        </p:spPr>
      </p:cxnSp>
      <p:sp>
        <p:nvSpPr>
          <p:cNvPr id="12" name="cpe|kpis|text|11"/>
          <p:cNvSpPr txBox="1"/>
          <p:nvPr/>
        </p:nvSpPr>
        <p:spPr>
          <a:xfrm>
            <a:off x="8228381" y="1481328"/>
            <a:ext cx="3460394" cy="540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1">
                <a:solidFill>
                  <a:srgbClr val="0B1F3A"/>
                </a:solidFill>
                <a:latin typeface="Arial"/>
              </a:rPr>
              <a:t>+11%</a:t>
            </a:r>
          </a:p>
        </p:txBody>
      </p:sp>
      <p:sp>
        <p:nvSpPr>
          <p:cNvPr id="13" name="cpe|kpis|text|12"/>
          <p:cNvSpPr txBox="1"/>
          <p:nvPr/>
        </p:nvSpPr>
        <p:spPr>
          <a:xfrm>
            <a:off x="8228381" y="2021396"/>
            <a:ext cx="3460394" cy="2165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E6A77"/>
                </a:solidFill>
                <a:latin typeface="Arial"/>
              </a:rPr>
              <a:t>Crecimiento anual de las ventas por m2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502920" y="260183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EBITDA 2025 de las 18 tiendas B</a:t>
            </a:r>
            <a:r>
              <a:rPr sz="1150" b="0">
                <a:solidFill>
                  <a:srgbClr val="1E252D"/>
                </a:solidFill>
                <a:latin typeface="Arial"/>
              </a:rPr>
              <a:t>, k€</a:t>
            </a:r>
          </a:p>
        </p:txBody>
      </p:sp>
      <p:graphicFrame>
        <p:nvGraphicFramePr>
          <p:cNvPr id="15" name="cpe|exhibit|chart|14"/>
          <p:cNvGraphicFramePr>
            <a:graphicFrameLocks noGrp="1"/>
          </p:cNvGraphicFramePr>
          <p:nvPr/>
        </p:nvGraphicFramePr>
        <p:xfrm>
          <a:off x="502920" y="3022458"/>
          <a:ext cx="11185855" cy="238164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cpe|exhibit|label|15"/>
          <p:cNvSpPr txBox="1"/>
          <p:nvPr/>
        </p:nvSpPr>
        <p:spPr>
          <a:xfrm>
            <a:off x="502920" y="4817630"/>
            <a:ext cx="372861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−1296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4231538" y="3128943"/>
            <a:ext cx="3728618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+1620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7960157" y="3128943"/>
            <a:ext cx="3728618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324</a:t>
            </a:r>
          </a:p>
        </p:txBody>
      </p:sp>
      <p:cxnSp>
        <p:nvCxnSpPr>
          <p:cNvPr id="19" name="cpe|exhibit|connector|18"/>
          <p:cNvCxnSpPr/>
          <p:nvPr/>
        </p:nvCxnSpPr>
        <p:spPr>
          <a:xfrm>
            <a:off x="3652960" y="4790198"/>
            <a:ext cx="1157157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7381578" y="3394119"/>
            <a:ext cx="1157158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sp>
        <p:nvSpPr>
          <p:cNvPr id="21" name="cpe|takeaway|fill|20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takeaway|fill|21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takeaway|text|22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Cerrar las 18 tiendas B costaría 4500 k€ y restaría 324 k€ al año; la red alcanza el equilibrio en el cuarto 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E6A77"/>
                </a:solidFill>
                <a:latin typeface="Arial"/>
              </a:rPr>
              <a:t>OPCIONES EN LA MISMA BASE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F3A"/>
                </a:solidFill>
                <a:latin typeface="Arial"/>
              </a:rPr>
              <a:t>En 2026-2027, cerrar las 15 A con ruptura cuesta 9540 k€, frente a 15598 k€ del cierre total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E6A77"/>
                </a:solidFill>
                <a:latin typeface="Arial"/>
              </a:rPr>
              <a:t>1. ~ Supuesto: cierres a inicio de 2026 y 100 k€ por tienda con ruptura. ≤ Cota superior: pérdida de las 7 A sin ruptura si la negociación fracasa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A77"/>
                </a:solidFill>
                <a:latin typeface="Arial"/>
              </a:rPr>
              <a:t>Source: tiendas_proximidad_2025.xlsx; informe_inmobiliario.pdf; propuesta_direccion_financiera.md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E6A77"/>
                </a:solidFill>
                <a:latin typeface="Arial"/>
              </a:rPr>
              <a:t>Confidencial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Coste acumulado 2026-2027 por opción</a:t>
            </a:r>
            <a:r>
              <a:rPr sz="1150" b="0">
                <a:solidFill>
                  <a:srgbClr val="1E252D"/>
                </a:solidFill>
                <a:latin typeface="Arial"/>
              </a:rPr>
              <a:t>, k€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5" cy="35021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17520"/>
                <a:gridCol w="1633667"/>
                <a:gridCol w="1633667"/>
                <a:gridCol w="1633667"/>
                <a:gridCol w="1633667"/>
                <a:gridCol w="1633667"/>
              </a:tblGrid>
              <a:tr h="76123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Opción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Mejora EBITDA anual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Coste de cierre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Pérdida directa mantenida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Contribución de B perdida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0B1F3A"/>
                          </a:solidFill>
                          <a:latin typeface="Arial"/>
                        </a:rPr>
                        <a:t>Coste total (incluye 7200 de coste central)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63322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Mantener las 40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3840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11040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</a:tr>
              <a:tr h="63322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Cerrar las 40 (propuesta)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1596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~7750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648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~15598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Cerrar 15 A con ruptura (recomendada)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1500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~1500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≤840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~9540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</a:tr>
              <a:tr h="63322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Cerrar las 22 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1920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~3250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~10450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Cerrar las 40 da solo 96 k€ más de EBITDA al año, a cambio de 6250 k€ más de cierre y de renunciar a 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E6A77"/>
                </a:solidFill>
                <a:latin typeface="Arial"/>
              </a:rPr>
              <a:t>NEGOCIAR ANTES DE CERRAR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F3A"/>
                </a:solidFill>
                <a:latin typeface="Arial"/>
              </a:rPr>
              <a:t>En las 7 A sin ruptura, negociar primero: cerrarlas costaría 1750 k€ para evitar 420 k€ al año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A77"/>
                </a:solidFill>
                <a:latin typeface="Arial"/>
              </a:rPr>
              <a:t>Source: informe_inmobiliario.pdf; tiendas_proximidad_2025.xlsx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E6A77"/>
                </a:solidFill>
                <a:latin typeface="Arial"/>
              </a:rPr>
              <a:t>Confidencial   8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Plan para las 7 tiendas A sin ruptura</a:t>
            </a:r>
          </a:p>
        </p:txBody>
      </p:sp>
      <p:sp>
        <p:nvSpPr>
          <p:cNvPr id="7" name="cpe|exhibit|text|6"/>
          <p:cNvSpPr txBox="1"/>
          <p:nvPr/>
        </p:nvSpPr>
        <p:spPr>
          <a:xfrm>
            <a:off x="502920" y="2525150"/>
            <a:ext cx="232928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A3AD"/>
                </a:solidFill>
                <a:latin typeface="Arial"/>
              </a:rPr>
              <a:t>01</a:t>
            </a:r>
          </a:p>
        </p:txBody>
      </p:sp>
      <p:sp>
        <p:nvSpPr>
          <p:cNvPr id="8" name="cpe|exhibit|text|7"/>
          <p:cNvSpPr txBox="1"/>
          <p:nvPr/>
        </p:nvSpPr>
        <p:spPr>
          <a:xfrm>
            <a:off x="3033370" y="2525150"/>
            <a:ext cx="232928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8A95A1"/>
                </a:solidFill>
                <a:latin typeface="Arial"/>
              </a:rPr>
              <a:t>02</a:t>
            </a:r>
          </a:p>
        </p:txBody>
      </p:sp>
      <p:sp>
        <p:nvSpPr>
          <p:cNvPr id="9" name="cpe|exhibit|text|8"/>
          <p:cNvSpPr txBox="1"/>
          <p:nvPr/>
        </p:nvSpPr>
        <p:spPr>
          <a:xfrm>
            <a:off x="5563819" y="2525150"/>
            <a:ext cx="232928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8A95A1"/>
                </a:solidFill>
                <a:latin typeface="Arial"/>
              </a:rPr>
              <a:t>03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502920" y="3210950"/>
            <a:ext cx="2329282" cy="798195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640080" y="3210950"/>
            <a:ext cx="2054962" cy="7981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Arial"/>
              </a:rPr>
              <a:t>Negociar la rebaja</a:t>
            </a:r>
          </a:p>
        </p:txBody>
      </p:sp>
      <p:cxnSp>
        <p:nvCxnSpPr>
          <p:cNvPr id="12" name="cpe|exhibit|connector|11"/>
          <p:cNvCxnSpPr/>
          <p:nvPr/>
        </p:nvCxnSpPr>
        <p:spPr>
          <a:xfrm>
            <a:off x="2850490" y="3610047"/>
            <a:ext cx="164592" cy="0"/>
          </a:xfrm>
          <a:prstGeom prst="line">
            <a:avLst/>
          </a:prstGeom>
          <a:ln w="19050">
            <a:solidFill>
              <a:srgbClr val="8A95A1"/>
            </a:solidFill>
            <a:tailEnd type="triangle" w="med" len="med"/>
          </a:ln>
        </p:spPr>
      </p:cxnSp>
      <p:sp>
        <p:nvSpPr>
          <p:cNvPr id="13" name="cpe|exhibit|text|12"/>
          <p:cNvSpPr txBox="1"/>
          <p:nvPr/>
        </p:nvSpPr>
        <p:spPr>
          <a:xfrm>
            <a:off x="502920" y="4237745"/>
            <a:ext cx="232928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E6A77"/>
                </a:solidFill>
                <a:latin typeface="Arial"/>
              </a:rPr>
              <a:t>Dirección inmobiliaria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502920" y="4548641"/>
            <a:ext cx="2329282" cy="881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1E252D"/>
                </a:solidFill>
                <a:latin typeface="Arial"/>
              </a:rPr>
              <a:t>5 de los 7 propietarios ya aceptan negociar el alquiler</a:t>
            </a:r>
          </a:p>
        </p:txBody>
      </p:sp>
      <p:sp>
        <p:nvSpPr>
          <p:cNvPr id="15" name="cpe|exhibit|fill|14"/>
          <p:cNvSpPr/>
          <p:nvPr/>
        </p:nvSpPr>
        <p:spPr>
          <a:xfrm>
            <a:off x="3033370" y="3210950"/>
            <a:ext cx="2329282" cy="79819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3170530" y="3210950"/>
            <a:ext cx="2054962" cy="7981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1E252D"/>
                </a:solidFill>
                <a:latin typeface="Arial"/>
              </a:rPr>
              <a:t>Revisar en junio de 2026</a:t>
            </a:r>
          </a:p>
        </p:txBody>
      </p:sp>
      <p:cxnSp>
        <p:nvCxnSpPr>
          <p:cNvPr id="17" name="cpe|exhibit|connector|16"/>
          <p:cNvCxnSpPr/>
          <p:nvPr/>
        </p:nvCxnSpPr>
        <p:spPr>
          <a:xfrm>
            <a:off x="5380939" y="3610047"/>
            <a:ext cx="164592" cy="0"/>
          </a:xfrm>
          <a:prstGeom prst="line">
            <a:avLst/>
          </a:prstGeom>
          <a:ln w="19050">
            <a:solidFill>
              <a:srgbClr val="8A95A1"/>
            </a:solidFill>
            <a:tailEnd type="triangle" w="med" len="med"/>
          </a:ln>
        </p:spPr>
      </p:cxnSp>
      <p:sp>
        <p:nvSpPr>
          <p:cNvPr id="18" name="cpe|exhibit|text|17"/>
          <p:cNvSpPr txBox="1"/>
          <p:nvPr/>
        </p:nvSpPr>
        <p:spPr>
          <a:xfrm>
            <a:off x="3033370" y="4237745"/>
            <a:ext cx="232928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E6A77"/>
                </a:solidFill>
                <a:latin typeface="Arial"/>
              </a:rPr>
              <a:t>Directora financiera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3033370" y="4548641"/>
            <a:ext cx="2329282" cy="881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1E252D"/>
                </a:solidFill>
                <a:latin typeface="Arial"/>
              </a:rPr>
              <a:t>Umbral: contribución directa positiva tras la rebaja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5563819" y="3210950"/>
            <a:ext cx="2329282" cy="79819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5700979" y="3210950"/>
            <a:ext cx="2054962" cy="7981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1E252D"/>
                </a:solidFill>
                <a:latin typeface="Arial"/>
              </a:rPr>
              <a:t>Cerrar si no hay acuerdo</a:t>
            </a:r>
          </a:p>
        </p:txBody>
      </p:sp>
      <p:sp>
        <p:nvSpPr>
          <p:cNvPr id="22" name="cpe|exhibit|text|21"/>
          <p:cNvSpPr txBox="1"/>
          <p:nvPr/>
        </p:nvSpPr>
        <p:spPr>
          <a:xfrm>
            <a:off x="5563819" y="4237745"/>
            <a:ext cx="232928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E6A77"/>
                </a:solidFill>
                <a:latin typeface="Arial"/>
              </a:rPr>
              <a:t>Consejero delegado</a:t>
            </a:r>
          </a:p>
        </p:txBody>
      </p:sp>
      <p:sp>
        <p:nvSpPr>
          <p:cNvPr id="23" name="cpe|exhibit|text|22"/>
          <p:cNvSpPr txBox="1"/>
          <p:nvPr/>
        </p:nvSpPr>
        <p:spPr>
          <a:xfrm>
            <a:off x="5563819" y="4548641"/>
            <a:ext cx="2329282" cy="881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1E252D"/>
                </a:solidFill>
                <a:latin typeface="Arial"/>
              </a:rPr>
              <a:t>En su próxima ventana de ruptura, sin pagar 250 k€ por tienda</a:t>
            </a:r>
          </a:p>
        </p:txBody>
      </p:sp>
      <p:cxnSp>
        <p:nvCxnSpPr>
          <p:cNvPr id="24" name="cpe|commentary|line|23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25" name="cpe|commentary|text|24"/>
          <p:cNvSpPr txBox="1"/>
          <p:nvPr/>
        </p:nvSpPr>
        <p:spPr>
          <a:xfrm>
            <a:off x="8322869" y="1481328"/>
            <a:ext cx="3365906" cy="2040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1F3A"/>
                </a:solidFill>
                <a:latin typeface="Arial"/>
              </a:rPr>
              <a:t>Cerrar hoy no compensa</a:t>
            </a:r>
          </a:p>
        </p:txBody>
      </p:sp>
      <p:sp>
        <p:nvSpPr>
          <p:cNvPr id="26" name="cpe|commentary|text|25"/>
          <p:cNvSpPr txBox="1"/>
          <p:nvPr/>
        </p:nvSpPr>
        <p:spPr>
          <a:xfrm>
            <a:off x="8322869" y="1804226"/>
            <a:ext cx="3365906" cy="43954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1E252D"/>
                </a:solidFill>
                <a:latin typeface="Arial"/>
              </a:rPr>
              <a:t>1750 k€:</a:t>
            </a:r>
            <a:r>
              <a:rPr sz="1250" b="0">
                <a:solidFill>
                  <a:srgbClr val="1E252D"/>
                </a:solidFill>
                <a:latin typeface="Arial"/>
              </a:rPr>
              <a:t> coste de cerrarlas hoy, sin ventana de ruptura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1E252D"/>
                </a:solidFill>
                <a:latin typeface="Arial"/>
              </a:rPr>
              <a:t>420 k€ al año:</a:t>
            </a:r>
            <a:r>
              <a:rPr sz="1250" b="0">
                <a:solidFill>
                  <a:srgbClr val="1E252D"/>
                </a:solidFill>
                <a:latin typeface="Arial"/>
              </a:rPr>
              <a:t> su pérdida antes de coste central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50" b="1">
                <a:solidFill>
                  <a:srgbClr val="1E252D"/>
                </a:solidFill>
                <a:latin typeface="Arial"/>
              </a:rPr>
              <a:t>4,2 años de recuperación,</a:t>
            </a:r>
            <a:r>
              <a:rPr sz="1250" b="0">
                <a:solidFill>
                  <a:srgbClr val="1E252D"/>
                </a:solidFill>
                <a:latin typeface="Arial"/>
              </a:rPr>
              <a:t> frente a 1 año en las 15 tiendas con ruptura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E6A77"/>
                </a:solidFill>
                <a:latin typeface="Arial"/>
              </a:rPr>
              <a:t>DECISIONES PARA HOY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F3A"/>
                </a:solidFill>
                <a:latin typeface="Arial"/>
              </a:rPr>
              <a:t>Aprobar hoy cerrar 15 tiendas (1500 k€) y negociar las 7 A restantes; revisión en junio de 2026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A77"/>
                </a:solidFill>
                <a:latin typeface="Arial"/>
              </a:rPr>
              <a:t>Source: tiendas_proximidad_2025.xlsx; informe_inmobiliario.pdf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E6A77"/>
                </a:solidFill>
                <a:latin typeface="Arial"/>
              </a:rPr>
              <a:t>Confidencial   9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52D"/>
                </a:solidFill>
                <a:latin typeface="Arial"/>
              </a:rPr>
              <a:t>Decisiones que se piden al consejo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5" cy="4297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905424"/>
                <a:gridCol w="2270595"/>
                <a:gridCol w="3905424"/>
                <a:gridCol w="1104412"/>
              </a:tblGrid>
              <a:tr h="34518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Decisión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Responsable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Umbral o KPI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Cuándo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Rechazar el cierre de las 40 tiendas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Consejero delegado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Hoy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104013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Aprobar el cierre de las 15 tiendas A con ruptura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Directora financiera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Coste real no superior a 1500 k€; mejora de EBITDA de 1500 k€ al año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52D"/>
                          </a:solidFill>
                          <a:latin typeface="Arial"/>
                        </a:rPr>
                        <a:t>T1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1F4"/>
                    </a:solidFill>
                  </a:tcPr>
                </a:tc>
              </a:tr>
              <a:tr h="104013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Mandato de negociación en las 7 A sin ruptura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Dirección inmobiliaria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Contribución directa positiva o cierre en su ventana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Junio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104013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Mantener las 18 tiendas B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Director de expansión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Por tienda, no menos de 10 k€ (2023) y 28 k€ (2024)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52D"/>
                          </a:solidFill>
                          <a:latin typeface="Arial"/>
                        </a:rPr>
                        <a:t>Cierre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Tiendas de proximidad: cerrar 15, no 40</dc:title>
  <dc:subject>No cerremos las 40 tiendas: la mejora real de EBITDA es de 1596 k€, no 5,2 M€; cerremos en 2026 las 15 tiendas A con ruptura, negociemos las 7 restantes y mantengamos las 18 B</dc:subject>
  <dc:creator>Consulting Presentation Engine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