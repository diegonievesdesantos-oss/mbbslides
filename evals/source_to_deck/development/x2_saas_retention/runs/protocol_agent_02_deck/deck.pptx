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81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10.4</c:v>
                </c:pt>
                <c:pt idx="2">
                  <c:v>9.299999999999999</c:v>
                </c:pt>
                <c:pt idx="3">
                  <c:v>4.799999999999999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10.4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4.799999999999999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(below zero)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0.1999999999999993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1.3000000000000007</c:v>
                </c:pt>
                <c:pt idx="3">
                  <c:v>4.5</c:v>
                </c:pt>
                <c:pt idx="4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cat>
            <c:strRef>
              <c:f>Sheet1!$A$2:$A$6</c:f>
              <c:strCache>
                <c:ptCount val="5"/>
                <c:pt idx="0">
                  <c:v>Net new ARR 2024</c:v>
                </c:pt>
                <c:pt idx="1">
                  <c:v>More new-logo ARR</c:v>
                </c:pt>
                <c:pt idx="2">
                  <c:v>Less expansion</c:v>
                </c:pt>
                <c:pt idx="3">
                  <c:v>Higher churn</c:v>
                </c:pt>
                <c:pt idx="4">
                  <c:v>Net new ARR 2025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2.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4422"/>
          <c:y val="0.0192"/>
          <c:w val="0.79578"/>
          <c:h val="0.960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9D0D8"/>
            </a:solidFill>
          </c:spPr>
          <c:invertIfNegative val="0"/>
          <c:dPt>
            <c:idx val="0"/>
            <c:spPr>
              <a:solidFill>
                <a:srgbClr val="0B1F3A"/>
              </a:solidFill>
            </c:spPr>
          </c:dPt>
          <c:dLbls>
            <c:numFmt formatCode="#,##0&quot;%&quot;;-#,##0&quot;%&quot;" sourceLinked="0"/>
            <c:txPr>
              <a:bodyPr/>
              <a:lstStyle/>
              <a:p>
                <a:pPr>
                  <a:defRPr sz="11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Never fully implemented</c:v>
                </c:pt>
                <c:pt idx="1">
                  <c:v>Moved to a competitor</c:v>
                </c:pt>
                <c:pt idx="2">
                  <c:v>Price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58.0</c:v>
                </c:pt>
                <c:pt idx="1">
                  <c:v>17.0</c:v>
                </c:pt>
                <c:pt idx="2">
                  <c:v>14.0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305"/>
          <c:w val="0.97"/>
          <c:h val="0.9110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9D0D8"/>
            </a:solidFill>
          </c:spPr>
          <c:invertIfNegative val="0"/>
          <c:dPt>
            <c:idx val="1"/>
            <c:spPr>
              <a:solidFill>
                <a:srgbClr val="0B1F3A"/>
              </a:solidFill>
            </c:spPr>
          </c:dPt>
          <c:dLbls>
            <c:numFmt formatCode="#,##0&quot;%&quot;;-#,##0&quot;%&quot;" sourceLinked="0"/>
            <c:txPr>
              <a:bodyPr/>
              <a:lstStyle/>
              <a:p>
                <a:pPr>
                  <a:defRPr sz="11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First-year 2024</c:v>
                </c:pt>
                <c:pt idx="1">
                  <c:v>First-year 2025</c:v>
                </c:pt>
                <c:pt idx="2">
                  <c:v>Mature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26.0</c:v>
                </c:pt>
                <c:pt idx="2">
                  <c:v>9.0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25453"/>
          <c:y val="0.01305"/>
          <c:w val="0.68547"/>
          <c:h val="0.96695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Churned ARR</c:v>
                </c:pt>
              </c:strCache>
            </c:strRef>
          </c:tx>
          <c:spPr>
            <a:solidFill>
              <a:srgbClr val="C9D0D8"/>
            </a:solidFill>
          </c:spPr>
          <c:invertIfNegative val="0"/>
          <c:dPt>
            <c:idx val="0"/>
            <c:spPr>
              <a:solidFill>
                <a:srgbClr val="0B1F3A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First-year customers</c:v>
                </c:pt>
                <c:pt idx="1">
                  <c:v>Mature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</c:v>
                </c:pt>
                <c:pt idx="1">
                  <c:v>3.1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6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81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4.5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9.0</c:v>
                </c:pt>
                <c:pt idx="1">
                  <c:v>0.0</c:v>
                </c:pt>
                <c:pt idx="2">
                  <c:v>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(below zero)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</c:v>
                </c:pt>
                <c:pt idx="1">
                  <c:v>4.5</c:v>
                </c:pt>
                <c:pt idx="2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CRO promise (no ramp)</c:v>
                </c:pt>
                <c:pt idx="1">
                  <c:v>9-month ramp</c:v>
                </c:pt>
                <c:pt idx="2">
                  <c:v>Estimate, upper bound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2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5957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2.5</c:v>
                </c:pt>
                <c:pt idx="2">
                  <c:v>3.8</c:v>
                </c:pt>
                <c:pt idx="3">
                  <c:v>0.0</c:v>
                </c:pt>
                <c:pt idx="4">
                  <c:v>5.3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5.3</c:v>
                </c:pt>
                <c:pt idx="4">
                  <c:v>0.0</c:v>
                </c:pt>
                <c:pt idx="5">
                  <c:v>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(below zero)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2.5</c:v>
                </c:pt>
                <c:pt idx="1">
                  <c:v>1.2999999999999998</c:v>
                </c:pt>
                <c:pt idx="2">
                  <c:v>1.5</c:v>
                </c:pt>
                <c:pt idx="3">
                  <c:v>0.0</c:v>
                </c:pt>
                <c:pt idx="4">
                  <c:v>0.2999999999999998</c:v>
                </c:pt>
                <c:pt idx="5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Decrease (below zero)</c:v>
                </c:pt>
              </c:strCache>
            </c:strRef>
          </c:tx>
          <c:spPr>
            <a:solidFill>
              <a:srgbClr val="3D6399"/>
            </a:solidFill>
          </c:spPr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Sheet1!$A$2:$A$7</c:f>
              <c:strCache>
                <c:ptCount val="6"/>
                <c:pt idx="0">
                  <c:v>Onboarding (L1)</c:v>
                </c:pt>
                <c:pt idx="1">
                  <c:v>Expansion (L2)</c:v>
                </c:pt>
                <c:pt idx="2">
                  <c:v>10 AEs (L3)</c:v>
                </c:pt>
                <c:pt idx="3">
                  <c:v>Identified</c:v>
                </c:pt>
                <c:pt idx="4">
                  <c:v>Gap</c:v>
                </c:pt>
                <c:pt idx="5">
                  <c:v>Needed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2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first: diagnosis, plan test, recommendation and 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the slowdown came from in the ARR bridge Churn and expansion broke the bridge; acquisition held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the CRO's price-competitor diagnosis against the funnel The CRO's price-competitor diagnosis is not what the funnel and the exit interviews show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leak by cohort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the leak to the onboarding cut and size its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the plan in force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costed options and show levers versus the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Approvable asks, gates and KPIs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fill|1"/>
          <p:cNvSpPr/>
          <p:nvPr/>
        </p:nvSpPr>
        <p:spPr>
          <a:xfrm>
            <a:off x="502920" y="2049913"/>
            <a:ext cx="82296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342521"/>
            <a:ext cx="9288018" cy="1220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B1F3A"/>
                </a:solidFill>
                <a:latin typeface="Arial"/>
              </a:rPr>
              <a:t>2026 growth investment: fix retention before adding sales capacity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3764413"/>
            <a:ext cx="8339099" cy="344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E6A77"/>
                </a:solidFill>
                <a:latin typeface="Arial"/>
              </a:rPr>
              <a:t>Board discussion: why ARR growth slowed and where the 2026 budget should go</a:t>
            </a:r>
          </a:p>
        </p:txBody>
      </p:sp>
      <p:sp>
        <p:nvSpPr>
          <p:cNvPr id="5" name="cpe|text|bleed|4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cpe|text|text|5"/>
          <p:cNvSpPr txBox="1"/>
          <p:nvPr/>
        </p:nvSpPr>
        <p:spPr>
          <a:xfrm>
            <a:off x="502920" y="6012180"/>
            <a:ext cx="8339099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B2B SaaS company   |   Q1 2026   |   Board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Churn, not sales, cut net new ARR by €5.6M; we recommend a retention-first plan at an estimated €2.0M a year instead of €3.6M for 30 AEs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ARR bridge, CRM export, board pack Q4 2025, customer success notes; team analysis. Estimates rest on assumptions A001-A003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2</a:t>
            </a:r>
          </a:p>
        </p:txBody>
      </p:sp>
      <p:sp>
        <p:nvSpPr>
          <p:cNvPr id="6" name="cpe|statements|text|5"/>
          <p:cNvSpPr txBox="1"/>
          <p:nvPr/>
        </p:nvSpPr>
        <p:spPr>
          <a:xfrm>
            <a:off x="502920" y="1517904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1</a:t>
            </a:r>
          </a:p>
        </p:txBody>
      </p:sp>
      <p:sp>
        <p:nvSpPr>
          <p:cNvPr id="7" name="cpe|statements|text|6"/>
          <p:cNvSpPr txBox="1"/>
          <p:nvPr/>
        </p:nvSpPr>
        <p:spPr>
          <a:xfrm>
            <a:off x="1005840" y="1517904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Churn, not sales, broke growth</a:t>
            </a:r>
          </a:p>
        </p:txBody>
      </p:sp>
      <p:sp>
        <p:nvSpPr>
          <p:cNvPr id="8" name="cpe|statements|text|7"/>
          <p:cNvSpPr txBox="1"/>
          <p:nvPr/>
        </p:nvSpPr>
        <p:spPr>
          <a:xfrm>
            <a:off x="5492673" y="1517904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Net new ARR fell €5.6M to €4.8M; higher churn explains 80.4% while pipeline grew 18.0%.</a:t>
            </a:r>
          </a:p>
        </p:txBody>
      </p:sp>
      <p:cxnSp>
        <p:nvCxnSpPr>
          <p:cNvPr id="9" name="cpe|statements|line|8"/>
          <p:cNvCxnSpPr/>
          <p:nvPr/>
        </p:nvCxnSpPr>
        <p:spPr>
          <a:xfrm>
            <a:off x="502920" y="262661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0" name="cpe|statements|text|9"/>
          <p:cNvSpPr txBox="1"/>
          <p:nvPr/>
        </p:nvSpPr>
        <p:spPr>
          <a:xfrm>
            <a:off x="502920" y="2731770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2</a:t>
            </a:r>
          </a:p>
        </p:txBody>
      </p:sp>
      <p:sp>
        <p:nvSpPr>
          <p:cNvPr id="11" name="cpe|statements|text|10"/>
          <p:cNvSpPr txBox="1"/>
          <p:nvPr/>
        </p:nvSpPr>
        <p:spPr>
          <a:xfrm>
            <a:off x="1005840" y="2731770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The leak is in first-year customers</a:t>
            </a:r>
          </a:p>
        </p:txBody>
      </p:sp>
      <p:sp>
        <p:nvSpPr>
          <p:cNvPr id="12" name="cpe|statements|text|11"/>
          <p:cNvSpPr txBox="1"/>
          <p:nvPr/>
        </p:nvSpPr>
        <p:spPr>
          <a:xfrm>
            <a:off x="5492673" y="2731770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First-year churn rose from 12% to 26% after a €0.8M onboarding cut, costing €2.5M of ARR.</a:t>
            </a:r>
          </a:p>
        </p:txBody>
      </p:sp>
      <p:cxnSp>
        <p:nvCxnSpPr>
          <p:cNvPr id="13" name="cpe|statements|line|12"/>
          <p:cNvCxnSpPr/>
          <p:nvPr/>
        </p:nvCxnSpPr>
        <p:spPr>
          <a:xfrm>
            <a:off x="502920" y="384048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4" name="cpe|statements|text|13"/>
          <p:cNvSpPr txBox="1"/>
          <p:nvPr/>
        </p:nvSpPr>
        <p:spPr>
          <a:xfrm>
            <a:off x="502920" y="3945636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3</a:t>
            </a:r>
          </a:p>
        </p:txBody>
      </p:sp>
      <p:sp>
        <p:nvSpPr>
          <p:cNvPr id="15" name="cpe|statements|text|14"/>
          <p:cNvSpPr txBox="1"/>
          <p:nvPr/>
        </p:nvSpPr>
        <p:spPr>
          <a:xfrm>
            <a:off x="1005840" y="3945636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The 30-AE plan does not hold</a:t>
            </a:r>
          </a:p>
        </p:txBody>
      </p:sp>
      <p:sp>
        <p:nvSpPr>
          <p:cNvPr id="16" name="cpe|statements|text|15"/>
          <p:cNvSpPr txBox="1"/>
          <p:nvPr/>
        </p:nvSpPr>
        <p:spPr>
          <a:xfrm>
            <a:off x="5492673" y="3945636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With a 9-month ramp, 30 AEs yield at most an estimated €4.5M in 2026, not €9M.</a:t>
            </a:r>
          </a:p>
        </p:txBody>
      </p:sp>
      <p:cxnSp>
        <p:nvCxnSpPr>
          <p:cNvPr id="17" name="cpe|statements|line|16"/>
          <p:cNvCxnSpPr/>
          <p:nvPr/>
        </p:nvCxnSpPr>
        <p:spPr>
          <a:xfrm>
            <a:off x="502920" y="505434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8" name="cpe|statements|text|17"/>
          <p:cNvSpPr txBox="1"/>
          <p:nvPr/>
        </p:nvSpPr>
        <p:spPr>
          <a:xfrm>
            <a:off x="502920" y="5159502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4</a:t>
            </a:r>
          </a:p>
        </p:txBody>
      </p:sp>
      <p:sp>
        <p:nvSpPr>
          <p:cNvPr id="19" name="cpe|statements|text|18"/>
          <p:cNvSpPr txBox="1"/>
          <p:nvPr/>
        </p:nvSpPr>
        <p:spPr>
          <a:xfrm>
            <a:off x="1005840" y="5159502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Retention first closes most of the gap for less</a:t>
            </a:r>
          </a:p>
        </p:txBody>
      </p:sp>
      <p:sp>
        <p:nvSpPr>
          <p:cNvPr id="20" name="cpe|statements|text|19"/>
          <p:cNvSpPr txBox="1"/>
          <p:nvPr/>
        </p:nvSpPr>
        <p:spPr>
          <a:xfrm>
            <a:off x="5492673" y="5159502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Onboarding plus 10 AEs: an estimated €2.0M a year for up to €5.3M of the €5.6M; AE wave 2 gated in June.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DIAGNOSIS: ARR BRIDGE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Higher churn explains 80.4% of the €5.6M fall in net new ARR; new-logo ARR still grew €0.2M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ARR bridge 2024-25 (arr_bridge.csv); team analysis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Net new ARR bridge, 2024 to 2025</a:t>
            </a:r>
            <a:r>
              <a:rPr sz="115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2932830"/>
            <a:ext cx="147803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10.4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80956" y="2880217"/>
            <a:ext cx="147803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+0.2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458992" y="2880217"/>
            <a:ext cx="147803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−1.3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937028" y="3222202"/>
            <a:ext cx="147803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−4.5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415065" y="4405995"/>
            <a:ext cx="147803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4.8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150085" y="2947882"/>
            <a:ext cx="17430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Arial"/>
              </a:rPr>
              <a:t>−5.6 vs Net new ARR 2024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751606" y="3198006"/>
            <a:ext cx="4587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3229642" y="3145393"/>
            <a:ext cx="4587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707678" y="3487378"/>
            <a:ext cx="4587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6185714" y="4671171"/>
            <a:ext cx="4587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commentary|line|17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Churn, not acquisition, broke the bridge</a:t>
            </a:r>
          </a:p>
        </p:txBody>
      </p:sp>
      <p:sp>
        <p:nvSpPr>
          <p:cNvPr id="20" name="cpe|commentary|text|19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Churn (−€4.5M), 80.4% of the fall:</a:t>
            </a:r>
            <a:r>
              <a:rPr sz="1250" b="0">
                <a:solidFill>
                  <a:srgbClr val="1E252D"/>
                </a:solidFill>
                <a:latin typeface="Arial"/>
              </a:rPr>
              <a:t> churned ARR more than doubled, from €3.3M to €7.8M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Expansion (−€1.3M):</a:t>
            </a:r>
            <a:r>
              <a:rPr sz="1250" b="0">
                <a:solidFill>
                  <a:srgbClr val="1E252D"/>
                </a:solidFill>
                <a:latin typeface="Arial"/>
              </a:rPr>
              <a:t> fell from €4.3M to €3.0M; cause not yet established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New logos (+€0.2M):</a:t>
            </a:r>
            <a:r>
              <a:rPr sz="1250" b="0">
                <a:solidFill>
                  <a:srgbClr val="1E252D"/>
                </a:solidFill>
                <a:latin typeface="Arial"/>
              </a:rPr>
              <a:t> €9.4M to €9.6M; acquisition held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DIAGNOSIS: SALES ENGINE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The sales engine did not break: pipeline grew 18.0%, deals won rose from 175 to 193 and only 31% of churned customers cite a competitor or price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CRM export, funnel and lost-deals sheets (crm_export.xlsx); customer success notes (customer_success_notes.md); team analysis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502920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+18.0%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502920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Pipeline created, €38.9M to €45.9M (2024 to 2025)</a:t>
            </a:r>
          </a:p>
        </p:txBody>
      </p:sp>
      <p:cxnSp>
        <p:nvCxnSpPr>
          <p:cNvPr id="8" name="cpe|kpis|line|7"/>
          <p:cNvCxnSpPr/>
          <p:nvPr/>
        </p:nvCxnSpPr>
        <p:spPr>
          <a:xfrm>
            <a:off x="4164482" y="1527048"/>
            <a:ext cx="0" cy="827898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9" name="cpe|kpis|text|8"/>
          <p:cNvSpPr txBox="1"/>
          <p:nvPr/>
        </p:nvSpPr>
        <p:spPr>
          <a:xfrm>
            <a:off x="4365650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175 → 193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4365650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Deals won, 2024 to 2025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8027213" y="1527048"/>
            <a:ext cx="0" cy="827898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8228381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23-25%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8228381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Quarterly win rate, stable through 2024-25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02920" y="260183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Reasons given by churned customers, 2025 exit interviews (n=64)</a:t>
            </a:r>
            <a:r>
              <a:rPr sz="1150" b="0">
                <a:solidFill>
                  <a:srgbClr val="1E252D"/>
                </a:solidFill>
                <a:latin typeface="Arial"/>
              </a:rPr>
              <a:t>, % of churned customers</a:t>
            </a:r>
          </a:p>
        </p:txBody>
      </p:sp>
      <p:graphicFrame>
        <p:nvGraphicFramePr>
          <p:cNvPr id="15" name="cpe|exhibit|chart|14"/>
          <p:cNvGraphicFramePr>
            <a:graphicFrameLocks noGrp="1"/>
          </p:cNvGraphicFramePr>
          <p:nvPr/>
        </p:nvGraphicFramePr>
        <p:xfrm>
          <a:off x="502920" y="3022458"/>
          <a:ext cx="11185855" cy="23816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cpe|takeaway|fill|15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takeaway|fill|16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takeaway|text|17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Price pressure is real but marginal: new ARR per deal slipped from €53.7k to €49.7k; price is 34% of lost deals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CAUSE: WHERE THE LEAK 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First-year customers churned 26% versus 12% in 2024 and supplied 60.3% of churned ARR; mature customers churned 9%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First-year = onboarded in the previous 12 months; mature = customers for more than 12 months. No 2024 rate is available for mature customers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CRM export, cohorts sheet (crm_export.xlsx); customer success notes (customer_success_notes.md)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5492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Churn rate by customer tenure</a:t>
            </a:r>
            <a:r>
              <a:rPr sz="1150" b="0">
                <a:solidFill>
                  <a:srgbClr val="1E252D"/>
                </a:solidFill>
                <a:latin typeface="Arial"/>
              </a:rPr>
              <a:t>, % of opening ARR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5492344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_2|text|7"/>
          <p:cNvSpPr txBox="1"/>
          <p:nvPr/>
        </p:nvSpPr>
        <p:spPr>
          <a:xfrm>
            <a:off x="6196432" y="1481328"/>
            <a:ext cx="5492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Churned ARR by tenure, 2025</a:t>
            </a:r>
            <a:r>
              <a:rPr sz="115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9" name="cpe|exhibit_2|chart|8"/>
          <p:cNvGraphicFramePr>
            <a:graphicFrameLocks noGrp="1"/>
          </p:cNvGraphicFramePr>
          <p:nvPr/>
        </p:nvGraphicFramePr>
        <p:xfrm>
          <a:off x="6196432" y="1901952"/>
          <a:ext cx="5492344" cy="3502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cpe|takeaway|fill|9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takeaway|fill|10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takeaway|text|11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First-year customers supplied €4.7M of the €7.8M churned (60.3%): the leak is in onboarding, not in the mature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CAUSE: ONBOARDING CUT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Cutting onboarding saved €0.8M but more than doubled time to first value (21 to 48 days) and cost about €2.5M of ARR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customer success notes (customer_success_notes.md); CRM export, cohorts sheet (crm_export.xlsx); team analysis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815770"/>
            <a:ext cx="2645588" cy="7981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640080" y="1815770"/>
            <a:ext cx="2371268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1  Onboarding team cut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3166796" y="2214867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9" name="cpe|exhibit|text|8"/>
          <p:cNvSpPr txBox="1"/>
          <p:nvPr/>
        </p:nvSpPr>
        <p:spPr>
          <a:xfrm>
            <a:off x="502920" y="2842565"/>
            <a:ext cx="2645588" cy="636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February 2025, to save €0.8M a year</a:t>
            </a:r>
          </a:p>
        </p:txBody>
      </p:sp>
      <p:cxnSp>
        <p:nvCxnSpPr>
          <p:cNvPr id="10" name="cpe|exhibit|line|9"/>
          <p:cNvCxnSpPr/>
          <p:nvPr/>
        </p:nvCxnSpPr>
        <p:spPr>
          <a:xfrm>
            <a:off x="502920" y="3753536"/>
            <a:ext cx="2645588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1" name="cpe|exhibit|text|10"/>
          <p:cNvSpPr txBox="1"/>
          <p:nvPr/>
        </p:nvSpPr>
        <p:spPr>
          <a:xfrm>
            <a:off x="502920" y="3844976"/>
            <a:ext cx="26455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52D"/>
                </a:solidFill>
                <a:latin typeface="Arial"/>
              </a:rPr>
              <a:t>14 → 6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502920" y="4530776"/>
            <a:ext cx="2645588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A77"/>
                </a:solidFill>
                <a:latin typeface="Arial"/>
              </a:rPr>
              <a:t>onboarding staff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349676" y="1815770"/>
            <a:ext cx="2645588" cy="7981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486836" y="1815770"/>
            <a:ext cx="2371268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2  Customers wait longer</a:t>
            </a:r>
          </a:p>
        </p:txBody>
      </p:sp>
      <p:cxnSp>
        <p:nvCxnSpPr>
          <p:cNvPr id="15" name="cpe|exhibit|connector|14"/>
          <p:cNvCxnSpPr/>
          <p:nvPr/>
        </p:nvCxnSpPr>
        <p:spPr>
          <a:xfrm>
            <a:off x="6013552" y="2214867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6" name="cpe|exhibit|text|15"/>
          <p:cNvSpPr txBox="1"/>
          <p:nvPr/>
        </p:nvSpPr>
        <p:spPr>
          <a:xfrm>
            <a:off x="3349676" y="2842565"/>
            <a:ext cx="2645588" cy="636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Median time to first value, 2024 to 2025</a:t>
            </a:r>
          </a:p>
        </p:txBody>
      </p:sp>
      <p:cxnSp>
        <p:nvCxnSpPr>
          <p:cNvPr id="17" name="cpe|exhibit|line|16"/>
          <p:cNvCxnSpPr/>
          <p:nvPr/>
        </p:nvCxnSpPr>
        <p:spPr>
          <a:xfrm>
            <a:off x="3349676" y="3753536"/>
            <a:ext cx="2645588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8" name="cpe|exhibit|text|17"/>
          <p:cNvSpPr txBox="1"/>
          <p:nvPr/>
        </p:nvSpPr>
        <p:spPr>
          <a:xfrm>
            <a:off x="3349676" y="3844976"/>
            <a:ext cx="26455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52D"/>
                </a:solidFill>
                <a:latin typeface="Arial"/>
              </a:rPr>
              <a:t>21 → 48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3349676" y="4530776"/>
            <a:ext cx="2645588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A77"/>
                </a:solidFill>
                <a:latin typeface="Arial"/>
              </a:rPr>
              <a:t>days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196432" y="1815770"/>
            <a:ext cx="2645588" cy="7981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6333592" y="1815770"/>
            <a:ext cx="2371268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3  Customers don't go live</a:t>
            </a:r>
          </a:p>
        </p:txBody>
      </p:sp>
      <p:cxnSp>
        <p:nvCxnSpPr>
          <p:cNvPr id="22" name="cpe|exhibit|connector|21"/>
          <p:cNvCxnSpPr/>
          <p:nvPr/>
        </p:nvCxnSpPr>
        <p:spPr>
          <a:xfrm>
            <a:off x="8860307" y="2214867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23" name="cpe|exhibit|text|22"/>
          <p:cNvSpPr txBox="1"/>
          <p:nvPr/>
        </p:nvSpPr>
        <p:spPr>
          <a:xfrm>
            <a:off x="6196432" y="2842565"/>
            <a:ext cx="2645588" cy="636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Of 64 churned customers in 2025 exit interviews</a:t>
            </a:r>
          </a:p>
        </p:txBody>
      </p:sp>
      <p:cxnSp>
        <p:nvCxnSpPr>
          <p:cNvPr id="24" name="cpe|exhibit|line|23"/>
          <p:cNvCxnSpPr/>
          <p:nvPr/>
        </p:nvCxnSpPr>
        <p:spPr>
          <a:xfrm>
            <a:off x="6196432" y="3753536"/>
            <a:ext cx="2645587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6196432" y="3844976"/>
            <a:ext cx="26455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52D"/>
                </a:solidFill>
                <a:latin typeface="Arial"/>
              </a:rPr>
              <a:t>58%</a:t>
            </a:r>
          </a:p>
        </p:txBody>
      </p:sp>
      <p:sp>
        <p:nvSpPr>
          <p:cNvPr id="26" name="cpe|exhibit|text|25"/>
          <p:cNvSpPr txBox="1"/>
          <p:nvPr/>
        </p:nvSpPr>
        <p:spPr>
          <a:xfrm>
            <a:off x="6196432" y="4530776"/>
            <a:ext cx="2645588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A77"/>
                </a:solidFill>
                <a:latin typeface="Arial"/>
              </a:rPr>
              <a:t>never fully implemented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9043187" y="1815770"/>
            <a:ext cx="2645588" cy="798195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9180347" y="1815770"/>
            <a:ext cx="2371268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Arial"/>
              </a:rPr>
              <a:t>4  First-year churn spikes</a:t>
            </a:r>
          </a:p>
        </p:txBody>
      </p:sp>
      <p:sp>
        <p:nvSpPr>
          <p:cNvPr id="29" name="cpe|exhibit|text|28"/>
          <p:cNvSpPr txBox="1"/>
          <p:nvPr/>
        </p:nvSpPr>
        <p:spPr>
          <a:xfrm>
            <a:off x="9043187" y="2842565"/>
            <a:ext cx="2645588" cy="636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€4.7M churned vs €2.2M at the 2024 rate of 12%</a:t>
            </a:r>
          </a:p>
        </p:txBody>
      </p:sp>
      <p:cxnSp>
        <p:nvCxnSpPr>
          <p:cNvPr id="30" name="cpe|exhibit|line|29"/>
          <p:cNvCxnSpPr/>
          <p:nvPr/>
        </p:nvCxnSpPr>
        <p:spPr>
          <a:xfrm>
            <a:off x="9043187" y="3753536"/>
            <a:ext cx="2645588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31" name="cpe|exhibit|text|30"/>
          <p:cNvSpPr txBox="1"/>
          <p:nvPr/>
        </p:nvSpPr>
        <p:spPr>
          <a:xfrm>
            <a:off x="9043187" y="3844976"/>
            <a:ext cx="26455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€2.5M</a:t>
            </a:r>
          </a:p>
        </p:txBody>
      </p:sp>
      <p:sp>
        <p:nvSpPr>
          <p:cNvPr id="32" name="cpe|exhibit|text|31"/>
          <p:cNvSpPr txBox="1"/>
          <p:nvPr/>
        </p:nvSpPr>
        <p:spPr>
          <a:xfrm>
            <a:off x="9043187" y="4530776"/>
            <a:ext cx="2645588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A77"/>
                </a:solidFill>
                <a:latin typeface="Arial"/>
              </a:rPr>
              <a:t>excess ARR lost</a:t>
            </a:r>
          </a:p>
        </p:txBody>
      </p:sp>
      <p:sp>
        <p:nvSpPr>
          <p:cNvPr id="33" name="cpe|takeaway|fill|32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takeaway|fill|33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takeaway|text|34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Restoring the team is lever L1; causality is inferred from timing and exit interviews, not a controlled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CURRENT PLAN TEST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30 AEs hired in Q1 deliver at most an estimated €4.5M in 2026, not €9M, because new AEs need 9 months to reach €300k (assumes a linear ramp)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Estimate: A001 assumes a mid-February start and a linear 9-month ramp (6 productive months in 2026); €4.5M is an upper bound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board pack Q4 2025 (board_pack_Q4_2025.pdf); customer success notes (customer_success_notes.md); team estimate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2026 new ARR from 30 AEs hired in Q1 2026</a:t>
            </a:r>
            <a:r>
              <a:rPr sz="115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2380393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9.0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966314" y="2380393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−4.5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429707" y="4024551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4.5</a:t>
            </a:r>
          </a:p>
        </p:txBody>
      </p:sp>
      <p:cxnSp>
        <p:nvCxnSpPr>
          <p:cNvPr id="11" name="cpe|exhibit|connector|10"/>
          <p:cNvCxnSpPr/>
          <p:nvPr/>
        </p:nvCxnSpPr>
        <p:spPr>
          <a:xfrm>
            <a:off x="2584063" y="2645569"/>
            <a:ext cx="7645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2" name="cpe|exhibit|connector|11"/>
          <p:cNvCxnSpPr/>
          <p:nvPr/>
        </p:nvCxnSpPr>
        <p:spPr>
          <a:xfrm>
            <a:off x="5047456" y="4289727"/>
            <a:ext cx="764502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3" name="cpe|commentary|line|12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4" name="cpe|commentary|text|13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Why €9M does not hold</a:t>
            </a:r>
          </a:p>
        </p:txBody>
      </p:sp>
      <p:sp>
        <p:nvSpPr>
          <p:cNvPr id="15" name="cpe|commentary|text|14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€9M = 30 AEs × €300k × 12 months:</a:t>
            </a:r>
            <a:r>
              <a:rPr sz="1250" b="0">
                <a:solidFill>
                  <a:srgbClr val="1E252D"/>
                </a:solidFill>
                <a:latin typeface="Arial"/>
              </a:rPr>
              <a:t> every AE fully productive from day one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Ramp:</a:t>
            </a:r>
            <a:r>
              <a:rPr sz="1250" b="0">
                <a:solidFill>
                  <a:srgbClr val="1E252D"/>
                </a:solidFill>
                <a:latin typeface="Arial"/>
              </a:rPr>
              <a:t> a Q1 hire gives about 6 productive months in 2026 (our assumption, note 1)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Cost:</a:t>
            </a:r>
            <a:r>
              <a:rPr sz="1250" b="0">
                <a:solidFill>
                  <a:srgbClr val="1E252D"/>
                </a:solidFill>
                <a:latin typeface="Arial"/>
              </a:rPr>
              <a:t> €3.6M a year fully loaded, €0.12M per AE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Validate:</a:t>
            </a:r>
            <a:r>
              <a:rPr sz="1250" b="0">
                <a:solidFill>
                  <a:srgbClr val="1E252D"/>
                </a:solidFill>
                <a:latin typeface="Arial"/>
              </a:rPr>
              <a:t> ramp of the 2025 AE hires before any offer letter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OPTIONS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Retention first costs an estimated €2.0M versus €3.6M and identifies up to €5.3M of the €5.6M needed, leaving an estimated €0.3M gap (levers are upper bounds)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Upper bounds: L1 assumes a 2026 first-year cohort like 2025's (A002); L3 a linear ramp (A001) and a 10-AE wave (A003). Needed = back to 2024 net new ARR (inferred)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board pack Q4 2025 (board_pack_Q4_2025.pdf); ARR bridge (arr_bridge.csv); customer success notes; team estimates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5492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Options, costed on the same annual basis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5492344" cy="24643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74824"/>
                <a:gridCol w="914400"/>
                <a:gridCol w="1280160"/>
                <a:gridCol w="822960"/>
              </a:tblGrid>
              <a:tr h="47891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€M a year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2026 ARR effect, €M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Fixes leak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66179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Keep CRO plan: 30 AEs in Q1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≤4.5, new logos only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6617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Retention first: onboarding + 10 AEs, wave 2 gated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2.0 (est.)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≤5.3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66179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Onboarding only, no new AEs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≤2.5 + ≤1.3, no new logos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_2|text|7"/>
          <p:cNvSpPr txBox="1"/>
          <p:nvPr/>
        </p:nvSpPr>
        <p:spPr>
          <a:xfrm>
            <a:off x="6196432" y="1481328"/>
            <a:ext cx="5492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Retention-first levers vs the €5.6M needed</a:t>
            </a:r>
            <a:r>
              <a:rPr sz="1150" b="0">
                <a:solidFill>
                  <a:srgbClr val="1E252D"/>
                </a:solidFill>
                <a:latin typeface="Arial"/>
              </a:rPr>
              <a:t>, €M, upper bounds</a:t>
            </a:r>
          </a:p>
        </p:txBody>
      </p:sp>
      <p:graphicFrame>
        <p:nvGraphicFramePr>
          <p:cNvPr id="9" name="cpe|exhibit_2|chart|8"/>
          <p:cNvGraphicFramePr>
            <a:graphicFrameLocks noGrp="1"/>
          </p:cNvGraphicFramePr>
          <p:nvPr/>
        </p:nvGraphicFramePr>
        <p:xfrm>
          <a:off x="6196432" y="1901952"/>
          <a:ext cx="5492344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_2|label|9"/>
          <p:cNvSpPr txBox="1"/>
          <p:nvPr/>
        </p:nvSpPr>
        <p:spPr>
          <a:xfrm>
            <a:off x="6196432" y="3610418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+2.5</a:t>
            </a:r>
          </a:p>
        </p:txBody>
      </p:sp>
      <p:sp>
        <p:nvSpPr>
          <p:cNvPr id="11" name="cpe|exhibit_2|label|10"/>
          <p:cNvSpPr txBox="1"/>
          <p:nvPr/>
        </p:nvSpPr>
        <p:spPr>
          <a:xfrm>
            <a:off x="7111822" y="3034911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+1.3</a:t>
            </a:r>
          </a:p>
        </p:txBody>
      </p:sp>
      <p:sp>
        <p:nvSpPr>
          <p:cNvPr id="12" name="cpe|exhibit_2|label|11"/>
          <p:cNvSpPr txBox="1"/>
          <p:nvPr/>
        </p:nvSpPr>
        <p:spPr>
          <a:xfrm>
            <a:off x="8027213" y="2370865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+1.5</a:t>
            </a:r>
          </a:p>
        </p:txBody>
      </p:sp>
      <p:sp>
        <p:nvSpPr>
          <p:cNvPr id="13" name="cpe|exhibit_2|label|12"/>
          <p:cNvSpPr txBox="1"/>
          <p:nvPr/>
        </p:nvSpPr>
        <p:spPr>
          <a:xfrm>
            <a:off x="8942603" y="2370865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5.3</a:t>
            </a:r>
          </a:p>
        </p:txBody>
      </p:sp>
      <p:sp>
        <p:nvSpPr>
          <p:cNvPr id="14" name="cpe|exhibit_2|label|13"/>
          <p:cNvSpPr txBox="1"/>
          <p:nvPr/>
        </p:nvSpPr>
        <p:spPr>
          <a:xfrm>
            <a:off x="9857994" y="2238056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+0.3</a:t>
            </a:r>
          </a:p>
        </p:txBody>
      </p:sp>
      <p:sp>
        <p:nvSpPr>
          <p:cNvPr id="15" name="cpe|exhibit_2|label|14"/>
          <p:cNvSpPr txBox="1"/>
          <p:nvPr/>
        </p:nvSpPr>
        <p:spPr>
          <a:xfrm>
            <a:off x="10773385" y="2238056"/>
            <a:ext cx="91539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5.6</a:t>
            </a:r>
          </a:p>
        </p:txBody>
      </p:sp>
      <p:cxnSp>
        <p:nvCxnSpPr>
          <p:cNvPr id="16" name="cpe|exhibit_2|connector|15"/>
          <p:cNvCxnSpPr/>
          <p:nvPr/>
        </p:nvCxnSpPr>
        <p:spPr>
          <a:xfrm>
            <a:off x="6969779" y="3875594"/>
            <a:ext cx="284087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_2|connector|16"/>
          <p:cNvCxnSpPr/>
          <p:nvPr/>
        </p:nvCxnSpPr>
        <p:spPr>
          <a:xfrm>
            <a:off x="7885169" y="3300087"/>
            <a:ext cx="284087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_2|connector|17"/>
          <p:cNvCxnSpPr/>
          <p:nvPr/>
        </p:nvCxnSpPr>
        <p:spPr>
          <a:xfrm>
            <a:off x="8800560" y="2636041"/>
            <a:ext cx="284087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_2|connector|18"/>
          <p:cNvCxnSpPr/>
          <p:nvPr/>
        </p:nvCxnSpPr>
        <p:spPr>
          <a:xfrm>
            <a:off x="9715951" y="2636041"/>
            <a:ext cx="284086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_2|connector|19"/>
          <p:cNvCxnSpPr/>
          <p:nvPr/>
        </p:nvCxnSpPr>
        <p:spPr>
          <a:xfrm>
            <a:off x="10631341" y="2503232"/>
            <a:ext cx="284087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1" name="cpe|takeaway|fill|20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takeaway|fill|21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takeaway|text|22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Retention first frees an estimated €1.6M a year versus the CRO plan, held as a gated reserve for AE wave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71951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>
                <a:solidFill>
                  <a:srgbClr val="0B1F3A"/>
                </a:solidFill>
                <a:latin typeface="Arial"/>
              </a:rPr>
              <a:t>Decisions today: reject 30 AEs, approve €0.8M for onboarding and a first wave of 10 AEs (our sizing), hold an estimated €1.6M until first-year churn is back at 12%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board pack Q4 2025 (board_pack_Q4_2025.pdf); customer success notes; team sizing (A003)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Board confidential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493802"/>
                <a:gridCol w="1131534"/>
                <a:gridCol w="1655885"/>
              </a:tblGrid>
              <a:tr h="34518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€M a year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Reject the 30-AE plan as proposed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Board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Approve restoring onboarding to 14 people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CEO / VP 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Q1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Approve a first wave of 10 AEs (our sizing)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CRO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1.2 (est.)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Q1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Hold the rest as reserve for AE wave 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1.6 (est.)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June 2026 gate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pe|commentary|line|7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9" name="cpe|commentary|text|8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Gate and KPIs</a:t>
            </a:r>
          </a:p>
        </p:txBody>
      </p:sp>
      <p:sp>
        <p:nvSpPr>
          <p:cNvPr id="10" name="cpe|commentary|text|9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E252D"/>
                </a:solidFill>
                <a:latin typeface="Arial"/>
              </a:rPr>
              <a:t>Gate (June 2026 board):</a:t>
            </a:r>
            <a:r>
              <a:rPr sz="1500" b="0">
                <a:solidFill>
                  <a:srgbClr val="1E252D"/>
                </a:solidFill>
                <a:latin typeface="Arial"/>
              </a:rPr>
              <a:t> first-year churn ≤12% and time to first value ≤21 days release wave 2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E252D"/>
                </a:solidFill>
                <a:latin typeface="Arial"/>
              </a:rPr>
              <a:t>Monthly:</a:t>
            </a:r>
            <a:r>
              <a:rPr sz="1500" b="0">
                <a:solidFill>
                  <a:srgbClr val="1E252D"/>
                </a:solidFill>
                <a:latin typeface="Arial"/>
              </a:rPr>
              <a:t> first-year churn (from 26%), time to first value (from 48 days), new ARR per AE vs ramp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E252D"/>
                </a:solidFill>
                <a:latin typeface="Arial"/>
              </a:rPr>
              <a:t>Quarterly:</a:t>
            </a:r>
            <a:r>
              <a:rPr sz="1500" b="0">
                <a:solidFill>
                  <a:srgbClr val="1E252D"/>
                </a:solidFill>
                <a:latin typeface="Arial"/>
              </a:rPr>
              <a:t> net new ARR back to the €10.4M of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growth investment: fix retention before adding sales capacity</dc:title>
  <dc:subject>Growth slowed because we lost customers, not deals: higher churn explains 80.4% of the €5.6M fall in net new ARR, concentrated in first-year customers after the onboarding cut. Fund retention first (restore onboarding, €0.8M) with a gated first wave 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